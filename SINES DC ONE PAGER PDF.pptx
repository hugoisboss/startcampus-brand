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4"/>
    <p:sldMasterId id="2147483687" r:id="rId5"/>
    <p:sldMasterId id="2147483710" r:id="rId6"/>
    <p:sldMasterId id="2147483756" r:id="rId7"/>
  </p:sldMasterIdLst>
  <p:notesMasterIdLst>
    <p:notesMasterId r:id="rId25"/>
  </p:notesMasterIdLst>
  <p:handoutMasterIdLst>
    <p:handoutMasterId r:id="rId26"/>
  </p:handoutMasterIdLst>
  <p:sldIdLst>
    <p:sldId id="4486" r:id="rId8"/>
    <p:sldId id="4484" r:id="rId9"/>
    <p:sldId id="4518" r:id="rId10"/>
    <p:sldId id="4489" r:id="rId11"/>
    <p:sldId id="4497" r:id="rId12"/>
    <p:sldId id="4485" r:id="rId13"/>
    <p:sldId id="4498" r:id="rId14"/>
    <p:sldId id="4483" r:id="rId15"/>
    <p:sldId id="4490" r:id="rId16"/>
    <p:sldId id="4499" r:id="rId17"/>
    <p:sldId id="4492" r:id="rId18"/>
    <p:sldId id="4487" r:id="rId19"/>
    <p:sldId id="4500" r:id="rId20"/>
    <p:sldId id="4478" r:id="rId21"/>
    <p:sldId id="4493" r:id="rId22"/>
    <p:sldId id="4501" r:id="rId23"/>
    <p:sldId id="4496" r:id="rId24"/>
  </p:sldIdLst>
  <p:sldSz cx="24387175" cy="13716000"/>
  <p:notesSz cx="7315200" cy="9601200"/>
  <p:defaultTextStyle>
    <a:defPPr>
      <a:defRPr lang="en-PT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E09FD07-4E0B-453B-B040-840F870D3238}">
          <p14:sldIdLst>
            <p14:sldId id="4486"/>
            <p14:sldId id="4484"/>
            <p14:sldId id="4518"/>
            <p14:sldId id="4489"/>
            <p14:sldId id="4497"/>
            <p14:sldId id="4485"/>
            <p14:sldId id="4498"/>
            <p14:sldId id="4483"/>
            <p14:sldId id="4490"/>
            <p14:sldId id="4499"/>
            <p14:sldId id="4492"/>
            <p14:sldId id="4487"/>
            <p14:sldId id="4500"/>
            <p14:sldId id="4478"/>
            <p14:sldId id="4493"/>
            <p14:sldId id="4501"/>
            <p14:sldId id="4496"/>
          </p14:sldIdLst>
        </p14:section>
        <p14:section name="xx Not In Use" id="{4D97793D-7231-46EF-84F3-5979517F207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8130" userDrawn="1">
          <p15:clr>
            <a:srgbClr val="A4A3A4"/>
          </p15:clr>
        </p15:guide>
        <p15:guide id="2" pos="149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594963-DA53-1DAC-06DD-CD4BED258843}" name="Hugo de Oliveira" initials="HO" userId="S::hso@startcampus.pt::3af7bcc3-daaf-48cc-a7ea-cb8500c544d3" providerId="AD"/>
  <p188:author id="{2E67E0C3-8510-8399-5D00-1D5EC18C3F4B}" name="Caroline Romanski" initials="" userId="S::car@startcampus.pt::4f135418-9596-4c1e-86b9-bb04d0817dd6" providerId="AD"/>
  <p188:author id="{EBFB69E3-5F15-D6BD-D94D-28EB3893860B}" name="Robert Dunn" initials="RN" userId="S::rnd@startcampus.pt::c47865ab-29e2-4ad5-b81c-a355a8ab108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159"/>
    <a:srgbClr val="FFFFFF"/>
    <a:srgbClr val="EDEBEB"/>
    <a:srgbClr val="EBFFF4"/>
    <a:srgbClr val="BDFFDB"/>
    <a:srgbClr val="156082"/>
    <a:srgbClr val="0A3638"/>
    <a:srgbClr val="F4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84" y="432"/>
      </p:cViewPr>
      <p:guideLst>
        <p:guide orient="horz" pos="8130"/>
        <p:guide pos="149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o de Oliveira" userId="3af7bcc3-daaf-48cc-a7ea-cb8500c544d3" providerId="ADAL" clId="{3CFB7E92-1BAE-4158-94CB-C0CF061743D6}"/>
    <pc:docChg chg="undo custSel addSld delSld modSld sldOrd delMainMaster modSection modNotesMaster modHandout">
      <pc:chgData name="Hugo de Oliveira" userId="3af7bcc3-daaf-48cc-a7ea-cb8500c544d3" providerId="ADAL" clId="{3CFB7E92-1BAE-4158-94CB-C0CF061743D6}" dt="2026-10-12T10:01:12.783" v="2192" actId="22"/>
      <pc:docMkLst>
        <pc:docMk/>
      </pc:docMkLst>
      <pc:sldChg chg="addSp delSp modSp mod setBg">
        <pc:chgData name="Hugo de Oliveira" userId="3af7bcc3-daaf-48cc-a7ea-cb8500c544d3" providerId="ADAL" clId="{3CFB7E92-1BAE-4158-94CB-C0CF061743D6}" dt="2026-10-12T10:00:55.529" v="2188" actId="14100"/>
        <pc:sldMkLst>
          <pc:docMk/>
          <pc:sldMk cId="1749979117" sldId="4484"/>
        </pc:sldMkLst>
        <pc:picChg chg="add del mod">
          <ac:chgData name="Hugo de Oliveira" userId="3af7bcc3-daaf-48cc-a7ea-cb8500c544d3" providerId="ADAL" clId="{3CFB7E92-1BAE-4158-94CB-C0CF061743D6}" dt="2026-10-12T10:00:42.522" v="2184" actId="478"/>
          <ac:picMkLst>
            <pc:docMk/>
            <pc:sldMk cId="1749979117" sldId="4484"/>
            <ac:picMk id="3" creationId="{F9243DD8-6358-FAF3-4D49-85642621B752}"/>
          </ac:picMkLst>
        </pc:picChg>
        <pc:picChg chg="del">
          <ac:chgData name="Hugo de Oliveira" userId="3af7bcc3-daaf-48cc-a7ea-cb8500c544d3" providerId="ADAL" clId="{3CFB7E92-1BAE-4158-94CB-C0CF061743D6}" dt="2026-10-12T10:00:44.020" v="2186" actId="478"/>
          <ac:picMkLst>
            <pc:docMk/>
            <pc:sldMk cId="1749979117" sldId="4484"/>
            <ac:picMk id="6" creationId="{61DE70E3-A7B7-94A6-F66F-87AD8D535CB1}"/>
          </ac:picMkLst>
        </pc:picChg>
        <pc:picChg chg="add mod">
          <ac:chgData name="Hugo de Oliveira" userId="3af7bcc3-daaf-48cc-a7ea-cb8500c544d3" providerId="ADAL" clId="{3CFB7E92-1BAE-4158-94CB-C0CF061743D6}" dt="2026-10-12T10:00:55.529" v="2188" actId="14100"/>
          <ac:picMkLst>
            <pc:docMk/>
            <pc:sldMk cId="1749979117" sldId="4484"/>
            <ac:picMk id="8" creationId="{F69E5313-5F5E-47FD-7D5F-51D031D75791}"/>
          </ac:picMkLst>
        </pc:picChg>
        <pc:picChg chg="del">
          <ac:chgData name="Hugo de Oliveira" userId="3af7bcc3-daaf-48cc-a7ea-cb8500c544d3" providerId="ADAL" clId="{3CFB7E92-1BAE-4158-94CB-C0CF061743D6}" dt="2026-10-12T10:00:43.302" v="2185" actId="478"/>
          <ac:picMkLst>
            <pc:docMk/>
            <pc:sldMk cId="1749979117" sldId="4484"/>
            <ac:picMk id="10" creationId="{801BECD9-2BCA-058E-020D-98FF72772625}"/>
          </ac:picMkLst>
        </pc:picChg>
      </pc:sldChg>
      <pc:sldChg chg="addSp delSp mod">
        <pc:chgData name="Hugo de Oliveira" userId="3af7bcc3-daaf-48cc-a7ea-cb8500c544d3" providerId="ADAL" clId="{3CFB7E92-1BAE-4158-94CB-C0CF061743D6}" dt="2026-10-12T10:01:12.783" v="2192" actId="22"/>
        <pc:sldMkLst>
          <pc:docMk/>
          <pc:sldMk cId="2149133442" sldId="4497"/>
        </pc:sldMkLst>
        <pc:picChg chg="add del">
          <ac:chgData name="Hugo de Oliveira" userId="3af7bcc3-daaf-48cc-a7ea-cb8500c544d3" providerId="ADAL" clId="{3CFB7E92-1BAE-4158-94CB-C0CF061743D6}" dt="2026-10-12T10:01:08.751" v="2189" actId="478"/>
          <ac:picMkLst>
            <pc:docMk/>
            <pc:sldMk cId="2149133442" sldId="4497"/>
            <ac:picMk id="3" creationId="{A249B1A6-B17B-290A-8C5D-DA3CEA791889}"/>
          </ac:picMkLst>
        </pc:picChg>
        <pc:picChg chg="del">
          <ac:chgData name="Hugo de Oliveira" userId="3af7bcc3-daaf-48cc-a7ea-cb8500c544d3" providerId="ADAL" clId="{3CFB7E92-1BAE-4158-94CB-C0CF061743D6}" dt="2026-10-12T10:01:12.302" v="2191" actId="478"/>
          <ac:picMkLst>
            <pc:docMk/>
            <pc:sldMk cId="2149133442" sldId="4497"/>
            <ac:picMk id="6" creationId="{9D5A07A7-29A0-EA09-E523-F0CE44BEFC07}"/>
          </ac:picMkLst>
        </pc:picChg>
        <pc:picChg chg="add">
          <ac:chgData name="Hugo de Oliveira" userId="3af7bcc3-daaf-48cc-a7ea-cb8500c544d3" providerId="ADAL" clId="{3CFB7E92-1BAE-4158-94CB-C0CF061743D6}" dt="2026-10-12T10:01:12.783" v="2192" actId="22"/>
          <ac:picMkLst>
            <pc:docMk/>
            <pc:sldMk cId="2149133442" sldId="4497"/>
            <ac:picMk id="8" creationId="{0E51E66F-9CF7-F638-49A1-DE7D8D75E3C2}"/>
          </ac:picMkLst>
        </pc:picChg>
        <pc:picChg chg="del">
          <ac:chgData name="Hugo de Oliveira" userId="3af7bcc3-daaf-48cc-a7ea-cb8500c544d3" providerId="ADAL" clId="{3CFB7E92-1BAE-4158-94CB-C0CF061743D6}" dt="2026-10-12T10:01:10.647" v="2190" actId="478"/>
          <ac:picMkLst>
            <pc:docMk/>
            <pc:sldMk cId="2149133442" sldId="4497"/>
            <ac:picMk id="10" creationId="{7C5397D7-C0E6-0493-E84A-2099C5700ABA}"/>
          </ac:picMkLst>
        </pc:picChg>
      </pc:sldChg>
      <pc:sldMasterChg chg="del delSldLayout">
        <pc:chgData name="Hugo de Oliveira" userId="3af7bcc3-daaf-48cc-a7ea-cb8500c544d3" providerId="ADAL" clId="{3CFB7E92-1BAE-4158-94CB-C0CF061743D6}" dt="2026-10-12T09:56:18.968" v="2178"/>
        <pc:sldMasterMkLst>
          <pc:docMk/>
          <pc:sldMasterMk cId="3139404271" sldId="2147483648"/>
        </pc:sldMasterMkLst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3139404271" sldId="2147483648"/>
            <pc:sldLayoutMk cId="1567083210" sldId="2147483649"/>
          </pc:sldLayoutMkLst>
        </pc:sldLayoutChg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3139404271" sldId="2147483648"/>
            <pc:sldLayoutMk cId="3648497639" sldId="2147483650"/>
          </pc:sldLayoutMkLst>
        </pc:sldLayoutChg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3139404271" sldId="2147483648"/>
            <pc:sldLayoutMk cId="2297063882" sldId="2147483661"/>
          </pc:sldLayoutMkLst>
        </pc:sldLayoutChg>
      </pc:sldMasterChg>
      <pc:sldMasterChg chg="del delSldLayout">
        <pc:chgData name="Hugo de Oliveira" userId="3af7bcc3-daaf-48cc-a7ea-cb8500c544d3" providerId="ADAL" clId="{3CFB7E92-1BAE-4158-94CB-C0CF061743D6}" dt="2026-10-12T09:56:18.968" v="2178"/>
        <pc:sldMasterMkLst>
          <pc:docMk/>
          <pc:sldMasterMk cId="1057550259" sldId="2147483662"/>
        </pc:sldMasterMkLst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1057550259" sldId="2147483662"/>
            <pc:sldLayoutMk cId="1327332430" sldId="2147483664"/>
          </pc:sldLayoutMkLst>
        </pc:sldLayoutChg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1057550259" sldId="2147483662"/>
            <pc:sldLayoutMk cId="2711499459" sldId="2147483665"/>
          </pc:sldLayoutMkLst>
        </pc:sldLayoutChg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1057550259" sldId="2147483662"/>
            <pc:sldLayoutMk cId="2664721525" sldId="2147483666"/>
          </pc:sldLayoutMkLst>
        </pc:sldLayoutChg>
      </pc:sldMasterChg>
      <pc:sldMasterChg chg="del delSldLayout">
        <pc:chgData name="Hugo de Oliveira" userId="3af7bcc3-daaf-48cc-a7ea-cb8500c544d3" providerId="ADAL" clId="{3CFB7E92-1BAE-4158-94CB-C0CF061743D6}" dt="2026-10-12T09:56:18.968" v="2178"/>
        <pc:sldMasterMkLst>
          <pc:docMk/>
          <pc:sldMasterMk cId="3084346469" sldId="2147483667"/>
        </pc:sldMasterMkLst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3084346469" sldId="2147483667"/>
            <pc:sldLayoutMk cId="3054447202" sldId="2147483651"/>
          </pc:sldLayoutMkLst>
        </pc:sldLayoutChg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3084346469" sldId="2147483667"/>
            <pc:sldLayoutMk cId="3040418132" sldId="2147483654"/>
          </pc:sldLayoutMkLst>
        </pc:sldLayoutChg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3084346469" sldId="2147483667"/>
            <pc:sldLayoutMk cId="3361371152" sldId="2147483655"/>
          </pc:sldLayoutMkLst>
        </pc:sldLayoutChg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3084346469" sldId="2147483667"/>
            <pc:sldLayoutMk cId="1587903128" sldId="2147483656"/>
          </pc:sldLayoutMkLst>
        </pc:sldLayoutChg>
      </pc:sldMasterChg>
      <pc:sldMasterChg chg="del delSldLayout">
        <pc:chgData name="Hugo de Oliveira" userId="3af7bcc3-daaf-48cc-a7ea-cb8500c544d3" providerId="ADAL" clId="{3CFB7E92-1BAE-4158-94CB-C0CF061743D6}" dt="2026-10-12T09:56:18.968" v="2178"/>
        <pc:sldMasterMkLst>
          <pc:docMk/>
          <pc:sldMasterMk cId="1103800200" sldId="2147483681"/>
        </pc:sldMasterMkLst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1103800200" sldId="2147483681"/>
            <pc:sldLayoutMk cId="1740486239" sldId="2147483682"/>
          </pc:sldLayoutMkLst>
        </pc:sldLayoutChg>
      </pc:sldMasterChg>
      <pc:sldMasterChg chg="del delSldLayout">
        <pc:chgData name="Hugo de Oliveira" userId="3af7bcc3-daaf-48cc-a7ea-cb8500c544d3" providerId="ADAL" clId="{3CFB7E92-1BAE-4158-94CB-C0CF061743D6}" dt="2026-10-12T09:56:18.968" v="2178"/>
        <pc:sldMasterMkLst>
          <pc:docMk/>
          <pc:sldMasterMk cId="1172311704" sldId="2147483683"/>
        </pc:sldMasterMkLst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1172311704" sldId="2147483683"/>
            <pc:sldLayoutMk cId="1346108955" sldId="2147483684"/>
          </pc:sldLayoutMkLst>
        </pc:sldLayoutChg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1172311704" sldId="2147483683"/>
            <pc:sldLayoutMk cId="3427572411" sldId="2147483685"/>
          </pc:sldLayoutMkLst>
        </pc:sldLayoutChg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1172311704" sldId="2147483683"/>
            <pc:sldLayoutMk cId="4062131785" sldId="2147483686"/>
          </pc:sldLayoutMkLst>
        </pc:sldLayoutChg>
      </pc:sldMasterChg>
      <pc:sldMasterChg chg="del delSldLayout">
        <pc:chgData name="Hugo de Oliveira" userId="3af7bcc3-daaf-48cc-a7ea-cb8500c544d3" providerId="ADAL" clId="{3CFB7E92-1BAE-4158-94CB-C0CF061743D6}" dt="2026-10-12T09:56:18.968" v="2178"/>
        <pc:sldMasterMkLst>
          <pc:docMk/>
          <pc:sldMasterMk cId="3191926490" sldId="2147483691"/>
        </pc:sldMasterMkLst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3191926490" sldId="2147483691"/>
            <pc:sldLayoutMk cId="1463452856" sldId="2147483692"/>
          </pc:sldLayoutMkLst>
        </pc:sldLayoutChg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3191926490" sldId="2147483691"/>
            <pc:sldLayoutMk cId="848355014" sldId="2147483693"/>
          </pc:sldLayoutMkLst>
        </pc:sldLayoutChg>
      </pc:sldMasterChg>
      <pc:sldMasterChg chg="del delSldLayout">
        <pc:chgData name="Hugo de Oliveira" userId="3af7bcc3-daaf-48cc-a7ea-cb8500c544d3" providerId="ADAL" clId="{3CFB7E92-1BAE-4158-94CB-C0CF061743D6}" dt="2026-10-12T09:56:18.968" v="2178"/>
        <pc:sldMasterMkLst>
          <pc:docMk/>
          <pc:sldMasterMk cId="461228267" sldId="2147483694"/>
        </pc:sldMasterMkLst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461228267" sldId="2147483694"/>
            <pc:sldLayoutMk cId="2865031737" sldId="2147483695"/>
          </pc:sldLayoutMkLst>
        </pc:sldLayoutChg>
        <pc:sldLayoutChg chg="del">
          <pc:chgData name="Hugo de Oliveira" userId="3af7bcc3-daaf-48cc-a7ea-cb8500c544d3" providerId="ADAL" clId="{3CFB7E92-1BAE-4158-94CB-C0CF061743D6}" dt="2026-10-12T09:56:18.968" v="2178"/>
          <pc:sldLayoutMkLst>
            <pc:docMk/>
            <pc:sldMasterMk cId="461228267" sldId="2147483694"/>
            <pc:sldLayoutMk cId="1581787250" sldId="214748369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9D4F9E-86B9-7C02-165E-47BFF2553F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F166D5-636D-DCDF-88F4-C0C9E31D84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E291483-AE46-F84B-81FE-471A1047BB18}" type="datetimeFigureOut">
              <a:rPr lang="en-PT" smtClean="0"/>
              <a:t>10/15/2026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04703-1271-1A21-4DB1-043A9B4ABC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CE5C7-D11C-285B-6161-9AC28AB8D4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CCCA78F-A7C1-2E4F-90DA-73786A2EB1CC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976203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2C8248A-F490-AD4C-B79F-C68C9213EEA2}" type="datetimeFigureOut">
              <a:rPr lang="en-PT" smtClean="0"/>
              <a:t>10/15/2026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2D23699-55DC-BA44-AE31-90E8CBC64BC7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773256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2BC4C-B1DF-DBE5-42EF-7AF29EF9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7F7F6-675B-4CA2-C0BF-6067DB1B7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396B5B-19B3-5537-5D1B-76048F599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33793-4893-9273-9586-686D56FCC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6612">
              <a:defRPr/>
            </a:pPr>
            <a:fld id="{F2D23699-55DC-BA44-AE31-90E8CBC64BC7}" type="slidenum">
              <a:rPr lang="en-PT" sz="1400">
                <a:solidFill>
                  <a:prstClr val="black"/>
                </a:solidFill>
                <a:latin typeface="Aptos" panose="02110004020202020204"/>
              </a:rPr>
              <a:pPr defTabSz="966612">
                <a:defRPr/>
              </a:pPr>
              <a:t>2</a:t>
            </a:fld>
            <a:endParaRPr lang="en-PT" sz="14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99623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DA473-753A-72EB-E27B-60F6F846D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9EC31-F2B7-6159-F443-372B79800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FD98A-B9C2-A06B-C4FC-AF1F2753B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4EB31-EAEB-9B88-13DA-BD82A2C4D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6612">
              <a:defRPr/>
            </a:pPr>
            <a:fld id="{F2D23699-55DC-BA44-AE31-90E8CBC64BC7}" type="slidenum">
              <a:rPr lang="en-PT" sz="1400">
                <a:solidFill>
                  <a:prstClr val="black"/>
                </a:solidFill>
                <a:latin typeface="Aptos" panose="02110004020202020204"/>
              </a:rPr>
              <a:pPr defTabSz="966612">
                <a:defRPr/>
              </a:pPr>
              <a:t>3</a:t>
            </a:fld>
            <a:endParaRPr lang="en-PT" sz="14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17342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0EB4E-FB63-DC3B-0A75-02BB9E5C6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84CF9-17DC-83B1-3F13-E8225B121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7D5EF-CBA9-05DC-2940-2F72E17A9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63EB3-0D74-8717-6D6B-B89454820A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6612">
              <a:defRPr/>
            </a:pPr>
            <a:fld id="{F2D23699-55DC-BA44-AE31-90E8CBC64BC7}" type="slidenum">
              <a:rPr lang="en-PT" sz="1400">
                <a:solidFill>
                  <a:prstClr val="black"/>
                </a:solidFill>
                <a:latin typeface="Aptos" panose="02110004020202020204"/>
              </a:rPr>
              <a:pPr defTabSz="966612">
                <a:defRPr/>
              </a:pPr>
              <a:t>5</a:t>
            </a:fld>
            <a:endParaRPr lang="en-PT" sz="14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31495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8DE08-5496-9A1A-F020-582FAADE5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CEC05-576C-A0D7-AF99-E7E0BFBC5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C79879-B30E-9015-D521-499114101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E12FF-8EE1-4A56-6F99-2639811D2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6612">
              <a:defRPr/>
            </a:pPr>
            <a:fld id="{F2D23699-55DC-BA44-AE31-90E8CBC64BC7}" type="slidenum">
              <a:rPr lang="en-PT" sz="1400">
                <a:solidFill>
                  <a:prstClr val="black"/>
                </a:solidFill>
                <a:latin typeface="Aptos" panose="02110004020202020204"/>
              </a:rPr>
              <a:pPr defTabSz="966612">
                <a:defRPr/>
              </a:pPr>
              <a:t>7</a:t>
            </a:fld>
            <a:endParaRPr lang="en-PT" sz="14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491641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BBB0-162F-60A9-CFF5-CD2D749AB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3AD64-E2EA-4906-28BB-9384CA151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E51454-7FA2-3960-FCD2-397415F48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50425-D88A-8134-97EF-B7324EF93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6612">
              <a:defRPr/>
            </a:pPr>
            <a:fld id="{F2D23699-55DC-BA44-AE31-90E8CBC64BC7}" type="slidenum">
              <a:rPr lang="en-PT" sz="1400">
                <a:solidFill>
                  <a:prstClr val="black"/>
                </a:solidFill>
                <a:latin typeface="Aptos" panose="02110004020202020204"/>
              </a:rPr>
              <a:pPr defTabSz="966612">
                <a:defRPr/>
              </a:pPr>
              <a:t>10</a:t>
            </a:fld>
            <a:endParaRPr lang="en-PT" sz="14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14857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A4A1E-3942-729C-2411-7AAB030C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AE742-E51A-55E8-1B79-0C285CCC6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961DC6-A11E-590E-DFE4-39660A251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54924-46C6-6B16-61E5-34A6F052B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6612">
              <a:defRPr/>
            </a:pPr>
            <a:fld id="{F2D23699-55DC-BA44-AE31-90E8CBC64BC7}" type="slidenum">
              <a:rPr lang="en-PT" sz="1400">
                <a:solidFill>
                  <a:prstClr val="black"/>
                </a:solidFill>
                <a:latin typeface="Aptos" panose="02110004020202020204"/>
              </a:rPr>
              <a:pPr defTabSz="966612">
                <a:defRPr/>
              </a:pPr>
              <a:t>13</a:t>
            </a:fld>
            <a:endParaRPr lang="en-PT" sz="14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07471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F9394-9E8D-13C6-AF11-08FCE603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D483E5-59D1-AA9C-3B10-F89F6B280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7F135F-0000-E05C-43A1-B95DA8A01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E0FDC-1006-2FB1-50FF-8126124E7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6612">
              <a:defRPr/>
            </a:pPr>
            <a:fld id="{F2D23699-55DC-BA44-AE31-90E8CBC64BC7}" type="slidenum">
              <a:rPr lang="en-PT" sz="1400">
                <a:solidFill>
                  <a:prstClr val="black"/>
                </a:solidFill>
                <a:latin typeface="Aptos" panose="02110004020202020204"/>
              </a:rPr>
              <a:pPr defTabSz="966612">
                <a:defRPr/>
              </a:pPr>
              <a:t>14</a:t>
            </a:fld>
            <a:endParaRPr lang="en-PT" sz="14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407683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7BEDC-3D67-2682-023D-1FA8D618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6C398-2D39-858B-BCB7-C7B92BAC0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0E484-CC49-A0C9-FCBC-CD252B548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8352E-FB4A-0382-4112-B42E30AEE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6612">
              <a:defRPr/>
            </a:pPr>
            <a:fld id="{F2D23699-55DC-BA44-AE31-90E8CBC64BC7}" type="slidenum">
              <a:rPr lang="en-PT" sz="1400">
                <a:solidFill>
                  <a:prstClr val="black"/>
                </a:solidFill>
                <a:latin typeface="Aptos" panose="02110004020202020204"/>
              </a:rPr>
              <a:pPr defTabSz="966612">
                <a:defRPr/>
              </a:pPr>
              <a:t>16</a:t>
            </a:fld>
            <a:endParaRPr lang="en-PT" sz="14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70141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14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DDBC89C-1628-F79F-6FCE-BDA71DAD4E0A}"/>
              </a:ext>
            </a:extLst>
          </p:cNvPr>
          <p:cNvSpPr/>
          <p:nvPr userDrawn="1"/>
        </p:nvSpPr>
        <p:spPr>
          <a:xfrm>
            <a:off x="15052775" y="9711559"/>
            <a:ext cx="9334401" cy="40044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7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FA0741-1A7A-30D6-468F-52E8A41B7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618" y="3937000"/>
            <a:ext cx="10516969" cy="252992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b="1" i="0">
                <a:latin typeface="Figtree SemiBold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A2AA4-C529-54E1-5673-2FFC856B8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618" y="6858001"/>
            <a:ext cx="10516969" cy="35968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ECA00-CBEE-34D6-6026-8A3768A96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77E54-165B-A847-AA47-6003AD81C543}" type="slidenum">
              <a:rPr lang="en-PT" smtClean="0"/>
              <a:t>‹#›</a:t>
            </a:fld>
            <a:endParaRPr lang="en-PT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5DB7D23-8B64-9F78-2851-49DFE3BB93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052773" y="1"/>
            <a:ext cx="9334401" cy="9712326"/>
          </a:xfrm>
          <a:prstGeom prst="rect">
            <a:avLst/>
          </a:prstGeom>
        </p:spPr>
        <p:txBody>
          <a:bodyPr/>
          <a:lstStyle/>
          <a:p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34254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+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0741-1A7A-30D6-468F-52E8A41B7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618" y="2075575"/>
            <a:ext cx="10516969" cy="243759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b="1" i="0">
                <a:latin typeface="Figtree SemiBold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ECA00-CBEE-34D6-6026-8A3768A96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77E54-165B-A847-AA47-6003AD81C543}" type="slidenum">
              <a:rPr lang="en-PT" smtClean="0"/>
              <a:t>‹#›</a:t>
            </a:fld>
            <a:endParaRPr lang="en-PT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5DB7D23-8B64-9F78-2851-49DFE3BB93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630095" y="0"/>
            <a:ext cx="10757080" cy="13715992"/>
          </a:xfrm>
          <a:prstGeom prst="rect">
            <a:avLst/>
          </a:prstGeom>
        </p:spPr>
        <p:txBody>
          <a:bodyPr/>
          <a:lstStyle/>
          <a:p>
            <a:endParaRPr lang="en-PT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9684502-6F49-A637-60D0-D66845A7CFC2}"/>
              </a:ext>
            </a:extLst>
          </p:cNvPr>
          <p:cNvCxnSpPr>
            <a:cxnSpLocks/>
          </p:cNvCxnSpPr>
          <p:nvPr userDrawn="1"/>
        </p:nvCxnSpPr>
        <p:spPr>
          <a:xfrm>
            <a:off x="1" y="5764062"/>
            <a:ext cx="8311704" cy="0"/>
          </a:xfrm>
          <a:prstGeom prst="line">
            <a:avLst/>
          </a:prstGeom>
          <a:ln w="38100">
            <a:solidFill>
              <a:srgbClr val="12BD64"/>
            </a:solidFill>
            <a:tailEnd type="oval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75DCFA-1785-AC58-BF4F-BFA06A96497B}"/>
              </a:ext>
            </a:extLst>
          </p:cNvPr>
          <p:cNvCxnSpPr>
            <a:cxnSpLocks/>
          </p:cNvCxnSpPr>
          <p:nvPr userDrawn="1"/>
        </p:nvCxnSpPr>
        <p:spPr>
          <a:xfrm>
            <a:off x="1" y="8959208"/>
            <a:ext cx="4456966" cy="0"/>
          </a:xfrm>
          <a:prstGeom prst="line">
            <a:avLst/>
          </a:prstGeom>
          <a:ln w="38100">
            <a:solidFill>
              <a:srgbClr val="12BD64"/>
            </a:solidFill>
            <a:tailEnd type="oval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 Placeholder 27">
            <a:extLst>
              <a:ext uri="{FF2B5EF4-FFF2-40B4-BE49-F238E27FC236}">
                <a16:creationId xmlns:a16="http://schemas.microsoft.com/office/drawing/2014/main" id="{B4DA833A-55BD-80AB-0895-3244107D3B6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79468" y="6146137"/>
            <a:ext cx="2777498" cy="5539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4000">
                <a:latin typeface="Figtree" pitchFamily="2" charset="0"/>
              </a:defRPr>
            </a:lvl1pPr>
          </a:lstStyle>
          <a:p>
            <a:pPr lvl="0"/>
            <a:r>
              <a:rPr lang="en-GB"/>
              <a:t>Placeholder</a:t>
            </a:r>
            <a:endParaRPr lang="en-PT"/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18CA57E9-2A66-4FE4-B55E-FC6E65ABB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79470" y="7144232"/>
            <a:ext cx="8311704" cy="9971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2400">
                <a:latin typeface="Figtree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Sed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</a:t>
            </a:r>
            <a:endParaRPr lang="en-PT"/>
          </a:p>
        </p:txBody>
      </p:sp>
      <p:sp>
        <p:nvSpPr>
          <p:cNvPr id="22" name="Text Placeholder 27">
            <a:extLst>
              <a:ext uri="{FF2B5EF4-FFF2-40B4-BE49-F238E27FC236}">
                <a16:creationId xmlns:a16="http://schemas.microsoft.com/office/drawing/2014/main" id="{F2B9EDE2-67B6-808B-AB88-688FBBA252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56019" y="9334815"/>
            <a:ext cx="2777498" cy="5539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4000">
                <a:latin typeface="Figtree" pitchFamily="2" charset="0"/>
              </a:defRPr>
            </a:lvl1pPr>
          </a:lstStyle>
          <a:p>
            <a:pPr lvl="0"/>
            <a:r>
              <a:rPr lang="en-GB"/>
              <a:t>Placeholder</a:t>
            </a:r>
            <a:endParaRPr lang="en-PT"/>
          </a:p>
        </p:txBody>
      </p:sp>
      <p:sp>
        <p:nvSpPr>
          <p:cNvPr id="23" name="Text Placeholder 27">
            <a:extLst>
              <a:ext uri="{FF2B5EF4-FFF2-40B4-BE49-F238E27FC236}">
                <a16:creationId xmlns:a16="http://schemas.microsoft.com/office/drawing/2014/main" id="{31071515-FD7A-B7D8-00C7-7FCE9F7826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56021" y="10332910"/>
            <a:ext cx="8311704" cy="9971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2400">
                <a:latin typeface="Figtree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Sed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176820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AA0FB064-C030-A3BF-4543-A08DFB4BE9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3588" cy="13716000"/>
          </a:xfrm>
          <a:prstGeom prst="rect">
            <a:avLst/>
          </a:prstGeom>
        </p:spPr>
        <p:txBody>
          <a:bodyPr/>
          <a:lstStyle/>
          <a:p>
            <a:endParaRPr lang="en-PT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5D9CD3E6-E27D-9C52-C6A1-F1EF7742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1498" y="4794921"/>
            <a:ext cx="9086567" cy="243759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b="1" i="0">
                <a:latin typeface="Figtree SemiBold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460883F-A407-DCAC-B90B-12D78AF82B3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671498" y="7702285"/>
            <a:ext cx="8680774" cy="22159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4000" b="0" i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Sed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7742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397" y="2244726"/>
            <a:ext cx="18290381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397" y="7204076"/>
            <a:ext cx="18290381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77E54-165B-A847-AA47-6003AD81C543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88137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77E54-165B-A847-AA47-6003AD81C543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1608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917" y="3419477"/>
            <a:ext cx="21033938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917" y="9178927"/>
            <a:ext cx="21033938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77E54-165B-A847-AA47-6003AD81C543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676385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618" y="3651250"/>
            <a:ext cx="10364549" cy="87026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6008" y="3651250"/>
            <a:ext cx="10364549" cy="87026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77E54-165B-A847-AA47-6003AD81C543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056796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795" y="730251"/>
            <a:ext cx="21033938" cy="265112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796" y="3362326"/>
            <a:ext cx="10316917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796" y="5010150"/>
            <a:ext cx="10316917" cy="73691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6007" y="3362326"/>
            <a:ext cx="1036772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6007" y="5010150"/>
            <a:ext cx="10367726" cy="73691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77E54-165B-A847-AA47-6003AD81C543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144667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77E54-165B-A847-AA47-6003AD81C543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3272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77E54-165B-A847-AA47-6003AD81C543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55582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796" y="914400"/>
            <a:ext cx="7865498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7726" y="1974851"/>
            <a:ext cx="12346007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796" y="4114800"/>
            <a:ext cx="7865498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77E54-165B-A847-AA47-6003AD81C543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890065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796" y="914400"/>
            <a:ext cx="7865498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7726" y="1974851"/>
            <a:ext cx="12346007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796" y="4114800"/>
            <a:ext cx="7865498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77E54-165B-A847-AA47-6003AD81C543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768342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77E54-165B-A847-AA47-6003AD81C543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959024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52072" y="730250"/>
            <a:ext cx="5258485" cy="1162367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618" y="730250"/>
            <a:ext cx="15470614" cy="1162367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77E54-165B-A847-AA47-6003AD81C543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8375770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D776A7F9-BC5F-D222-540A-7CD421497B6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31266" cy="25400"/>
          </a:xfrm>
          <a:prstGeom prst="octagon">
            <a:avLst/>
          </a:prstGeom>
          <a:noFill/>
          <a:ln w="25400" cap="flat">
            <a:noFill/>
            <a:prstDash val="solid"/>
            <a:round/>
          </a:ln>
          <a:effectLst/>
          <a:sp3d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25400" cap="flat">
                <a:solidFill>
                  <a:schemeClr val="accent1"/>
                </a:solidFill>
                <a:prstDash val="solid"/>
                <a:rou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7532" tIns="97532" rIns="97532" bIns="97532" numCol="1" spcCol="38100" rtlCol="0" anchor="ctr">
            <a:spAutoFit/>
          </a:bodyPr>
          <a:lstStyle/>
          <a:p>
            <a:pPr marL="0" marR="0" indent="0" algn="l" defTabSz="2600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2597663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C96FAA8-6DF1-6BAB-C635-04A098D85892}"/>
              </a:ext>
            </a:extLst>
          </p:cNvPr>
          <p:cNvSpPr/>
          <p:nvPr userDrawn="1"/>
        </p:nvSpPr>
        <p:spPr>
          <a:xfrm>
            <a:off x="0" y="0"/>
            <a:ext cx="17954005" cy="13716000"/>
          </a:xfrm>
          <a:prstGeom prst="rect">
            <a:avLst/>
          </a:prstGeom>
          <a:solidFill>
            <a:srgbClr val="0A3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7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16243-3424-5E20-F93E-7E5E0C7A4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0850" y="5196007"/>
            <a:ext cx="12080385" cy="332398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12000" b="1" i="0">
                <a:solidFill>
                  <a:srgbClr val="F4F4FF"/>
                </a:solidFill>
                <a:latin typeface="Figtree SemiBold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3E3AD-9795-2274-E234-C26E11AAB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0851" y="9306143"/>
            <a:ext cx="10911159" cy="664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4800">
                <a:solidFill>
                  <a:srgbClr val="F4F4FF"/>
                </a:solidFill>
                <a:latin typeface="Figtree" pitchFamily="2" charset="0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GB"/>
              <a:t>Click to edit Master subtitle style</a:t>
            </a:r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C7000-F164-26AD-B7F8-A71CE4DA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463661" y="13190413"/>
            <a:ext cx="246896" cy="246222"/>
          </a:xfrm>
          <a:prstGeom prst="rect">
            <a:avLst/>
          </a:prstGeom>
        </p:spPr>
        <p:txBody>
          <a:bodyPr/>
          <a:lstStyle/>
          <a:p>
            <a:fld id="{4AA77E54-165B-A847-AA47-6003AD81C543}" type="slidenum">
              <a:rPr lang="en-PT" smtClean="0"/>
              <a:t>‹#›</a:t>
            </a:fld>
            <a:endParaRPr lang="en-PT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905F2B8-EB63-6033-05B3-F5F1EF89D7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953788" y="0"/>
            <a:ext cx="6433388" cy="13716000"/>
          </a:xfrm>
          <a:prstGeom prst="rect">
            <a:avLst/>
          </a:prstGeom>
        </p:spPr>
        <p:txBody>
          <a:bodyPr/>
          <a:lstStyle/>
          <a:p>
            <a:endParaRPr lang="en-PT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5217BD-266B-8054-CFA4-5D7C5A22BD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60850" y="3286779"/>
            <a:ext cx="3218319" cy="106001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73865-2201-005D-EAC4-C2E273D0E8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15597" y="13272299"/>
            <a:ext cx="2231671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>
                <a:latin typeface="Figtree" pitchFamily="2"/>
                <a:ea typeface="Figtree Regular" pitchFamily="34"/>
                <a:cs typeface="Figtree Regular" pitchFamily="34"/>
              </a:rPr>
              <a:t>| Strictly private and confidential</a:t>
            </a:r>
            <a:endParaRPr lang="en-US">
              <a:latin typeface="Figtree" pitchFamily="2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B3EC58-2441-214A-25C9-FCD91B978F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0225" y="13257284"/>
            <a:ext cx="1415242" cy="21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891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16243-3424-5E20-F93E-7E5E0C7A4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0850" y="5196007"/>
            <a:ext cx="12080385" cy="332398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12000" b="1" i="0">
                <a:solidFill>
                  <a:schemeClr val="tx1"/>
                </a:solidFill>
                <a:latin typeface="Figtree SemiBold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3E3AD-9795-2274-E234-C26E11AAB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0851" y="9306143"/>
            <a:ext cx="10911159" cy="664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4800">
                <a:solidFill>
                  <a:schemeClr val="tx1"/>
                </a:solidFill>
                <a:latin typeface="Figtree" pitchFamily="2" charset="0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GB"/>
              <a:t>Click to edit Master subtitle style</a:t>
            </a:r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C7000-F164-26AD-B7F8-A71CE4DA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463661" y="13190413"/>
            <a:ext cx="246896" cy="246222"/>
          </a:xfrm>
          <a:prstGeom prst="rect">
            <a:avLst/>
          </a:prstGeom>
        </p:spPr>
        <p:txBody>
          <a:bodyPr/>
          <a:lstStyle/>
          <a:p>
            <a:fld id="{4AA77E54-165B-A847-AA47-6003AD81C543}" type="slidenum">
              <a:rPr lang="en-PT" smtClean="0"/>
              <a:t>‹#›</a:t>
            </a:fld>
            <a:endParaRPr lang="en-PT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905F2B8-EB63-6033-05B3-F5F1EF89D7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953788" y="0"/>
            <a:ext cx="6433388" cy="13716000"/>
          </a:xfrm>
          <a:prstGeom prst="rect">
            <a:avLst/>
          </a:prstGeom>
        </p:spPr>
        <p:txBody>
          <a:bodyPr/>
          <a:lstStyle/>
          <a:p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03A65-11C9-119B-8886-D65E621B6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15599" y="13190413"/>
            <a:ext cx="2994800" cy="2462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>
                <a:solidFill>
                  <a:srgbClr val="7F7F7F"/>
                </a:solidFill>
                <a:latin typeface="Figtree" pitchFamily="2"/>
                <a:ea typeface="Figtree Regular" pitchFamily="34"/>
                <a:cs typeface="Figtree Regular" pitchFamily="34"/>
              </a:rPr>
              <a:t>| Strictly private and confidential</a:t>
            </a:r>
            <a:endParaRPr lang="en-US">
              <a:solidFill>
                <a:srgbClr val="7F7F7F"/>
              </a:solidFill>
              <a:latin typeface="Figtree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8804930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C96FAA8-6DF1-6BAB-C635-04A098D85892}"/>
              </a:ext>
            </a:extLst>
          </p:cNvPr>
          <p:cNvSpPr/>
          <p:nvPr userDrawn="1"/>
        </p:nvSpPr>
        <p:spPr>
          <a:xfrm>
            <a:off x="0" y="0"/>
            <a:ext cx="17954005" cy="13716000"/>
          </a:xfrm>
          <a:prstGeom prst="rect">
            <a:avLst/>
          </a:prstGeom>
          <a:solidFill>
            <a:srgbClr val="00C1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7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16243-3424-5E20-F93E-7E5E0C7A4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0850" y="5196007"/>
            <a:ext cx="12080385" cy="332398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12000" b="1" i="0">
                <a:solidFill>
                  <a:srgbClr val="F4F4FF"/>
                </a:solidFill>
                <a:latin typeface="Figtree SemiBold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3E3AD-9795-2274-E234-C26E11AAB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0851" y="9306143"/>
            <a:ext cx="10911159" cy="664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4800" b="0" i="0">
                <a:solidFill>
                  <a:srgbClr val="F4F4FF"/>
                </a:solidFill>
                <a:latin typeface="Figtree" pitchFamily="2" charset="0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GB"/>
              <a:t>Click to edit Master subtitle style</a:t>
            </a:r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C7000-F164-26AD-B7F8-A71CE4DA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463661" y="13190413"/>
            <a:ext cx="246896" cy="246222"/>
          </a:xfrm>
          <a:prstGeom prst="rect">
            <a:avLst/>
          </a:prstGeom>
        </p:spPr>
        <p:txBody>
          <a:bodyPr/>
          <a:lstStyle/>
          <a:p>
            <a:fld id="{4AA77E54-165B-A847-AA47-6003AD81C543}" type="slidenum">
              <a:rPr lang="en-PT" smtClean="0"/>
              <a:t>‹#›</a:t>
            </a:fld>
            <a:endParaRPr lang="en-PT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905F2B8-EB63-6033-05B3-F5F1EF89D7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953788" y="49448"/>
            <a:ext cx="6433388" cy="13716000"/>
          </a:xfrm>
          <a:prstGeom prst="rect">
            <a:avLst/>
          </a:prstGeom>
        </p:spPr>
        <p:txBody>
          <a:bodyPr/>
          <a:lstStyle/>
          <a:p>
            <a:endParaRPr lang="en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409580-271D-08ED-C5BB-4F715828DD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60850" y="3259653"/>
            <a:ext cx="3218319" cy="106001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8BF2F1-419D-1BA8-6441-7BA6A1953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0225" y="13257284"/>
            <a:ext cx="1415242" cy="214692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AF5811D-FD1B-2ABE-B111-EC99041F3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15599" y="13190413"/>
            <a:ext cx="2994800" cy="2462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>
                <a:solidFill>
                  <a:srgbClr val="7F7F7F"/>
                </a:solidFill>
                <a:latin typeface="Figtree" pitchFamily="2"/>
                <a:ea typeface="Figtree Regular" pitchFamily="34"/>
                <a:cs typeface="Figtree Regular" pitchFamily="34"/>
              </a:rPr>
              <a:t>| Strictly private and confidential</a:t>
            </a:r>
            <a:endParaRPr lang="en-US">
              <a:solidFill>
                <a:srgbClr val="7F7F7F"/>
              </a:solidFill>
              <a:latin typeface="Figtree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9361740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F0727AA-3B46-B75F-23D4-018B3CA66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15599" y="13190413"/>
            <a:ext cx="2994800" cy="2462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>
                <a:solidFill>
                  <a:srgbClr val="7F7F7F"/>
                </a:solidFill>
                <a:latin typeface="Figtree" pitchFamily="2"/>
                <a:ea typeface="Figtree Regular" pitchFamily="34"/>
                <a:cs typeface="Figtree Regular" pitchFamily="34"/>
              </a:rPr>
              <a:t>| Strictly private and confidential</a:t>
            </a:r>
            <a:endParaRPr lang="en-US">
              <a:solidFill>
                <a:srgbClr val="7F7F7F"/>
              </a:solidFill>
              <a:latin typeface="Figtree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748078775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618" y="13206186"/>
            <a:ext cx="1396546" cy="21466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3788" y="1"/>
            <a:ext cx="6433388" cy="13715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7788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1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A3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 descr=" ">
            <a:extLst>
              <a:ext uri="{FF2B5EF4-FFF2-40B4-BE49-F238E27FC236}">
                <a16:creationId xmlns:a16="http://schemas.microsoft.com/office/drawing/2014/main" id="{0DB94373-FFBE-214B-C27D-E0B703BAF14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0510" y="182660"/>
            <a:ext cx="24444190" cy="13746348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992A4DB-7DF1-D210-0D42-0D5026D67432}"/>
              </a:ext>
            </a:extLst>
          </p:cNvPr>
          <p:cNvGrpSpPr/>
          <p:nvPr userDrawn="1"/>
        </p:nvGrpSpPr>
        <p:grpSpPr>
          <a:xfrm>
            <a:off x="8930462" y="4893105"/>
            <a:ext cx="6526250" cy="2162730"/>
            <a:chOff x="8648640" y="5677688"/>
            <a:chExt cx="7088627" cy="2349401"/>
          </a:xfrm>
        </p:grpSpPr>
        <p:sp>
          <p:nvSpPr>
            <p:cNvPr id="24" name="Shape 0">
              <a:extLst>
                <a:ext uri="{FF2B5EF4-FFF2-40B4-BE49-F238E27FC236}">
                  <a16:creationId xmlns:a16="http://schemas.microsoft.com/office/drawing/2014/main" id="{743CBBF1-5C45-E49C-D4DE-F17B1DE705A3}"/>
                </a:ext>
              </a:extLst>
            </p:cNvPr>
            <p:cNvSpPr/>
            <p:nvPr userDrawn="1"/>
          </p:nvSpPr>
          <p:spPr>
            <a:xfrm>
              <a:off x="8648640" y="5677688"/>
              <a:ext cx="7088627" cy="2349400"/>
            </a:xfrm>
            <a:prstGeom prst="rect">
              <a:avLst/>
            </a:prstGeom>
            <a:noFill/>
            <a:ln/>
          </p:spPr>
          <p:txBody>
            <a:bodyPr/>
            <a:lstStyle/>
            <a:p>
              <a:endParaRPr lang="en-PT" sz="7200"/>
            </a:p>
          </p:txBody>
        </p:sp>
        <p:pic>
          <p:nvPicPr>
            <p:cNvPr id="25" name="Image 1" descr=" ">
              <a:extLst>
                <a:ext uri="{FF2B5EF4-FFF2-40B4-BE49-F238E27FC236}">
                  <a16:creationId xmlns:a16="http://schemas.microsoft.com/office/drawing/2014/main" id="{D74383B9-F9B1-20AD-EB61-7591370E60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648640" y="5677688"/>
              <a:ext cx="7088627" cy="2349401"/>
            </a:xfrm>
            <a:prstGeom prst="rect">
              <a:avLst/>
            </a:prstGeom>
          </p:spPr>
        </p:pic>
        <p:pic>
          <p:nvPicPr>
            <p:cNvPr id="26" name="Image 2" descr=" ">
              <a:extLst>
                <a:ext uri="{FF2B5EF4-FFF2-40B4-BE49-F238E27FC236}">
                  <a16:creationId xmlns:a16="http://schemas.microsoft.com/office/drawing/2014/main" id="{08A72748-B1FB-0F0C-74B2-CF16744528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10202" y="6038416"/>
              <a:ext cx="722477" cy="1519219"/>
            </a:xfrm>
            <a:prstGeom prst="rect">
              <a:avLst/>
            </a:prstGeom>
          </p:spPr>
        </p:pic>
        <p:pic>
          <p:nvPicPr>
            <p:cNvPr id="27" name="Image 3" descr=" ">
              <a:extLst>
                <a:ext uri="{FF2B5EF4-FFF2-40B4-BE49-F238E27FC236}">
                  <a16:creationId xmlns:a16="http://schemas.microsoft.com/office/drawing/2014/main" id="{F51A7D39-552E-7102-376F-5C22199DD2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899231" y="7123671"/>
              <a:ext cx="848439" cy="630628"/>
            </a:xfrm>
            <a:prstGeom prst="rect">
              <a:avLst/>
            </a:prstGeom>
          </p:spPr>
        </p:pic>
        <p:pic>
          <p:nvPicPr>
            <p:cNvPr id="28" name="Image 4" descr=" ">
              <a:extLst>
                <a:ext uri="{FF2B5EF4-FFF2-40B4-BE49-F238E27FC236}">
                  <a16:creationId xmlns:a16="http://schemas.microsoft.com/office/drawing/2014/main" id="{F541179C-B252-0797-4A44-39B0C8E785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3929176" y="7124595"/>
              <a:ext cx="555508" cy="850540"/>
            </a:xfrm>
            <a:prstGeom prst="rect">
              <a:avLst/>
            </a:prstGeom>
          </p:spPr>
        </p:pic>
        <p:pic>
          <p:nvPicPr>
            <p:cNvPr id="29" name="Image 5" descr=" ">
              <a:extLst>
                <a:ext uri="{FF2B5EF4-FFF2-40B4-BE49-F238E27FC236}">
                  <a16:creationId xmlns:a16="http://schemas.microsoft.com/office/drawing/2014/main" id="{196C91D4-4D70-B9BB-C111-5CA66D6614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77881" y="5831427"/>
              <a:ext cx="564712" cy="858385"/>
            </a:xfrm>
            <a:prstGeom prst="rect">
              <a:avLst/>
            </a:prstGeom>
          </p:spPr>
        </p:pic>
        <p:pic>
          <p:nvPicPr>
            <p:cNvPr id="30" name="Image 6" descr=" ">
              <a:extLst>
                <a:ext uri="{FF2B5EF4-FFF2-40B4-BE49-F238E27FC236}">
                  <a16:creationId xmlns:a16="http://schemas.microsoft.com/office/drawing/2014/main" id="{153E6BC3-797D-A2F0-3910-EE12F60E07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477881" y="6915479"/>
              <a:ext cx="655198" cy="857362"/>
            </a:xfrm>
            <a:prstGeom prst="rect">
              <a:avLst/>
            </a:prstGeom>
          </p:spPr>
        </p:pic>
        <p:pic>
          <p:nvPicPr>
            <p:cNvPr id="31" name="Image 7" descr=" ">
              <a:extLst>
                <a:ext uri="{FF2B5EF4-FFF2-40B4-BE49-F238E27FC236}">
                  <a16:creationId xmlns:a16="http://schemas.microsoft.com/office/drawing/2014/main" id="{D8A45F69-5F51-F894-3AFA-703C092426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25465" y="6037783"/>
              <a:ext cx="498835" cy="646081"/>
            </a:xfrm>
            <a:prstGeom prst="rect">
              <a:avLst/>
            </a:prstGeom>
          </p:spPr>
        </p:pic>
        <p:pic>
          <p:nvPicPr>
            <p:cNvPr id="32" name="Image 8" descr=" ">
              <a:extLst>
                <a:ext uri="{FF2B5EF4-FFF2-40B4-BE49-F238E27FC236}">
                  <a16:creationId xmlns:a16="http://schemas.microsoft.com/office/drawing/2014/main" id="{EDACB8FB-5A7A-FEEC-472D-08464875BF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218791" y="7120923"/>
              <a:ext cx="498959" cy="646584"/>
            </a:xfrm>
            <a:prstGeom prst="rect">
              <a:avLst/>
            </a:prstGeom>
          </p:spPr>
        </p:pic>
        <p:pic>
          <p:nvPicPr>
            <p:cNvPr id="33" name="Image 9" descr=" ">
              <a:extLst>
                <a:ext uri="{FF2B5EF4-FFF2-40B4-BE49-F238E27FC236}">
                  <a16:creationId xmlns:a16="http://schemas.microsoft.com/office/drawing/2014/main" id="{7D683264-60D0-F1FE-97F8-D111A5F5C3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4630381" y="7136203"/>
              <a:ext cx="513112" cy="632160"/>
            </a:xfrm>
            <a:prstGeom prst="rect">
              <a:avLst/>
            </a:prstGeom>
          </p:spPr>
        </p:pic>
        <p:pic>
          <p:nvPicPr>
            <p:cNvPr id="34" name="Image 10" descr=" ">
              <a:extLst>
                <a:ext uri="{FF2B5EF4-FFF2-40B4-BE49-F238E27FC236}">
                  <a16:creationId xmlns:a16="http://schemas.microsoft.com/office/drawing/2014/main" id="{A84EC64D-17CA-4036-143B-79515017D7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3777948" y="5866259"/>
              <a:ext cx="382462" cy="819404"/>
            </a:xfrm>
            <a:prstGeom prst="rect">
              <a:avLst/>
            </a:prstGeom>
          </p:spPr>
        </p:pic>
        <p:pic>
          <p:nvPicPr>
            <p:cNvPr id="35" name="Image 11" descr=" ">
              <a:extLst>
                <a:ext uri="{FF2B5EF4-FFF2-40B4-BE49-F238E27FC236}">
                  <a16:creationId xmlns:a16="http://schemas.microsoft.com/office/drawing/2014/main" id="{61D6F536-A4C0-E265-6207-E08D15C7FF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2165020" y="5865943"/>
              <a:ext cx="382759" cy="819572"/>
            </a:xfrm>
            <a:prstGeom prst="rect">
              <a:avLst/>
            </a:prstGeom>
          </p:spPr>
        </p:pic>
        <p:pic>
          <p:nvPicPr>
            <p:cNvPr id="36" name="Image 12" descr=" ">
              <a:extLst>
                <a:ext uri="{FF2B5EF4-FFF2-40B4-BE49-F238E27FC236}">
                  <a16:creationId xmlns:a16="http://schemas.microsoft.com/office/drawing/2014/main" id="{1227A3F5-AB38-6A52-92C0-CC67896AB4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3304045" y="6040692"/>
              <a:ext cx="373692" cy="6306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850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9A9F6-B56F-AD6D-FF08-FA883950C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463661" y="13190413"/>
            <a:ext cx="246896" cy="2462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A77E54-165B-A847-AA47-6003AD81C543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D134FFA-B501-A662-2EDF-ECBCF59ED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15597" y="13270639"/>
            <a:ext cx="2231671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Figtree" pitchFamily="2"/>
                <a:ea typeface="Figtree Regular" pitchFamily="34"/>
                <a:cs typeface="Figtree Regular" pitchFamily="34"/>
              </a:rPr>
              <a:t>| Strictly private and confidential</a:t>
            </a:r>
            <a:endParaRPr lang="en-US">
              <a:latin typeface="Figtree" pitchFamily="2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DF36E7C-989D-E2CB-127E-284F9DF01F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8795" y="13119257"/>
            <a:ext cx="2001663" cy="30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4619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619" y="730251"/>
            <a:ext cx="21033938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619" y="3651250"/>
            <a:ext cx="21033938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pic>
        <p:nvPicPr>
          <p:cNvPr id="8" name="Picture 24">
            <a:extLst>
              <a:ext uri="{FF2B5EF4-FFF2-40B4-BE49-F238E27FC236}">
                <a16:creationId xmlns:a16="http://schemas.microsoft.com/office/drawing/2014/main" id="{A4442BE5-F9DE-B35A-C08B-72DEEF2BC864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6620" y="13119257"/>
            <a:ext cx="1961930" cy="301611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85036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53" r:id="rId12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91990A4-9DDF-CACD-FBBF-528BA846C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463661" y="13190413"/>
            <a:ext cx="246896" cy="2462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A77E54-165B-A847-AA47-6003AD81C543}" type="slidenum">
              <a:rPr lang="en-PT" smtClean="0"/>
              <a:pPr/>
              <a:t>‹#›</a:t>
            </a:fld>
            <a:endParaRPr lang="en-PT"/>
          </a:p>
        </p:txBody>
      </p:sp>
      <p:pic>
        <p:nvPicPr>
          <p:cNvPr id="19" name="Picture 24">
            <a:extLst>
              <a:ext uri="{FF2B5EF4-FFF2-40B4-BE49-F238E27FC236}">
                <a16:creationId xmlns:a16="http://schemas.microsoft.com/office/drawing/2014/main" id="{290126AE-B33A-05A2-20EF-AF2351D3395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6620" y="13206176"/>
            <a:ext cx="1396538" cy="214692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48721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3" r:id="rId5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://www.startcampus.pt/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svg"/><Relationship Id="rId11" Type="http://schemas.openxmlformats.org/officeDocument/2006/relationships/image" Target="../media/image28.jpe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svg"/><Relationship Id="rId11" Type="http://schemas.openxmlformats.org/officeDocument/2006/relationships/image" Target="../media/image31.png"/><Relationship Id="rId5" Type="http://schemas.openxmlformats.org/officeDocument/2006/relationships/image" Target="../media/image29.png"/><Relationship Id="rId10" Type="http://schemas.openxmlformats.org/officeDocument/2006/relationships/image" Target="../media/image30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://www.startcampus.pt/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svg"/><Relationship Id="rId11" Type="http://schemas.openxmlformats.org/officeDocument/2006/relationships/image" Target="../media/image28.jpe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://www.startcampus.pt/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svg"/><Relationship Id="rId11" Type="http://schemas.openxmlformats.org/officeDocument/2006/relationships/image" Target="../media/image32.jpe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://www.startcampus.pt/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svg"/><Relationship Id="rId11" Type="http://schemas.openxmlformats.org/officeDocument/2006/relationships/image" Target="../media/image32.jpe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://www.startcampus.pt/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svg"/><Relationship Id="rId11" Type="http://schemas.openxmlformats.org/officeDocument/2006/relationships/image" Target="../media/image36.jpe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0.svg"/><Relationship Id="rId5" Type="http://schemas.openxmlformats.org/officeDocument/2006/relationships/image" Target="../media/image39.jpeg"/><Relationship Id="rId4" Type="http://schemas.openxmlformats.org/officeDocument/2006/relationships/image" Target="../media/image38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://www.startcampus.pt/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svg"/><Relationship Id="rId11" Type="http://schemas.openxmlformats.org/officeDocument/2006/relationships/image" Target="../media/image36.jpe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E13E6-4D0F-C328-2A09-7687C3B2C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D6F600-3753-8AFC-B123-93B2FEA93E29}"/>
              </a:ext>
            </a:extLst>
          </p:cNvPr>
          <p:cNvSpPr txBox="1"/>
          <p:nvPr/>
        </p:nvSpPr>
        <p:spPr>
          <a:xfrm>
            <a:off x="7217705" y="5926976"/>
            <a:ext cx="995176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b="1" dirty="0">
                <a:latin typeface="Figtree" pitchFamily="2" charset="0"/>
              </a:rPr>
              <a:t>SINES DC PDF</a:t>
            </a:r>
            <a:endParaRPr lang="pt-PT" sz="11500" b="1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96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AAF82-457D-0942-EFF1-92EA5012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DF1E089-FE02-2BE4-9869-69EDD75A38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679" y="0"/>
            <a:ext cx="8889356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800"/>
            <a:endParaRPr lang="en-GB">
              <a:solidFill>
                <a:srgbClr val="F4F4FF"/>
              </a:solidFill>
              <a:latin typeface="Gill Sans MT" panose="020B0502020104020203"/>
            </a:endParaRP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D3B1C02-1D97-AFC5-1CD6-73EB7C05C03D}"/>
              </a:ext>
            </a:extLst>
          </p:cNvPr>
          <p:cNvSpPr txBox="1">
            <a:spLocks/>
          </p:cNvSpPr>
          <p:nvPr/>
        </p:nvSpPr>
        <p:spPr>
          <a:xfrm>
            <a:off x="517441" y="3710863"/>
            <a:ext cx="7841116" cy="3147137"/>
          </a:xfrm>
          <a:prstGeom prst="rect">
            <a:avLst/>
          </a:prstGeom>
        </p:spPr>
        <p:txBody>
          <a:bodyPr lIns="72000" tIns="0" rIns="0" bIns="0" anchor="b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algn="ctr" defTabSz="1828526"/>
            <a:r>
              <a:rPr lang="en-US" sz="6600" b="1" dirty="0">
                <a:solidFill>
                  <a:srgbClr val="00C159"/>
                </a:solidFill>
                <a:latin typeface="Figtree SemiBold" pitchFamily="2" charset="0"/>
              </a:rPr>
              <a:t>SINES DC</a:t>
            </a:r>
            <a:br>
              <a:rPr lang="en-US" sz="8000" b="1" dirty="0">
                <a:solidFill>
                  <a:srgbClr val="00C159"/>
                </a:solidFill>
                <a:latin typeface="Figtree SemiBold" pitchFamily="2" charset="0"/>
              </a:rPr>
            </a:br>
            <a:endParaRPr lang="en-US" sz="1800" b="1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 defTabSz="1828526"/>
            <a:r>
              <a:rPr lang="it-IT" sz="4000" dirty="0">
                <a:solidFill>
                  <a:schemeClr val="bg1"/>
                </a:solidFill>
                <a:latin typeface="Figtree SemiBold" pitchFamily="2" charset="0"/>
              </a:rPr>
              <a:t>Europe’s First Giga-Scale</a:t>
            </a:r>
            <a:br>
              <a:rPr lang="it-IT" sz="4000" dirty="0">
                <a:solidFill>
                  <a:schemeClr val="bg1"/>
                </a:solidFill>
                <a:latin typeface="Figtree SemiBold" pitchFamily="2" charset="0"/>
              </a:rPr>
            </a:br>
            <a:r>
              <a:rPr lang="it-IT" sz="4000" dirty="0">
                <a:solidFill>
                  <a:schemeClr val="bg1"/>
                </a:solidFill>
                <a:latin typeface="Figtree SemiBold" pitchFamily="2" charset="0"/>
              </a:rPr>
              <a:t>AI Data Campus</a:t>
            </a:r>
            <a:endParaRPr lang="en-US" sz="7200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/>
            <a:endParaRPr lang="en-US" sz="2800" b="1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Sines, Portugal</a:t>
            </a:r>
            <a:r>
              <a:rPr lang="en-US" sz="2800" dirty="0">
                <a:solidFill>
                  <a:schemeClr val="bg1"/>
                </a:solidFill>
                <a:latin typeface="Figtree SemiBold" pitchFamily="2" charset="0"/>
              </a:rPr>
              <a:t> 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Site Coordinates: 37.934961, -8.812558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c. 90 km south of Lisbon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3B509897-EAA3-56AD-FDAF-205D1B92016E}"/>
              </a:ext>
            </a:extLst>
          </p:cNvPr>
          <p:cNvSpPr txBox="1">
            <a:spLocks/>
          </p:cNvSpPr>
          <p:nvPr/>
        </p:nvSpPr>
        <p:spPr>
          <a:xfrm>
            <a:off x="806767" y="7196592"/>
            <a:ext cx="7262464" cy="1819435"/>
          </a:xfrm>
          <a:prstGeom prst="rect">
            <a:avLst/>
          </a:prstGeom>
        </p:spPr>
        <p:txBody>
          <a:bodyPr lIns="72000" tIns="36000" rIns="72000" bIns="36000" anchor="t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1.2GW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campus</a:t>
            </a:r>
            <a:r>
              <a:rPr lang="en-US" sz="2800" dirty="0">
                <a:solidFill>
                  <a:schemeClr val="bg1"/>
                </a:solidFill>
              </a:rPr>
              <a:t> -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200MW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ready-to-build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37.5 MW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SIN01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-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AI-ready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design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SOC 2</a:t>
            </a:r>
            <a:r>
              <a:rPr lang="en-US" sz="2800" dirty="0">
                <a:solidFill>
                  <a:schemeClr val="bg1"/>
                </a:solidFill>
              </a:rPr>
              <a:t> -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Leed Gold </a:t>
            </a:r>
            <a:r>
              <a:rPr lang="en-US" sz="2800" dirty="0">
                <a:solidFill>
                  <a:schemeClr val="bg1"/>
                </a:solidFill>
              </a:rPr>
              <a:t>-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ISO27001 - OCP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Read</a:t>
            </a:r>
            <a:r>
              <a:rPr lang="en-US" sz="2800" dirty="0">
                <a:solidFill>
                  <a:schemeClr val="bg1"/>
                </a:solidFill>
              </a:rPr>
              <a:t>y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D71F6043-CFED-E731-9B8B-8BE410825FAA}"/>
              </a:ext>
            </a:extLst>
          </p:cNvPr>
          <p:cNvSpPr txBox="1">
            <a:spLocks/>
          </p:cNvSpPr>
          <p:nvPr/>
        </p:nvSpPr>
        <p:spPr>
          <a:xfrm>
            <a:off x="11279309" y="7671332"/>
            <a:ext cx="6912000" cy="100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endParaRPr lang="en-US" sz="2800">
              <a:solidFill>
                <a:srgbClr val="000000"/>
              </a:solidFill>
              <a:latin typeface="Figtree" pitchFamily="2" charset="0"/>
            </a:endParaRPr>
          </a:p>
        </p:txBody>
      </p:sp>
      <p:sp>
        <p:nvSpPr>
          <p:cNvPr id="45" name="Text Placeholder 1">
            <a:extLst>
              <a:ext uri="{FF2B5EF4-FFF2-40B4-BE49-F238E27FC236}">
                <a16:creationId xmlns:a16="http://schemas.microsoft.com/office/drawing/2014/main" id="{DDB9985C-E95B-40E7-31BE-909849684815}"/>
              </a:ext>
            </a:extLst>
          </p:cNvPr>
          <p:cNvSpPr txBox="1">
            <a:spLocks/>
          </p:cNvSpPr>
          <p:nvPr/>
        </p:nvSpPr>
        <p:spPr>
          <a:xfrm>
            <a:off x="10803386" y="12046835"/>
            <a:ext cx="8889355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Low cost </a:t>
            </a:r>
            <a:r>
              <a:rPr lang="en-US" sz="3600" b="1" dirty="0">
                <a:solidFill>
                  <a:schemeClr val="bg1"/>
                </a:solidFill>
                <a:latin typeface="Figtree SemiBold" pitchFamily="2" charset="0"/>
              </a:rPr>
              <a:t>and </a:t>
            </a:r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100% renewable power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3BBAF1FA-E052-5EFD-1DA9-07B5B1B0E372}"/>
              </a:ext>
            </a:extLst>
          </p:cNvPr>
          <p:cNvSpPr txBox="1">
            <a:spLocks/>
          </p:cNvSpPr>
          <p:nvPr/>
        </p:nvSpPr>
        <p:spPr>
          <a:xfrm>
            <a:off x="10803387" y="11082896"/>
            <a:ext cx="8059798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Low latency </a:t>
            </a:r>
            <a:r>
              <a:rPr lang="en-US" sz="3600" b="1" dirty="0">
                <a:solidFill>
                  <a:schemeClr val="bg1"/>
                </a:solidFill>
                <a:latin typeface="Figtree SemiBold" pitchFamily="2" charset="0"/>
              </a:rPr>
              <a:t>to all major cities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70099AC4-ABAE-0E9F-3CCE-6628AE1E4659}"/>
              </a:ext>
            </a:extLst>
          </p:cNvPr>
          <p:cNvSpPr txBox="1">
            <a:spLocks/>
          </p:cNvSpPr>
          <p:nvPr/>
        </p:nvSpPr>
        <p:spPr>
          <a:xfrm>
            <a:off x="525707" y="9887313"/>
            <a:ext cx="7840800" cy="1440000"/>
          </a:xfrm>
          <a:prstGeom prst="rect">
            <a:avLst/>
          </a:prstGeom>
        </p:spPr>
        <p:txBody>
          <a:bodyPr lIns="72000" tIns="36000" rIns="72000" bIns="36000" anchor="t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marL="0" lvl="1">
              <a:lnSpc>
                <a:spcPct val="100000"/>
              </a:lnSpc>
              <a:buSzPct val="120000"/>
            </a:pPr>
            <a:endParaRPr lang="en-US" sz="2800">
              <a:solidFill>
                <a:srgbClr val="000000"/>
              </a:solidFill>
              <a:latin typeface="Figtree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293BB1-BC40-C8AE-654C-E8CAF729044D}"/>
              </a:ext>
            </a:extLst>
          </p:cNvPr>
          <p:cNvSpPr txBox="1"/>
          <p:nvPr/>
        </p:nvSpPr>
        <p:spPr>
          <a:xfrm>
            <a:off x="20038624" y="11893730"/>
            <a:ext cx="42100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828526"/>
            <a:r>
              <a:rPr lang="en-US" sz="2800" dirty="0">
                <a:solidFill>
                  <a:srgbClr val="00C159"/>
                </a:solidFill>
                <a:latin typeface="Figtree Light" pitchFamily="2" charset="0"/>
                <a:hlinkClick r:id="rId3"/>
              </a:rPr>
              <a:t>www.startcampus.pt</a:t>
            </a:r>
            <a:br>
              <a:rPr lang="en-US" sz="2800" dirty="0">
                <a:solidFill>
                  <a:schemeClr val="bg1"/>
                </a:solidFill>
                <a:latin typeface="Figtree Light" pitchFamily="2" charset="0"/>
              </a:rPr>
            </a:b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sales@startcampus.pt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4F230-91F4-60B2-CFD8-6C50F4767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7437" y="11611947"/>
            <a:ext cx="2331639" cy="110189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B5F7DDE-ECA0-B46D-CD46-7B3A18235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37837" y="11386894"/>
            <a:ext cx="1458392" cy="145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96C6C911-14CF-D47F-1F7E-70F941016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9430" y="720372"/>
            <a:ext cx="4277139" cy="1417836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49C69283-FD83-8667-818D-944AF369A53A}"/>
              </a:ext>
            </a:extLst>
          </p:cNvPr>
          <p:cNvGrpSpPr/>
          <p:nvPr/>
        </p:nvGrpSpPr>
        <p:grpSpPr>
          <a:xfrm>
            <a:off x="2123192" y="9256089"/>
            <a:ext cx="4629615" cy="1631950"/>
            <a:chOff x="2230511" y="9256089"/>
            <a:chExt cx="4629615" cy="16319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8F5CD10-95B9-6119-1C75-0EF3CC424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88579" y="9289033"/>
              <a:ext cx="1171547" cy="1499581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53A01E0-9550-2488-687D-615884DC4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230511" y="9256089"/>
              <a:ext cx="1282700" cy="1631950"/>
            </a:xfrm>
            <a:prstGeom prst="rect">
              <a:avLst/>
            </a:prstGeom>
          </p:spPr>
        </p:pic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B93591F2-24B5-B5B2-94E6-E95FEDD1B8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3168" y="9230466"/>
            <a:ext cx="852491" cy="3765162"/>
          </a:xfrm>
          <a:prstGeom prst="rect">
            <a:avLst/>
          </a:prstGeom>
        </p:spPr>
      </p:pic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58118351-8737-EF85-6CC2-F09BA455BB78}"/>
              </a:ext>
            </a:extLst>
          </p:cNvPr>
          <p:cNvSpPr txBox="1">
            <a:spLocks/>
          </p:cNvSpPr>
          <p:nvPr/>
        </p:nvSpPr>
        <p:spPr>
          <a:xfrm>
            <a:off x="10803386" y="9155020"/>
            <a:ext cx="8889355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pt-PT" sz="3600" b="1" dirty="0">
                <a:solidFill>
                  <a:srgbClr val="00C159"/>
                </a:solidFill>
                <a:latin typeface="Figtree SemiBold" pitchFamily="2" charset="0"/>
              </a:rPr>
              <a:t>1.2 GW </a:t>
            </a:r>
            <a:r>
              <a:rPr lang="pt-PT" sz="3600" b="1" dirty="0">
                <a:solidFill>
                  <a:schemeClr val="bg1"/>
                </a:solidFill>
                <a:latin typeface="Figtree SemiBold" pitchFamily="2" charset="0"/>
              </a:rPr>
              <a:t>IT </a:t>
            </a:r>
            <a:r>
              <a:rPr lang="pt-PT" sz="3600" b="1" dirty="0" err="1">
                <a:solidFill>
                  <a:schemeClr val="bg1"/>
                </a:solidFill>
                <a:latin typeface="Figtree SemiBold" pitchFamily="2" charset="0"/>
              </a:rPr>
              <a:t>capacity</a:t>
            </a:r>
            <a:endParaRPr lang="en-US" sz="36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DDDB888A-348E-9A7A-4616-10D5E5400DDF}"/>
              </a:ext>
            </a:extLst>
          </p:cNvPr>
          <p:cNvSpPr txBox="1">
            <a:spLocks/>
          </p:cNvSpPr>
          <p:nvPr/>
        </p:nvSpPr>
        <p:spPr>
          <a:xfrm>
            <a:off x="10803387" y="10118958"/>
            <a:ext cx="8059798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pt-PT" sz="3600" b="1" dirty="0">
                <a:solidFill>
                  <a:srgbClr val="00C159"/>
                </a:solidFill>
                <a:latin typeface="Figtree SemiBold" pitchFamily="2" charset="0"/>
              </a:rPr>
              <a:t>100% </a:t>
            </a:r>
            <a:r>
              <a:rPr lang="pt-PT" sz="3600" b="1" dirty="0" err="1">
                <a:solidFill>
                  <a:schemeClr val="bg1"/>
                </a:solidFill>
                <a:latin typeface="Figtree SemiBold" pitchFamily="2" charset="0"/>
              </a:rPr>
              <a:t>Grid</a:t>
            </a:r>
            <a:r>
              <a:rPr lang="pt-PT" sz="3600" b="1" dirty="0">
                <a:solidFill>
                  <a:schemeClr val="bg1"/>
                </a:solidFill>
                <a:latin typeface="Figtree SemiBold" pitchFamily="2" charset="0"/>
              </a:rPr>
              <a:t> </a:t>
            </a:r>
            <a:r>
              <a:rPr lang="pt-PT" sz="3600" b="1" dirty="0" err="1">
                <a:solidFill>
                  <a:schemeClr val="bg1"/>
                </a:solidFill>
                <a:latin typeface="Figtree SemiBold" pitchFamily="2" charset="0"/>
              </a:rPr>
              <a:t>capacity</a:t>
            </a:r>
            <a:r>
              <a:rPr lang="pt-PT" sz="3600" b="1" dirty="0">
                <a:solidFill>
                  <a:schemeClr val="bg1"/>
                </a:solidFill>
                <a:latin typeface="Figtree SemiBold" pitchFamily="2" charset="0"/>
              </a:rPr>
              <a:t> </a:t>
            </a:r>
            <a:r>
              <a:rPr lang="pt-PT" sz="3600" b="1" dirty="0" err="1">
                <a:solidFill>
                  <a:schemeClr val="bg1"/>
                </a:solidFill>
                <a:latin typeface="Figtree SemiBold" pitchFamily="2" charset="0"/>
              </a:rPr>
              <a:t>secured</a:t>
            </a:r>
            <a:endParaRPr lang="en-US" sz="36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DA03413-5539-5706-EE91-1F7FAEB565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31200" y="9464208"/>
            <a:ext cx="2224899" cy="2224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9E5313-5F5E-47FD-7D5F-51D031D7579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6797" y="459561"/>
            <a:ext cx="14511552" cy="816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79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1165E-9E55-0444-C686-8980D41CF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026EA-3A4C-BF09-84BB-512718F53C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679" y="0"/>
            <a:ext cx="8889356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800"/>
            <a:endParaRPr lang="en-GB">
              <a:solidFill>
                <a:srgbClr val="F4F4FF"/>
              </a:solidFill>
              <a:latin typeface="Gill Sans MT" panose="020B0502020104020203"/>
            </a:endParaRP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DF0C978-AFA4-CA4C-8032-2AE25C425E18}"/>
              </a:ext>
            </a:extLst>
          </p:cNvPr>
          <p:cNvSpPr txBox="1">
            <a:spLocks/>
          </p:cNvSpPr>
          <p:nvPr/>
        </p:nvSpPr>
        <p:spPr>
          <a:xfrm>
            <a:off x="517441" y="3047301"/>
            <a:ext cx="7841116" cy="3147137"/>
          </a:xfrm>
          <a:prstGeom prst="rect">
            <a:avLst/>
          </a:prstGeom>
        </p:spPr>
        <p:txBody>
          <a:bodyPr lIns="72000" tIns="0" rIns="0" bIns="0" anchor="b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algn="ctr" defTabSz="1828526"/>
            <a:r>
              <a:rPr lang="en-US" sz="6600" b="1" dirty="0">
                <a:solidFill>
                  <a:srgbClr val="00C159"/>
                </a:solidFill>
                <a:latin typeface="Figtree SemiBold" pitchFamily="2" charset="0"/>
              </a:rPr>
              <a:t>SINES DC</a:t>
            </a:r>
            <a:br>
              <a:rPr lang="en-US" sz="8000" b="1" dirty="0">
                <a:solidFill>
                  <a:srgbClr val="00C159"/>
                </a:solidFill>
                <a:latin typeface="Figtree SemiBold" pitchFamily="2" charset="0"/>
              </a:rPr>
            </a:br>
            <a:endParaRPr lang="en-US" sz="1800" b="1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 defTabSz="1828526"/>
            <a:r>
              <a:rPr lang="it-IT" sz="4000" dirty="0">
                <a:solidFill>
                  <a:schemeClr val="bg1"/>
                </a:solidFill>
                <a:latin typeface="Figtree SemiBold" pitchFamily="2" charset="0"/>
              </a:rPr>
              <a:t>Europe’s First Giga-Scale</a:t>
            </a:r>
            <a:br>
              <a:rPr lang="it-IT" sz="4000" dirty="0">
                <a:solidFill>
                  <a:schemeClr val="bg1"/>
                </a:solidFill>
                <a:latin typeface="Figtree SemiBold" pitchFamily="2" charset="0"/>
              </a:rPr>
            </a:br>
            <a:r>
              <a:rPr lang="it-IT" sz="4000" dirty="0">
                <a:solidFill>
                  <a:schemeClr val="bg1"/>
                </a:solidFill>
                <a:latin typeface="Figtree SemiBold" pitchFamily="2" charset="0"/>
              </a:rPr>
              <a:t>AI Data Campus</a:t>
            </a:r>
            <a:endParaRPr lang="en-US" sz="7200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/>
            <a:endParaRPr lang="en-US" sz="2800" b="1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  <a:latin typeface="Figtree SemiBold" pitchFamily="2" charset="0"/>
              </a:rPr>
              <a:t>Sines, Portugal</a:t>
            </a:r>
            <a:r>
              <a:rPr lang="en-US" sz="1800" dirty="0">
                <a:solidFill>
                  <a:schemeClr val="bg1"/>
                </a:solidFill>
                <a:latin typeface="Figtree SemiBold" pitchFamily="2" charset="0"/>
              </a:rPr>
              <a:t> </a:t>
            </a:r>
          </a:p>
          <a:p>
            <a:pPr algn="ctr"/>
            <a:r>
              <a:rPr lang="en-US" sz="1800" dirty="0">
                <a:solidFill>
                  <a:schemeClr val="bg1"/>
                </a:solidFill>
                <a:latin typeface="Figtree Light" pitchFamily="2" charset="0"/>
              </a:rPr>
              <a:t>Site Coordinates: 37.934961, -8.812558</a:t>
            </a:r>
          </a:p>
          <a:p>
            <a:pPr algn="ctr"/>
            <a:r>
              <a:rPr lang="en-US" sz="1800" dirty="0">
                <a:solidFill>
                  <a:schemeClr val="bg1"/>
                </a:solidFill>
                <a:latin typeface="Figtree Light" pitchFamily="2" charset="0"/>
              </a:rPr>
              <a:t>c. 90 km south of Lisbon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26E09A4F-6B29-C0E4-F6CD-C00E7682D566}"/>
              </a:ext>
            </a:extLst>
          </p:cNvPr>
          <p:cNvSpPr txBox="1">
            <a:spLocks/>
          </p:cNvSpPr>
          <p:nvPr/>
        </p:nvSpPr>
        <p:spPr>
          <a:xfrm>
            <a:off x="789839" y="6499651"/>
            <a:ext cx="7262464" cy="828056"/>
          </a:xfrm>
          <a:prstGeom prst="rect">
            <a:avLst/>
          </a:prstGeom>
        </p:spPr>
        <p:txBody>
          <a:bodyPr lIns="72000" tIns="36000" rIns="72000" bIns="36000" anchor="t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  <a:latin typeface="Figtree SemiBold" pitchFamily="2" charset="0"/>
              </a:rPr>
              <a:t>1.2GW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Figtree Light" pitchFamily="2" charset="0"/>
              </a:rPr>
              <a:t>campus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en-US" sz="2000" b="1" dirty="0">
                <a:solidFill>
                  <a:schemeClr val="bg1"/>
                </a:solidFill>
                <a:latin typeface="Figtree SemiBold" pitchFamily="2" charset="0"/>
              </a:rPr>
              <a:t>200MW </a:t>
            </a:r>
            <a:r>
              <a:rPr lang="en-US" sz="2000" dirty="0">
                <a:solidFill>
                  <a:schemeClr val="bg1"/>
                </a:solidFill>
                <a:latin typeface="Figtree Light" pitchFamily="2" charset="0"/>
              </a:rPr>
              <a:t>ready-to-build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Figtree SemiBold" pitchFamily="2" charset="0"/>
              </a:rPr>
              <a:t>37.5 MW </a:t>
            </a:r>
            <a:r>
              <a:rPr lang="en-US" sz="2000" dirty="0">
                <a:solidFill>
                  <a:schemeClr val="bg1"/>
                </a:solidFill>
                <a:latin typeface="Figtree Light" pitchFamily="2" charset="0"/>
              </a:rPr>
              <a:t>SIN01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-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Figtree SemiBold" pitchFamily="2" charset="0"/>
              </a:rPr>
              <a:t>AI-ready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Figtree Light" pitchFamily="2" charset="0"/>
              </a:rPr>
              <a:t>design - </a:t>
            </a:r>
            <a:r>
              <a:rPr lang="en-US" sz="2000" b="1" dirty="0">
                <a:solidFill>
                  <a:schemeClr val="bg1"/>
                </a:solidFill>
                <a:latin typeface="Figtree SemiBold" pitchFamily="2" charset="0"/>
              </a:rPr>
              <a:t>SOC 2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en-US" sz="2000" dirty="0">
                <a:solidFill>
                  <a:schemeClr val="bg1"/>
                </a:solidFill>
                <a:latin typeface="Figtree Light" pitchFamily="2" charset="0"/>
              </a:rPr>
              <a:t>Leed Gold </a:t>
            </a:r>
            <a:r>
              <a:rPr lang="en-US" sz="2000" dirty="0">
                <a:solidFill>
                  <a:schemeClr val="bg1"/>
                </a:solidFill>
              </a:rPr>
              <a:t>-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Figtree SemiBold" pitchFamily="2" charset="0"/>
              </a:rPr>
              <a:t>ISO27001 - OCP </a:t>
            </a:r>
            <a:r>
              <a:rPr lang="en-US" sz="2000" dirty="0">
                <a:solidFill>
                  <a:schemeClr val="bg1"/>
                </a:solidFill>
                <a:latin typeface="Figtree Light" pitchFamily="2" charset="0"/>
              </a:rPr>
              <a:t>Read</a:t>
            </a:r>
            <a:r>
              <a:rPr lang="en-US" sz="2000" dirty="0">
                <a:solidFill>
                  <a:schemeClr val="bg1"/>
                </a:solidFill>
              </a:rPr>
              <a:t>y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C4310710-D63D-9563-A7F8-BAFA74198E4E}"/>
              </a:ext>
            </a:extLst>
          </p:cNvPr>
          <p:cNvSpPr txBox="1">
            <a:spLocks/>
          </p:cNvSpPr>
          <p:nvPr/>
        </p:nvSpPr>
        <p:spPr>
          <a:xfrm>
            <a:off x="11279309" y="7671332"/>
            <a:ext cx="6912000" cy="100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endParaRPr lang="en-US" sz="2800">
              <a:solidFill>
                <a:srgbClr val="000000"/>
              </a:solidFill>
              <a:latin typeface="Figtree" pitchFamily="2" charset="0"/>
            </a:endParaRPr>
          </a:p>
        </p:txBody>
      </p:sp>
      <p:sp>
        <p:nvSpPr>
          <p:cNvPr id="45" name="Text Placeholder 1">
            <a:extLst>
              <a:ext uri="{FF2B5EF4-FFF2-40B4-BE49-F238E27FC236}">
                <a16:creationId xmlns:a16="http://schemas.microsoft.com/office/drawing/2014/main" id="{77D17717-D2BE-A47E-D28E-4402DB189CB4}"/>
              </a:ext>
            </a:extLst>
          </p:cNvPr>
          <p:cNvSpPr txBox="1">
            <a:spLocks/>
          </p:cNvSpPr>
          <p:nvPr/>
        </p:nvSpPr>
        <p:spPr>
          <a:xfrm>
            <a:off x="2155271" y="11463122"/>
            <a:ext cx="8889355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en-US" sz="2800" b="1" dirty="0">
                <a:solidFill>
                  <a:srgbClr val="00C159"/>
                </a:solidFill>
                <a:latin typeface="Figtree SemiBold" pitchFamily="2" charset="0"/>
              </a:rPr>
              <a:t>Low cost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and </a:t>
            </a:r>
            <a:r>
              <a:rPr lang="en-US" sz="2800" b="1" dirty="0">
                <a:solidFill>
                  <a:srgbClr val="00C159"/>
                </a:solidFill>
                <a:latin typeface="Figtree SemiBold" pitchFamily="2" charset="0"/>
              </a:rPr>
              <a:t>100% renewable power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61D97885-A87C-87EB-92FB-448A57BFD7D5}"/>
              </a:ext>
            </a:extLst>
          </p:cNvPr>
          <p:cNvSpPr txBox="1">
            <a:spLocks/>
          </p:cNvSpPr>
          <p:nvPr/>
        </p:nvSpPr>
        <p:spPr>
          <a:xfrm>
            <a:off x="2155272" y="10499183"/>
            <a:ext cx="8059798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en-US" sz="2800" b="1" dirty="0">
                <a:solidFill>
                  <a:srgbClr val="00C159"/>
                </a:solidFill>
                <a:latin typeface="Figtree SemiBold" pitchFamily="2" charset="0"/>
              </a:rPr>
              <a:t>Low latency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to all major cities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03C6403-5056-DF14-F092-E3A42DB2C09D}"/>
              </a:ext>
            </a:extLst>
          </p:cNvPr>
          <p:cNvSpPr txBox="1">
            <a:spLocks/>
          </p:cNvSpPr>
          <p:nvPr/>
        </p:nvSpPr>
        <p:spPr>
          <a:xfrm>
            <a:off x="525707" y="9887313"/>
            <a:ext cx="7840800" cy="1440000"/>
          </a:xfrm>
          <a:prstGeom prst="rect">
            <a:avLst/>
          </a:prstGeom>
        </p:spPr>
        <p:txBody>
          <a:bodyPr lIns="72000" tIns="36000" rIns="72000" bIns="36000" anchor="t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marL="0" lvl="1">
              <a:lnSpc>
                <a:spcPct val="100000"/>
              </a:lnSpc>
              <a:buSzPct val="120000"/>
            </a:pPr>
            <a:endParaRPr lang="en-US" sz="2800">
              <a:solidFill>
                <a:srgbClr val="000000"/>
              </a:solidFill>
              <a:latin typeface="Figtree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619D3F-BF43-1FA5-C707-A4F4BD725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4067" y="11694907"/>
            <a:ext cx="2331639" cy="110189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37EA0BF-4AB4-FA29-DE8C-11D9919D2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903730" y="11516660"/>
            <a:ext cx="1458392" cy="145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170E07-7014-B949-2717-C80F9018BD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6797" y="-4233"/>
            <a:ext cx="14980377" cy="8426462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B5BED0D9-5881-6C81-9513-FE8C7F719C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9430" y="720372"/>
            <a:ext cx="4277139" cy="14178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666E95-FC6C-AD6E-D9C6-ED6F4A45C0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10353" y="11442147"/>
            <a:ext cx="1171547" cy="149958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DE18F3C-3100-8868-D7DF-17CDCC0F61B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462382" y="11403863"/>
            <a:ext cx="1282700" cy="163195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3209EE8-D38A-F897-CC1D-500FC68ACD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053" y="8646753"/>
            <a:ext cx="852491" cy="3765162"/>
          </a:xfrm>
          <a:prstGeom prst="rect">
            <a:avLst/>
          </a:prstGeom>
        </p:spPr>
      </p:pic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3EF8CF0B-D47E-3719-0A4F-16E16E4E2AAB}"/>
              </a:ext>
            </a:extLst>
          </p:cNvPr>
          <p:cNvSpPr txBox="1">
            <a:spLocks/>
          </p:cNvSpPr>
          <p:nvPr/>
        </p:nvSpPr>
        <p:spPr>
          <a:xfrm>
            <a:off x="2155271" y="8571307"/>
            <a:ext cx="8889355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pt-PT" sz="2800" b="1" dirty="0">
                <a:solidFill>
                  <a:srgbClr val="00C159"/>
                </a:solidFill>
                <a:latin typeface="Figtree SemiBold" pitchFamily="2" charset="0"/>
              </a:rPr>
              <a:t>1.2 GW </a:t>
            </a:r>
            <a:r>
              <a:rPr lang="pt-PT" sz="2800" b="1" dirty="0">
                <a:solidFill>
                  <a:schemeClr val="bg1"/>
                </a:solidFill>
                <a:latin typeface="Figtree SemiBold" pitchFamily="2" charset="0"/>
              </a:rPr>
              <a:t>IT </a:t>
            </a:r>
            <a:r>
              <a:rPr lang="pt-PT" sz="2800" b="1" dirty="0" err="1">
                <a:solidFill>
                  <a:schemeClr val="bg1"/>
                </a:solidFill>
                <a:latin typeface="Figtree SemiBold" pitchFamily="2" charset="0"/>
              </a:rPr>
              <a:t>capacity</a:t>
            </a:r>
            <a:endParaRPr lang="en-US" sz="28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20C1277F-4D4F-7DC8-3B35-495021C3CB0D}"/>
              </a:ext>
            </a:extLst>
          </p:cNvPr>
          <p:cNvSpPr txBox="1">
            <a:spLocks/>
          </p:cNvSpPr>
          <p:nvPr/>
        </p:nvSpPr>
        <p:spPr>
          <a:xfrm>
            <a:off x="2155272" y="9535245"/>
            <a:ext cx="8059798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pt-PT" sz="2800" b="1" dirty="0">
                <a:solidFill>
                  <a:srgbClr val="00C159"/>
                </a:solidFill>
                <a:latin typeface="Figtree SemiBold" pitchFamily="2" charset="0"/>
              </a:rPr>
              <a:t>100% </a:t>
            </a:r>
            <a:r>
              <a:rPr lang="pt-PT" sz="2800" b="1" dirty="0" err="1">
                <a:solidFill>
                  <a:schemeClr val="bg1"/>
                </a:solidFill>
                <a:latin typeface="Figtree SemiBold" pitchFamily="2" charset="0"/>
              </a:rPr>
              <a:t>Grid</a:t>
            </a:r>
            <a:r>
              <a:rPr lang="pt-PT" sz="2800" b="1" dirty="0">
                <a:solidFill>
                  <a:schemeClr val="bg1"/>
                </a:solidFill>
                <a:latin typeface="Figtree SemiBold" pitchFamily="2" charset="0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Figtree SemiBold" pitchFamily="2" charset="0"/>
              </a:rPr>
              <a:t>capacity</a:t>
            </a:r>
            <a:r>
              <a:rPr lang="pt-PT" sz="2800" b="1" dirty="0">
                <a:solidFill>
                  <a:schemeClr val="bg1"/>
                </a:solidFill>
                <a:latin typeface="Figtree SemiBold" pitchFamily="2" charset="0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Figtree SemiBold" pitchFamily="2" charset="0"/>
              </a:rPr>
              <a:t>secured</a:t>
            </a:r>
            <a:endParaRPr lang="en-US" sz="28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968133-4942-7063-8054-C95DD46E921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50407" y="8447064"/>
            <a:ext cx="15536767" cy="23820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014396A-4F20-5798-B5CF-5AB64BB7339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35309" y="11416317"/>
            <a:ext cx="2771677" cy="155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37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A5048-1F40-0D4F-056C-1C6422A5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462211-C154-4536-7D01-8B733D5A650F}"/>
              </a:ext>
            </a:extLst>
          </p:cNvPr>
          <p:cNvSpPr txBox="1"/>
          <p:nvPr/>
        </p:nvSpPr>
        <p:spPr>
          <a:xfrm>
            <a:off x="7217705" y="5926976"/>
            <a:ext cx="9951763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b="1" dirty="0">
                <a:latin typeface="Figtree" pitchFamily="2" charset="0"/>
              </a:rPr>
              <a:t>SINES DC PDF</a:t>
            </a:r>
            <a:br>
              <a:rPr lang="en-US" sz="11500" b="1" dirty="0">
                <a:latin typeface="Figtree" pitchFamily="2" charset="0"/>
              </a:rPr>
            </a:br>
            <a:r>
              <a:rPr lang="en-US" sz="11500" b="1" dirty="0">
                <a:latin typeface="Figtree" pitchFamily="2" charset="0"/>
              </a:rPr>
              <a:t>PT</a:t>
            </a:r>
            <a:endParaRPr lang="pt-PT" sz="11500" b="1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494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ACC056-89E5-15D1-18DF-06D2036E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CE0A041-98B8-09CF-F3CC-DA681DACF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679" y="0"/>
            <a:ext cx="8889356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800"/>
            <a:endParaRPr lang="en-GB">
              <a:solidFill>
                <a:srgbClr val="F4F4FF"/>
              </a:solidFill>
              <a:latin typeface="Gill Sans MT" panose="020B0502020104020203"/>
            </a:endParaRP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141E48A-3DDD-8607-CAE5-B5BA57C72E0C}"/>
              </a:ext>
            </a:extLst>
          </p:cNvPr>
          <p:cNvSpPr txBox="1">
            <a:spLocks/>
          </p:cNvSpPr>
          <p:nvPr/>
        </p:nvSpPr>
        <p:spPr>
          <a:xfrm>
            <a:off x="517441" y="3710863"/>
            <a:ext cx="7841116" cy="3147137"/>
          </a:xfrm>
          <a:prstGeom prst="rect">
            <a:avLst/>
          </a:prstGeom>
        </p:spPr>
        <p:txBody>
          <a:bodyPr lIns="72000" tIns="0" rIns="0" bIns="0" anchor="b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algn="ctr" defTabSz="1828526"/>
            <a:r>
              <a:rPr lang="en-US" sz="6600" b="1" dirty="0">
                <a:solidFill>
                  <a:srgbClr val="00C159"/>
                </a:solidFill>
                <a:latin typeface="Figtree SemiBold" pitchFamily="2" charset="0"/>
              </a:rPr>
              <a:t>SINES DC</a:t>
            </a:r>
            <a:br>
              <a:rPr lang="en-US" sz="8000" b="1" dirty="0">
                <a:solidFill>
                  <a:srgbClr val="00C159"/>
                </a:solidFill>
                <a:latin typeface="Figtree SemiBold" pitchFamily="2" charset="0"/>
              </a:rPr>
            </a:br>
            <a:endParaRPr lang="en-US" sz="1800" b="1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 defTabSz="1828526"/>
            <a:r>
              <a:rPr lang="pt-PT" sz="4000" dirty="0">
                <a:solidFill>
                  <a:schemeClr val="bg1"/>
                </a:solidFill>
                <a:latin typeface="Figtree SemiBold" pitchFamily="2" charset="0"/>
              </a:rPr>
              <a:t>A Primeira Giga Fábrica</a:t>
            </a:r>
            <a:br>
              <a:rPr lang="pt-PT" sz="4000" dirty="0">
                <a:solidFill>
                  <a:schemeClr val="bg1"/>
                </a:solidFill>
                <a:latin typeface="Figtree SemiBold" pitchFamily="2" charset="0"/>
              </a:rPr>
            </a:br>
            <a:r>
              <a:rPr lang="pt-PT" sz="4000" dirty="0">
                <a:solidFill>
                  <a:schemeClr val="bg1"/>
                </a:solidFill>
                <a:latin typeface="Figtree SemiBold" pitchFamily="2" charset="0"/>
              </a:rPr>
              <a:t>de IA na Europa
</a:t>
            </a:r>
            <a:br>
              <a:rPr lang="pt-PT" sz="4000" dirty="0">
                <a:solidFill>
                  <a:schemeClr val="bg1"/>
                </a:solidFill>
                <a:latin typeface="Figtree SemiBold" pitchFamily="2" charset="0"/>
              </a:rPr>
            </a:br>
            <a:r>
              <a:rPr lang="pt-PT" sz="2800" dirty="0">
                <a:solidFill>
                  <a:schemeClr val="bg1"/>
                </a:solidFill>
                <a:latin typeface="Figtree SemiBold" pitchFamily="2" charset="0"/>
              </a:rPr>
              <a:t>Sines, Portugal 
</a:t>
            </a:r>
            <a:r>
              <a:rPr lang="pt-PT" sz="2800" dirty="0">
                <a:solidFill>
                  <a:schemeClr val="bg1"/>
                </a:solidFill>
                <a:latin typeface="Figtree Light" pitchFamily="2" charset="0"/>
              </a:rPr>
              <a:t>Coordenadas do local: 37.934961, -8.812558
c. 90 km a sul de Lisboa</a:t>
            </a:r>
            <a:endParaRPr lang="en-US" sz="2800" dirty="0">
              <a:solidFill>
                <a:schemeClr val="bg1"/>
              </a:solidFill>
              <a:latin typeface="Figtree Light" pitchFamily="2" charset="0"/>
            </a:endParaRP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83CA8727-0833-D416-5858-75C3AD318B12}"/>
              </a:ext>
            </a:extLst>
          </p:cNvPr>
          <p:cNvSpPr txBox="1">
            <a:spLocks/>
          </p:cNvSpPr>
          <p:nvPr/>
        </p:nvSpPr>
        <p:spPr>
          <a:xfrm>
            <a:off x="806767" y="7196592"/>
            <a:ext cx="7262464" cy="1819435"/>
          </a:xfrm>
          <a:prstGeom prst="rect">
            <a:avLst/>
          </a:prstGeom>
        </p:spPr>
        <p:txBody>
          <a:bodyPr lIns="72000" tIns="36000" rIns="72000" bIns="36000" anchor="t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1.2GW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campus</a:t>
            </a:r>
            <a:r>
              <a:rPr lang="en-US" sz="2800" dirty="0">
                <a:solidFill>
                  <a:schemeClr val="bg1"/>
                </a:solidFill>
              </a:rPr>
              <a:t> -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200MW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ready-to-build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37.5 MW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SIN01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-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AI-ready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design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SOC 2</a:t>
            </a:r>
            <a:r>
              <a:rPr lang="en-US" sz="2800" dirty="0">
                <a:solidFill>
                  <a:schemeClr val="bg1"/>
                </a:solidFill>
              </a:rPr>
              <a:t> -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Leed Gold </a:t>
            </a:r>
            <a:r>
              <a:rPr lang="en-US" sz="2800" dirty="0">
                <a:solidFill>
                  <a:schemeClr val="bg1"/>
                </a:solidFill>
              </a:rPr>
              <a:t>-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ISO27001 - OCP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Read</a:t>
            </a:r>
            <a:r>
              <a:rPr lang="en-US" sz="2800" dirty="0">
                <a:solidFill>
                  <a:schemeClr val="bg1"/>
                </a:solidFill>
              </a:rPr>
              <a:t>y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677D91C2-1D0E-2C3A-CF9F-A43CA1220077}"/>
              </a:ext>
            </a:extLst>
          </p:cNvPr>
          <p:cNvSpPr txBox="1">
            <a:spLocks/>
          </p:cNvSpPr>
          <p:nvPr/>
        </p:nvSpPr>
        <p:spPr>
          <a:xfrm>
            <a:off x="11279309" y="7671332"/>
            <a:ext cx="6912000" cy="100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endParaRPr lang="en-US" sz="2800">
              <a:solidFill>
                <a:srgbClr val="000000"/>
              </a:solidFill>
              <a:latin typeface="Figtree" pitchFamily="2" charset="0"/>
            </a:endParaRPr>
          </a:p>
        </p:txBody>
      </p:sp>
      <p:sp>
        <p:nvSpPr>
          <p:cNvPr id="45" name="Text Placeholder 1">
            <a:extLst>
              <a:ext uri="{FF2B5EF4-FFF2-40B4-BE49-F238E27FC236}">
                <a16:creationId xmlns:a16="http://schemas.microsoft.com/office/drawing/2014/main" id="{A0C84FD1-1C11-3FB7-96BB-83B0135FBE87}"/>
              </a:ext>
            </a:extLst>
          </p:cNvPr>
          <p:cNvSpPr txBox="1">
            <a:spLocks/>
          </p:cNvSpPr>
          <p:nvPr/>
        </p:nvSpPr>
        <p:spPr>
          <a:xfrm>
            <a:off x="10803386" y="12046835"/>
            <a:ext cx="8889355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Energia 100% </a:t>
            </a:r>
            <a:r>
              <a:rPr lang="en-US" sz="3600" b="1" dirty="0" err="1">
                <a:solidFill>
                  <a:srgbClr val="00C159"/>
                </a:solidFill>
                <a:latin typeface="Figtree SemiBold" pitchFamily="2" charset="0"/>
              </a:rPr>
              <a:t>renovável</a:t>
            </a:r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Figtree SemiBold" pitchFamily="2" charset="0"/>
              </a:rPr>
              <a:t>e de </a:t>
            </a:r>
            <a:r>
              <a:rPr lang="en-US" sz="3600" b="1" dirty="0" err="1">
                <a:solidFill>
                  <a:srgbClr val="00C159"/>
                </a:solidFill>
                <a:latin typeface="Figtree SemiBold" pitchFamily="2" charset="0"/>
              </a:rPr>
              <a:t>baixo</a:t>
            </a:r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 </a:t>
            </a:r>
            <a:r>
              <a:rPr lang="en-US" sz="3600" b="1" dirty="0" err="1">
                <a:solidFill>
                  <a:srgbClr val="00C159"/>
                </a:solidFill>
                <a:latin typeface="Figtree SemiBold" pitchFamily="2" charset="0"/>
              </a:rPr>
              <a:t>custo</a:t>
            </a:r>
            <a:endParaRPr lang="en-US" sz="3600" b="1" dirty="0">
              <a:solidFill>
                <a:srgbClr val="00C159"/>
              </a:solidFill>
              <a:latin typeface="Figtree SemiBold" pitchFamily="2" charset="0"/>
            </a:endParaRP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C9E91AC7-79E4-938B-E8C7-F951B2C8C4EC}"/>
              </a:ext>
            </a:extLst>
          </p:cNvPr>
          <p:cNvSpPr txBox="1">
            <a:spLocks/>
          </p:cNvSpPr>
          <p:nvPr/>
        </p:nvSpPr>
        <p:spPr>
          <a:xfrm>
            <a:off x="10803387" y="11082896"/>
            <a:ext cx="8889354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Baixa </a:t>
            </a:r>
            <a:r>
              <a:rPr lang="en-US" sz="3600" b="1" dirty="0" err="1">
                <a:solidFill>
                  <a:srgbClr val="00C159"/>
                </a:solidFill>
                <a:latin typeface="Figtree SemiBold" pitchFamily="2" charset="0"/>
              </a:rPr>
              <a:t>Latência</a:t>
            </a:r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Figtree SemiBold" pitchFamily="2" charset="0"/>
              </a:rPr>
              <a:t>para </a:t>
            </a:r>
            <a:r>
              <a:rPr lang="en-US" sz="3600" b="1" dirty="0" err="1">
                <a:solidFill>
                  <a:schemeClr val="bg1"/>
                </a:solidFill>
                <a:latin typeface="Figtree SemiBold" pitchFamily="2" charset="0"/>
              </a:rPr>
              <a:t>grandes</a:t>
            </a:r>
            <a:r>
              <a:rPr lang="en-US" sz="3600" b="1" dirty="0">
                <a:solidFill>
                  <a:schemeClr val="bg1"/>
                </a:solidFill>
                <a:latin typeface="Figtree SemiBold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Figtree SemiBold" pitchFamily="2" charset="0"/>
              </a:rPr>
              <a:t>cidades</a:t>
            </a:r>
            <a:endParaRPr lang="en-US" sz="36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81E26D9-51F2-72CC-32F7-D70E6DF8E5C3}"/>
              </a:ext>
            </a:extLst>
          </p:cNvPr>
          <p:cNvSpPr txBox="1">
            <a:spLocks/>
          </p:cNvSpPr>
          <p:nvPr/>
        </p:nvSpPr>
        <p:spPr>
          <a:xfrm>
            <a:off x="525707" y="9887313"/>
            <a:ext cx="7840800" cy="1440000"/>
          </a:xfrm>
          <a:prstGeom prst="rect">
            <a:avLst/>
          </a:prstGeom>
        </p:spPr>
        <p:txBody>
          <a:bodyPr lIns="72000" tIns="36000" rIns="72000" bIns="36000" anchor="t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marL="0" lvl="1">
              <a:lnSpc>
                <a:spcPct val="100000"/>
              </a:lnSpc>
              <a:buSzPct val="120000"/>
            </a:pPr>
            <a:endParaRPr lang="en-US" sz="2800">
              <a:solidFill>
                <a:srgbClr val="000000"/>
              </a:solidFill>
              <a:latin typeface="Figtree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392DF1-7081-2118-26D8-EA7AD19B07EC}"/>
              </a:ext>
            </a:extLst>
          </p:cNvPr>
          <p:cNvSpPr txBox="1"/>
          <p:nvPr/>
        </p:nvSpPr>
        <p:spPr>
          <a:xfrm>
            <a:off x="20038624" y="11893730"/>
            <a:ext cx="42100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828526"/>
            <a:r>
              <a:rPr lang="en-US" sz="2800" dirty="0">
                <a:solidFill>
                  <a:srgbClr val="00C159"/>
                </a:solidFill>
                <a:latin typeface="Figtree Light" pitchFamily="2" charset="0"/>
                <a:hlinkClick r:id="rId3"/>
              </a:rPr>
              <a:t>www.startcampus.pt</a:t>
            </a:r>
            <a:br>
              <a:rPr lang="en-US" sz="2800" dirty="0">
                <a:solidFill>
                  <a:schemeClr val="bg1"/>
                </a:solidFill>
                <a:latin typeface="Figtree Light" pitchFamily="2" charset="0"/>
              </a:rPr>
            </a:b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sales@startcampus.pt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1DB104-8C24-AF5E-B18E-C09ECA394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7437" y="11611947"/>
            <a:ext cx="2331639" cy="110189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27ACBD4-3DF5-8540-7FBF-B32E8A97E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37837" y="11386894"/>
            <a:ext cx="1458392" cy="145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D8B5DAE1-AC40-979E-A144-812E10F23C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9430" y="720372"/>
            <a:ext cx="4277139" cy="1417836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AB5F2034-21C6-6B5B-E936-385CA8F93827}"/>
              </a:ext>
            </a:extLst>
          </p:cNvPr>
          <p:cNvGrpSpPr/>
          <p:nvPr/>
        </p:nvGrpSpPr>
        <p:grpSpPr>
          <a:xfrm>
            <a:off x="2123192" y="9256089"/>
            <a:ext cx="4629615" cy="1631950"/>
            <a:chOff x="2230511" y="9256089"/>
            <a:chExt cx="4629615" cy="16319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BB6239B-89C3-8A1C-6CCF-9CE163BF9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88579" y="9289033"/>
              <a:ext cx="1171547" cy="1499581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8504A76-459D-AA5A-3FA3-F6C489B1E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230511" y="9256089"/>
              <a:ext cx="1282700" cy="1631950"/>
            </a:xfrm>
            <a:prstGeom prst="rect">
              <a:avLst/>
            </a:prstGeom>
          </p:spPr>
        </p:pic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928E266B-0DD1-355A-5C0D-D105BC9D4E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3168" y="9230466"/>
            <a:ext cx="852491" cy="3765162"/>
          </a:xfrm>
          <a:prstGeom prst="rect">
            <a:avLst/>
          </a:prstGeom>
        </p:spPr>
      </p:pic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EE252B53-997F-2ED4-0BD2-AAD1DE2B2C5D}"/>
              </a:ext>
            </a:extLst>
          </p:cNvPr>
          <p:cNvSpPr txBox="1">
            <a:spLocks/>
          </p:cNvSpPr>
          <p:nvPr/>
        </p:nvSpPr>
        <p:spPr>
          <a:xfrm>
            <a:off x="10803386" y="9155020"/>
            <a:ext cx="8889355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pt-PT" sz="3600" b="1" dirty="0">
                <a:solidFill>
                  <a:srgbClr val="00C159"/>
                </a:solidFill>
                <a:latin typeface="Figtree SemiBold" pitchFamily="2" charset="0"/>
              </a:rPr>
              <a:t>1.2 GW </a:t>
            </a:r>
            <a:r>
              <a:rPr lang="pt-PT" sz="3600" b="1" dirty="0">
                <a:solidFill>
                  <a:schemeClr val="bg1"/>
                </a:solidFill>
                <a:latin typeface="Figtree SemiBold" pitchFamily="2" charset="0"/>
              </a:rPr>
              <a:t>de capacidade IT</a:t>
            </a:r>
            <a:endParaRPr lang="en-US" sz="36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170E85CA-64DC-0C37-9CD6-56653BC458B8}"/>
              </a:ext>
            </a:extLst>
          </p:cNvPr>
          <p:cNvSpPr txBox="1">
            <a:spLocks/>
          </p:cNvSpPr>
          <p:nvPr/>
        </p:nvSpPr>
        <p:spPr>
          <a:xfrm>
            <a:off x="10803387" y="10118958"/>
            <a:ext cx="8059798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pt-PT" sz="3600" b="1" dirty="0">
                <a:solidFill>
                  <a:srgbClr val="00C159"/>
                </a:solidFill>
                <a:latin typeface="Figtree SemiBold" pitchFamily="2" charset="0"/>
              </a:rPr>
              <a:t>100% </a:t>
            </a:r>
            <a:r>
              <a:rPr lang="pt-PT" sz="3600" b="1" dirty="0">
                <a:solidFill>
                  <a:schemeClr val="bg1"/>
                </a:solidFill>
                <a:latin typeface="Figtree SemiBold" pitchFamily="2" charset="0"/>
              </a:rPr>
              <a:t>capacidade assegurada</a:t>
            </a:r>
            <a:endParaRPr lang="en-US" sz="36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5D3C734-6FFD-E6CF-6E44-76AF442C1C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31200" y="9464208"/>
            <a:ext cx="2224899" cy="2224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51E66F-9CF7-F638-49A1-DE7D8D75E3C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6797" y="459561"/>
            <a:ext cx="14511552" cy="816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133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997338-2111-3469-90ED-5BB7277650C0}"/>
              </a:ext>
            </a:extLst>
          </p:cNvPr>
          <p:cNvSpPr txBox="1"/>
          <p:nvPr/>
        </p:nvSpPr>
        <p:spPr>
          <a:xfrm>
            <a:off x="8420759" y="5926976"/>
            <a:ext cx="7313220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b="1" dirty="0">
                <a:latin typeface="Figtree" pitchFamily="2" charset="0"/>
              </a:rPr>
              <a:t>SIN01 PDF</a:t>
            </a:r>
            <a:endParaRPr lang="pt-PT" sz="11500" b="1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313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FDE78-0D29-9B89-6EAB-2F5170581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5D48B0-7E7F-B780-5BC8-1C789AD1A8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679" y="0"/>
            <a:ext cx="8889356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800"/>
            <a:endParaRPr lang="en-GB">
              <a:solidFill>
                <a:srgbClr val="F4F4FF"/>
              </a:solidFill>
              <a:latin typeface="Gill Sans MT" panose="020B0502020104020203"/>
            </a:endParaRP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25A2FB3-76D9-EC3D-5209-29671A32071F}"/>
              </a:ext>
            </a:extLst>
          </p:cNvPr>
          <p:cNvSpPr txBox="1">
            <a:spLocks/>
          </p:cNvSpPr>
          <p:nvPr/>
        </p:nvSpPr>
        <p:spPr>
          <a:xfrm>
            <a:off x="517441" y="3710863"/>
            <a:ext cx="7841116" cy="3147137"/>
          </a:xfrm>
          <a:prstGeom prst="rect">
            <a:avLst/>
          </a:prstGeom>
        </p:spPr>
        <p:txBody>
          <a:bodyPr lIns="72000" tIns="0" rIns="0" bIns="0" anchor="b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algn="ctr" defTabSz="1828526"/>
            <a:r>
              <a:rPr lang="en-US" sz="6600" b="1" dirty="0">
                <a:solidFill>
                  <a:srgbClr val="00C159"/>
                </a:solidFill>
                <a:latin typeface="Figtree SemiBold" pitchFamily="2" charset="0"/>
              </a:rPr>
              <a:t>SIN 01</a:t>
            </a:r>
            <a:br>
              <a:rPr lang="en-US" sz="8000" b="1" dirty="0">
                <a:solidFill>
                  <a:srgbClr val="00C159"/>
                </a:solidFill>
                <a:latin typeface="Figtree SemiBold" pitchFamily="2" charset="0"/>
              </a:rPr>
            </a:br>
            <a:endParaRPr lang="en-US" sz="1800" b="1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 defTabSz="1828526"/>
            <a:r>
              <a:rPr lang="it-IT" sz="4000" dirty="0">
                <a:solidFill>
                  <a:schemeClr val="bg1"/>
                </a:solidFill>
                <a:latin typeface="Figtree SemiBold" pitchFamily="2" charset="0"/>
              </a:rPr>
              <a:t>Europe’s First Giga-Scale</a:t>
            </a:r>
            <a:br>
              <a:rPr lang="it-IT" sz="4000" dirty="0">
                <a:solidFill>
                  <a:schemeClr val="bg1"/>
                </a:solidFill>
                <a:latin typeface="Figtree SemiBold" pitchFamily="2" charset="0"/>
              </a:rPr>
            </a:br>
            <a:r>
              <a:rPr lang="it-IT" sz="4000" dirty="0">
                <a:solidFill>
                  <a:schemeClr val="bg1"/>
                </a:solidFill>
                <a:latin typeface="Figtree SemiBold" pitchFamily="2" charset="0"/>
              </a:rPr>
              <a:t>AI Data Campus</a:t>
            </a:r>
            <a:endParaRPr lang="en-US" sz="7200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/>
            <a:endParaRPr lang="en-US" sz="2800" b="1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Sines, Portugal</a:t>
            </a:r>
            <a:r>
              <a:rPr lang="en-US" sz="2800" dirty="0">
                <a:solidFill>
                  <a:schemeClr val="bg1"/>
                </a:solidFill>
                <a:latin typeface="Figtree SemiBold" pitchFamily="2" charset="0"/>
              </a:rPr>
              <a:t> 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Site Coordinates: 37.934961, -8.812558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c. 90 km south of Lisbon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8494F063-00AE-093C-ABE1-2B5E61CD427A}"/>
              </a:ext>
            </a:extLst>
          </p:cNvPr>
          <p:cNvSpPr txBox="1">
            <a:spLocks/>
          </p:cNvSpPr>
          <p:nvPr/>
        </p:nvSpPr>
        <p:spPr>
          <a:xfrm>
            <a:off x="806767" y="7196592"/>
            <a:ext cx="7262464" cy="1819435"/>
          </a:xfrm>
          <a:prstGeom prst="rect">
            <a:avLst/>
          </a:prstGeom>
        </p:spPr>
        <p:txBody>
          <a:bodyPr lIns="72000" tIns="36000" rIns="72000" bIns="36000" anchor="t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1.2GW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campus</a:t>
            </a:r>
            <a:r>
              <a:rPr lang="en-US" sz="2800" dirty="0">
                <a:solidFill>
                  <a:schemeClr val="bg1"/>
                </a:solidFill>
              </a:rPr>
              <a:t> -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200MW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ready-to-build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37.5 MW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SIN01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-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AI-ready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design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SOC 2</a:t>
            </a:r>
            <a:r>
              <a:rPr lang="en-US" sz="2800" dirty="0">
                <a:solidFill>
                  <a:schemeClr val="bg1"/>
                </a:solidFill>
              </a:rPr>
              <a:t> -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Leed Gold </a:t>
            </a:r>
            <a:r>
              <a:rPr lang="en-US" sz="2800" dirty="0">
                <a:solidFill>
                  <a:schemeClr val="bg1"/>
                </a:solidFill>
              </a:rPr>
              <a:t>-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ISO27001 - OCP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Read</a:t>
            </a:r>
            <a:r>
              <a:rPr lang="en-US" sz="2800" dirty="0">
                <a:solidFill>
                  <a:schemeClr val="bg1"/>
                </a:solidFill>
              </a:rPr>
              <a:t>y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4B268D99-0514-264C-2870-902120D15AC1}"/>
              </a:ext>
            </a:extLst>
          </p:cNvPr>
          <p:cNvSpPr txBox="1">
            <a:spLocks/>
          </p:cNvSpPr>
          <p:nvPr/>
        </p:nvSpPr>
        <p:spPr>
          <a:xfrm>
            <a:off x="11279309" y="7671332"/>
            <a:ext cx="6912000" cy="100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endParaRPr lang="en-US" sz="2800">
              <a:solidFill>
                <a:srgbClr val="000000"/>
              </a:solidFill>
              <a:latin typeface="Figtree" pitchFamily="2" charset="0"/>
            </a:endParaRPr>
          </a:p>
        </p:txBody>
      </p:sp>
      <p:sp>
        <p:nvSpPr>
          <p:cNvPr id="45" name="Text Placeholder 1">
            <a:extLst>
              <a:ext uri="{FF2B5EF4-FFF2-40B4-BE49-F238E27FC236}">
                <a16:creationId xmlns:a16="http://schemas.microsoft.com/office/drawing/2014/main" id="{DCFD8A60-6120-CACC-CFBC-366B7BF4A718}"/>
              </a:ext>
            </a:extLst>
          </p:cNvPr>
          <p:cNvSpPr txBox="1">
            <a:spLocks/>
          </p:cNvSpPr>
          <p:nvPr/>
        </p:nvSpPr>
        <p:spPr>
          <a:xfrm>
            <a:off x="10803386" y="12046835"/>
            <a:ext cx="8889355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Low cost </a:t>
            </a:r>
            <a:r>
              <a:rPr lang="en-US" sz="3600" b="1" dirty="0">
                <a:solidFill>
                  <a:schemeClr val="bg1"/>
                </a:solidFill>
                <a:latin typeface="Figtree SemiBold" pitchFamily="2" charset="0"/>
              </a:rPr>
              <a:t>and </a:t>
            </a:r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100% renewable power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BCCFC071-0C66-DB0D-9F24-14ED2726FCB9}"/>
              </a:ext>
            </a:extLst>
          </p:cNvPr>
          <p:cNvSpPr txBox="1">
            <a:spLocks/>
          </p:cNvSpPr>
          <p:nvPr/>
        </p:nvSpPr>
        <p:spPr>
          <a:xfrm>
            <a:off x="10803387" y="11082896"/>
            <a:ext cx="8059798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Low latency </a:t>
            </a:r>
            <a:r>
              <a:rPr lang="en-US" sz="3600" b="1" dirty="0">
                <a:solidFill>
                  <a:schemeClr val="bg1"/>
                </a:solidFill>
                <a:latin typeface="Figtree SemiBold" pitchFamily="2" charset="0"/>
              </a:rPr>
              <a:t>to all major cities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3DE6372E-CAF9-7AD6-91C2-B43204B7297C}"/>
              </a:ext>
            </a:extLst>
          </p:cNvPr>
          <p:cNvSpPr txBox="1">
            <a:spLocks/>
          </p:cNvSpPr>
          <p:nvPr/>
        </p:nvSpPr>
        <p:spPr>
          <a:xfrm>
            <a:off x="525707" y="9887313"/>
            <a:ext cx="7840800" cy="1440000"/>
          </a:xfrm>
          <a:prstGeom prst="rect">
            <a:avLst/>
          </a:prstGeom>
        </p:spPr>
        <p:txBody>
          <a:bodyPr lIns="72000" tIns="36000" rIns="72000" bIns="36000" anchor="t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marL="0" lvl="1">
              <a:lnSpc>
                <a:spcPct val="100000"/>
              </a:lnSpc>
              <a:buSzPct val="120000"/>
            </a:pPr>
            <a:endParaRPr lang="en-US" sz="2800">
              <a:solidFill>
                <a:srgbClr val="000000"/>
              </a:solidFill>
              <a:latin typeface="Figtree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933D08-6DE6-BAA8-ACCB-C0DF6ABF2FB9}"/>
              </a:ext>
            </a:extLst>
          </p:cNvPr>
          <p:cNvSpPr txBox="1"/>
          <p:nvPr/>
        </p:nvSpPr>
        <p:spPr>
          <a:xfrm>
            <a:off x="20038624" y="11893730"/>
            <a:ext cx="42100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828526"/>
            <a:r>
              <a:rPr lang="en-US" sz="2800" dirty="0">
                <a:solidFill>
                  <a:srgbClr val="00C159"/>
                </a:solidFill>
                <a:latin typeface="Figtree Light" pitchFamily="2" charset="0"/>
                <a:hlinkClick r:id="rId3"/>
              </a:rPr>
              <a:t>www.startcampus.pt</a:t>
            </a:r>
            <a:br>
              <a:rPr lang="en-US" sz="2800" dirty="0">
                <a:solidFill>
                  <a:schemeClr val="bg1"/>
                </a:solidFill>
                <a:latin typeface="Figtree Light" pitchFamily="2" charset="0"/>
              </a:rPr>
            </a:b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sales@startcampus.pt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C1783-0ED2-7B53-514B-4757B3B58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7437" y="11611947"/>
            <a:ext cx="2331639" cy="110189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4E482C7-5C1E-99D9-ADA3-106484349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37837" y="11386894"/>
            <a:ext cx="1458392" cy="145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FE8EA373-1592-88FC-1234-1B71FBE5F2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9430" y="720372"/>
            <a:ext cx="4277139" cy="1417836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E6067F4F-A38D-FABD-C3E8-265DC9E2E14E}"/>
              </a:ext>
            </a:extLst>
          </p:cNvPr>
          <p:cNvGrpSpPr/>
          <p:nvPr/>
        </p:nvGrpSpPr>
        <p:grpSpPr>
          <a:xfrm>
            <a:off x="2123192" y="9256089"/>
            <a:ext cx="4629615" cy="1631950"/>
            <a:chOff x="2230511" y="9256089"/>
            <a:chExt cx="4629615" cy="16319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CE309EC-5ACF-A62D-8134-472BB19F4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88579" y="9289033"/>
              <a:ext cx="1171547" cy="1499581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FC2D842-FCA3-CFDC-B7D4-E32592D0F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230511" y="9256089"/>
              <a:ext cx="1282700" cy="1631950"/>
            </a:xfrm>
            <a:prstGeom prst="rect">
              <a:avLst/>
            </a:prstGeom>
          </p:spPr>
        </p:pic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2A34FE7D-CA58-BE4F-F91C-6C26A7C3B4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3168" y="9230466"/>
            <a:ext cx="852491" cy="3765162"/>
          </a:xfrm>
          <a:prstGeom prst="rect">
            <a:avLst/>
          </a:prstGeom>
        </p:spPr>
      </p:pic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1148693E-0C7B-E060-5600-AB372A82D532}"/>
              </a:ext>
            </a:extLst>
          </p:cNvPr>
          <p:cNvSpPr txBox="1">
            <a:spLocks/>
          </p:cNvSpPr>
          <p:nvPr/>
        </p:nvSpPr>
        <p:spPr>
          <a:xfrm>
            <a:off x="10803386" y="9155020"/>
            <a:ext cx="8889355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pt-PT" sz="3600" b="1" dirty="0">
                <a:solidFill>
                  <a:srgbClr val="00C159"/>
                </a:solidFill>
                <a:latin typeface="Figtree SemiBold" pitchFamily="2" charset="0"/>
              </a:rPr>
              <a:t>1.2 GW </a:t>
            </a:r>
            <a:r>
              <a:rPr lang="pt-PT" sz="3600" b="1" dirty="0">
                <a:solidFill>
                  <a:schemeClr val="bg1"/>
                </a:solidFill>
                <a:latin typeface="Figtree SemiBold" pitchFamily="2" charset="0"/>
              </a:rPr>
              <a:t>IT </a:t>
            </a:r>
            <a:r>
              <a:rPr lang="pt-PT" sz="3600" b="1" dirty="0" err="1">
                <a:solidFill>
                  <a:schemeClr val="bg1"/>
                </a:solidFill>
                <a:latin typeface="Figtree SemiBold" pitchFamily="2" charset="0"/>
              </a:rPr>
              <a:t>capacity</a:t>
            </a:r>
            <a:endParaRPr lang="en-US" sz="36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7BF8F1BC-E5CA-3227-FE69-B7D029A45D5A}"/>
              </a:ext>
            </a:extLst>
          </p:cNvPr>
          <p:cNvSpPr txBox="1">
            <a:spLocks/>
          </p:cNvSpPr>
          <p:nvPr/>
        </p:nvSpPr>
        <p:spPr>
          <a:xfrm>
            <a:off x="10803387" y="10118958"/>
            <a:ext cx="8059798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pt-PT" sz="3600" b="1" dirty="0">
                <a:solidFill>
                  <a:srgbClr val="00C159"/>
                </a:solidFill>
                <a:latin typeface="Figtree SemiBold" pitchFamily="2" charset="0"/>
              </a:rPr>
              <a:t>100% </a:t>
            </a:r>
            <a:r>
              <a:rPr lang="pt-PT" sz="3600" b="1" dirty="0" err="1">
                <a:solidFill>
                  <a:schemeClr val="bg1"/>
                </a:solidFill>
                <a:latin typeface="Figtree SemiBold" pitchFamily="2" charset="0"/>
              </a:rPr>
              <a:t>Grid</a:t>
            </a:r>
            <a:r>
              <a:rPr lang="pt-PT" sz="3600" b="1" dirty="0">
                <a:solidFill>
                  <a:schemeClr val="bg1"/>
                </a:solidFill>
                <a:latin typeface="Figtree SemiBold" pitchFamily="2" charset="0"/>
              </a:rPr>
              <a:t> </a:t>
            </a:r>
            <a:r>
              <a:rPr lang="pt-PT" sz="3600" b="1" dirty="0" err="1">
                <a:solidFill>
                  <a:schemeClr val="bg1"/>
                </a:solidFill>
                <a:latin typeface="Figtree SemiBold" pitchFamily="2" charset="0"/>
              </a:rPr>
              <a:t>capacity</a:t>
            </a:r>
            <a:r>
              <a:rPr lang="pt-PT" sz="3600" b="1" dirty="0">
                <a:solidFill>
                  <a:schemeClr val="bg1"/>
                </a:solidFill>
                <a:latin typeface="Figtree SemiBold" pitchFamily="2" charset="0"/>
              </a:rPr>
              <a:t> </a:t>
            </a:r>
            <a:r>
              <a:rPr lang="pt-PT" sz="3600" b="1" dirty="0" err="1">
                <a:solidFill>
                  <a:schemeClr val="bg1"/>
                </a:solidFill>
                <a:latin typeface="Figtree SemiBold" pitchFamily="2" charset="0"/>
              </a:rPr>
              <a:t>secured</a:t>
            </a:r>
            <a:endParaRPr lang="en-US" sz="36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FE7B378-F0F0-430D-67C6-54E3FCE055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31200" y="9464208"/>
            <a:ext cx="2224899" cy="2224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AD218C-2663-9F68-B5BD-75DEE2D41FD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8"/>
          <a:stretch>
            <a:fillRect/>
          </a:stretch>
        </p:blipFill>
        <p:spPr>
          <a:xfrm>
            <a:off x="8860697" y="0"/>
            <a:ext cx="15526478" cy="867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95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154110"/>
              </p:ext>
            </p:extLst>
          </p:nvPr>
        </p:nvGraphicFramePr>
        <p:xfrm>
          <a:off x="634402" y="2034082"/>
          <a:ext cx="8136890" cy="566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2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4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90805">
                        <a:lnSpc>
                          <a:spcPts val="1614"/>
                        </a:lnSpc>
                      </a:pPr>
                      <a:r>
                        <a:rPr sz="2800" b="1" spc="-10" dirty="0">
                          <a:latin typeface="Figtree"/>
                          <a:cs typeface="Figtree"/>
                        </a:rPr>
                        <a:t>General</a:t>
                      </a:r>
                      <a:endParaRPr sz="2800" dirty="0">
                        <a:latin typeface="Figtree"/>
                        <a:cs typeface="Figtree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51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Availability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2200" dirty="0">
                          <a:latin typeface="Figtree"/>
                          <a:cs typeface="Figtree"/>
                        </a:rPr>
                        <a:t>Fully Operational and leased as off end-October 2025</a:t>
                      </a:r>
                      <a:endParaRPr sz="2200" dirty="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Building</a:t>
                      </a:r>
                      <a:endParaRPr sz="2200" dirty="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New build,</a:t>
                      </a:r>
                      <a:r>
                        <a:rPr sz="2200" spc="-3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1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story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building</a:t>
                      </a:r>
                      <a:endParaRPr sz="2200" dirty="0">
                        <a:latin typeface="Figtree"/>
                        <a:cs typeface="Figtree"/>
                      </a:endParaRPr>
                    </a:p>
                    <a:p>
                      <a:pPr marL="138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Part of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a</a:t>
                      </a:r>
                      <a:r>
                        <a:rPr sz="2200" spc="-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6-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building,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1.2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GW</a:t>
                      </a:r>
                      <a:r>
                        <a:rPr sz="2200" spc="-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IT</a:t>
                      </a:r>
                      <a:r>
                        <a:rPr sz="2200" spc="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campus</a:t>
                      </a:r>
                      <a:endParaRPr sz="2200" dirty="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Base</a:t>
                      </a:r>
                      <a:r>
                        <a:rPr sz="2200" spc="-3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Build</a:t>
                      </a:r>
                      <a:r>
                        <a:rPr sz="2200" spc="-3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design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Tier</a:t>
                      </a:r>
                      <a:r>
                        <a:rPr sz="2200" spc="-4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III-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equivalent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Data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Halls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3,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with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possible</a:t>
                      </a:r>
                      <a:r>
                        <a:rPr sz="2200" spc="-4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cages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Office</a:t>
                      </a:r>
                      <a:r>
                        <a:rPr sz="2200" spc="-3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/</a:t>
                      </a:r>
                      <a:r>
                        <a:rPr sz="2200" spc="1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Storage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Available</a:t>
                      </a:r>
                      <a:r>
                        <a:rPr sz="2200" spc="-4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upon</a:t>
                      </a:r>
                      <a:r>
                        <a:rPr sz="2200" spc="-4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request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Access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spc="-20" dirty="0">
                          <a:latin typeface="Figtree"/>
                          <a:cs typeface="Figtree"/>
                        </a:rPr>
                        <a:t>24/7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Loading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docks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Three</a:t>
                      </a:r>
                      <a:r>
                        <a:rPr sz="2200" spc="-5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bays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Others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 marR="11239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Security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and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Ops</a:t>
                      </a:r>
                      <a:r>
                        <a:rPr sz="2200" spc="-3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24/7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Remote</a:t>
                      </a:r>
                      <a:r>
                        <a:rPr sz="2200" spc="-3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hands</a:t>
                      </a:r>
                      <a:r>
                        <a:rPr sz="2200" spc="-3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available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Certifications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 marR="9334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OCP</a:t>
                      </a:r>
                      <a:r>
                        <a:rPr sz="2200" spc="-4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Ready for</a:t>
                      </a:r>
                      <a:r>
                        <a:rPr sz="2200" spc="-3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Hyperscale ISO27001</a:t>
                      </a:r>
                      <a:r>
                        <a:rPr lang="en-US" sz="2200" spc="-10" dirty="0">
                          <a:latin typeface="Figtree"/>
                          <a:cs typeface="Figtree"/>
                        </a:rPr>
                        <a:t> ; Leed Gold</a:t>
                      </a:r>
                      <a:endParaRPr sz="22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308655" y="2034082"/>
          <a:ext cx="8135620" cy="3385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4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92075">
                        <a:lnSpc>
                          <a:spcPts val="1614"/>
                        </a:lnSpc>
                      </a:pPr>
                      <a:r>
                        <a:rPr sz="2800" b="1" spc="-10" dirty="0">
                          <a:latin typeface="Figtree"/>
                          <a:cs typeface="Figtree"/>
                        </a:rPr>
                        <a:t>Power</a:t>
                      </a:r>
                      <a:endParaRPr sz="2800">
                        <a:latin typeface="Figtree"/>
                        <a:cs typeface="Figtree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Utility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Providers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E-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Redes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Utility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Power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2N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High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Voltage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60kV</a:t>
                      </a:r>
                      <a:r>
                        <a:rPr sz="2200" spc="-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feeds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Power</a:t>
                      </a:r>
                      <a:r>
                        <a:rPr sz="2200" spc="-5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Distribution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2N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Medium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Voltage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11kV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Power</a:t>
                      </a:r>
                      <a:r>
                        <a:rPr sz="2200" spc="-5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Usage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 marR="329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Revenue-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grade</a:t>
                      </a:r>
                      <a:r>
                        <a:rPr sz="2200" spc="-4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metering;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option</a:t>
                      </a:r>
                      <a:r>
                        <a:rPr sz="2200" spc="-4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of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pass-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through,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fixed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or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hybrid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pricing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25" dirty="0">
                          <a:latin typeface="Figtree"/>
                          <a:cs typeface="Figtree"/>
                        </a:rPr>
                        <a:t>UPS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Distributed</a:t>
                      </a:r>
                      <a:r>
                        <a:rPr sz="2200" spc="-4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redundant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LV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&amp;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UPS</a:t>
                      </a:r>
                      <a:r>
                        <a:rPr sz="2200" spc="-4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backup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Back-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up</a:t>
                      </a:r>
                      <a:r>
                        <a:rPr sz="2200" spc="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power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24h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HVO-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fueled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Gen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 system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308656" y="5806237"/>
          <a:ext cx="8136890" cy="3895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6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marL="92075">
                        <a:lnSpc>
                          <a:spcPts val="1614"/>
                        </a:lnSpc>
                      </a:pPr>
                      <a:r>
                        <a:rPr sz="2800" b="1" spc="-10" dirty="0">
                          <a:latin typeface="Figtree"/>
                          <a:cs typeface="Figtree"/>
                        </a:rPr>
                        <a:t>Cooling</a:t>
                      </a:r>
                      <a:endParaRPr sz="2800">
                        <a:latin typeface="Figtree"/>
                        <a:cs typeface="Figtree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51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System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730" marR="2311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Heat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rejection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to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a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Sea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Water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System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and</a:t>
                      </a:r>
                      <a:r>
                        <a:rPr sz="2200" spc="-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chiller</a:t>
                      </a:r>
                      <a:r>
                        <a:rPr sz="2200" spc="-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system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as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 back-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up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69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Flexibility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9910" indent="-170180">
                        <a:lnSpc>
                          <a:spcPct val="100000"/>
                        </a:lnSpc>
                        <a:spcBef>
                          <a:spcPts val="90"/>
                        </a:spcBef>
                        <a:buFont typeface="Arial"/>
                        <a:buChar char="•"/>
                        <a:tabLst>
                          <a:tab pos="549910" algn="l"/>
                        </a:tabLst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100%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Liquid</a:t>
                      </a:r>
                      <a:r>
                        <a:rPr sz="2200" spc="-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cooling</a:t>
                      </a:r>
                      <a:endParaRPr sz="2200">
                        <a:latin typeface="Figtree"/>
                        <a:cs typeface="Figtree"/>
                      </a:endParaRPr>
                    </a:p>
                    <a:p>
                      <a:pPr marL="549910" indent="-17018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549910" algn="l"/>
                        </a:tabLst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Air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cooling</a:t>
                      </a:r>
                      <a:r>
                        <a:rPr sz="2200" spc="-3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(fan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walls)</a:t>
                      </a:r>
                      <a:endParaRPr sz="2200">
                        <a:latin typeface="Figtree"/>
                        <a:cs typeface="Figtree"/>
                      </a:endParaRPr>
                    </a:p>
                    <a:p>
                      <a:pPr marL="549910" indent="-17018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549910" algn="l"/>
                        </a:tabLst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Hybrid</a:t>
                      </a:r>
                      <a:r>
                        <a:rPr sz="2200" spc="-3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air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&amp;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liquid</a:t>
                      </a:r>
                      <a:r>
                        <a:rPr sz="2200" spc="-3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cooling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Service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Concurrently</a:t>
                      </a:r>
                      <a:r>
                        <a:rPr sz="2200" spc="-3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maintainable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69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Reliability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730" marR="908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N+1</a:t>
                      </a:r>
                      <a:r>
                        <a:rPr sz="2200" spc="-3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redundancy,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dual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power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source,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2N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piping;</a:t>
                      </a:r>
                      <a:r>
                        <a:rPr sz="2200" spc="-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fault-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tolerant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with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thermal</a:t>
                      </a:r>
                      <a:endParaRPr sz="2200">
                        <a:latin typeface="Figtree"/>
                        <a:cs typeface="Figtree"/>
                      </a:endParaRPr>
                    </a:p>
                    <a:p>
                      <a:pPr marL="379730">
                        <a:lnSpc>
                          <a:spcPct val="100000"/>
                        </a:lnSpc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storage</a:t>
                      </a:r>
                      <a:r>
                        <a:rPr sz="2200" spc="-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for</a:t>
                      </a:r>
                      <a:r>
                        <a:rPr sz="2200" spc="1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uninterrupted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cooling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308656" y="10086320"/>
          <a:ext cx="8136890" cy="230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1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marL="92075">
                        <a:lnSpc>
                          <a:spcPts val="1614"/>
                        </a:lnSpc>
                      </a:pPr>
                      <a:r>
                        <a:rPr sz="2800" b="1" spc="-10" dirty="0">
                          <a:latin typeface="Figtree"/>
                          <a:cs typeface="Figtree"/>
                        </a:rPr>
                        <a:t>Telecom</a:t>
                      </a:r>
                      <a:endParaRPr sz="2800">
                        <a:latin typeface="Figtree"/>
                        <a:cs typeface="Figtree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Entry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points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59690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Four</a:t>
                      </a:r>
                      <a:r>
                        <a:rPr sz="2200" spc="-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diverse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entry</a:t>
                      </a:r>
                      <a:r>
                        <a:rPr sz="2200" spc="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points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59690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Meet-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Me</a:t>
                      </a:r>
                      <a:r>
                        <a:rPr sz="2200" spc="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Rooms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Two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independent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MMRs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3175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Carrier</a:t>
                      </a:r>
                      <a:r>
                        <a:rPr sz="2200" spc="-5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Neutral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Multiple</a:t>
                      </a:r>
                      <a:r>
                        <a:rPr sz="2200" spc="-4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carrier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 access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3302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Cable</a:t>
                      </a:r>
                      <a:r>
                        <a:rPr sz="2200" spc="-6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Landing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Sines</a:t>
                      </a:r>
                      <a:r>
                        <a:rPr sz="2200" spc="-3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&lt;4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miles</a:t>
                      </a:r>
                      <a:r>
                        <a:rPr sz="2200" spc="-3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away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(EllaLink,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Nuvem</a:t>
                      </a:r>
                      <a:r>
                        <a:rPr sz="2100" spc="-15" baseline="27777" dirty="0">
                          <a:latin typeface="Figtree"/>
                          <a:cs typeface="Figtree"/>
                        </a:rPr>
                        <a:t>1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)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3302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68184" y="7941869"/>
          <a:ext cx="8136890" cy="3420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5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marL="91440">
                        <a:lnSpc>
                          <a:spcPts val="1614"/>
                        </a:lnSpc>
                      </a:pPr>
                      <a:r>
                        <a:rPr sz="2800" b="1" spc="-10" dirty="0">
                          <a:latin typeface="Figtree"/>
                          <a:cs typeface="Figtree"/>
                        </a:rPr>
                        <a:t>Security</a:t>
                      </a:r>
                      <a:endParaRPr sz="2800">
                        <a:latin typeface="Figtree"/>
                        <a:cs typeface="Figtree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Personnel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5968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24/7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manned</a:t>
                      </a:r>
                      <a:r>
                        <a:rPr sz="2200" spc="-3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security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5968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spc="-20" dirty="0">
                          <a:latin typeface="Figtree"/>
                          <a:cs typeface="Figtree"/>
                        </a:rPr>
                        <a:t>CCTV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360º</a:t>
                      </a:r>
                      <a:r>
                        <a:rPr sz="2200" spc="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video-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analytics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(interior/exterior)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3175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Access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control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Biometric</a:t>
                      </a:r>
                      <a:r>
                        <a:rPr sz="2200" spc="-3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&amp;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MFA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access</a:t>
                      </a:r>
                      <a:r>
                        <a:rPr sz="2200" spc="-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control</a:t>
                      </a:r>
                      <a:r>
                        <a:rPr sz="2200" spc="-3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system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3175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Perimeter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 marR="2070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Anti-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climb</a:t>
                      </a:r>
                      <a:r>
                        <a:rPr sz="2200" spc="-3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security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metal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fencing</a:t>
                      </a:r>
                      <a:r>
                        <a:rPr sz="2200" spc="-20" dirty="0">
                          <a:latin typeface="Figtree"/>
                          <a:cs typeface="Figtree"/>
                        </a:rPr>
                        <a:t> with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intrusion</a:t>
                      </a:r>
                      <a:r>
                        <a:rPr sz="2200" spc="-3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detection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Defense</a:t>
                      </a:r>
                      <a:r>
                        <a:rPr sz="2200" spc="-3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In</a:t>
                      </a:r>
                      <a:r>
                        <a:rPr sz="2200" spc="-3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Depth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Multiple</a:t>
                      </a:r>
                      <a:r>
                        <a:rPr sz="2200" spc="-4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concentric</a:t>
                      </a:r>
                      <a:r>
                        <a:rPr sz="2200" spc="-1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security</a:t>
                      </a:r>
                      <a:r>
                        <a:rPr sz="2200" spc="-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layers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3302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200" spc="-10" dirty="0">
                          <a:latin typeface="Figtree"/>
                          <a:cs typeface="Figtree"/>
                        </a:rPr>
                        <a:t>Integration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dirty="0">
                          <a:latin typeface="Figtree"/>
                          <a:cs typeface="Figtree"/>
                        </a:rPr>
                        <a:t>Integrated</a:t>
                      </a:r>
                      <a:r>
                        <a:rPr sz="2200" spc="-4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Physical</a:t>
                      </a:r>
                      <a:r>
                        <a:rPr sz="2200" spc="-5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dirty="0">
                          <a:latin typeface="Figtree"/>
                          <a:cs typeface="Figtree"/>
                        </a:rPr>
                        <a:t>Security</a:t>
                      </a:r>
                      <a:r>
                        <a:rPr sz="2200" spc="-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2200" spc="-10" dirty="0">
                          <a:latin typeface="Figtree"/>
                          <a:cs typeface="Figtree"/>
                        </a:rPr>
                        <a:t>system</a:t>
                      </a:r>
                      <a:endParaRPr sz="2200">
                        <a:latin typeface="Figtree"/>
                        <a:cs typeface="Figtree"/>
                      </a:endParaRPr>
                    </a:p>
                  </a:txBody>
                  <a:tcPr marL="0" marR="0" marT="3175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636917" y="669974"/>
            <a:ext cx="1026160" cy="1064260"/>
          </a:xfrm>
          <a:custGeom>
            <a:avLst/>
            <a:gdLst/>
            <a:ahLst/>
            <a:cxnLst/>
            <a:rect l="l" t="t" r="r" b="b"/>
            <a:pathLst>
              <a:path w="513080" h="532130">
                <a:moveTo>
                  <a:pt x="336372" y="229755"/>
                </a:moveTo>
                <a:lnTo>
                  <a:pt x="256235" y="229755"/>
                </a:lnTo>
                <a:lnTo>
                  <a:pt x="294462" y="81940"/>
                </a:lnTo>
                <a:lnTo>
                  <a:pt x="293573" y="81648"/>
                </a:lnTo>
                <a:lnTo>
                  <a:pt x="172593" y="278866"/>
                </a:lnTo>
                <a:lnTo>
                  <a:pt x="247637" y="278866"/>
                </a:lnTo>
                <a:lnTo>
                  <a:pt x="209207" y="425234"/>
                </a:lnTo>
                <a:lnTo>
                  <a:pt x="209918" y="425551"/>
                </a:lnTo>
                <a:lnTo>
                  <a:pt x="336372" y="229755"/>
                </a:lnTo>
                <a:close/>
              </a:path>
              <a:path w="513080" h="532130">
                <a:moveTo>
                  <a:pt x="512686" y="0"/>
                </a:moveTo>
                <a:lnTo>
                  <a:pt x="4648" y="0"/>
                </a:lnTo>
                <a:lnTo>
                  <a:pt x="0" y="76"/>
                </a:lnTo>
                <a:lnTo>
                  <a:pt x="0" y="414693"/>
                </a:lnTo>
                <a:lnTo>
                  <a:pt x="39039" y="414693"/>
                </a:lnTo>
                <a:lnTo>
                  <a:pt x="39039" y="38989"/>
                </a:lnTo>
                <a:lnTo>
                  <a:pt x="473633" y="38989"/>
                </a:lnTo>
                <a:lnTo>
                  <a:pt x="473633" y="468376"/>
                </a:lnTo>
                <a:lnTo>
                  <a:pt x="141490" y="468363"/>
                </a:lnTo>
                <a:lnTo>
                  <a:pt x="136715" y="461352"/>
                </a:lnTo>
                <a:lnTo>
                  <a:pt x="130378" y="455028"/>
                </a:lnTo>
                <a:lnTo>
                  <a:pt x="119735" y="449072"/>
                </a:lnTo>
                <a:lnTo>
                  <a:pt x="104203" y="446417"/>
                </a:lnTo>
                <a:lnTo>
                  <a:pt x="87337" y="449745"/>
                </a:lnTo>
                <a:lnTo>
                  <a:pt x="73901" y="458825"/>
                </a:lnTo>
                <a:lnTo>
                  <a:pt x="64985" y="472287"/>
                </a:lnTo>
                <a:lnTo>
                  <a:pt x="61772" y="488759"/>
                </a:lnTo>
                <a:lnTo>
                  <a:pt x="65100" y="505358"/>
                </a:lnTo>
                <a:lnTo>
                  <a:pt x="74206" y="519061"/>
                </a:lnTo>
                <a:lnTo>
                  <a:pt x="87693" y="528370"/>
                </a:lnTo>
                <a:lnTo>
                  <a:pt x="104203" y="531812"/>
                </a:lnTo>
                <a:lnTo>
                  <a:pt x="120103" y="529145"/>
                </a:lnTo>
                <a:lnTo>
                  <a:pt x="130670" y="523151"/>
                </a:lnTo>
                <a:lnTo>
                  <a:pt x="136766" y="516813"/>
                </a:lnTo>
                <a:lnTo>
                  <a:pt x="141351" y="509587"/>
                </a:lnTo>
                <a:lnTo>
                  <a:pt x="512686" y="509651"/>
                </a:lnTo>
                <a:lnTo>
                  <a:pt x="512686" y="0"/>
                </a:lnTo>
                <a:close/>
              </a:path>
            </a:pathLst>
          </a:custGeom>
          <a:solidFill>
            <a:srgbClr val="12BC63"/>
          </a:solidFill>
        </p:spPr>
        <p:txBody>
          <a:bodyPr wrap="square" lIns="0" tIns="0" rIns="0" bIns="0" rtlCol="0"/>
          <a:lstStyle/>
          <a:p>
            <a:endParaRPr sz="720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7952" y="740069"/>
            <a:ext cx="1932834" cy="97035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727260" y="12036144"/>
            <a:ext cx="3511550" cy="45653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>
              <a:spcBef>
                <a:spcPts val="200"/>
              </a:spcBef>
            </a:pPr>
            <a:r>
              <a:rPr sz="2800" spc="-40" dirty="0">
                <a:latin typeface="Figtree"/>
                <a:cs typeface="Figtree"/>
              </a:rPr>
              <a:t>Take </a:t>
            </a:r>
            <a:r>
              <a:rPr sz="2800" dirty="0">
                <a:latin typeface="Figtree"/>
                <a:cs typeface="Figtree"/>
              </a:rPr>
              <a:t>a</a:t>
            </a:r>
            <a:r>
              <a:rPr sz="2800" spc="-40" dirty="0">
                <a:latin typeface="Figtree"/>
                <a:cs typeface="Figtree"/>
              </a:rPr>
              <a:t> </a:t>
            </a:r>
            <a:r>
              <a:rPr sz="2800" dirty="0">
                <a:solidFill>
                  <a:srgbClr val="00C057"/>
                </a:solidFill>
                <a:latin typeface="Figtree"/>
                <a:cs typeface="Figtree"/>
              </a:rPr>
              <a:t>virtual</a:t>
            </a:r>
            <a:r>
              <a:rPr sz="2800" spc="-40" dirty="0">
                <a:solidFill>
                  <a:srgbClr val="00C057"/>
                </a:solidFill>
                <a:latin typeface="Figtree"/>
                <a:cs typeface="Figtree"/>
              </a:rPr>
              <a:t> </a:t>
            </a:r>
            <a:r>
              <a:rPr sz="2800" dirty="0">
                <a:solidFill>
                  <a:srgbClr val="00C057"/>
                </a:solidFill>
                <a:latin typeface="Figtree"/>
                <a:cs typeface="Figtree"/>
              </a:rPr>
              <a:t>site</a:t>
            </a:r>
            <a:r>
              <a:rPr sz="2800" spc="-60" dirty="0">
                <a:solidFill>
                  <a:srgbClr val="00C057"/>
                </a:solidFill>
                <a:latin typeface="Figtree"/>
                <a:cs typeface="Figtree"/>
              </a:rPr>
              <a:t> </a:t>
            </a:r>
            <a:r>
              <a:rPr sz="2800" spc="-40" dirty="0">
                <a:solidFill>
                  <a:srgbClr val="00C057"/>
                </a:solidFill>
                <a:latin typeface="Figtree"/>
                <a:cs typeface="Figtree"/>
              </a:rPr>
              <a:t>tour</a:t>
            </a:r>
            <a:endParaRPr sz="2800">
              <a:latin typeface="Figtree"/>
              <a:cs typeface="Figtre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012" y="11645352"/>
            <a:ext cx="1243686" cy="124508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413809" y="12497612"/>
            <a:ext cx="5384800" cy="23980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6200">
              <a:spcBef>
                <a:spcPts val="190"/>
              </a:spcBef>
            </a:pPr>
            <a:r>
              <a:rPr sz="1400" dirty="0">
                <a:latin typeface="Figtree"/>
                <a:cs typeface="Figtree"/>
              </a:rPr>
              <a:t>Note:</a:t>
            </a:r>
            <a:r>
              <a:rPr sz="1400" spc="-4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CLS</a:t>
            </a:r>
            <a:r>
              <a:rPr sz="1400" spc="-7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stands</a:t>
            </a:r>
            <a:r>
              <a:rPr sz="1400" spc="-2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for</a:t>
            </a:r>
            <a:r>
              <a:rPr sz="1400" spc="-4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Cable</a:t>
            </a:r>
            <a:r>
              <a:rPr sz="1400" spc="-2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Landing</a:t>
            </a:r>
            <a:r>
              <a:rPr sz="1400" spc="-1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Station; </a:t>
            </a:r>
            <a:r>
              <a:rPr sz="1350" baseline="24691" dirty="0">
                <a:latin typeface="Figtree"/>
                <a:cs typeface="Figtree"/>
              </a:rPr>
              <a:t>1</a:t>
            </a:r>
            <a:r>
              <a:rPr sz="1350" spc="88" baseline="24691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From</a:t>
            </a:r>
            <a:r>
              <a:rPr sz="1400" spc="-4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2026</a:t>
            </a:r>
            <a:r>
              <a:rPr sz="1400" spc="-30" dirty="0">
                <a:latin typeface="Figtree"/>
                <a:cs typeface="Figtree"/>
              </a:rPr>
              <a:t> </a:t>
            </a:r>
            <a:r>
              <a:rPr sz="1400" spc="-20" dirty="0">
                <a:latin typeface="Figtree"/>
                <a:cs typeface="Figtree"/>
              </a:rPr>
              <a:t>onwards</a:t>
            </a:r>
            <a:endParaRPr sz="1400">
              <a:latin typeface="Figtree"/>
              <a:cs typeface="Figtree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4996" y="12083476"/>
            <a:ext cx="239294" cy="41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1B885-0809-B7FF-B895-1ACC1E820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E470FF-49B0-A27E-84A8-F440021C4561}"/>
              </a:ext>
            </a:extLst>
          </p:cNvPr>
          <p:cNvSpPr txBox="1"/>
          <p:nvPr/>
        </p:nvSpPr>
        <p:spPr>
          <a:xfrm>
            <a:off x="8420759" y="5926976"/>
            <a:ext cx="7313220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b="1" dirty="0">
                <a:latin typeface="Figtree" pitchFamily="2" charset="0"/>
              </a:rPr>
              <a:t>SIN01 PDF</a:t>
            </a:r>
            <a:br>
              <a:rPr lang="en-US" sz="11500" b="1" dirty="0">
                <a:latin typeface="Figtree" pitchFamily="2" charset="0"/>
              </a:rPr>
            </a:br>
            <a:r>
              <a:rPr lang="en-US" sz="11500" b="1" dirty="0">
                <a:latin typeface="Figtree" pitchFamily="2" charset="0"/>
              </a:rPr>
              <a:t>PT</a:t>
            </a:r>
            <a:endParaRPr lang="pt-PT" sz="11500" b="1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771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E1840-439D-FAAF-12C4-25BCB544D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D36BCC-35CC-3B1F-1B6B-E9AF36B85A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679" y="0"/>
            <a:ext cx="8889356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800"/>
            <a:endParaRPr lang="en-GB">
              <a:solidFill>
                <a:srgbClr val="F4F4FF"/>
              </a:solidFill>
              <a:latin typeface="Gill Sans MT" panose="020B0502020104020203"/>
            </a:endParaRP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47D41CEB-FABD-2723-EE24-03A0DC8A59DB}"/>
              </a:ext>
            </a:extLst>
          </p:cNvPr>
          <p:cNvSpPr txBox="1">
            <a:spLocks/>
          </p:cNvSpPr>
          <p:nvPr/>
        </p:nvSpPr>
        <p:spPr>
          <a:xfrm>
            <a:off x="517441" y="3710863"/>
            <a:ext cx="7841116" cy="3147137"/>
          </a:xfrm>
          <a:prstGeom prst="rect">
            <a:avLst/>
          </a:prstGeom>
        </p:spPr>
        <p:txBody>
          <a:bodyPr lIns="72000" tIns="0" rIns="0" bIns="0" anchor="b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algn="ctr" defTabSz="1828526"/>
            <a:r>
              <a:rPr lang="en-US" sz="6600" b="1">
                <a:solidFill>
                  <a:srgbClr val="00C159"/>
                </a:solidFill>
                <a:latin typeface="Figtree SemiBold" pitchFamily="2" charset="0"/>
              </a:rPr>
              <a:t>SIN 01</a:t>
            </a:r>
            <a:br>
              <a:rPr lang="en-US" sz="8000" b="1" dirty="0">
                <a:solidFill>
                  <a:srgbClr val="00C159"/>
                </a:solidFill>
                <a:latin typeface="Figtree SemiBold" pitchFamily="2" charset="0"/>
              </a:rPr>
            </a:br>
            <a:endParaRPr lang="en-US" sz="1800" b="1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 defTabSz="1828526"/>
            <a:r>
              <a:rPr lang="pt-PT" sz="4000" dirty="0">
                <a:solidFill>
                  <a:schemeClr val="bg1"/>
                </a:solidFill>
                <a:latin typeface="Figtree SemiBold" pitchFamily="2" charset="0"/>
              </a:rPr>
              <a:t>A Primeira Giga Fábrica</a:t>
            </a:r>
            <a:br>
              <a:rPr lang="pt-PT" sz="4000" dirty="0">
                <a:solidFill>
                  <a:schemeClr val="bg1"/>
                </a:solidFill>
                <a:latin typeface="Figtree SemiBold" pitchFamily="2" charset="0"/>
              </a:rPr>
            </a:br>
            <a:r>
              <a:rPr lang="pt-PT" sz="4000" dirty="0">
                <a:solidFill>
                  <a:schemeClr val="bg1"/>
                </a:solidFill>
                <a:latin typeface="Figtree SemiBold" pitchFamily="2" charset="0"/>
              </a:rPr>
              <a:t>de IA na Europa
</a:t>
            </a:r>
            <a:br>
              <a:rPr lang="pt-PT" sz="4000" dirty="0">
                <a:solidFill>
                  <a:schemeClr val="bg1"/>
                </a:solidFill>
                <a:latin typeface="Figtree SemiBold" pitchFamily="2" charset="0"/>
              </a:rPr>
            </a:br>
            <a:r>
              <a:rPr lang="pt-PT" sz="2800" dirty="0">
                <a:solidFill>
                  <a:schemeClr val="bg1"/>
                </a:solidFill>
                <a:latin typeface="Figtree SemiBold" pitchFamily="2" charset="0"/>
              </a:rPr>
              <a:t>Sines, Portugal 
</a:t>
            </a:r>
            <a:r>
              <a:rPr lang="pt-PT" sz="2800" dirty="0">
                <a:solidFill>
                  <a:schemeClr val="bg1"/>
                </a:solidFill>
                <a:latin typeface="Figtree Light" pitchFamily="2" charset="0"/>
              </a:rPr>
              <a:t>Coordenadas do local: 37.934961, -8.812558
c. 90 km a sul de Lisboa</a:t>
            </a:r>
            <a:endParaRPr lang="en-US" sz="2800" dirty="0">
              <a:solidFill>
                <a:schemeClr val="bg1"/>
              </a:solidFill>
              <a:latin typeface="Figtree Light" pitchFamily="2" charset="0"/>
            </a:endParaRP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F6ED128B-D38F-7537-8711-4642A2FD680B}"/>
              </a:ext>
            </a:extLst>
          </p:cNvPr>
          <p:cNvSpPr txBox="1">
            <a:spLocks/>
          </p:cNvSpPr>
          <p:nvPr/>
        </p:nvSpPr>
        <p:spPr>
          <a:xfrm>
            <a:off x="806767" y="7196592"/>
            <a:ext cx="7262464" cy="1819435"/>
          </a:xfrm>
          <a:prstGeom prst="rect">
            <a:avLst/>
          </a:prstGeom>
        </p:spPr>
        <p:txBody>
          <a:bodyPr lIns="72000" tIns="36000" rIns="72000" bIns="36000" anchor="t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1.2GW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campus</a:t>
            </a:r>
            <a:r>
              <a:rPr lang="en-US" sz="2800" dirty="0">
                <a:solidFill>
                  <a:schemeClr val="bg1"/>
                </a:solidFill>
              </a:rPr>
              <a:t> -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200MW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ready-to-build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37.5 MW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SIN01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-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AI-ready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design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SOC 2</a:t>
            </a:r>
            <a:r>
              <a:rPr lang="en-US" sz="2800" dirty="0">
                <a:solidFill>
                  <a:schemeClr val="bg1"/>
                </a:solidFill>
              </a:rPr>
              <a:t> -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Leed Gold </a:t>
            </a:r>
            <a:r>
              <a:rPr lang="en-US" sz="2800" dirty="0">
                <a:solidFill>
                  <a:schemeClr val="bg1"/>
                </a:solidFill>
              </a:rPr>
              <a:t>-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ISO27001 - OCP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Read</a:t>
            </a:r>
            <a:r>
              <a:rPr lang="en-US" sz="2800" dirty="0">
                <a:solidFill>
                  <a:schemeClr val="bg1"/>
                </a:solidFill>
              </a:rPr>
              <a:t>y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0A3CDC03-96B8-EECE-0CF3-127567953500}"/>
              </a:ext>
            </a:extLst>
          </p:cNvPr>
          <p:cNvSpPr txBox="1">
            <a:spLocks/>
          </p:cNvSpPr>
          <p:nvPr/>
        </p:nvSpPr>
        <p:spPr>
          <a:xfrm>
            <a:off x="11279309" y="7671332"/>
            <a:ext cx="6912000" cy="100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endParaRPr lang="en-US" sz="2800">
              <a:solidFill>
                <a:srgbClr val="000000"/>
              </a:solidFill>
              <a:latin typeface="Figtree" pitchFamily="2" charset="0"/>
            </a:endParaRPr>
          </a:p>
        </p:txBody>
      </p:sp>
      <p:sp>
        <p:nvSpPr>
          <p:cNvPr id="45" name="Text Placeholder 1">
            <a:extLst>
              <a:ext uri="{FF2B5EF4-FFF2-40B4-BE49-F238E27FC236}">
                <a16:creationId xmlns:a16="http://schemas.microsoft.com/office/drawing/2014/main" id="{7E9FE58A-F346-CB43-EB8D-72074E32F80F}"/>
              </a:ext>
            </a:extLst>
          </p:cNvPr>
          <p:cNvSpPr txBox="1">
            <a:spLocks/>
          </p:cNvSpPr>
          <p:nvPr/>
        </p:nvSpPr>
        <p:spPr>
          <a:xfrm>
            <a:off x="10803386" y="12046835"/>
            <a:ext cx="8889355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Energia 100% </a:t>
            </a:r>
            <a:r>
              <a:rPr lang="en-US" sz="3600" b="1" dirty="0" err="1">
                <a:solidFill>
                  <a:srgbClr val="00C159"/>
                </a:solidFill>
                <a:latin typeface="Figtree SemiBold" pitchFamily="2" charset="0"/>
              </a:rPr>
              <a:t>renovável</a:t>
            </a:r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Figtree SemiBold" pitchFamily="2" charset="0"/>
              </a:rPr>
              <a:t>e de </a:t>
            </a:r>
            <a:r>
              <a:rPr lang="en-US" sz="3600" b="1" dirty="0" err="1">
                <a:solidFill>
                  <a:srgbClr val="00C159"/>
                </a:solidFill>
                <a:latin typeface="Figtree SemiBold" pitchFamily="2" charset="0"/>
              </a:rPr>
              <a:t>baixo</a:t>
            </a:r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 </a:t>
            </a:r>
            <a:r>
              <a:rPr lang="en-US" sz="3600" b="1" dirty="0" err="1">
                <a:solidFill>
                  <a:srgbClr val="00C159"/>
                </a:solidFill>
                <a:latin typeface="Figtree SemiBold" pitchFamily="2" charset="0"/>
              </a:rPr>
              <a:t>custo</a:t>
            </a:r>
            <a:endParaRPr lang="en-US" sz="3600" b="1" dirty="0">
              <a:solidFill>
                <a:srgbClr val="00C159"/>
              </a:solidFill>
              <a:latin typeface="Figtree SemiBold" pitchFamily="2" charset="0"/>
            </a:endParaRP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B98A9AC5-4E73-50E0-9CB7-B1F80A9DD5C6}"/>
              </a:ext>
            </a:extLst>
          </p:cNvPr>
          <p:cNvSpPr txBox="1">
            <a:spLocks/>
          </p:cNvSpPr>
          <p:nvPr/>
        </p:nvSpPr>
        <p:spPr>
          <a:xfrm>
            <a:off x="10803387" y="11082896"/>
            <a:ext cx="8889354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Baixa </a:t>
            </a:r>
            <a:r>
              <a:rPr lang="en-US" sz="3600" b="1" dirty="0" err="1">
                <a:solidFill>
                  <a:srgbClr val="00C159"/>
                </a:solidFill>
                <a:latin typeface="Figtree SemiBold" pitchFamily="2" charset="0"/>
              </a:rPr>
              <a:t>Latência</a:t>
            </a:r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Figtree SemiBold" pitchFamily="2" charset="0"/>
              </a:rPr>
              <a:t>para </a:t>
            </a:r>
            <a:r>
              <a:rPr lang="en-US" sz="3600" b="1" dirty="0" err="1">
                <a:solidFill>
                  <a:schemeClr val="bg1"/>
                </a:solidFill>
                <a:latin typeface="Figtree SemiBold" pitchFamily="2" charset="0"/>
              </a:rPr>
              <a:t>grandes</a:t>
            </a:r>
            <a:r>
              <a:rPr lang="en-US" sz="3600" b="1" dirty="0">
                <a:solidFill>
                  <a:schemeClr val="bg1"/>
                </a:solidFill>
                <a:latin typeface="Figtree SemiBold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Figtree SemiBold" pitchFamily="2" charset="0"/>
              </a:rPr>
              <a:t>cidades</a:t>
            </a:r>
            <a:endParaRPr lang="en-US" sz="36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3CB72F8D-6D8A-D125-E8A5-48D823475547}"/>
              </a:ext>
            </a:extLst>
          </p:cNvPr>
          <p:cNvSpPr txBox="1">
            <a:spLocks/>
          </p:cNvSpPr>
          <p:nvPr/>
        </p:nvSpPr>
        <p:spPr>
          <a:xfrm>
            <a:off x="525707" y="9887313"/>
            <a:ext cx="7840800" cy="1440000"/>
          </a:xfrm>
          <a:prstGeom prst="rect">
            <a:avLst/>
          </a:prstGeom>
        </p:spPr>
        <p:txBody>
          <a:bodyPr lIns="72000" tIns="36000" rIns="72000" bIns="36000" anchor="t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marL="0" lvl="1">
              <a:lnSpc>
                <a:spcPct val="100000"/>
              </a:lnSpc>
              <a:buSzPct val="120000"/>
            </a:pPr>
            <a:endParaRPr lang="en-US" sz="2800">
              <a:solidFill>
                <a:srgbClr val="000000"/>
              </a:solidFill>
              <a:latin typeface="Figtree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F58592-55BD-A18F-5E88-A44C8FEDE507}"/>
              </a:ext>
            </a:extLst>
          </p:cNvPr>
          <p:cNvSpPr txBox="1"/>
          <p:nvPr/>
        </p:nvSpPr>
        <p:spPr>
          <a:xfrm>
            <a:off x="20038624" y="11893730"/>
            <a:ext cx="42100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828526"/>
            <a:r>
              <a:rPr lang="en-US" sz="2800" dirty="0">
                <a:solidFill>
                  <a:srgbClr val="00C159"/>
                </a:solidFill>
                <a:latin typeface="Figtree Light" pitchFamily="2" charset="0"/>
                <a:hlinkClick r:id="rId3"/>
              </a:rPr>
              <a:t>www.startcampus.pt</a:t>
            </a:r>
            <a:br>
              <a:rPr lang="en-US" sz="2800" dirty="0">
                <a:solidFill>
                  <a:schemeClr val="bg1"/>
                </a:solidFill>
                <a:latin typeface="Figtree Light" pitchFamily="2" charset="0"/>
              </a:rPr>
            </a:b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sales@startcampus.pt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13DD30-204B-D895-58BF-D6CC72AB6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7437" y="11611947"/>
            <a:ext cx="2331639" cy="110189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F879301-CE14-A2F3-5B91-8D513187B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37837" y="11386894"/>
            <a:ext cx="1458392" cy="145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7925CC87-A1B9-A1B5-6A8E-CFF81F7582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9430" y="720372"/>
            <a:ext cx="4277139" cy="1417836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3E8FBAA6-750B-CD3D-B43C-FC8DA1B3FCCF}"/>
              </a:ext>
            </a:extLst>
          </p:cNvPr>
          <p:cNvGrpSpPr/>
          <p:nvPr/>
        </p:nvGrpSpPr>
        <p:grpSpPr>
          <a:xfrm>
            <a:off x="2123192" y="9256089"/>
            <a:ext cx="4629615" cy="1631950"/>
            <a:chOff x="2230511" y="9256089"/>
            <a:chExt cx="4629615" cy="16319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F5EBE2-0967-54B2-FEF2-EB8ECCEEC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88579" y="9289033"/>
              <a:ext cx="1171547" cy="1499581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F2F68D5-9AE6-67EC-03EB-84B65162A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230511" y="9256089"/>
              <a:ext cx="1282700" cy="1631950"/>
            </a:xfrm>
            <a:prstGeom prst="rect">
              <a:avLst/>
            </a:prstGeom>
          </p:spPr>
        </p:pic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26E87FB0-5EA0-D191-6DE2-FC44E2CF9E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3168" y="9230466"/>
            <a:ext cx="852491" cy="3765162"/>
          </a:xfrm>
          <a:prstGeom prst="rect">
            <a:avLst/>
          </a:prstGeom>
        </p:spPr>
      </p:pic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AA6F24B4-1057-DAD0-2AE8-29DB3F209421}"/>
              </a:ext>
            </a:extLst>
          </p:cNvPr>
          <p:cNvSpPr txBox="1">
            <a:spLocks/>
          </p:cNvSpPr>
          <p:nvPr/>
        </p:nvSpPr>
        <p:spPr>
          <a:xfrm>
            <a:off x="10803386" y="9155020"/>
            <a:ext cx="8889355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pt-PT" sz="3600" b="1" dirty="0">
                <a:solidFill>
                  <a:srgbClr val="00C159"/>
                </a:solidFill>
                <a:latin typeface="Figtree SemiBold" pitchFamily="2" charset="0"/>
              </a:rPr>
              <a:t>1.2 GW </a:t>
            </a:r>
            <a:r>
              <a:rPr lang="pt-PT" sz="3600" b="1" dirty="0">
                <a:solidFill>
                  <a:schemeClr val="bg1"/>
                </a:solidFill>
                <a:latin typeface="Figtree SemiBold" pitchFamily="2" charset="0"/>
              </a:rPr>
              <a:t>de capacidade IT</a:t>
            </a:r>
            <a:endParaRPr lang="en-US" sz="36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2DF2947F-5F8E-2888-563A-F00904B258F9}"/>
              </a:ext>
            </a:extLst>
          </p:cNvPr>
          <p:cNvSpPr txBox="1">
            <a:spLocks/>
          </p:cNvSpPr>
          <p:nvPr/>
        </p:nvSpPr>
        <p:spPr>
          <a:xfrm>
            <a:off x="10803387" y="10118958"/>
            <a:ext cx="8059798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pt-PT" sz="3600" b="1" dirty="0">
                <a:solidFill>
                  <a:srgbClr val="00C159"/>
                </a:solidFill>
                <a:latin typeface="Figtree SemiBold" pitchFamily="2" charset="0"/>
              </a:rPr>
              <a:t>100% </a:t>
            </a:r>
            <a:r>
              <a:rPr lang="pt-PT" sz="3600" b="1" dirty="0">
                <a:solidFill>
                  <a:schemeClr val="bg1"/>
                </a:solidFill>
                <a:latin typeface="Figtree SemiBold" pitchFamily="2" charset="0"/>
              </a:rPr>
              <a:t>capacidade assegurada</a:t>
            </a:r>
            <a:endParaRPr lang="en-US" sz="36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86B2C7E-A02A-FB71-CB82-BFFF11A2BC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31200" y="9464208"/>
            <a:ext cx="2224899" cy="22248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EF4DBD-5458-9F88-715C-CEF3277C39A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8"/>
          <a:stretch>
            <a:fillRect/>
          </a:stretch>
        </p:blipFill>
        <p:spPr>
          <a:xfrm>
            <a:off x="8860697" y="0"/>
            <a:ext cx="15526478" cy="867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36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4E111-A1C5-CF28-1048-CD8DB0571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993AF786-8017-092A-50A8-19F046136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575024"/>
              </p:ext>
            </p:extLst>
          </p:nvPr>
        </p:nvGraphicFramePr>
        <p:xfrm>
          <a:off x="668184" y="1997016"/>
          <a:ext cx="8136890" cy="56217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2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4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90805">
                        <a:lnSpc>
                          <a:spcPts val="1614"/>
                        </a:lnSpc>
                      </a:pPr>
                      <a:r>
                        <a:rPr lang="pt-PT" sz="2800" b="1" spc="-10" dirty="0">
                          <a:latin typeface="Figtree"/>
                          <a:cs typeface="Figtree"/>
                        </a:rPr>
                        <a:t>Geral</a:t>
                      </a:r>
                      <a:endParaRPr sz="2800" dirty="0">
                        <a:latin typeface="Figtree"/>
                        <a:cs typeface="Figtree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51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Disponibilidade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Totalmente operacional e arrendado no final de outubro de 2025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Edifício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Construção nova, edifício de 1 andar
Parte de um campus de TI com 6 edifícios e 1,2 GW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Design da Construção da Base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Equivalente ao Nível III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>
                          <a:latin typeface="Figtree"/>
                          <a:cs typeface="Figtree"/>
                        </a:rPr>
                        <a:t>Data</a:t>
                      </a:r>
                      <a:r>
                        <a:rPr sz="1800" spc="-20">
                          <a:latin typeface="Figtree"/>
                          <a:cs typeface="Figtree"/>
                        </a:rPr>
                        <a:t> </a:t>
                      </a:r>
                      <a:r>
                        <a:rPr sz="1800" spc="-10">
                          <a:latin typeface="Figtree"/>
                          <a:cs typeface="Figtree"/>
                        </a:rPr>
                        <a:t>Halls</a:t>
                      </a:r>
                      <a:endParaRPr sz="18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3, com possíveis “</a:t>
                      </a:r>
                      <a:r>
                        <a:rPr lang="pt-PT" sz="1800" dirty="0" err="1">
                          <a:latin typeface="Figtree"/>
                          <a:cs typeface="Figtree"/>
                        </a:rPr>
                        <a:t>cages</a:t>
                      </a:r>
                      <a:r>
                        <a:rPr lang="pt-PT" sz="1800" dirty="0">
                          <a:latin typeface="Figtree"/>
                          <a:cs typeface="Figtree"/>
                        </a:rPr>
                        <a:t>”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Escritório / Armazenamento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Disponível mediante pedido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85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Acesso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Figtree"/>
                          <a:cs typeface="Figtree"/>
                        </a:rPr>
                        <a:t>24/7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Docas de carga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800" dirty="0">
                          <a:latin typeface="Figtree"/>
                          <a:cs typeface="Figtree"/>
                        </a:rPr>
                        <a:t>3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87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Outros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 marR="11239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Segurança e Operações 24/7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Certificações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 marR="9334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Figtree"/>
                          <a:cs typeface="Figtree"/>
                        </a:rPr>
                        <a:t>OCP</a:t>
                      </a:r>
                      <a:r>
                        <a:rPr sz="1800" spc="-4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1800" dirty="0">
                          <a:latin typeface="Figtree"/>
                          <a:cs typeface="Figtree"/>
                        </a:rPr>
                        <a:t>Ready for</a:t>
                      </a:r>
                      <a:r>
                        <a:rPr sz="1800" spc="-3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1800" spc="-10" dirty="0">
                          <a:latin typeface="Figtree"/>
                          <a:cs typeface="Figtree"/>
                        </a:rPr>
                        <a:t>Hyperscale ISO27001</a:t>
                      </a:r>
                      <a:br>
                        <a:rPr lang="en-US" sz="1800" spc="-10" dirty="0">
                          <a:latin typeface="Figtree"/>
                          <a:cs typeface="Figtree"/>
                        </a:rPr>
                      </a:br>
                      <a:r>
                        <a:rPr lang="en-US" sz="1800" spc="-10" dirty="0">
                          <a:latin typeface="Figtree"/>
                          <a:cs typeface="Figtree"/>
                        </a:rPr>
                        <a:t>Leed Gold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BC84A7A0-9591-2A66-FD43-4A4925521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834352"/>
              </p:ext>
            </p:extLst>
          </p:nvPr>
        </p:nvGraphicFramePr>
        <p:xfrm>
          <a:off x="9308655" y="2034082"/>
          <a:ext cx="8135620" cy="35496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4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92075">
                        <a:lnSpc>
                          <a:spcPts val="1614"/>
                        </a:lnSpc>
                      </a:pPr>
                      <a:r>
                        <a:rPr lang="pt-PT" sz="2800" b="1" spc="-10" dirty="0">
                          <a:latin typeface="Figtree"/>
                          <a:cs typeface="Figtree"/>
                        </a:rPr>
                        <a:t>Energia</a:t>
                      </a:r>
                      <a:endParaRPr sz="2800" dirty="0">
                        <a:latin typeface="Figtree"/>
                        <a:cs typeface="Figtree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Fornecedores de Serviços Públicos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Figtree"/>
                          <a:cs typeface="Figtree"/>
                        </a:rPr>
                        <a:t>E-</a:t>
                      </a:r>
                      <a:r>
                        <a:rPr sz="1800" spc="-20" dirty="0">
                          <a:latin typeface="Figtree"/>
                          <a:cs typeface="Figtree"/>
                        </a:rPr>
                        <a:t>Redes</a:t>
                      </a:r>
                      <a:endParaRPr sz="180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Energia Elétrica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2N alimentações de alta tensão 60kV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Distribuição de Energia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2N Tensão Média 11kV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Utilização de Energia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 marR="329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Medição de nível comercial; Opção de preços </a:t>
                      </a:r>
                      <a:r>
                        <a:rPr lang="pt-PT" sz="1800" spc="-10" dirty="0" err="1">
                          <a:latin typeface="Figtree"/>
                          <a:cs typeface="Figtree"/>
                        </a:rPr>
                        <a:t>pass-through</a:t>
                      </a:r>
                      <a:r>
                        <a:rPr lang="pt-PT" sz="1800" spc="-10" dirty="0">
                          <a:latin typeface="Figtree"/>
                          <a:cs typeface="Figtree"/>
                        </a:rPr>
                        <a:t>, fixos ou híbridos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25" dirty="0">
                          <a:latin typeface="Figtree"/>
                          <a:cs typeface="Figtree"/>
                        </a:rPr>
                        <a:t>UPS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Backup redundante distribuído de LV &amp; UPS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Energia de reserva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Sistema de geração alimentado por HVO 24h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5C796BB3-992B-1E20-1F3A-55B97C8A8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32267"/>
              </p:ext>
            </p:extLst>
          </p:nvPr>
        </p:nvGraphicFramePr>
        <p:xfrm>
          <a:off x="9308656" y="5806237"/>
          <a:ext cx="8136890" cy="3895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2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marL="92075">
                        <a:lnSpc>
                          <a:spcPts val="1614"/>
                        </a:lnSpc>
                      </a:pPr>
                      <a:r>
                        <a:rPr lang="pt-PT" sz="2800" b="1" spc="-10" dirty="0">
                          <a:latin typeface="Figtree"/>
                          <a:cs typeface="Figtree"/>
                        </a:rPr>
                        <a:t>Arrefecimento</a:t>
                      </a: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51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Sistema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730" marR="2311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Rejeição de calor para um Sistema de Água do Mar e sistema de arrefecimento como reserva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69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Flexibilidade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9910" indent="-170180">
                        <a:lnSpc>
                          <a:spcPct val="100000"/>
                        </a:lnSpc>
                        <a:spcBef>
                          <a:spcPts val="90"/>
                        </a:spcBef>
                        <a:buFont typeface="Arial"/>
                        <a:buChar char="•"/>
                        <a:tabLst>
                          <a:tab pos="549910" algn="l"/>
                        </a:tabLst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100% Refrigeração líquida
Arrefecimento a ar (paredes do ventilador)
Arrefecimento híbrido de ar e líquido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Serviço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Simultaneamente sustentável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69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Fiabilidade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730" marR="908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Redundância N+1, fonte de energia dupla, tubagem 2N; Tolerante a falhas com térmico
Armazenamento para arrefecimento ininterrupto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DDD1C483-82F6-9D35-6BC6-37580B509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901858"/>
              </p:ext>
            </p:extLst>
          </p:nvPr>
        </p:nvGraphicFramePr>
        <p:xfrm>
          <a:off x="9308656" y="10086320"/>
          <a:ext cx="8136890" cy="230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0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5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marL="92075">
                        <a:lnSpc>
                          <a:spcPts val="1614"/>
                        </a:lnSpc>
                      </a:pPr>
                      <a:r>
                        <a:rPr lang="pt-PT" sz="2800" b="1" spc="-10" dirty="0">
                          <a:latin typeface="Figtree"/>
                          <a:cs typeface="Figtree"/>
                        </a:rPr>
                        <a:t>Telecomunicações</a:t>
                      </a:r>
                      <a:endParaRPr sz="2800" dirty="0">
                        <a:latin typeface="Figtree"/>
                        <a:cs typeface="Figtree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Pontos de entrada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59690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Quatro pontos de entrada diferentes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59690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10" dirty="0">
                          <a:latin typeface="Figtree"/>
                          <a:cs typeface="Figtree"/>
                        </a:rPr>
                        <a:t>Meet-</a:t>
                      </a:r>
                      <a:r>
                        <a:rPr sz="1800" dirty="0">
                          <a:latin typeface="Figtree"/>
                          <a:cs typeface="Figtree"/>
                        </a:rPr>
                        <a:t>Me</a:t>
                      </a:r>
                      <a:r>
                        <a:rPr sz="1800" spc="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1800" spc="-20" dirty="0">
                          <a:latin typeface="Figtree"/>
                          <a:cs typeface="Figtree"/>
                        </a:rPr>
                        <a:t>Rooms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Dois </a:t>
                      </a:r>
                      <a:r>
                        <a:rPr lang="pt-PT" sz="1800" dirty="0" err="1">
                          <a:latin typeface="Figtree"/>
                          <a:cs typeface="Figtree"/>
                        </a:rPr>
                        <a:t>MMRs</a:t>
                      </a:r>
                      <a:r>
                        <a:rPr lang="pt-PT" sz="1800" dirty="0">
                          <a:latin typeface="Figtree"/>
                          <a:cs typeface="Figtree"/>
                        </a:rPr>
                        <a:t> independentes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3175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Figtree"/>
                          <a:cs typeface="Figtree"/>
                        </a:rPr>
                        <a:t>Carrier</a:t>
                      </a:r>
                      <a:r>
                        <a:rPr sz="1800" spc="-5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1800" spc="-10" dirty="0">
                          <a:latin typeface="Figtree"/>
                          <a:cs typeface="Figtree"/>
                        </a:rPr>
                        <a:t>Neutral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Acesso a múltiplos operadores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3302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Figtree"/>
                          <a:cs typeface="Figtree"/>
                        </a:rPr>
                        <a:t>Cable</a:t>
                      </a:r>
                      <a:r>
                        <a:rPr sz="1800" spc="-6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1800" spc="-10" dirty="0">
                          <a:latin typeface="Figtree"/>
                          <a:cs typeface="Figtree"/>
                        </a:rPr>
                        <a:t>Landing</a:t>
                      </a:r>
                      <a:endParaRPr sz="180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Sines &lt;4 milhas de distância (</a:t>
                      </a:r>
                      <a:r>
                        <a:rPr lang="pt-PT" sz="1800" dirty="0" err="1">
                          <a:latin typeface="Figtree"/>
                          <a:cs typeface="Figtree"/>
                        </a:rPr>
                        <a:t>EllaLink</a:t>
                      </a:r>
                      <a:r>
                        <a:rPr lang="pt-PT" sz="1800" dirty="0">
                          <a:latin typeface="Figtree"/>
                          <a:cs typeface="Figtree"/>
                        </a:rPr>
                        <a:t>, Nuvem1)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3302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E9DA4E91-DEAA-854F-2B30-1A62CBA70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173104"/>
              </p:ext>
            </p:extLst>
          </p:nvPr>
        </p:nvGraphicFramePr>
        <p:xfrm>
          <a:off x="668184" y="7941869"/>
          <a:ext cx="8136890" cy="3420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5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marL="91440">
                        <a:lnSpc>
                          <a:spcPts val="1614"/>
                        </a:lnSpc>
                      </a:pPr>
                      <a:r>
                        <a:rPr lang="pt-PT" sz="2800" b="1" spc="-10" noProof="0" dirty="0">
                          <a:latin typeface="Figtree"/>
                          <a:cs typeface="Figtree"/>
                        </a:rPr>
                        <a:t>Segurança</a:t>
                      </a:r>
                      <a:endParaRPr lang="pt-PT" sz="2800" noProof="0" dirty="0">
                        <a:latin typeface="Figtree"/>
                        <a:cs typeface="Figtree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pt-PT" sz="2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lang="pt-PT" sz="1800" spc="-10" noProof="0" dirty="0">
                          <a:latin typeface="Figtree"/>
                          <a:cs typeface="Figtree"/>
                        </a:rPr>
                        <a:t>Pessoal</a:t>
                      </a:r>
                      <a:endParaRPr lang="pt-PT" sz="1800" noProof="0" dirty="0">
                        <a:latin typeface="Figtree"/>
                        <a:cs typeface="Figtree"/>
                      </a:endParaRPr>
                    </a:p>
                  </a:txBody>
                  <a:tcPr marL="0" marR="0" marT="5968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lang="pt-PT" sz="1800" noProof="0" dirty="0">
                          <a:latin typeface="Figtree"/>
                          <a:cs typeface="Figtree"/>
                        </a:rPr>
                        <a:t>Segurança 24/7</a:t>
                      </a:r>
                    </a:p>
                  </a:txBody>
                  <a:tcPr marL="0" marR="0" marT="5968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20" noProof="0" dirty="0">
                          <a:latin typeface="Figtree"/>
                          <a:cs typeface="Figtree"/>
                        </a:rPr>
                        <a:t>CCTV</a:t>
                      </a:r>
                      <a:endParaRPr lang="pt-PT" sz="1800" noProof="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lang="pt-PT" sz="1800" noProof="0" dirty="0">
                          <a:latin typeface="Figtree"/>
                          <a:cs typeface="Figtree"/>
                        </a:rPr>
                        <a:t>360º</a:t>
                      </a:r>
                      <a:r>
                        <a:rPr lang="pt-PT" sz="1800" spc="5" noProof="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lang="pt-PT" sz="1800" spc="-10" noProof="0" dirty="0" err="1">
                          <a:latin typeface="Figtree"/>
                          <a:cs typeface="Figtree"/>
                        </a:rPr>
                        <a:t>video-</a:t>
                      </a:r>
                      <a:r>
                        <a:rPr lang="pt-PT" sz="1800" noProof="0" dirty="0" err="1">
                          <a:latin typeface="Figtree"/>
                          <a:cs typeface="Figtree"/>
                        </a:rPr>
                        <a:t>analytics</a:t>
                      </a:r>
                      <a:r>
                        <a:rPr lang="pt-PT" sz="1800" spc="-20" noProof="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lang="pt-PT" sz="1800" spc="-10" noProof="0" dirty="0">
                          <a:latin typeface="Figtree"/>
                          <a:cs typeface="Figtree"/>
                        </a:rPr>
                        <a:t>(interior/exterior)</a:t>
                      </a:r>
                      <a:endParaRPr lang="pt-PT" sz="1800" noProof="0" dirty="0">
                        <a:latin typeface="Figtree"/>
                        <a:cs typeface="Figtree"/>
                      </a:endParaRPr>
                    </a:p>
                  </a:txBody>
                  <a:tcPr marL="0" marR="0" marT="3175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noProof="0" dirty="0">
                          <a:latin typeface="Figtree"/>
                          <a:cs typeface="Figtree"/>
                        </a:rPr>
                        <a:t>Controlo de acesso</a:t>
                      </a: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lang="pt-PT" sz="1800" noProof="0" dirty="0">
                          <a:latin typeface="Figtree"/>
                          <a:cs typeface="Figtree"/>
                        </a:rPr>
                        <a:t>Sistema de controlo de acesso biométrico e MFA</a:t>
                      </a:r>
                    </a:p>
                  </a:txBody>
                  <a:tcPr marL="0" marR="0" marT="3175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noProof="0" dirty="0">
                          <a:latin typeface="Figtree"/>
                          <a:cs typeface="Figtree"/>
                        </a:rPr>
                        <a:t>Perímetro</a:t>
                      </a:r>
                      <a:endParaRPr lang="pt-PT" sz="1800" noProof="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 marR="2070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noProof="0" dirty="0">
                          <a:latin typeface="Figtree"/>
                          <a:cs typeface="Figtree"/>
                        </a:rPr>
                        <a:t>Vedação metálica de segurança </a:t>
                      </a:r>
                      <a:r>
                        <a:rPr lang="pt-PT" sz="1800" spc="-10" noProof="0" dirty="0" err="1">
                          <a:latin typeface="Figtree"/>
                          <a:cs typeface="Figtree"/>
                        </a:rPr>
                        <a:t>anti-escalada</a:t>
                      </a:r>
                      <a:r>
                        <a:rPr lang="pt-PT" sz="1800" spc="-10" noProof="0" dirty="0">
                          <a:latin typeface="Figtree"/>
                          <a:cs typeface="Figtree"/>
                        </a:rPr>
                        <a:t> com deteção de intrusão</a:t>
                      </a:r>
                      <a:endParaRPr lang="pt-PT" sz="1800" noProof="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lang="pt-PT" sz="1800" noProof="0" dirty="0">
                          <a:latin typeface="Figtree"/>
                          <a:cs typeface="Figtree"/>
                        </a:rPr>
                        <a:t>Defesa em Profundidade</a:t>
                      </a: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pt-PT" sz="1800" noProof="0" dirty="0">
                          <a:latin typeface="Figtree"/>
                          <a:cs typeface="Figtree"/>
                        </a:rPr>
                        <a:t>Múltiplas camadas concêntricas de segurança</a:t>
                      </a:r>
                    </a:p>
                  </a:txBody>
                  <a:tcPr marL="0" marR="0" marT="3302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lang="pt-PT" sz="1800" spc="-10" noProof="0" dirty="0">
                          <a:latin typeface="Figtree"/>
                          <a:cs typeface="Figtree"/>
                        </a:rPr>
                        <a:t>Integração</a:t>
                      </a:r>
                      <a:endParaRPr lang="pt-PT" sz="1800" noProof="0" dirty="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lang="pt-PT" sz="1800" noProof="0" dirty="0">
                          <a:latin typeface="Figtree"/>
                          <a:cs typeface="Figtree"/>
                        </a:rPr>
                        <a:t>Sistema Integrado de Segurança Física</a:t>
                      </a:r>
                    </a:p>
                  </a:txBody>
                  <a:tcPr marL="0" marR="0" marT="3175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>
            <a:extLst>
              <a:ext uri="{FF2B5EF4-FFF2-40B4-BE49-F238E27FC236}">
                <a16:creationId xmlns:a16="http://schemas.microsoft.com/office/drawing/2014/main" id="{99EBF068-99AF-AD65-4A40-415CE8F09D57}"/>
              </a:ext>
            </a:extLst>
          </p:cNvPr>
          <p:cNvSpPr/>
          <p:nvPr/>
        </p:nvSpPr>
        <p:spPr>
          <a:xfrm>
            <a:off x="636917" y="669974"/>
            <a:ext cx="1026160" cy="1064260"/>
          </a:xfrm>
          <a:custGeom>
            <a:avLst/>
            <a:gdLst/>
            <a:ahLst/>
            <a:cxnLst/>
            <a:rect l="l" t="t" r="r" b="b"/>
            <a:pathLst>
              <a:path w="513080" h="532130">
                <a:moveTo>
                  <a:pt x="336372" y="229755"/>
                </a:moveTo>
                <a:lnTo>
                  <a:pt x="256235" y="229755"/>
                </a:lnTo>
                <a:lnTo>
                  <a:pt x="294462" y="81940"/>
                </a:lnTo>
                <a:lnTo>
                  <a:pt x="293573" y="81648"/>
                </a:lnTo>
                <a:lnTo>
                  <a:pt x="172593" y="278866"/>
                </a:lnTo>
                <a:lnTo>
                  <a:pt x="247637" y="278866"/>
                </a:lnTo>
                <a:lnTo>
                  <a:pt x="209207" y="425234"/>
                </a:lnTo>
                <a:lnTo>
                  <a:pt x="209918" y="425551"/>
                </a:lnTo>
                <a:lnTo>
                  <a:pt x="336372" y="229755"/>
                </a:lnTo>
                <a:close/>
              </a:path>
              <a:path w="513080" h="532130">
                <a:moveTo>
                  <a:pt x="512686" y="0"/>
                </a:moveTo>
                <a:lnTo>
                  <a:pt x="4648" y="0"/>
                </a:lnTo>
                <a:lnTo>
                  <a:pt x="0" y="76"/>
                </a:lnTo>
                <a:lnTo>
                  <a:pt x="0" y="414693"/>
                </a:lnTo>
                <a:lnTo>
                  <a:pt x="39039" y="414693"/>
                </a:lnTo>
                <a:lnTo>
                  <a:pt x="39039" y="38989"/>
                </a:lnTo>
                <a:lnTo>
                  <a:pt x="473633" y="38989"/>
                </a:lnTo>
                <a:lnTo>
                  <a:pt x="473633" y="468376"/>
                </a:lnTo>
                <a:lnTo>
                  <a:pt x="141490" y="468363"/>
                </a:lnTo>
                <a:lnTo>
                  <a:pt x="136715" y="461352"/>
                </a:lnTo>
                <a:lnTo>
                  <a:pt x="130378" y="455028"/>
                </a:lnTo>
                <a:lnTo>
                  <a:pt x="119735" y="449072"/>
                </a:lnTo>
                <a:lnTo>
                  <a:pt x="104203" y="446417"/>
                </a:lnTo>
                <a:lnTo>
                  <a:pt x="87337" y="449745"/>
                </a:lnTo>
                <a:lnTo>
                  <a:pt x="73901" y="458825"/>
                </a:lnTo>
                <a:lnTo>
                  <a:pt x="64985" y="472287"/>
                </a:lnTo>
                <a:lnTo>
                  <a:pt x="61772" y="488759"/>
                </a:lnTo>
                <a:lnTo>
                  <a:pt x="65100" y="505358"/>
                </a:lnTo>
                <a:lnTo>
                  <a:pt x="74206" y="519061"/>
                </a:lnTo>
                <a:lnTo>
                  <a:pt x="87693" y="528370"/>
                </a:lnTo>
                <a:lnTo>
                  <a:pt x="104203" y="531812"/>
                </a:lnTo>
                <a:lnTo>
                  <a:pt x="120103" y="529145"/>
                </a:lnTo>
                <a:lnTo>
                  <a:pt x="130670" y="523151"/>
                </a:lnTo>
                <a:lnTo>
                  <a:pt x="136766" y="516813"/>
                </a:lnTo>
                <a:lnTo>
                  <a:pt x="141351" y="509587"/>
                </a:lnTo>
                <a:lnTo>
                  <a:pt x="512686" y="509651"/>
                </a:lnTo>
                <a:lnTo>
                  <a:pt x="512686" y="0"/>
                </a:lnTo>
                <a:close/>
              </a:path>
            </a:pathLst>
          </a:custGeom>
          <a:solidFill>
            <a:srgbClr val="12BC63"/>
          </a:solidFill>
        </p:spPr>
        <p:txBody>
          <a:bodyPr wrap="square" lIns="0" tIns="0" rIns="0" bIns="0" rtlCol="0"/>
          <a:lstStyle/>
          <a:p>
            <a:endParaRPr sz="7200"/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05CB2E1A-A9F2-EA63-57F8-39DFD98CE6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7952" y="740069"/>
            <a:ext cx="1932834" cy="970354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74B3D692-205F-B8F9-EC6D-F88DA1FCA74D}"/>
              </a:ext>
            </a:extLst>
          </p:cNvPr>
          <p:cNvSpPr txBox="1"/>
          <p:nvPr/>
        </p:nvSpPr>
        <p:spPr>
          <a:xfrm>
            <a:off x="2727260" y="12036144"/>
            <a:ext cx="5384800" cy="45653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>
              <a:spcBef>
                <a:spcPts val="200"/>
              </a:spcBef>
            </a:pPr>
            <a:r>
              <a:rPr lang="pt-PT" sz="2800" spc="-40" dirty="0">
                <a:latin typeface="Figtree"/>
                <a:cs typeface="Figtree"/>
              </a:rPr>
              <a:t>Faça uma visita virtual ao local</a:t>
            </a:r>
            <a:endParaRPr sz="2800" dirty="0">
              <a:latin typeface="Figtree"/>
              <a:cs typeface="Figtree"/>
            </a:endParaRPr>
          </a:p>
        </p:txBody>
      </p:sp>
      <p:pic>
        <p:nvPicPr>
          <p:cNvPr id="10" name="object 10">
            <a:extLst>
              <a:ext uri="{FF2B5EF4-FFF2-40B4-BE49-F238E27FC236}">
                <a16:creationId xmlns:a16="http://schemas.microsoft.com/office/drawing/2014/main" id="{60EBFFE3-EEB6-33CB-B31B-C9234DB22A1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012" y="11645352"/>
            <a:ext cx="1243686" cy="1245080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99A890A5-BCD9-58B1-48B0-AF01476AE9B3}"/>
              </a:ext>
            </a:extLst>
          </p:cNvPr>
          <p:cNvSpPr txBox="1"/>
          <p:nvPr/>
        </p:nvSpPr>
        <p:spPr>
          <a:xfrm>
            <a:off x="9413809" y="12497612"/>
            <a:ext cx="5384800" cy="23980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6200">
              <a:spcBef>
                <a:spcPts val="190"/>
              </a:spcBef>
            </a:pPr>
            <a:r>
              <a:rPr sz="1400" dirty="0">
                <a:latin typeface="Figtree"/>
                <a:cs typeface="Figtree"/>
              </a:rPr>
              <a:t>Note:</a:t>
            </a:r>
            <a:r>
              <a:rPr sz="1400" spc="-4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CLS</a:t>
            </a:r>
            <a:r>
              <a:rPr sz="1400" spc="-7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stands</a:t>
            </a:r>
            <a:r>
              <a:rPr sz="1400" spc="-2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for</a:t>
            </a:r>
            <a:r>
              <a:rPr sz="1400" spc="-4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Cable</a:t>
            </a:r>
            <a:r>
              <a:rPr sz="1400" spc="-2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Landing</a:t>
            </a:r>
            <a:r>
              <a:rPr sz="1400" spc="-1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Station; </a:t>
            </a:r>
            <a:r>
              <a:rPr sz="1350" baseline="24691" dirty="0">
                <a:latin typeface="Figtree"/>
                <a:cs typeface="Figtree"/>
              </a:rPr>
              <a:t>1</a:t>
            </a:r>
            <a:r>
              <a:rPr sz="1350" spc="88" baseline="24691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From</a:t>
            </a:r>
            <a:r>
              <a:rPr sz="1400" spc="-4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2026</a:t>
            </a:r>
            <a:r>
              <a:rPr sz="1400" spc="-30" dirty="0">
                <a:latin typeface="Figtree"/>
                <a:cs typeface="Figtree"/>
              </a:rPr>
              <a:t> </a:t>
            </a:r>
            <a:r>
              <a:rPr sz="1400" spc="-20" dirty="0">
                <a:latin typeface="Figtree"/>
                <a:cs typeface="Figtree"/>
              </a:rPr>
              <a:t>onwards</a:t>
            </a:r>
            <a:endParaRPr sz="1400">
              <a:latin typeface="Figtree"/>
              <a:cs typeface="Figtree"/>
            </a:endParaRPr>
          </a:p>
        </p:txBody>
      </p:sp>
      <p:pic>
        <p:nvPicPr>
          <p:cNvPr id="12" name="object 12">
            <a:extLst>
              <a:ext uri="{FF2B5EF4-FFF2-40B4-BE49-F238E27FC236}">
                <a16:creationId xmlns:a16="http://schemas.microsoft.com/office/drawing/2014/main" id="{4B2B8568-FB04-38E0-5D3B-AEAC08D3A0D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4996" y="12083476"/>
            <a:ext cx="239294" cy="4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64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12BE3-18F1-2C0F-CCCE-132CCC129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A28162-F12C-3B00-2D70-6A510E93BE9C}"/>
              </a:ext>
            </a:extLst>
          </p:cNvPr>
          <p:cNvSpPr txBox="1"/>
          <p:nvPr/>
        </p:nvSpPr>
        <p:spPr>
          <a:xfrm>
            <a:off x="8420759" y="5926976"/>
            <a:ext cx="754565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b="1" dirty="0">
                <a:latin typeface="Figtree" pitchFamily="2" charset="0"/>
              </a:rPr>
              <a:t>SIN02 PDF</a:t>
            </a:r>
            <a:endParaRPr lang="pt-PT" sz="11500" b="1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283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B267D-AE18-7D13-2BF6-7FE922559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19CDD9-94A7-781A-2B2E-F5B6141497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679" y="0"/>
            <a:ext cx="8889356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800"/>
            <a:endParaRPr lang="en-GB">
              <a:solidFill>
                <a:srgbClr val="F4F4FF"/>
              </a:solidFill>
              <a:latin typeface="Gill Sans MT" panose="020B0502020104020203"/>
            </a:endParaRP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61F1DCB6-A7A6-16E5-DACA-E7164CA55A59}"/>
              </a:ext>
            </a:extLst>
          </p:cNvPr>
          <p:cNvSpPr txBox="1">
            <a:spLocks/>
          </p:cNvSpPr>
          <p:nvPr/>
        </p:nvSpPr>
        <p:spPr>
          <a:xfrm>
            <a:off x="517441" y="3710863"/>
            <a:ext cx="7841116" cy="3147137"/>
          </a:xfrm>
          <a:prstGeom prst="rect">
            <a:avLst/>
          </a:prstGeom>
        </p:spPr>
        <p:txBody>
          <a:bodyPr lIns="72000" tIns="0" rIns="0" bIns="0" anchor="b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algn="ctr" defTabSz="1828526"/>
            <a:r>
              <a:rPr lang="en-US" sz="6600" b="1" dirty="0">
                <a:solidFill>
                  <a:srgbClr val="00C159"/>
                </a:solidFill>
                <a:latin typeface="Figtree SemiBold" pitchFamily="2" charset="0"/>
              </a:rPr>
              <a:t>SIN 02</a:t>
            </a:r>
            <a:br>
              <a:rPr lang="en-US" sz="8000" b="1" dirty="0">
                <a:solidFill>
                  <a:srgbClr val="00C159"/>
                </a:solidFill>
                <a:latin typeface="Figtree SemiBold" pitchFamily="2" charset="0"/>
              </a:rPr>
            </a:br>
            <a:endParaRPr lang="en-US" sz="1800" b="1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 defTabSz="1828526"/>
            <a:r>
              <a:rPr lang="it-IT" sz="4000" dirty="0">
                <a:solidFill>
                  <a:schemeClr val="bg1"/>
                </a:solidFill>
                <a:latin typeface="Figtree SemiBold" pitchFamily="2" charset="0"/>
              </a:rPr>
              <a:t>Europe’s First Giga-Scale</a:t>
            </a:r>
            <a:br>
              <a:rPr lang="it-IT" sz="4000" dirty="0">
                <a:solidFill>
                  <a:schemeClr val="bg1"/>
                </a:solidFill>
                <a:latin typeface="Figtree SemiBold" pitchFamily="2" charset="0"/>
              </a:rPr>
            </a:br>
            <a:r>
              <a:rPr lang="it-IT" sz="4000" dirty="0">
                <a:solidFill>
                  <a:schemeClr val="bg1"/>
                </a:solidFill>
                <a:latin typeface="Figtree SemiBold" pitchFamily="2" charset="0"/>
              </a:rPr>
              <a:t>AI Data Campus</a:t>
            </a:r>
            <a:endParaRPr lang="en-US" sz="7200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/>
            <a:endParaRPr lang="en-US" sz="2800" b="1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Sines, Portugal</a:t>
            </a:r>
            <a:r>
              <a:rPr lang="en-US" sz="2800" dirty="0">
                <a:solidFill>
                  <a:schemeClr val="bg1"/>
                </a:solidFill>
                <a:latin typeface="Figtree SemiBold" pitchFamily="2" charset="0"/>
              </a:rPr>
              <a:t> 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Site Coordinates: 37.934961, -8.812558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c. 90 km south of Lisbon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40E8B496-B188-1DF4-70DD-2955AFB194E1}"/>
              </a:ext>
            </a:extLst>
          </p:cNvPr>
          <p:cNvSpPr txBox="1">
            <a:spLocks/>
          </p:cNvSpPr>
          <p:nvPr/>
        </p:nvSpPr>
        <p:spPr>
          <a:xfrm>
            <a:off x="806767" y="7411712"/>
            <a:ext cx="7262464" cy="1188783"/>
          </a:xfrm>
          <a:prstGeom prst="rect">
            <a:avLst/>
          </a:prstGeom>
        </p:spPr>
        <p:txBody>
          <a:bodyPr lIns="72000" tIns="36000" rIns="72000" bIns="36000" anchor="t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200MW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IT Capacity - up to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600kW racks</a:t>
            </a:r>
            <a:br>
              <a:rPr lang="en-US" sz="2800" dirty="0">
                <a:solidFill>
                  <a:schemeClr val="bg1"/>
                </a:solidFill>
                <a:latin typeface="Figtree Light" pitchFamily="2" charset="0"/>
              </a:rPr>
            </a:b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Q3 2027 - AI-ready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design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C8E0A549-DBB2-88FA-DB40-148A2362F79C}"/>
              </a:ext>
            </a:extLst>
          </p:cNvPr>
          <p:cNvSpPr txBox="1">
            <a:spLocks/>
          </p:cNvSpPr>
          <p:nvPr/>
        </p:nvSpPr>
        <p:spPr>
          <a:xfrm>
            <a:off x="11279309" y="7671332"/>
            <a:ext cx="6912000" cy="100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endParaRPr lang="en-US" sz="2800">
              <a:solidFill>
                <a:srgbClr val="000000"/>
              </a:solidFill>
              <a:latin typeface="Figtree" pitchFamily="2" charset="0"/>
            </a:endParaRPr>
          </a:p>
        </p:txBody>
      </p:sp>
      <p:sp>
        <p:nvSpPr>
          <p:cNvPr id="45" name="Text Placeholder 1">
            <a:extLst>
              <a:ext uri="{FF2B5EF4-FFF2-40B4-BE49-F238E27FC236}">
                <a16:creationId xmlns:a16="http://schemas.microsoft.com/office/drawing/2014/main" id="{F8635DC5-777C-42A4-589E-195E2CAC7273}"/>
              </a:ext>
            </a:extLst>
          </p:cNvPr>
          <p:cNvSpPr txBox="1">
            <a:spLocks/>
          </p:cNvSpPr>
          <p:nvPr/>
        </p:nvSpPr>
        <p:spPr>
          <a:xfrm>
            <a:off x="10803386" y="12046835"/>
            <a:ext cx="8889355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Low cost </a:t>
            </a:r>
            <a:r>
              <a:rPr lang="en-US" sz="3600" b="1" dirty="0">
                <a:solidFill>
                  <a:schemeClr val="bg1"/>
                </a:solidFill>
                <a:latin typeface="Figtree SemiBold" pitchFamily="2" charset="0"/>
              </a:rPr>
              <a:t>and </a:t>
            </a:r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100% renewable power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854D9E0C-EBF5-0488-3148-E13CEBD65DA5}"/>
              </a:ext>
            </a:extLst>
          </p:cNvPr>
          <p:cNvSpPr txBox="1">
            <a:spLocks/>
          </p:cNvSpPr>
          <p:nvPr/>
        </p:nvSpPr>
        <p:spPr>
          <a:xfrm>
            <a:off x="10803387" y="11082896"/>
            <a:ext cx="8059798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Low latency </a:t>
            </a:r>
            <a:r>
              <a:rPr lang="en-US" sz="3600" b="1" dirty="0">
                <a:solidFill>
                  <a:schemeClr val="bg1"/>
                </a:solidFill>
                <a:latin typeface="Figtree SemiBold" pitchFamily="2" charset="0"/>
              </a:rPr>
              <a:t>to all major cities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4C69E5F8-2A32-6BF6-DFD3-17FE9876250E}"/>
              </a:ext>
            </a:extLst>
          </p:cNvPr>
          <p:cNvSpPr txBox="1">
            <a:spLocks/>
          </p:cNvSpPr>
          <p:nvPr/>
        </p:nvSpPr>
        <p:spPr>
          <a:xfrm>
            <a:off x="525707" y="9887313"/>
            <a:ext cx="7840800" cy="1440000"/>
          </a:xfrm>
          <a:prstGeom prst="rect">
            <a:avLst/>
          </a:prstGeom>
        </p:spPr>
        <p:txBody>
          <a:bodyPr lIns="72000" tIns="36000" rIns="72000" bIns="36000" anchor="t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marL="0" lvl="1">
              <a:lnSpc>
                <a:spcPct val="100000"/>
              </a:lnSpc>
              <a:buSzPct val="120000"/>
            </a:pPr>
            <a:endParaRPr lang="en-US" sz="2800">
              <a:solidFill>
                <a:srgbClr val="000000"/>
              </a:solidFill>
              <a:latin typeface="Figtree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8BC829-59A8-EA2D-324E-6DD4DF4281F3}"/>
              </a:ext>
            </a:extLst>
          </p:cNvPr>
          <p:cNvSpPr txBox="1"/>
          <p:nvPr/>
        </p:nvSpPr>
        <p:spPr>
          <a:xfrm>
            <a:off x="20038624" y="11893730"/>
            <a:ext cx="42100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828526"/>
            <a:r>
              <a:rPr lang="en-US" sz="2800" dirty="0">
                <a:solidFill>
                  <a:srgbClr val="00C159"/>
                </a:solidFill>
                <a:latin typeface="Figtree Light" pitchFamily="2" charset="0"/>
                <a:hlinkClick r:id="rId3"/>
              </a:rPr>
              <a:t>www.startcampus.pt</a:t>
            </a:r>
            <a:br>
              <a:rPr lang="en-US" sz="2800" dirty="0">
                <a:solidFill>
                  <a:schemeClr val="bg1"/>
                </a:solidFill>
                <a:latin typeface="Figtree Light" pitchFamily="2" charset="0"/>
              </a:rPr>
            </a:b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sales@startcampus.pt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B8915-D11B-A7AB-7F17-2D40168AF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7437" y="11611947"/>
            <a:ext cx="2331639" cy="110189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A96BF17-B78E-AC50-8613-4881A7DFE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37837" y="11386894"/>
            <a:ext cx="1458392" cy="145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C0E74DC3-C810-CEAB-E621-22EA613242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9430" y="720372"/>
            <a:ext cx="4277139" cy="1417836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9464B5F2-DFD7-3AE4-7DCC-3BE7EB00FA4D}"/>
              </a:ext>
            </a:extLst>
          </p:cNvPr>
          <p:cNvGrpSpPr/>
          <p:nvPr/>
        </p:nvGrpSpPr>
        <p:grpSpPr>
          <a:xfrm>
            <a:off x="2123192" y="9256089"/>
            <a:ext cx="4629615" cy="1631950"/>
            <a:chOff x="2230511" y="9256089"/>
            <a:chExt cx="4629615" cy="16319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F4A2FF-0CD2-BA16-0E83-A0234437F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88579" y="9289033"/>
              <a:ext cx="1171547" cy="1499581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8BEB254-AF47-0F4D-BC63-8EA062B2B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230511" y="9256089"/>
              <a:ext cx="1282700" cy="1631950"/>
            </a:xfrm>
            <a:prstGeom prst="rect">
              <a:avLst/>
            </a:prstGeom>
          </p:spPr>
        </p:pic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344D01C0-2922-3916-499D-E72D58008D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3168" y="9230466"/>
            <a:ext cx="852491" cy="3765162"/>
          </a:xfrm>
          <a:prstGeom prst="rect">
            <a:avLst/>
          </a:prstGeom>
        </p:spPr>
      </p:pic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D94E4AA1-0F2D-C857-0055-F892F71838F6}"/>
              </a:ext>
            </a:extLst>
          </p:cNvPr>
          <p:cNvSpPr txBox="1">
            <a:spLocks/>
          </p:cNvSpPr>
          <p:nvPr/>
        </p:nvSpPr>
        <p:spPr>
          <a:xfrm>
            <a:off x="10803386" y="9155020"/>
            <a:ext cx="8889355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pt-PT" sz="3600" b="1" dirty="0">
                <a:solidFill>
                  <a:srgbClr val="00C159"/>
                </a:solidFill>
                <a:latin typeface="Figtree SemiBold" pitchFamily="2" charset="0"/>
              </a:rPr>
              <a:t>1.2 GW </a:t>
            </a:r>
            <a:r>
              <a:rPr lang="pt-PT" sz="3600" b="1" dirty="0">
                <a:solidFill>
                  <a:schemeClr val="bg1"/>
                </a:solidFill>
                <a:latin typeface="Figtree SemiBold" pitchFamily="2" charset="0"/>
              </a:rPr>
              <a:t>IT </a:t>
            </a:r>
            <a:r>
              <a:rPr lang="pt-PT" sz="3600" b="1" dirty="0" err="1">
                <a:solidFill>
                  <a:schemeClr val="bg1"/>
                </a:solidFill>
                <a:latin typeface="Figtree SemiBold" pitchFamily="2" charset="0"/>
              </a:rPr>
              <a:t>capacity</a:t>
            </a:r>
            <a:endParaRPr lang="en-US" sz="36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B9F500BB-F478-F346-CE2A-1AD6D3D5D52E}"/>
              </a:ext>
            </a:extLst>
          </p:cNvPr>
          <p:cNvSpPr txBox="1">
            <a:spLocks/>
          </p:cNvSpPr>
          <p:nvPr/>
        </p:nvSpPr>
        <p:spPr>
          <a:xfrm>
            <a:off x="10803387" y="10118958"/>
            <a:ext cx="8059798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pt-PT" sz="3600" b="1" dirty="0">
                <a:solidFill>
                  <a:srgbClr val="00C159"/>
                </a:solidFill>
                <a:latin typeface="Figtree SemiBold" pitchFamily="2" charset="0"/>
              </a:rPr>
              <a:t>100% </a:t>
            </a:r>
            <a:r>
              <a:rPr lang="pt-PT" sz="3600" b="1" dirty="0" err="1">
                <a:solidFill>
                  <a:schemeClr val="bg1"/>
                </a:solidFill>
                <a:latin typeface="Figtree SemiBold" pitchFamily="2" charset="0"/>
              </a:rPr>
              <a:t>Grid</a:t>
            </a:r>
            <a:r>
              <a:rPr lang="pt-PT" sz="3600" b="1" dirty="0">
                <a:solidFill>
                  <a:schemeClr val="bg1"/>
                </a:solidFill>
                <a:latin typeface="Figtree SemiBold" pitchFamily="2" charset="0"/>
              </a:rPr>
              <a:t> </a:t>
            </a:r>
            <a:r>
              <a:rPr lang="pt-PT" sz="3600" b="1" dirty="0" err="1">
                <a:solidFill>
                  <a:schemeClr val="bg1"/>
                </a:solidFill>
                <a:latin typeface="Figtree SemiBold" pitchFamily="2" charset="0"/>
              </a:rPr>
              <a:t>capacity</a:t>
            </a:r>
            <a:r>
              <a:rPr lang="pt-PT" sz="3600" b="1" dirty="0">
                <a:solidFill>
                  <a:schemeClr val="bg1"/>
                </a:solidFill>
                <a:latin typeface="Figtree SemiBold" pitchFamily="2" charset="0"/>
              </a:rPr>
              <a:t> </a:t>
            </a:r>
            <a:r>
              <a:rPr lang="pt-PT" sz="3600" b="1" dirty="0" err="1">
                <a:solidFill>
                  <a:schemeClr val="bg1"/>
                </a:solidFill>
                <a:latin typeface="Figtree SemiBold" pitchFamily="2" charset="0"/>
              </a:rPr>
              <a:t>secured</a:t>
            </a:r>
            <a:endParaRPr lang="en-US" sz="36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C665651-011F-236C-8420-C285509253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31200" y="9464208"/>
            <a:ext cx="2224899" cy="2224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071CE9-6CC2-A7FF-A11A-CC0BFC38E11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6"/>
          <a:stretch>
            <a:fillRect/>
          </a:stretch>
        </p:blipFill>
        <p:spPr>
          <a:xfrm>
            <a:off x="8882677" y="0"/>
            <a:ext cx="15510061" cy="867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380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A05C2-993C-1499-8FBC-482F33F42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8">
            <a:extLst>
              <a:ext uri="{FF2B5EF4-FFF2-40B4-BE49-F238E27FC236}">
                <a16:creationId xmlns:a16="http://schemas.microsoft.com/office/drawing/2014/main" id="{5A390582-F5F8-0973-66D4-70CD2C320DF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953038" y="0"/>
            <a:ext cx="6432550" cy="13716000"/>
          </a:xfr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E581602-9607-2A99-0A59-A6A1B6B1D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799399"/>
              </p:ext>
            </p:extLst>
          </p:nvPr>
        </p:nvGraphicFramePr>
        <p:xfrm>
          <a:off x="634391" y="2004428"/>
          <a:ext cx="8136000" cy="57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>
                  <a:extLst>
                    <a:ext uri="{9D8B030D-6E8A-4147-A177-3AD203B41FA5}">
                      <a16:colId xmlns:a16="http://schemas.microsoft.com/office/drawing/2014/main" val="1092837733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1185552388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General</a:t>
                      </a:r>
                      <a:endParaRPr lang="en-GB" sz="28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8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441108"/>
                  </a:ext>
                </a:extLst>
              </a:tr>
              <a:tr h="77856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Availability 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72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200 MW </a:t>
                      </a:r>
                    </a:p>
                    <a:p>
                      <a:r>
                        <a:rPr lang="en-US" sz="2200" dirty="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Q3 2027</a:t>
                      </a:r>
                      <a:endParaRPr lang="en-GB" sz="2200" dirty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72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300794"/>
                  </a:ext>
                </a:extLst>
              </a:tr>
              <a:tr h="74256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Building 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New build, 2 stories building</a:t>
                      </a:r>
                    </a:p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Part of a 6-building, 1.2 GW IT campus</a:t>
                      </a: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058348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Base Build design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Tier III-equivalent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328598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Data Halls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3, with possible cages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961894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Office / Storage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Available upon request 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905140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Access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24/7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143017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Loading docks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Three bays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824016"/>
                  </a:ext>
                </a:extLst>
              </a:tr>
              <a:tr h="74256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Others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Security and Ops 24/7</a:t>
                      </a:r>
                      <a:b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</a:br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Remote hands available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906611"/>
                  </a:ext>
                </a:extLst>
              </a:tr>
              <a:tr h="74256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Certifications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OCP Ready for Hyperscale</a:t>
                      </a:r>
                    </a:p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ISO27001 </a:t>
                      </a: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83424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E896AC0-401B-DF12-2809-7AF7A35EF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316088"/>
              </p:ext>
            </p:extLst>
          </p:nvPr>
        </p:nvGraphicFramePr>
        <p:xfrm>
          <a:off x="9308773" y="2004428"/>
          <a:ext cx="8136000" cy="34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>
                  <a:extLst>
                    <a:ext uri="{9D8B030D-6E8A-4147-A177-3AD203B41FA5}">
                      <a16:colId xmlns:a16="http://schemas.microsoft.com/office/drawing/2014/main" val="1092837733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1185552388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Power</a:t>
                      </a:r>
                      <a:endParaRPr lang="en-GB" sz="28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8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441108"/>
                  </a:ext>
                </a:extLst>
              </a:tr>
              <a:tr h="44328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Utility Providers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72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REN 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72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300794"/>
                  </a:ext>
                </a:extLst>
              </a:tr>
              <a:tr h="40728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Utility Power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200" kern="1200">
                          <a:solidFill>
                            <a:schemeClr val="tx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2N 400kv and 4N3 150kV/22kV</a:t>
                      </a:r>
                      <a:endParaRPr lang="en-GB" sz="2200" kern="1200">
                        <a:solidFill>
                          <a:schemeClr val="tx1"/>
                        </a:solidFill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058348"/>
                  </a:ext>
                </a:extLst>
              </a:tr>
              <a:tr h="40728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Power Distribution 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kern="1200">
                          <a:solidFill>
                            <a:schemeClr val="tx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4N3</a:t>
                      </a: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990192"/>
                  </a:ext>
                </a:extLst>
              </a:tr>
              <a:tr h="74256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Power Usage 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Revenue-grade metering; option of pass-through, fixed or hybrid pricing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013986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UPS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Distributed redundant LV &amp; UPS backup</a:t>
                      </a: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905140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Back-up power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24h HVO-fueled Gen system​</a:t>
                      </a: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143017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7B1BCD3-805A-EB0C-6283-30C20F047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04714"/>
              </p:ext>
            </p:extLst>
          </p:nvPr>
        </p:nvGraphicFramePr>
        <p:xfrm>
          <a:off x="9308773" y="5775688"/>
          <a:ext cx="8136000" cy="39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>
                  <a:extLst>
                    <a:ext uri="{9D8B030D-6E8A-4147-A177-3AD203B41FA5}">
                      <a16:colId xmlns:a16="http://schemas.microsoft.com/office/drawing/2014/main" val="1092837733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1185552388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Cooling </a:t>
                      </a:r>
                      <a:endParaRPr lang="en-GB" sz="28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8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441108"/>
                  </a:ext>
                </a:extLst>
              </a:tr>
              <a:tr h="77856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System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72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Heat rejection to a Sea Water System and chiller system as back-up</a:t>
                      </a:r>
                    </a:p>
                  </a:txBody>
                  <a:tcPr marL="182880" marR="182880" marT="72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300794"/>
                  </a:ext>
                </a:extLst>
              </a:tr>
              <a:tr h="107784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Flexibility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Liquid cooling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Air cooling (fan walls)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Hybrid air &amp; liquid cooling </a:t>
                      </a: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058348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Service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Concurrently maintainable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013986"/>
                  </a:ext>
                </a:extLst>
              </a:tr>
              <a:tr h="107784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Reliability 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N+1 redundancy, dual power source, 2N piping; fault-tolerant with thermal storage for uninterrupted cooling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905140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0C4165F-5D07-2C6C-0392-56BB3D0A8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74826"/>
              </p:ext>
            </p:extLst>
          </p:nvPr>
        </p:nvGraphicFramePr>
        <p:xfrm>
          <a:off x="9308773" y="10055988"/>
          <a:ext cx="8136000" cy="300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>
                  <a:extLst>
                    <a:ext uri="{9D8B030D-6E8A-4147-A177-3AD203B41FA5}">
                      <a16:colId xmlns:a16="http://schemas.microsoft.com/office/drawing/2014/main" val="1092837733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1185552388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Telecom</a:t>
                      </a:r>
                      <a:endParaRPr lang="en-GB" sz="28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8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441108"/>
                  </a:ext>
                </a:extLst>
              </a:tr>
              <a:tr h="49872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Entry points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72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dirty="0">
                          <a:solidFill>
                            <a:schemeClr val="tx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Six diverse entry points (4 at SIN01+ 2 at SIN02)</a:t>
                      </a:r>
                    </a:p>
                  </a:txBody>
                  <a:tcPr marL="182880" marR="182880" marT="72000" marB="9144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300794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Meet-Me Rooms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Two independent MMRs</a:t>
                      </a:r>
                    </a:p>
                  </a:txBody>
                  <a:tcPr marL="182880" marR="182880" marT="36000" marB="3600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986649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Carrier Neutral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Multiple carrier access + Connection to the SIN01.</a:t>
                      </a:r>
                    </a:p>
                  </a:txBody>
                  <a:tcPr marL="182880" marR="182880" marT="36000" marB="3600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028014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Cable Landing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dirty="0">
                          <a:solidFill>
                            <a:schemeClr val="tx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Sines &lt;4 miles away (</a:t>
                      </a:r>
                      <a:r>
                        <a:rPr lang="en-US" sz="2200" kern="1200" dirty="0" err="1">
                          <a:solidFill>
                            <a:schemeClr val="tx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EllaLink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, Nuvem</a:t>
                      </a:r>
                      <a:r>
                        <a:rPr lang="en-US" sz="2200" kern="1200" baseline="30000" dirty="0">
                          <a:solidFill>
                            <a:schemeClr val="tx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82880" marR="182880" marT="36000" marB="3600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058348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BD67D2C-A4FC-8758-343A-53BEE5844606}"/>
              </a:ext>
            </a:extLst>
          </p:cNvPr>
          <p:cNvGraphicFramePr>
            <a:graphicFrameLocks noGrp="1"/>
          </p:cNvGraphicFramePr>
          <p:nvPr/>
        </p:nvGraphicFramePr>
        <p:xfrm>
          <a:off x="668183" y="7910870"/>
          <a:ext cx="8136000" cy="346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>
                  <a:extLst>
                    <a:ext uri="{9D8B030D-6E8A-4147-A177-3AD203B41FA5}">
                      <a16:colId xmlns:a16="http://schemas.microsoft.com/office/drawing/2014/main" val="1092837733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1185552388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Security</a:t>
                      </a:r>
                      <a:endParaRPr lang="en-GB" sz="28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8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441108"/>
                  </a:ext>
                </a:extLst>
              </a:tr>
              <a:tr h="44328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Personnel 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72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24/7 manned security</a:t>
                      </a:r>
                    </a:p>
                  </a:txBody>
                  <a:tcPr marL="182880" marR="182880" marT="72000" marB="3600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300794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CCTV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360º video-analytics (interior/exterior)</a:t>
                      </a:r>
                    </a:p>
                  </a:txBody>
                  <a:tcPr marL="182880" marR="182880" marT="36000" marB="3600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986649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Access control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Biometric &amp; MFA access control system</a:t>
                      </a:r>
                    </a:p>
                  </a:txBody>
                  <a:tcPr marL="182880" marR="182880" marT="36000" marB="3600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364911"/>
                  </a:ext>
                </a:extLst>
              </a:tr>
              <a:tr h="74256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Perimeter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Anti-climb security metal fencing with intrusion detection</a:t>
                      </a:r>
                    </a:p>
                  </a:txBody>
                  <a:tcPr marL="182880" marR="182880" marT="36000" marB="3600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531268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r>
                        <a:rPr lang="en-GB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Defense In Depth</a:t>
                      </a: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Multiple concentric security layers</a:t>
                      </a:r>
                    </a:p>
                  </a:txBody>
                  <a:tcPr marL="182880" marR="182880" marT="36000" marB="3600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989322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chemeClr val="tx1"/>
                          </a:solidFill>
                          <a:latin typeface="Figtree" pitchFamily="2" charset="0"/>
                        </a:rPr>
                        <a:t>Integration</a:t>
                      </a:r>
                      <a:endParaRPr lang="en-GB" sz="220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L="182880" marR="182880" marT="36000" marB="36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Integrated Physical Security system</a:t>
                      </a:r>
                    </a:p>
                  </a:txBody>
                  <a:tcPr marL="182880" marR="182880" marT="36000" marB="3600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440830"/>
                  </a:ext>
                </a:extLst>
              </a:tr>
            </a:tbl>
          </a:graphicData>
        </a:graphic>
      </p:graphicFrame>
      <p:pic>
        <p:nvPicPr>
          <p:cNvPr id="30" name="Graphic 29">
            <a:extLst>
              <a:ext uri="{FF2B5EF4-FFF2-40B4-BE49-F238E27FC236}">
                <a16:creationId xmlns:a16="http://schemas.microsoft.com/office/drawing/2014/main" id="{81ED7D5B-B006-B475-7F4F-C6DA242BD1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391" y="667382"/>
            <a:ext cx="3217900" cy="1067888"/>
          </a:xfrm>
          <a:prstGeom prst="rect">
            <a:avLst/>
          </a:prstGeom>
        </p:spPr>
      </p:pic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B8E1D4CE-8912-EFAC-8649-4F9C2D1D2F7F}"/>
              </a:ext>
            </a:extLst>
          </p:cNvPr>
          <p:cNvSpPr txBox="1">
            <a:spLocks/>
          </p:cNvSpPr>
          <p:nvPr/>
        </p:nvSpPr>
        <p:spPr>
          <a:xfrm>
            <a:off x="2752125" y="11933233"/>
            <a:ext cx="3900532" cy="71510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en-US" sz="2800">
                <a:solidFill>
                  <a:srgbClr val="000000"/>
                </a:solidFill>
                <a:latin typeface="Figtree" pitchFamily="2" charset="0"/>
              </a:rPr>
              <a:t>Take a </a:t>
            </a:r>
            <a:r>
              <a:rPr lang="en-US" sz="2800">
                <a:solidFill>
                  <a:srgbClr val="00C058"/>
                </a:solidFill>
                <a:latin typeface="Figtree" pitchFamily="2" charset="0"/>
              </a:rPr>
              <a:t>virtual site tour</a:t>
            </a:r>
            <a:endParaRPr lang="en-US" sz="2800">
              <a:solidFill>
                <a:srgbClr val="000000"/>
              </a:solidFill>
              <a:latin typeface="Figtree" pitchFamily="2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DF5321F-A68D-F7E8-6004-5C534D33E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6707" y="11572113"/>
            <a:ext cx="1527176" cy="1437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34C5299-0AF4-D820-D790-3284BBA49E73}"/>
              </a:ext>
            </a:extLst>
          </p:cNvPr>
          <p:cNvSpPr txBox="1"/>
          <p:nvPr/>
        </p:nvSpPr>
        <p:spPr>
          <a:xfrm>
            <a:off x="9308773" y="13058148"/>
            <a:ext cx="5568810" cy="307777"/>
          </a:xfrm>
          <a:prstGeom prst="rect">
            <a:avLst/>
          </a:prstGeom>
          <a:noFill/>
        </p:spPr>
        <p:txBody>
          <a:bodyPr wrap="none" lIns="180000" rtlCol="0">
            <a:spAutoFit/>
          </a:bodyPr>
          <a:lstStyle/>
          <a:p>
            <a:pPr defTabSz="1828800"/>
            <a:r>
              <a:rPr lang="en-US" sz="1400">
                <a:solidFill>
                  <a:srgbClr val="000000"/>
                </a:solidFill>
                <a:latin typeface="Figtree" pitchFamily="2" charset="0"/>
              </a:rPr>
              <a:t>Note: CLS stands for Cable Landing Station; </a:t>
            </a:r>
            <a:r>
              <a:rPr lang="en-US" sz="1400" baseline="30000">
                <a:solidFill>
                  <a:srgbClr val="000000"/>
                </a:solidFill>
                <a:latin typeface="Figtree" pitchFamily="2" charset="0"/>
              </a:rPr>
              <a:t>1</a:t>
            </a:r>
            <a:r>
              <a:rPr lang="en-US" sz="1400">
                <a:solidFill>
                  <a:srgbClr val="000000"/>
                </a:solidFill>
                <a:latin typeface="Figtree" pitchFamily="2" charset="0"/>
              </a:rPr>
              <a:t> From 2026 onwards</a:t>
            </a:r>
            <a:endParaRPr lang="en-GB" sz="1400">
              <a:solidFill>
                <a:srgbClr val="000000"/>
              </a:solidFill>
              <a:latin typeface="Figtree" pitchFamily="2" charset="0"/>
            </a:endParaRPr>
          </a:p>
        </p:txBody>
      </p:sp>
      <p:pic>
        <p:nvPicPr>
          <p:cNvPr id="39" name="Graphic 38" descr="Caret Right with solid fill">
            <a:extLst>
              <a:ext uri="{FF2B5EF4-FFF2-40B4-BE49-F238E27FC236}">
                <a16:creationId xmlns:a16="http://schemas.microsoft.com/office/drawing/2014/main" id="{99E67403-E9E5-9DD8-5FCB-496BFC0851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05454" y="11933233"/>
            <a:ext cx="715102" cy="71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271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52699-9A70-E67C-FA92-65990C44D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0D216A-4293-9F18-40A7-1630669BD759}"/>
              </a:ext>
            </a:extLst>
          </p:cNvPr>
          <p:cNvSpPr txBox="1"/>
          <p:nvPr/>
        </p:nvSpPr>
        <p:spPr>
          <a:xfrm>
            <a:off x="8420759" y="5926976"/>
            <a:ext cx="7545655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b="1" dirty="0">
                <a:latin typeface="Figtree" pitchFamily="2" charset="0"/>
              </a:rPr>
              <a:t>SIN02 PDF</a:t>
            </a:r>
            <a:br>
              <a:rPr lang="en-US" sz="11500" b="1" dirty="0">
                <a:latin typeface="Figtree" pitchFamily="2" charset="0"/>
              </a:rPr>
            </a:br>
            <a:r>
              <a:rPr lang="en-US" sz="11500" b="1" dirty="0">
                <a:latin typeface="Figtree" pitchFamily="2" charset="0"/>
              </a:rPr>
              <a:t>PT</a:t>
            </a:r>
            <a:endParaRPr lang="pt-PT" sz="11500" b="1" dirty="0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98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547033-A03C-1D9D-7687-F36416DDB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2F2D3-A294-97A6-A562-CD94EDF3D2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679" y="0"/>
            <a:ext cx="8889356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800"/>
            <a:endParaRPr lang="en-GB">
              <a:solidFill>
                <a:srgbClr val="F4F4FF"/>
              </a:solidFill>
              <a:latin typeface="Gill Sans MT" panose="020B0502020104020203"/>
            </a:endParaRP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6D995BC2-B4D3-C314-A8A1-58FF05E223DE}"/>
              </a:ext>
            </a:extLst>
          </p:cNvPr>
          <p:cNvSpPr txBox="1">
            <a:spLocks/>
          </p:cNvSpPr>
          <p:nvPr/>
        </p:nvSpPr>
        <p:spPr>
          <a:xfrm>
            <a:off x="517441" y="3710863"/>
            <a:ext cx="7841116" cy="3147137"/>
          </a:xfrm>
          <a:prstGeom prst="rect">
            <a:avLst/>
          </a:prstGeom>
        </p:spPr>
        <p:txBody>
          <a:bodyPr lIns="72000" tIns="0" rIns="0" bIns="0" anchor="b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algn="ctr" defTabSz="1828526"/>
            <a:r>
              <a:rPr lang="en-US" sz="6600" b="1" dirty="0">
                <a:solidFill>
                  <a:srgbClr val="00C159"/>
                </a:solidFill>
                <a:latin typeface="Figtree SemiBold" pitchFamily="2" charset="0"/>
              </a:rPr>
              <a:t>SIN 02</a:t>
            </a:r>
            <a:br>
              <a:rPr lang="en-US" sz="8000" b="1" dirty="0">
                <a:solidFill>
                  <a:srgbClr val="00C159"/>
                </a:solidFill>
                <a:latin typeface="Figtree SemiBold" pitchFamily="2" charset="0"/>
              </a:rPr>
            </a:br>
            <a:endParaRPr lang="en-US" sz="1800" b="1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 defTabSz="1828526"/>
            <a:r>
              <a:rPr lang="pt-PT" sz="4000" dirty="0">
                <a:solidFill>
                  <a:schemeClr val="bg1"/>
                </a:solidFill>
                <a:latin typeface="Figtree SemiBold" pitchFamily="2" charset="0"/>
              </a:rPr>
              <a:t>A Primeira Giga Fábrica de</a:t>
            </a:r>
            <a:br>
              <a:rPr lang="pt-PT" sz="4000" dirty="0">
                <a:solidFill>
                  <a:schemeClr val="bg1"/>
                </a:solidFill>
                <a:latin typeface="Figtree SemiBold" pitchFamily="2" charset="0"/>
              </a:rPr>
            </a:br>
            <a:r>
              <a:rPr lang="pt-PT" sz="4000" dirty="0">
                <a:solidFill>
                  <a:schemeClr val="bg1"/>
                </a:solidFill>
                <a:latin typeface="Figtree SemiBold" pitchFamily="2" charset="0"/>
              </a:rPr>
              <a:t>IA na Europa</a:t>
            </a:r>
            <a:endParaRPr lang="en-US" sz="7200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/>
            <a:endParaRPr lang="en-US" sz="2800" b="1" dirty="0">
              <a:solidFill>
                <a:schemeClr val="bg1"/>
              </a:solidFill>
              <a:latin typeface="Figtree SemiBold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Sines, Portugal</a:t>
            </a:r>
            <a:r>
              <a:rPr lang="en-US" sz="2800" dirty="0">
                <a:solidFill>
                  <a:schemeClr val="bg1"/>
                </a:solidFill>
                <a:latin typeface="Figtree SemiBold" pitchFamily="2" charset="0"/>
              </a:rPr>
              <a:t> 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Site Coordinates: 37.934961, -8.812558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c. 90 km south of Lisbon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C70DA614-DD69-2928-C43E-8C298FB1EAC5}"/>
              </a:ext>
            </a:extLst>
          </p:cNvPr>
          <p:cNvSpPr txBox="1">
            <a:spLocks/>
          </p:cNvSpPr>
          <p:nvPr/>
        </p:nvSpPr>
        <p:spPr>
          <a:xfrm>
            <a:off x="806767" y="7411712"/>
            <a:ext cx="7262464" cy="1188783"/>
          </a:xfrm>
          <a:prstGeom prst="rect">
            <a:avLst/>
          </a:prstGeom>
        </p:spPr>
        <p:txBody>
          <a:bodyPr lIns="72000" tIns="36000" rIns="72000" bIns="36000" anchor="t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200MW </a:t>
            </a:r>
            <a:r>
              <a:rPr lang="en-US" sz="2800" dirty="0" err="1">
                <a:solidFill>
                  <a:schemeClr val="bg1"/>
                </a:solidFill>
                <a:latin typeface="Figtree Light" pitchFamily="2" charset="0"/>
              </a:rPr>
              <a:t>capacidade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 de IT</a:t>
            </a:r>
            <a:br>
              <a:rPr lang="en-US" sz="2800" dirty="0">
                <a:solidFill>
                  <a:schemeClr val="bg1"/>
                </a:solidFill>
                <a:latin typeface="Figtree Light" pitchFamily="2" charset="0"/>
              </a:rPr>
            </a:b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Racks </a:t>
            </a:r>
            <a:r>
              <a:rPr lang="en-US" sz="2800" dirty="0" err="1">
                <a:solidFill>
                  <a:schemeClr val="bg1"/>
                </a:solidFill>
                <a:latin typeface="Figtree Light" pitchFamily="2" charset="0"/>
              </a:rPr>
              <a:t>até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600kW</a:t>
            </a:r>
            <a:br>
              <a:rPr lang="en-US" sz="2800" dirty="0">
                <a:solidFill>
                  <a:schemeClr val="bg1"/>
                </a:solidFill>
                <a:latin typeface="Figtree Light" pitchFamily="2" charset="0"/>
              </a:rPr>
            </a:br>
            <a:r>
              <a:rPr lang="en-US" sz="2800" b="1" dirty="0">
                <a:solidFill>
                  <a:schemeClr val="bg1"/>
                </a:solidFill>
                <a:latin typeface="Figtree SemiBold" pitchFamily="2" charset="0"/>
              </a:rPr>
              <a:t>Q3 2027 - AI-ready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design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7AC8C7B7-99BB-21BE-4E86-06A0E40C5BDF}"/>
              </a:ext>
            </a:extLst>
          </p:cNvPr>
          <p:cNvSpPr txBox="1">
            <a:spLocks/>
          </p:cNvSpPr>
          <p:nvPr/>
        </p:nvSpPr>
        <p:spPr>
          <a:xfrm>
            <a:off x="11279309" y="7671332"/>
            <a:ext cx="6912000" cy="100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endParaRPr lang="en-US" sz="2800">
              <a:solidFill>
                <a:srgbClr val="000000"/>
              </a:solidFill>
              <a:latin typeface="Figtree" pitchFamily="2" charset="0"/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AFD74C05-C02E-970A-9B05-229760A0B541}"/>
              </a:ext>
            </a:extLst>
          </p:cNvPr>
          <p:cNvSpPr txBox="1">
            <a:spLocks/>
          </p:cNvSpPr>
          <p:nvPr/>
        </p:nvSpPr>
        <p:spPr>
          <a:xfrm>
            <a:off x="525707" y="9887313"/>
            <a:ext cx="7840800" cy="1440000"/>
          </a:xfrm>
          <a:prstGeom prst="rect">
            <a:avLst/>
          </a:prstGeom>
        </p:spPr>
        <p:txBody>
          <a:bodyPr lIns="72000" tIns="36000" rIns="72000" bIns="36000" anchor="t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marL="0" lvl="1">
              <a:lnSpc>
                <a:spcPct val="100000"/>
              </a:lnSpc>
              <a:buSzPct val="120000"/>
            </a:pPr>
            <a:endParaRPr lang="en-US" sz="2800">
              <a:solidFill>
                <a:srgbClr val="000000"/>
              </a:solidFill>
              <a:latin typeface="Figtree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89B661-032A-57D7-4516-5091FC4C928F}"/>
              </a:ext>
            </a:extLst>
          </p:cNvPr>
          <p:cNvSpPr txBox="1"/>
          <p:nvPr/>
        </p:nvSpPr>
        <p:spPr>
          <a:xfrm>
            <a:off x="20038624" y="11893730"/>
            <a:ext cx="42100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828526"/>
            <a:r>
              <a:rPr lang="en-US" sz="2800" dirty="0">
                <a:solidFill>
                  <a:srgbClr val="00C159"/>
                </a:solidFill>
                <a:latin typeface="Figtree Light" pitchFamily="2" charset="0"/>
                <a:hlinkClick r:id="rId3"/>
              </a:rPr>
              <a:t>www.startcampus.pt</a:t>
            </a:r>
            <a:br>
              <a:rPr lang="en-US" sz="2800" dirty="0">
                <a:solidFill>
                  <a:schemeClr val="bg1"/>
                </a:solidFill>
                <a:latin typeface="Figtree Light" pitchFamily="2" charset="0"/>
              </a:rPr>
            </a:br>
            <a:r>
              <a:rPr lang="en-US" sz="2800" dirty="0">
                <a:solidFill>
                  <a:schemeClr val="bg1"/>
                </a:solidFill>
                <a:latin typeface="Figtree Light" pitchFamily="2" charset="0"/>
              </a:rPr>
              <a:t>sales@startcampus.pt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63BCAA-08D6-1ED8-5ED2-798E35BAD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7437" y="11611947"/>
            <a:ext cx="2331639" cy="110189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D33EDC7-DFC2-DB61-9E51-D9E16FA32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37837" y="11386894"/>
            <a:ext cx="1458392" cy="145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178E53F-F2E3-DAFB-4373-07CAAD15F2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9430" y="720372"/>
            <a:ext cx="4277139" cy="1417836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663D7103-7150-8DCD-5DEC-B96668F271F7}"/>
              </a:ext>
            </a:extLst>
          </p:cNvPr>
          <p:cNvGrpSpPr/>
          <p:nvPr/>
        </p:nvGrpSpPr>
        <p:grpSpPr>
          <a:xfrm>
            <a:off x="2123192" y="9256089"/>
            <a:ext cx="4629615" cy="1631950"/>
            <a:chOff x="2230511" y="9256089"/>
            <a:chExt cx="4629615" cy="16319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3F84050-92BC-DA58-EAAC-2F6DD9417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88579" y="9289033"/>
              <a:ext cx="1171547" cy="1499581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E3DBE94-5D72-73AA-FC93-A50A08D5E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230511" y="9256089"/>
              <a:ext cx="1282700" cy="1631950"/>
            </a:xfrm>
            <a:prstGeom prst="rect">
              <a:avLst/>
            </a:prstGeom>
          </p:spPr>
        </p:pic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E2167C55-FC22-B766-C882-5EFCB752D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3168" y="9230466"/>
            <a:ext cx="852491" cy="376516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1B29216-E657-41F0-FEEF-11836D473A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31200" y="9464208"/>
            <a:ext cx="2224899" cy="222489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A1F6D5-7F30-E9F7-9903-92680411AF87}"/>
              </a:ext>
            </a:extLst>
          </p:cNvPr>
          <p:cNvSpPr txBox="1">
            <a:spLocks/>
          </p:cNvSpPr>
          <p:nvPr/>
        </p:nvSpPr>
        <p:spPr>
          <a:xfrm>
            <a:off x="10837464" y="12002094"/>
            <a:ext cx="8889355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Energia 100% </a:t>
            </a:r>
            <a:r>
              <a:rPr lang="en-US" sz="3600" b="1" dirty="0" err="1">
                <a:solidFill>
                  <a:srgbClr val="00C159"/>
                </a:solidFill>
                <a:latin typeface="Figtree SemiBold" pitchFamily="2" charset="0"/>
              </a:rPr>
              <a:t>renovável</a:t>
            </a:r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Figtree SemiBold" pitchFamily="2" charset="0"/>
              </a:rPr>
              <a:t>e de </a:t>
            </a:r>
            <a:r>
              <a:rPr lang="en-US" sz="3600" b="1" dirty="0" err="1">
                <a:solidFill>
                  <a:srgbClr val="00C159"/>
                </a:solidFill>
                <a:latin typeface="Figtree SemiBold" pitchFamily="2" charset="0"/>
              </a:rPr>
              <a:t>baixo</a:t>
            </a:r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 </a:t>
            </a:r>
            <a:r>
              <a:rPr lang="en-US" sz="3600" b="1" dirty="0" err="1">
                <a:solidFill>
                  <a:srgbClr val="00C159"/>
                </a:solidFill>
                <a:latin typeface="Figtree SemiBold" pitchFamily="2" charset="0"/>
              </a:rPr>
              <a:t>custo</a:t>
            </a:r>
            <a:endParaRPr lang="en-US" sz="3600" b="1" dirty="0">
              <a:solidFill>
                <a:srgbClr val="00C159"/>
              </a:solidFill>
              <a:latin typeface="Figtree SemiBold" pitchFamily="2" charset="0"/>
            </a:endParaRP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C179EF4-3EB6-0054-021E-C824F124A607}"/>
              </a:ext>
            </a:extLst>
          </p:cNvPr>
          <p:cNvSpPr txBox="1">
            <a:spLocks/>
          </p:cNvSpPr>
          <p:nvPr/>
        </p:nvSpPr>
        <p:spPr>
          <a:xfrm>
            <a:off x="10837465" y="11038155"/>
            <a:ext cx="8889354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Baixa </a:t>
            </a:r>
            <a:r>
              <a:rPr lang="en-US" sz="3600" b="1" dirty="0" err="1">
                <a:solidFill>
                  <a:srgbClr val="00C159"/>
                </a:solidFill>
                <a:latin typeface="Figtree SemiBold" pitchFamily="2" charset="0"/>
              </a:rPr>
              <a:t>Latência</a:t>
            </a:r>
            <a:r>
              <a:rPr lang="en-US" sz="3600" b="1" dirty="0">
                <a:solidFill>
                  <a:srgbClr val="00C159"/>
                </a:solidFill>
                <a:latin typeface="Figtree SemiBold" pitchFamily="2" charset="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Figtree SemiBold" pitchFamily="2" charset="0"/>
              </a:rPr>
              <a:t>para </a:t>
            </a:r>
            <a:r>
              <a:rPr lang="en-US" sz="3600" b="1" dirty="0" err="1">
                <a:solidFill>
                  <a:schemeClr val="bg1"/>
                </a:solidFill>
                <a:latin typeface="Figtree SemiBold" pitchFamily="2" charset="0"/>
              </a:rPr>
              <a:t>grandes</a:t>
            </a:r>
            <a:r>
              <a:rPr lang="en-US" sz="3600" b="1" dirty="0">
                <a:solidFill>
                  <a:schemeClr val="bg1"/>
                </a:solidFill>
                <a:latin typeface="Figtree SemiBold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Figtree SemiBold" pitchFamily="2" charset="0"/>
              </a:rPr>
              <a:t>cidades</a:t>
            </a:r>
            <a:endParaRPr lang="en-US" sz="36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791AEBA-3A51-6B28-8EEF-991916BBD0F9}"/>
              </a:ext>
            </a:extLst>
          </p:cNvPr>
          <p:cNvSpPr txBox="1">
            <a:spLocks/>
          </p:cNvSpPr>
          <p:nvPr/>
        </p:nvSpPr>
        <p:spPr>
          <a:xfrm>
            <a:off x="10837464" y="9110279"/>
            <a:ext cx="8889355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pt-PT" sz="3600" b="1" dirty="0">
                <a:solidFill>
                  <a:srgbClr val="00C159"/>
                </a:solidFill>
                <a:latin typeface="Figtree SemiBold" pitchFamily="2" charset="0"/>
              </a:rPr>
              <a:t>1.2 GW </a:t>
            </a:r>
            <a:r>
              <a:rPr lang="pt-PT" sz="3600" b="1" dirty="0">
                <a:solidFill>
                  <a:schemeClr val="bg1"/>
                </a:solidFill>
                <a:latin typeface="Figtree SemiBold" pitchFamily="2" charset="0"/>
              </a:rPr>
              <a:t>de capacidade IT</a:t>
            </a:r>
            <a:endParaRPr lang="en-US" sz="36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D6096497-48D5-7650-5B6C-DD679979E98A}"/>
              </a:ext>
            </a:extLst>
          </p:cNvPr>
          <p:cNvSpPr txBox="1">
            <a:spLocks/>
          </p:cNvSpPr>
          <p:nvPr/>
        </p:nvSpPr>
        <p:spPr>
          <a:xfrm>
            <a:off x="10837465" y="10074217"/>
            <a:ext cx="8059798" cy="10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PT"/>
            </a:defPPr>
            <a:lvl1pPr indent="0" defTabSz="9142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/>
            </a:lvl1pPr>
            <a:lvl2pPr marL="457132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2pPr>
            <a:lvl3pPr marL="914263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marL="1371394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marL="1828526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285657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742788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7pPr>
            <a:lvl8pPr marL="3199920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8pPr>
            <a:lvl9pPr marL="3657051" indent="0" defTabSz="914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9pPr>
          </a:lstStyle>
          <a:p>
            <a:pPr defTabSz="1828526"/>
            <a:r>
              <a:rPr lang="pt-PT" sz="3600" b="1" dirty="0">
                <a:solidFill>
                  <a:srgbClr val="00C159"/>
                </a:solidFill>
                <a:latin typeface="Figtree SemiBold" pitchFamily="2" charset="0"/>
              </a:rPr>
              <a:t>100% </a:t>
            </a:r>
            <a:r>
              <a:rPr lang="pt-PT" sz="3600" b="1" dirty="0">
                <a:solidFill>
                  <a:schemeClr val="bg1"/>
                </a:solidFill>
                <a:latin typeface="Figtree SemiBold" pitchFamily="2" charset="0"/>
              </a:rPr>
              <a:t>capacidade assegurada</a:t>
            </a:r>
            <a:endParaRPr lang="en-US" sz="3600" b="1" dirty="0">
              <a:solidFill>
                <a:schemeClr val="bg1"/>
              </a:solidFill>
              <a:latin typeface="Figtree SemiBold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AE74502-785C-4307-11AA-C1A9C2C276F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6"/>
          <a:stretch>
            <a:fillRect/>
          </a:stretch>
        </p:blipFill>
        <p:spPr>
          <a:xfrm>
            <a:off x="8877114" y="7009"/>
            <a:ext cx="15510061" cy="867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28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2EF1A-244F-F7DD-92B4-3FA4F297C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68D4A9EC-41A4-3133-3D3A-1993CAEFE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747533"/>
              </p:ext>
            </p:extLst>
          </p:nvPr>
        </p:nvGraphicFramePr>
        <p:xfrm>
          <a:off x="668184" y="1997016"/>
          <a:ext cx="8136890" cy="56217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2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4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90805">
                        <a:lnSpc>
                          <a:spcPts val="1614"/>
                        </a:lnSpc>
                      </a:pPr>
                      <a:r>
                        <a:rPr lang="pt-PT" sz="2800" b="1" spc="-10" dirty="0">
                          <a:latin typeface="Figtree"/>
                          <a:cs typeface="Figtree"/>
                        </a:rPr>
                        <a:t>Geral</a:t>
                      </a:r>
                      <a:endParaRPr sz="2800" dirty="0">
                        <a:latin typeface="Figtree"/>
                        <a:cs typeface="Figtree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51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Disponibilidade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200MW</a:t>
                      </a:r>
                      <a:br>
                        <a:rPr lang="pt-PT" sz="1800" dirty="0">
                          <a:latin typeface="Figtree"/>
                          <a:cs typeface="Figtree"/>
                        </a:rPr>
                      </a:br>
                      <a:r>
                        <a:rPr lang="pt-PT" sz="1800" dirty="0">
                          <a:latin typeface="Figtree"/>
                          <a:cs typeface="Figtree"/>
                        </a:rPr>
                        <a:t>Q3 2027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Edifício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Construção nova, edifício de 2 andares</a:t>
                      </a:r>
                    </a:p>
                    <a:p>
                      <a:pPr marL="1384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Parte de um campus de TI com 6 edifícios e 1,2 GW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Design da Construção da Base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Equivalente ao Nível III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>
                          <a:latin typeface="Figtree"/>
                          <a:cs typeface="Figtree"/>
                        </a:rPr>
                        <a:t>Data</a:t>
                      </a:r>
                      <a:r>
                        <a:rPr sz="1800" spc="-20">
                          <a:latin typeface="Figtree"/>
                          <a:cs typeface="Figtree"/>
                        </a:rPr>
                        <a:t> </a:t>
                      </a:r>
                      <a:r>
                        <a:rPr sz="1800" spc="-10">
                          <a:latin typeface="Figtree"/>
                          <a:cs typeface="Figtree"/>
                        </a:rPr>
                        <a:t>Halls</a:t>
                      </a:r>
                      <a:endParaRPr sz="180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3, com possíveis “</a:t>
                      </a:r>
                      <a:r>
                        <a:rPr lang="pt-PT" sz="1800" dirty="0" err="1">
                          <a:latin typeface="Figtree"/>
                          <a:cs typeface="Figtree"/>
                        </a:rPr>
                        <a:t>cages</a:t>
                      </a:r>
                      <a:r>
                        <a:rPr lang="pt-PT" sz="1800" dirty="0">
                          <a:latin typeface="Figtree"/>
                          <a:cs typeface="Figtree"/>
                        </a:rPr>
                        <a:t>”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Escritório / Armazenamento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Disponível mediante pedido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85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Acesso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Figtree"/>
                          <a:cs typeface="Figtree"/>
                        </a:rPr>
                        <a:t>24/7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Docas de carga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800" dirty="0">
                          <a:latin typeface="Figtree"/>
                          <a:cs typeface="Figtree"/>
                        </a:rPr>
                        <a:t>3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87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Outros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 marR="11239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Segurança e Operações 24/7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Certificações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 marR="9334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Figtree"/>
                          <a:cs typeface="Figtree"/>
                        </a:rPr>
                        <a:t>OCP</a:t>
                      </a:r>
                      <a:r>
                        <a:rPr sz="1800" spc="-4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1800" dirty="0">
                          <a:latin typeface="Figtree"/>
                          <a:cs typeface="Figtree"/>
                        </a:rPr>
                        <a:t>Ready for</a:t>
                      </a:r>
                      <a:r>
                        <a:rPr sz="1800" spc="-3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1800" spc="-10" dirty="0">
                          <a:latin typeface="Figtree"/>
                          <a:cs typeface="Figtree"/>
                        </a:rPr>
                        <a:t>Hyperscale ISO27001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77A1F233-C329-C6B0-620E-550BE263750C}"/>
              </a:ext>
            </a:extLst>
          </p:cNvPr>
          <p:cNvGraphicFramePr>
            <a:graphicFrameLocks noGrp="1"/>
          </p:cNvGraphicFramePr>
          <p:nvPr/>
        </p:nvGraphicFramePr>
        <p:xfrm>
          <a:off x="9308655" y="2034082"/>
          <a:ext cx="8135620" cy="35496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4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92075">
                        <a:lnSpc>
                          <a:spcPts val="1614"/>
                        </a:lnSpc>
                      </a:pPr>
                      <a:r>
                        <a:rPr lang="pt-PT" sz="2800" b="1" spc="-10" dirty="0">
                          <a:latin typeface="Figtree"/>
                          <a:cs typeface="Figtree"/>
                        </a:rPr>
                        <a:t>Energia</a:t>
                      </a:r>
                      <a:endParaRPr sz="2800" dirty="0">
                        <a:latin typeface="Figtree"/>
                        <a:cs typeface="Figtree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Fornecedores de Serviços Públicos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Figtree"/>
                          <a:cs typeface="Figtree"/>
                        </a:rPr>
                        <a:t>E-</a:t>
                      </a:r>
                      <a:r>
                        <a:rPr sz="1800" spc="-20" dirty="0">
                          <a:latin typeface="Figtree"/>
                          <a:cs typeface="Figtree"/>
                        </a:rPr>
                        <a:t>Redes</a:t>
                      </a:r>
                      <a:endParaRPr sz="180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Energia Elétrica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2N alimentações de alta tensão 60kV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Distribuição de Energia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2N Tensão Média 11kV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Utilização de Energia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 marR="329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Medição de nível comercial; Opção de preços </a:t>
                      </a:r>
                      <a:r>
                        <a:rPr lang="pt-PT" sz="1800" spc="-10" dirty="0" err="1">
                          <a:latin typeface="Figtree"/>
                          <a:cs typeface="Figtree"/>
                        </a:rPr>
                        <a:t>pass-through</a:t>
                      </a:r>
                      <a:r>
                        <a:rPr lang="pt-PT" sz="1800" spc="-10" dirty="0">
                          <a:latin typeface="Figtree"/>
                          <a:cs typeface="Figtree"/>
                        </a:rPr>
                        <a:t>, fixos ou híbridos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25" dirty="0">
                          <a:latin typeface="Figtree"/>
                          <a:cs typeface="Figtree"/>
                        </a:rPr>
                        <a:t>UPS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Backup redundante distribuído de LV &amp; UPS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159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Energia de reserva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Sistema de geração alimentado por HVO 24h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C74AA9FD-97A0-8B22-8EF5-47CFEE3CE9C8}"/>
              </a:ext>
            </a:extLst>
          </p:cNvPr>
          <p:cNvGraphicFramePr>
            <a:graphicFrameLocks noGrp="1"/>
          </p:cNvGraphicFramePr>
          <p:nvPr/>
        </p:nvGraphicFramePr>
        <p:xfrm>
          <a:off x="9308656" y="5806237"/>
          <a:ext cx="8136890" cy="3895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2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marL="92075">
                        <a:lnSpc>
                          <a:spcPts val="1614"/>
                        </a:lnSpc>
                      </a:pPr>
                      <a:r>
                        <a:rPr lang="pt-PT" sz="2800" b="1" spc="-10" dirty="0">
                          <a:latin typeface="Figtree"/>
                          <a:cs typeface="Figtree"/>
                        </a:rPr>
                        <a:t>Arrefecimento</a:t>
                      </a: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51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Sistema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730" marR="2311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Rejeição de calor para um Sistema de Água do Mar e sistema de arrefecimento como reserva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5841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69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Flexibilidade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9910" indent="-170180">
                        <a:lnSpc>
                          <a:spcPct val="100000"/>
                        </a:lnSpc>
                        <a:spcBef>
                          <a:spcPts val="90"/>
                        </a:spcBef>
                        <a:buFont typeface="Arial"/>
                        <a:buChar char="•"/>
                        <a:tabLst>
                          <a:tab pos="549910" algn="l"/>
                        </a:tabLst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100% Refrigeração líquida
Arrefecimento a ar (paredes do ventilador)
Arrefecimento híbrido de ar e líquido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Serviço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Simultaneamente sustentável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69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lang="pt-PT" sz="1800" spc="-10" dirty="0">
                          <a:latin typeface="Figtree"/>
                          <a:cs typeface="Figtree"/>
                        </a:rPr>
                        <a:t>Fiabilidade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730" marR="908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Redundância N+1, fonte de energia dupla, tubagem 2N; Tolerante a falhas com térmico
Armazenamento para arrefecimento ininterrupto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D620921E-5C4E-A77A-6181-B5D99E1CC4FD}"/>
              </a:ext>
            </a:extLst>
          </p:cNvPr>
          <p:cNvGraphicFramePr>
            <a:graphicFrameLocks noGrp="1"/>
          </p:cNvGraphicFramePr>
          <p:nvPr/>
        </p:nvGraphicFramePr>
        <p:xfrm>
          <a:off x="9308656" y="10086320"/>
          <a:ext cx="8136890" cy="230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0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5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marL="92075">
                        <a:lnSpc>
                          <a:spcPts val="1614"/>
                        </a:lnSpc>
                      </a:pPr>
                      <a:r>
                        <a:rPr lang="pt-PT" sz="2800" b="1" spc="-10" dirty="0">
                          <a:latin typeface="Figtree"/>
                          <a:cs typeface="Figtree"/>
                        </a:rPr>
                        <a:t>Telecomunicações</a:t>
                      </a:r>
                      <a:endParaRPr sz="2800" dirty="0">
                        <a:latin typeface="Figtree"/>
                        <a:cs typeface="Figtree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Pontos de entrada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59690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Quatro pontos de entrada diferentes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59690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10" dirty="0">
                          <a:latin typeface="Figtree"/>
                          <a:cs typeface="Figtree"/>
                        </a:rPr>
                        <a:t>Meet-</a:t>
                      </a:r>
                      <a:r>
                        <a:rPr sz="1800" dirty="0">
                          <a:latin typeface="Figtree"/>
                          <a:cs typeface="Figtree"/>
                        </a:rPr>
                        <a:t>Me</a:t>
                      </a:r>
                      <a:r>
                        <a:rPr sz="1800" spc="25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1800" spc="-20" dirty="0">
                          <a:latin typeface="Figtree"/>
                          <a:cs typeface="Figtree"/>
                        </a:rPr>
                        <a:t>Rooms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Dois </a:t>
                      </a:r>
                      <a:r>
                        <a:rPr lang="pt-PT" sz="1800" dirty="0" err="1">
                          <a:latin typeface="Figtree"/>
                          <a:cs typeface="Figtree"/>
                        </a:rPr>
                        <a:t>MMRs</a:t>
                      </a:r>
                      <a:r>
                        <a:rPr lang="pt-PT" sz="1800" dirty="0">
                          <a:latin typeface="Figtree"/>
                          <a:cs typeface="Figtree"/>
                        </a:rPr>
                        <a:t> independentes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3175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Figtree"/>
                          <a:cs typeface="Figtree"/>
                        </a:rPr>
                        <a:t>Carrier</a:t>
                      </a:r>
                      <a:r>
                        <a:rPr sz="1800" spc="-5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1800" spc="-10" dirty="0">
                          <a:latin typeface="Figtree"/>
                          <a:cs typeface="Figtree"/>
                        </a:rPr>
                        <a:t>Neutral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Acesso a múltiplos operadores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3302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Figtree"/>
                          <a:cs typeface="Figtree"/>
                        </a:rPr>
                        <a:t>Cable</a:t>
                      </a:r>
                      <a:r>
                        <a:rPr sz="1800" spc="-6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sz="1800" spc="-10" dirty="0">
                          <a:latin typeface="Figtree"/>
                          <a:cs typeface="Figtree"/>
                        </a:rPr>
                        <a:t>Landing</a:t>
                      </a:r>
                      <a:endParaRPr sz="180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pt-PT" sz="1800" dirty="0">
                          <a:latin typeface="Figtree"/>
                          <a:cs typeface="Figtree"/>
                        </a:rPr>
                        <a:t>Sines &lt;4 milhas de distância (</a:t>
                      </a:r>
                      <a:r>
                        <a:rPr lang="pt-PT" sz="1800" dirty="0" err="1">
                          <a:latin typeface="Figtree"/>
                          <a:cs typeface="Figtree"/>
                        </a:rPr>
                        <a:t>EllaLink</a:t>
                      </a:r>
                      <a:r>
                        <a:rPr lang="pt-PT" sz="1800" dirty="0">
                          <a:latin typeface="Figtree"/>
                          <a:cs typeface="Figtree"/>
                        </a:rPr>
                        <a:t>, Nuvem1)</a:t>
                      </a:r>
                      <a:endParaRPr sz="1800" dirty="0">
                        <a:latin typeface="Figtree"/>
                        <a:cs typeface="Figtree"/>
                      </a:endParaRPr>
                    </a:p>
                  </a:txBody>
                  <a:tcPr marL="0" marR="0" marT="3302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61C29DB0-B9E9-A88D-1083-A7C65DFC5941}"/>
              </a:ext>
            </a:extLst>
          </p:cNvPr>
          <p:cNvGraphicFramePr>
            <a:graphicFrameLocks noGrp="1"/>
          </p:cNvGraphicFramePr>
          <p:nvPr/>
        </p:nvGraphicFramePr>
        <p:xfrm>
          <a:off x="668184" y="7941869"/>
          <a:ext cx="8136890" cy="3420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5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marL="91440">
                        <a:lnSpc>
                          <a:spcPts val="1614"/>
                        </a:lnSpc>
                      </a:pPr>
                      <a:r>
                        <a:rPr lang="pt-PT" sz="2800" b="1" spc="-10" noProof="0" dirty="0">
                          <a:latin typeface="Figtree"/>
                          <a:cs typeface="Figtree"/>
                        </a:rPr>
                        <a:t>Segurança</a:t>
                      </a:r>
                      <a:endParaRPr lang="pt-PT" sz="2800" noProof="0" dirty="0">
                        <a:latin typeface="Figtree"/>
                        <a:cs typeface="Figtree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pt-PT" sz="2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C0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lang="pt-PT" sz="1800" spc="-10" noProof="0" dirty="0">
                          <a:latin typeface="Figtree"/>
                          <a:cs typeface="Figtree"/>
                        </a:rPr>
                        <a:t>Pessoal</a:t>
                      </a:r>
                      <a:endParaRPr lang="pt-PT" sz="1800" noProof="0" dirty="0">
                        <a:latin typeface="Figtree"/>
                        <a:cs typeface="Figtree"/>
                      </a:endParaRPr>
                    </a:p>
                  </a:txBody>
                  <a:tcPr marL="0" marR="0" marT="5968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lang="pt-PT" sz="1800" noProof="0" dirty="0">
                          <a:latin typeface="Figtree"/>
                          <a:cs typeface="Figtree"/>
                        </a:rPr>
                        <a:t>Segurança 24/7</a:t>
                      </a:r>
                    </a:p>
                  </a:txBody>
                  <a:tcPr marL="0" marR="0" marT="59688" marB="0">
                    <a:lnT w="28575">
                      <a:solidFill>
                        <a:srgbClr val="00C057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20" noProof="0" dirty="0">
                          <a:latin typeface="Figtree"/>
                          <a:cs typeface="Figtree"/>
                        </a:rPr>
                        <a:t>CCTV</a:t>
                      </a:r>
                      <a:endParaRPr lang="pt-PT" sz="1800" noProof="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lang="pt-PT" sz="1800" noProof="0" dirty="0">
                          <a:latin typeface="Figtree"/>
                          <a:cs typeface="Figtree"/>
                        </a:rPr>
                        <a:t>360º</a:t>
                      </a:r>
                      <a:r>
                        <a:rPr lang="pt-PT" sz="1800" spc="5" noProof="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lang="pt-PT" sz="1800" spc="-10" noProof="0" dirty="0" err="1">
                          <a:latin typeface="Figtree"/>
                          <a:cs typeface="Figtree"/>
                        </a:rPr>
                        <a:t>video-</a:t>
                      </a:r>
                      <a:r>
                        <a:rPr lang="pt-PT" sz="1800" noProof="0" dirty="0" err="1">
                          <a:latin typeface="Figtree"/>
                          <a:cs typeface="Figtree"/>
                        </a:rPr>
                        <a:t>analytics</a:t>
                      </a:r>
                      <a:r>
                        <a:rPr lang="pt-PT" sz="1800" spc="-20" noProof="0" dirty="0">
                          <a:latin typeface="Figtree"/>
                          <a:cs typeface="Figtree"/>
                        </a:rPr>
                        <a:t> </a:t>
                      </a:r>
                      <a:r>
                        <a:rPr lang="pt-PT" sz="1800" spc="-10" noProof="0" dirty="0">
                          <a:latin typeface="Figtree"/>
                          <a:cs typeface="Figtree"/>
                        </a:rPr>
                        <a:t>(interior/exterior)</a:t>
                      </a:r>
                      <a:endParaRPr lang="pt-PT" sz="1800" noProof="0" dirty="0">
                        <a:latin typeface="Figtree"/>
                        <a:cs typeface="Figtree"/>
                      </a:endParaRPr>
                    </a:p>
                  </a:txBody>
                  <a:tcPr marL="0" marR="0" marT="3175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noProof="0" dirty="0">
                          <a:latin typeface="Figtree"/>
                          <a:cs typeface="Figtree"/>
                        </a:rPr>
                        <a:t>Controlo de acesso</a:t>
                      </a: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lang="pt-PT" sz="1800" noProof="0" dirty="0">
                          <a:latin typeface="Figtree"/>
                          <a:cs typeface="Figtree"/>
                        </a:rPr>
                        <a:t>Sistema de controlo de acesso biométrico e MFA</a:t>
                      </a:r>
                    </a:p>
                  </a:txBody>
                  <a:tcPr marL="0" marR="0" marT="3175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noProof="0" dirty="0">
                          <a:latin typeface="Figtree"/>
                          <a:cs typeface="Figtree"/>
                        </a:rPr>
                        <a:t>Perímetro</a:t>
                      </a:r>
                      <a:endParaRPr lang="pt-PT" sz="1800" noProof="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 marR="2070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pt-PT" sz="1800" spc="-10" noProof="0" dirty="0">
                          <a:latin typeface="Figtree"/>
                          <a:cs typeface="Figtree"/>
                        </a:rPr>
                        <a:t>Vedação metálica de segurança </a:t>
                      </a:r>
                      <a:r>
                        <a:rPr lang="pt-PT" sz="1800" spc="-10" noProof="0" dirty="0" err="1">
                          <a:latin typeface="Figtree"/>
                          <a:cs typeface="Figtree"/>
                        </a:rPr>
                        <a:t>anti-escalada</a:t>
                      </a:r>
                      <a:r>
                        <a:rPr lang="pt-PT" sz="1800" spc="-10" noProof="0" dirty="0">
                          <a:latin typeface="Figtree"/>
                          <a:cs typeface="Figtree"/>
                        </a:rPr>
                        <a:t> com deteção de intrusão</a:t>
                      </a:r>
                      <a:endParaRPr lang="pt-PT" sz="1800" noProof="0" dirty="0">
                        <a:latin typeface="Figtree"/>
                        <a:cs typeface="Figtree"/>
                      </a:endParaRPr>
                    </a:p>
                  </a:txBody>
                  <a:tcPr marL="0" marR="0" marT="2286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lang="pt-PT" sz="1800" noProof="0" dirty="0">
                          <a:latin typeface="Figtree"/>
                          <a:cs typeface="Figtree"/>
                        </a:rPr>
                        <a:t>Defesa em Profundidade</a:t>
                      </a: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pt-PT" sz="1800" noProof="0" dirty="0">
                          <a:latin typeface="Figtree"/>
                          <a:cs typeface="Figtree"/>
                        </a:rPr>
                        <a:t>Múltiplas camadas concêntricas de segurança</a:t>
                      </a:r>
                    </a:p>
                  </a:txBody>
                  <a:tcPr marL="0" marR="0" marT="3302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lang="pt-PT" sz="1800" spc="-10" noProof="0" dirty="0">
                          <a:latin typeface="Figtree"/>
                          <a:cs typeface="Figtree"/>
                        </a:rPr>
                        <a:t>Integração</a:t>
                      </a:r>
                      <a:endParaRPr lang="pt-PT" sz="1800" noProof="0" dirty="0">
                        <a:latin typeface="Figtree"/>
                        <a:cs typeface="Figtree"/>
                      </a:endParaRPr>
                    </a:p>
                  </a:txBody>
                  <a:tcPr marL="0" marR="0" marT="2413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lang="pt-PT" sz="1800" noProof="0" dirty="0">
                          <a:latin typeface="Figtree"/>
                          <a:cs typeface="Figtree"/>
                        </a:rPr>
                        <a:t>Sistema Integrado de Segurança Física</a:t>
                      </a:r>
                    </a:p>
                  </a:txBody>
                  <a:tcPr marL="0" marR="0" marT="31750" marB="0">
                    <a:lnT w="6350">
                      <a:solidFill>
                        <a:srgbClr val="D1CDCD"/>
                      </a:solidFill>
                      <a:prstDash val="solid"/>
                    </a:lnT>
                    <a:lnB w="6350">
                      <a:solidFill>
                        <a:srgbClr val="D1CDC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>
            <a:extLst>
              <a:ext uri="{FF2B5EF4-FFF2-40B4-BE49-F238E27FC236}">
                <a16:creationId xmlns:a16="http://schemas.microsoft.com/office/drawing/2014/main" id="{0E8DEACF-A87F-4ECE-A627-835F036C3516}"/>
              </a:ext>
            </a:extLst>
          </p:cNvPr>
          <p:cNvSpPr/>
          <p:nvPr/>
        </p:nvSpPr>
        <p:spPr>
          <a:xfrm>
            <a:off x="636917" y="669974"/>
            <a:ext cx="1026160" cy="1064260"/>
          </a:xfrm>
          <a:custGeom>
            <a:avLst/>
            <a:gdLst/>
            <a:ahLst/>
            <a:cxnLst/>
            <a:rect l="l" t="t" r="r" b="b"/>
            <a:pathLst>
              <a:path w="513080" h="532130">
                <a:moveTo>
                  <a:pt x="336372" y="229755"/>
                </a:moveTo>
                <a:lnTo>
                  <a:pt x="256235" y="229755"/>
                </a:lnTo>
                <a:lnTo>
                  <a:pt x="294462" y="81940"/>
                </a:lnTo>
                <a:lnTo>
                  <a:pt x="293573" y="81648"/>
                </a:lnTo>
                <a:lnTo>
                  <a:pt x="172593" y="278866"/>
                </a:lnTo>
                <a:lnTo>
                  <a:pt x="247637" y="278866"/>
                </a:lnTo>
                <a:lnTo>
                  <a:pt x="209207" y="425234"/>
                </a:lnTo>
                <a:lnTo>
                  <a:pt x="209918" y="425551"/>
                </a:lnTo>
                <a:lnTo>
                  <a:pt x="336372" y="229755"/>
                </a:lnTo>
                <a:close/>
              </a:path>
              <a:path w="513080" h="532130">
                <a:moveTo>
                  <a:pt x="512686" y="0"/>
                </a:moveTo>
                <a:lnTo>
                  <a:pt x="4648" y="0"/>
                </a:lnTo>
                <a:lnTo>
                  <a:pt x="0" y="76"/>
                </a:lnTo>
                <a:lnTo>
                  <a:pt x="0" y="414693"/>
                </a:lnTo>
                <a:lnTo>
                  <a:pt x="39039" y="414693"/>
                </a:lnTo>
                <a:lnTo>
                  <a:pt x="39039" y="38989"/>
                </a:lnTo>
                <a:lnTo>
                  <a:pt x="473633" y="38989"/>
                </a:lnTo>
                <a:lnTo>
                  <a:pt x="473633" y="468376"/>
                </a:lnTo>
                <a:lnTo>
                  <a:pt x="141490" y="468363"/>
                </a:lnTo>
                <a:lnTo>
                  <a:pt x="136715" y="461352"/>
                </a:lnTo>
                <a:lnTo>
                  <a:pt x="130378" y="455028"/>
                </a:lnTo>
                <a:lnTo>
                  <a:pt x="119735" y="449072"/>
                </a:lnTo>
                <a:lnTo>
                  <a:pt x="104203" y="446417"/>
                </a:lnTo>
                <a:lnTo>
                  <a:pt x="87337" y="449745"/>
                </a:lnTo>
                <a:lnTo>
                  <a:pt x="73901" y="458825"/>
                </a:lnTo>
                <a:lnTo>
                  <a:pt x="64985" y="472287"/>
                </a:lnTo>
                <a:lnTo>
                  <a:pt x="61772" y="488759"/>
                </a:lnTo>
                <a:lnTo>
                  <a:pt x="65100" y="505358"/>
                </a:lnTo>
                <a:lnTo>
                  <a:pt x="74206" y="519061"/>
                </a:lnTo>
                <a:lnTo>
                  <a:pt x="87693" y="528370"/>
                </a:lnTo>
                <a:lnTo>
                  <a:pt x="104203" y="531812"/>
                </a:lnTo>
                <a:lnTo>
                  <a:pt x="120103" y="529145"/>
                </a:lnTo>
                <a:lnTo>
                  <a:pt x="130670" y="523151"/>
                </a:lnTo>
                <a:lnTo>
                  <a:pt x="136766" y="516813"/>
                </a:lnTo>
                <a:lnTo>
                  <a:pt x="141351" y="509587"/>
                </a:lnTo>
                <a:lnTo>
                  <a:pt x="512686" y="509651"/>
                </a:lnTo>
                <a:lnTo>
                  <a:pt x="512686" y="0"/>
                </a:lnTo>
                <a:close/>
              </a:path>
            </a:pathLst>
          </a:custGeom>
          <a:solidFill>
            <a:srgbClr val="12BC63"/>
          </a:solidFill>
        </p:spPr>
        <p:txBody>
          <a:bodyPr wrap="square" lIns="0" tIns="0" rIns="0" bIns="0" rtlCol="0"/>
          <a:lstStyle/>
          <a:p>
            <a:endParaRPr sz="7200"/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BDCB99FE-D42F-AF1F-CC2A-C31D0A2C92F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7952" y="740069"/>
            <a:ext cx="1932834" cy="970354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AB7D6CFD-872B-E5C1-20D3-14D2E45EA43D}"/>
              </a:ext>
            </a:extLst>
          </p:cNvPr>
          <p:cNvSpPr txBox="1"/>
          <p:nvPr/>
        </p:nvSpPr>
        <p:spPr>
          <a:xfrm>
            <a:off x="2727260" y="12036144"/>
            <a:ext cx="5384800" cy="45653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>
              <a:spcBef>
                <a:spcPts val="200"/>
              </a:spcBef>
            </a:pPr>
            <a:r>
              <a:rPr lang="pt-PT" sz="2800" spc="-40" dirty="0">
                <a:latin typeface="Figtree"/>
                <a:cs typeface="Figtree"/>
              </a:rPr>
              <a:t>Faça uma visita virtual ao local</a:t>
            </a:r>
            <a:endParaRPr sz="2800" dirty="0">
              <a:latin typeface="Figtree"/>
              <a:cs typeface="Figtree"/>
            </a:endParaRPr>
          </a:p>
        </p:txBody>
      </p:sp>
      <p:pic>
        <p:nvPicPr>
          <p:cNvPr id="10" name="object 10">
            <a:extLst>
              <a:ext uri="{FF2B5EF4-FFF2-40B4-BE49-F238E27FC236}">
                <a16:creationId xmlns:a16="http://schemas.microsoft.com/office/drawing/2014/main" id="{7CDCC3B5-4E63-A379-E826-75E9AB8D904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012" y="11645352"/>
            <a:ext cx="1243686" cy="1245080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CB88EA78-63A3-9E9F-6C09-4C7285211C2D}"/>
              </a:ext>
            </a:extLst>
          </p:cNvPr>
          <p:cNvSpPr txBox="1"/>
          <p:nvPr/>
        </p:nvSpPr>
        <p:spPr>
          <a:xfrm>
            <a:off x="9413809" y="12497612"/>
            <a:ext cx="5384800" cy="23980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6200">
              <a:spcBef>
                <a:spcPts val="190"/>
              </a:spcBef>
            </a:pPr>
            <a:r>
              <a:rPr sz="1400" dirty="0">
                <a:latin typeface="Figtree"/>
                <a:cs typeface="Figtree"/>
              </a:rPr>
              <a:t>Note:</a:t>
            </a:r>
            <a:r>
              <a:rPr sz="1400" spc="-4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CLS</a:t>
            </a:r>
            <a:r>
              <a:rPr sz="1400" spc="-7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stands</a:t>
            </a:r>
            <a:r>
              <a:rPr sz="1400" spc="-2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for</a:t>
            </a:r>
            <a:r>
              <a:rPr sz="1400" spc="-4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Cable</a:t>
            </a:r>
            <a:r>
              <a:rPr sz="1400" spc="-2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Landing</a:t>
            </a:r>
            <a:r>
              <a:rPr sz="1400" spc="-1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Station; </a:t>
            </a:r>
            <a:r>
              <a:rPr sz="1350" baseline="24691" dirty="0">
                <a:latin typeface="Figtree"/>
                <a:cs typeface="Figtree"/>
              </a:rPr>
              <a:t>1</a:t>
            </a:r>
            <a:r>
              <a:rPr sz="1350" spc="88" baseline="24691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From</a:t>
            </a:r>
            <a:r>
              <a:rPr sz="1400" spc="-40" dirty="0">
                <a:latin typeface="Figtree"/>
                <a:cs typeface="Figtree"/>
              </a:rPr>
              <a:t> </a:t>
            </a:r>
            <a:r>
              <a:rPr sz="1400" dirty="0">
                <a:latin typeface="Figtree"/>
                <a:cs typeface="Figtree"/>
              </a:rPr>
              <a:t>2026</a:t>
            </a:r>
            <a:r>
              <a:rPr sz="1400" spc="-30" dirty="0">
                <a:latin typeface="Figtree"/>
                <a:cs typeface="Figtree"/>
              </a:rPr>
              <a:t> </a:t>
            </a:r>
            <a:r>
              <a:rPr sz="1400" spc="-20" dirty="0">
                <a:latin typeface="Figtree"/>
                <a:cs typeface="Figtree"/>
              </a:rPr>
              <a:t>onwards</a:t>
            </a:r>
            <a:endParaRPr sz="1400">
              <a:latin typeface="Figtree"/>
              <a:cs typeface="Figtree"/>
            </a:endParaRPr>
          </a:p>
        </p:txBody>
      </p:sp>
      <p:pic>
        <p:nvPicPr>
          <p:cNvPr id="12" name="object 12">
            <a:extLst>
              <a:ext uri="{FF2B5EF4-FFF2-40B4-BE49-F238E27FC236}">
                <a16:creationId xmlns:a16="http://schemas.microsoft.com/office/drawing/2014/main" id="{0C2F5D73-2681-FF79-3313-43CB29F836E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4996" y="12083476"/>
            <a:ext cx="239294" cy="4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50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Cov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ark - Content and Image">
  <a:themeElements>
    <a:clrScheme name="StartCampus Theme 1">
      <a:dk1>
        <a:srgbClr val="000000"/>
      </a:dk1>
      <a:lt1>
        <a:srgbClr val="F4F4FF"/>
      </a:lt1>
      <a:dk2>
        <a:srgbClr val="183438"/>
      </a:dk2>
      <a:lt2>
        <a:srgbClr val="EBFEF5"/>
      </a:lt2>
      <a:accent1>
        <a:srgbClr val="00C058"/>
      </a:accent1>
      <a:accent2>
        <a:srgbClr val="FBDD6F"/>
      </a:accent2>
      <a:accent3>
        <a:srgbClr val="D1CDCD"/>
      </a:accent3>
      <a:accent4>
        <a:srgbClr val="48392C"/>
      </a:accent4>
      <a:accent5>
        <a:srgbClr val="3EA2F5"/>
      </a:accent5>
      <a:accent6>
        <a:srgbClr val="144044"/>
      </a:accent6>
      <a:hlink>
        <a:srgbClr val="00C058"/>
      </a:hlink>
      <a:folHlink>
        <a:srgbClr val="00C058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Dividers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Dividers">
  <a:themeElements>
    <a:clrScheme name="StartCampus Theme 1">
      <a:dk1>
        <a:srgbClr val="000000"/>
      </a:dk1>
      <a:lt1>
        <a:srgbClr val="F4F4FF"/>
      </a:lt1>
      <a:dk2>
        <a:srgbClr val="183438"/>
      </a:dk2>
      <a:lt2>
        <a:srgbClr val="EBFEF5"/>
      </a:lt2>
      <a:accent1>
        <a:srgbClr val="00C058"/>
      </a:accent1>
      <a:accent2>
        <a:srgbClr val="FBDD6F"/>
      </a:accent2>
      <a:accent3>
        <a:srgbClr val="D1CDCD"/>
      </a:accent3>
      <a:accent4>
        <a:srgbClr val="48392C"/>
      </a:accent4>
      <a:accent5>
        <a:srgbClr val="3EA2F5"/>
      </a:accent5>
      <a:accent6>
        <a:srgbClr val="144044"/>
      </a:accent6>
      <a:hlink>
        <a:srgbClr val="00C058"/>
      </a:hlink>
      <a:folHlink>
        <a:srgbClr val="00C058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28A3C5EB-B5CE-4BF2-B26A-10EBE5A49E51}" vid="{2FB53C36-4FEF-48FC-828F-391719FDE557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5D0161F036854390CF70D1AFABE0F8" ma:contentTypeVersion="16" ma:contentTypeDescription="Create a new document." ma:contentTypeScope="" ma:versionID="7395c18e222b5e86c30e8d48d5b89eed">
  <xsd:schema xmlns:xsd="http://www.w3.org/2001/XMLSchema" xmlns:xs="http://www.w3.org/2001/XMLSchema" xmlns:p="http://schemas.microsoft.com/office/2006/metadata/properties" xmlns:ns1="http://schemas.microsoft.com/sharepoint/v3" xmlns:ns2="b238ed95-c9d5-48cb-87cf-e826bc585f76" xmlns:ns3="c6923647-6c10-4b9b-9e1b-195d02f1da30" targetNamespace="http://schemas.microsoft.com/office/2006/metadata/properties" ma:root="true" ma:fieldsID="4696ef49c178ecaf3117fa06aa864a36" ns1:_="" ns2:_="" ns3:_="">
    <xsd:import namespace="http://schemas.microsoft.com/sharepoint/v3"/>
    <xsd:import namespace="b238ed95-c9d5-48cb-87cf-e826bc585f76"/>
    <xsd:import namespace="c6923647-6c10-4b9b-9e1b-195d02f1da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38ed95-c9d5-48cb-87cf-e826bc585f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1c6e5c-4a4a-441d-a49e-c2a13b6952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923647-6c10-4b9b-9e1b-195d02f1da3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e9134d1-7cf1-43d4-951a-d044717e1e34}" ma:internalName="TaxCatchAll" ma:showField="CatchAllData" ma:web="c6923647-6c10-4b9b-9e1b-195d02f1da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c6923647-6c10-4b9b-9e1b-195d02f1da30" xsi:nil="true"/>
    <lcf76f155ced4ddcb4097134ff3c332f xmlns="b238ed95-c9d5-48cb-87cf-e826bc585f7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B0FE42E-ED55-47E6-AC8A-112080CF85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6F57E3-AC70-4EAD-9612-EA1F4B51D7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238ed95-c9d5-48cb-87cf-e826bc585f76"/>
    <ds:schemaRef ds:uri="c6923647-6c10-4b9b-9e1b-195d02f1da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DD7558-4226-4E70-BB9B-BB0B79783C77}">
  <ds:schemaRefs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c6923647-6c10-4b9b-9e1b-195d02f1da30"/>
    <ds:schemaRef ds:uri="b238ed95-c9d5-48cb-87cf-e826bc585f76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dfe64ef0-fba9-49f9-8f0a-831dc20d6f0b}" enabled="1" method="Privileged" siteId="{39b4e89d-f3a2-4b41-b98b-7ac345637da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4413</TotalTime>
  <Words>1682</Words>
  <Application>Microsoft Office PowerPoint</Application>
  <PresentationFormat>Custom</PresentationFormat>
  <Paragraphs>363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Aptos</vt:lpstr>
      <vt:lpstr>Aptos Display</vt:lpstr>
      <vt:lpstr>Arial</vt:lpstr>
      <vt:lpstr>Figtree</vt:lpstr>
      <vt:lpstr>Figtree Light</vt:lpstr>
      <vt:lpstr>Figtree SemiBold</vt:lpstr>
      <vt:lpstr>Gill Sans MT</vt:lpstr>
      <vt:lpstr>Times New Roman</vt:lpstr>
      <vt:lpstr>Cover</vt:lpstr>
      <vt:lpstr>Dark - Content and Image</vt:lpstr>
      <vt:lpstr>1_Dividers</vt:lpstr>
      <vt:lpstr>2_Dividers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Larissa Gama Kansler Carvalho</dc:creator>
  <cp:lastModifiedBy>Hugo Oliveira</cp:lastModifiedBy>
  <cp:revision>4</cp:revision>
  <dcterms:created xsi:type="dcterms:W3CDTF">2024-09-30T10:06:28Z</dcterms:created>
  <dcterms:modified xsi:type="dcterms:W3CDTF">2026-10-15T13:46:42Z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0x010100445D0161F036854390CF70D1AFABE0F8</vt:lpwstr>
  </property>
  <property fmtid="{D5CDD505-2E9C-101B-9397-08002B2CF9AE}" pid="3" name="MediaServiceImageTags">
    <vt:lpwstr/>
  </property>
</Properties>
</file>