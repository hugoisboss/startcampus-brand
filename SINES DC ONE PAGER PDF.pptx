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theme/theme3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6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7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8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9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10.xml" ContentType="application/vnd.openxmlformats-officedocument.theme+xml"/>
  <Override PartName="/ppt/tags/tag1.xml" ContentType="application/vnd.openxmlformats-officedocument.presentationml.tags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9" r:id="rId4"/>
    <p:sldMasterId id="2147483662" r:id="rId5"/>
    <p:sldMasterId id="2147483681" r:id="rId6"/>
    <p:sldMasterId id="2147483648" r:id="rId7"/>
    <p:sldMasterId id="2147483683" r:id="rId8"/>
    <p:sldMasterId id="2147483687" r:id="rId9"/>
    <p:sldMasterId id="2147483667" r:id="rId10"/>
    <p:sldMasterId id="2147483691" r:id="rId11"/>
    <p:sldMasterId id="2147483694" r:id="rId12"/>
    <p:sldMasterId id="2147483710" r:id="rId13"/>
    <p:sldMasterId id="2147483756" r:id="rId14"/>
  </p:sldMasterIdLst>
  <p:notesMasterIdLst>
    <p:notesMasterId r:id="rId48"/>
  </p:notesMasterIdLst>
  <p:handoutMasterIdLst>
    <p:handoutMasterId r:id="rId49"/>
  </p:handoutMasterIdLst>
  <p:sldIdLst>
    <p:sldId id="4486" r:id="rId15"/>
    <p:sldId id="4484" r:id="rId16"/>
    <p:sldId id="4518" r:id="rId17"/>
    <p:sldId id="4489" r:id="rId18"/>
    <p:sldId id="4497" r:id="rId19"/>
    <p:sldId id="4485" r:id="rId20"/>
    <p:sldId id="4498" r:id="rId21"/>
    <p:sldId id="4483" r:id="rId22"/>
    <p:sldId id="4490" r:id="rId23"/>
    <p:sldId id="4499" r:id="rId24"/>
    <p:sldId id="4492" r:id="rId25"/>
    <p:sldId id="4487" r:id="rId26"/>
    <p:sldId id="4500" r:id="rId27"/>
    <p:sldId id="4478" r:id="rId28"/>
    <p:sldId id="4493" r:id="rId29"/>
    <p:sldId id="4501" r:id="rId30"/>
    <p:sldId id="4496" r:id="rId31"/>
    <p:sldId id="4502" r:id="rId32"/>
    <p:sldId id="4503" r:id="rId33"/>
    <p:sldId id="4504" r:id="rId34"/>
    <p:sldId id="4505" r:id="rId35"/>
    <p:sldId id="4506" r:id="rId36"/>
    <p:sldId id="4507" r:id="rId37"/>
    <p:sldId id="4508" r:id="rId38"/>
    <p:sldId id="4509" r:id="rId39"/>
    <p:sldId id="4510" r:id="rId40"/>
    <p:sldId id="4511" r:id="rId41"/>
    <p:sldId id="4512" r:id="rId42"/>
    <p:sldId id="4513" r:id="rId43"/>
    <p:sldId id="4514" r:id="rId44"/>
    <p:sldId id="4515" r:id="rId45"/>
    <p:sldId id="4516" r:id="rId46"/>
    <p:sldId id="4517" r:id="rId47"/>
  </p:sldIdLst>
  <p:sldSz cx="24387175" cy="13716000"/>
  <p:notesSz cx="7315200" cy="9601200"/>
  <p:defaultTextStyle>
    <a:defPPr>
      <a:defRPr lang="en-PT"/>
    </a:defPPr>
    <a:lvl1pPr marL="0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446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8891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3337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7783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2229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6674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1120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5566" algn="l" defTabSz="1828891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E09FD07-4E0B-453B-B040-840F870D3238}">
          <p14:sldIdLst>
            <p14:sldId id="4486"/>
            <p14:sldId id="4484"/>
            <p14:sldId id="4518"/>
            <p14:sldId id="4489"/>
            <p14:sldId id="4497"/>
            <p14:sldId id="4485"/>
            <p14:sldId id="4498"/>
            <p14:sldId id="4483"/>
            <p14:sldId id="4490"/>
            <p14:sldId id="4499"/>
            <p14:sldId id="4492"/>
            <p14:sldId id="4487"/>
            <p14:sldId id="4500"/>
            <p14:sldId id="4478"/>
            <p14:sldId id="4493"/>
            <p14:sldId id="4501"/>
            <p14:sldId id="4496"/>
            <p14:sldId id="4502"/>
            <p14:sldId id="4503"/>
            <p14:sldId id="4504"/>
            <p14:sldId id="4505"/>
            <p14:sldId id="4506"/>
            <p14:sldId id="4507"/>
            <p14:sldId id="4508"/>
            <p14:sldId id="4509"/>
            <p14:sldId id="4510"/>
            <p14:sldId id="4511"/>
            <p14:sldId id="4512"/>
            <p14:sldId id="4513"/>
            <p14:sldId id="4514"/>
            <p14:sldId id="4515"/>
            <p14:sldId id="4516"/>
            <p14:sldId id="4517"/>
          </p14:sldIdLst>
        </p14:section>
        <p14:section name="xx Not In Use" id="{4D97793D-7231-46EF-84F3-5979517F207A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8130" userDrawn="1">
          <p15:clr>
            <a:srgbClr val="A4A3A4"/>
          </p15:clr>
        </p15:guide>
        <p15:guide id="2" pos="1498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594963-DA53-1DAC-06DD-CD4BED258843}" name="Hugo de Oliveira" initials="HO" userId="S::hso@startcampus.pt::3af7bcc3-daaf-48cc-a7ea-cb8500c544d3" providerId="AD"/>
  <p188:author id="{2E67E0C3-8510-8399-5D00-1D5EC18C3F4B}" name="Caroline Romanski" initials="" userId="S::car@startcampus.pt::4f135418-9596-4c1e-86b9-bb04d0817dd6" providerId="AD"/>
  <p188:author id="{EBFB69E3-5F15-D6BD-D94D-28EB3893860B}" name="Robert Dunn" initials="RN" userId="S::rnd@startcampus.pt::c47865ab-29e2-4ad5-b81c-a355a8ab10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159"/>
    <a:srgbClr val="FFFFFF"/>
    <a:srgbClr val="EDEBEB"/>
    <a:srgbClr val="EBFFF4"/>
    <a:srgbClr val="BDFFDB"/>
    <a:srgbClr val="156082"/>
    <a:srgbClr val="0A3638"/>
    <a:srgbClr val="F4F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EA1B40-8733-4022-B473-A371ABD91027}" v="40" dt="2026-05-29T09:45:09.2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156" y="78"/>
      </p:cViewPr>
      <p:guideLst>
        <p:guide orient="horz" pos="8130"/>
        <p:guide pos="14984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Master" Target="slideMasters/slideMaster10.xml"/><Relationship Id="rId18" Type="http://schemas.openxmlformats.org/officeDocument/2006/relationships/slide" Target="slides/slide4.xml"/><Relationship Id="rId26" Type="http://schemas.openxmlformats.org/officeDocument/2006/relationships/slide" Target="slides/slide12.xml"/><Relationship Id="rId39" Type="http://schemas.openxmlformats.org/officeDocument/2006/relationships/slide" Target="slides/slide25.xml"/><Relationship Id="rId21" Type="http://schemas.openxmlformats.org/officeDocument/2006/relationships/slide" Target="slides/slide7.xml"/><Relationship Id="rId34" Type="http://schemas.openxmlformats.org/officeDocument/2006/relationships/slide" Target="slides/slide20.xml"/><Relationship Id="rId42" Type="http://schemas.openxmlformats.org/officeDocument/2006/relationships/slide" Target="slides/slide28.xml"/><Relationship Id="rId47" Type="http://schemas.openxmlformats.org/officeDocument/2006/relationships/slide" Target="slides/slide33.xml"/><Relationship Id="rId50" Type="http://schemas.openxmlformats.org/officeDocument/2006/relationships/presProps" Target="presProps.xml"/><Relationship Id="rId55" Type="http://schemas.microsoft.com/office/2018/10/relationships/authors" Target="author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9" Type="http://schemas.openxmlformats.org/officeDocument/2006/relationships/slide" Target="slides/slide15.xml"/><Relationship Id="rId11" Type="http://schemas.openxmlformats.org/officeDocument/2006/relationships/slideMaster" Target="slideMasters/slideMaster8.xml"/><Relationship Id="rId24" Type="http://schemas.openxmlformats.org/officeDocument/2006/relationships/slide" Target="slides/slide10.xml"/><Relationship Id="rId32" Type="http://schemas.openxmlformats.org/officeDocument/2006/relationships/slide" Target="slides/slide18.xml"/><Relationship Id="rId37" Type="http://schemas.openxmlformats.org/officeDocument/2006/relationships/slide" Target="slides/slide23.xml"/><Relationship Id="rId40" Type="http://schemas.openxmlformats.org/officeDocument/2006/relationships/slide" Target="slides/slide26.xml"/><Relationship Id="rId45" Type="http://schemas.openxmlformats.org/officeDocument/2006/relationships/slide" Target="slides/slide31.xml"/><Relationship Id="rId53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5.xml"/><Relationship Id="rId31" Type="http://schemas.openxmlformats.org/officeDocument/2006/relationships/slide" Target="slides/slide17.xml"/><Relationship Id="rId44" Type="http://schemas.openxmlformats.org/officeDocument/2006/relationships/slide" Target="slides/slide3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Master" Target="slideMasters/slideMaster11.xml"/><Relationship Id="rId22" Type="http://schemas.openxmlformats.org/officeDocument/2006/relationships/slide" Target="slides/slide8.xml"/><Relationship Id="rId27" Type="http://schemas.openxmlformats.org/officeDocument/2006/relationships/slide" Target="slides/slide13.xml"/><Relationship Id="rId30" Type="http://schemas.openxmlformats.org/officeDocument/2006/relationships/slide" Target="slides/slide16.xml"/><Relationship Id="rId35" Type="http://schemas.openxmlformats.org/officeDocument/2006/relationships/slide" Target="slides/slide21.xml"/><Relationship Id="rId43" Type="http://schemas.openxmlformats.org/officeDocument/2006/relationships/slide" Target="slides/slide29.xml"/><Relationship Id="rId48" Type="http://schemas.openxmlformats.org/officeDocument/2006/relationships/notesMaster" Target="notesMasters/notesMaster1.xml"/><Relationship Id="rId8" Type="http://schemas.openxmlformats.org/officeDocument/2006/relationships/slideMaster" Target="slideMasters/slideMaster5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Master" Target="slideMasters/slideMaster9.xml"/><Relationship Id="rId17" Type="http://schemas.openxmlformats.org/officeDocument/2006/relationships/slide" Target="slides/slide3.xml"/><Relationship Id="rId25" Type="http://schemas.openxmlformats.org/officeDocument/2006/relationships/slide" Target="slides/slide11.xml"/><Relationship Id="rId33" Type="http://schemas.openxmlformats.org/officeDocument/2006/relationships/slide" Target="slides/slide19.xml"/><Relationship Id="rId38" Type="http://schemas.openxmlformats.org/officeDocument/2006/relationships/slide" Target="slides/slide24.xml"/><Relationship Id="rId46" Type="http://schemas.openxmlformats.org/officeDocument/2006/relationships/slide" Target="slides/slide32.xml"/><Relationship Id="rId20" Type="http://schemas.openxmlformats.org/officeDocument/2006/relationships/slide" Target="slides/slide6.xml"/><Relationship Id="rId41" Type="http://schemas.openxmlformats.org/officeDocument/2006/relationships/slide" Target="slides/slide27.xml"/><Relationship Id="rId54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1.xml"/><Relationship Id="rId23" Type="http://schemas.openxmlformats.org/officeDocument/2006/relationships/slide" Target="slides/slide9.xml"/><Relationship Id="rId28" Type="http://schemas.openxmlformats.org/officeDocument/2006/relationships/slide" Target="slides/slide14.xml"/><Relationship Id="rId36" Type="http://schemas.openxmlformats.org/officeDocument/2006/relationships/slide" Target="slides/slide22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9D4F9E-86B9-7C02-165E-47BFF2553F3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F166D5-636D-DCDF-88F4-C0C9E31D84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5E291483-AE46-F84B-81FE-471A1047BB18}" type="datetimeFigureOut">
              <a:rPr lang="en-PT" smtClean="0"/>
              <a:t>07/07/2026</a:t>
            </a:fld>
            <a:endParaRPr lang="en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904703-1271-1A21-4DB1-043A9B4ABC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3CE5C7-D11C-285B-6161-9AC28AB8D49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CCCA78F-A7C1-2E4F-90DA-73786A2EB1CC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976203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22C8248A-F490-AD4C-B79F-C68C9213EEA2}" type="datetimeFigureOut">
              <a:rPr lang="en-PT" smtClean="0"/>
              <a:t>07/07/2026</a:t>
            </a:fld>
            <a:endParaRPr lang="en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F2D23699-55DC-BA44-AE31-90E8CBC64BC7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773256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914446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828891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2743337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3657783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4572229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6674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401120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5566" algn="l" defTabSz="1828891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BC4C-B1DF-DBE5-42EF-7AF29EF9B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B7F7F6-675B-4CA2-C0BF-6067DB1B7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96B5B-19B3-5537-5D1B-76048F599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33793-4893-9273-9586-686D56FCC0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2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996235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DA473-753A-72EB-E27B-60F6F846D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9EC31-F2B7-6159-F443-372B79800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FD98A-B9C2-A06B-C4FC-AF1F2753BD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4EB31-EAEB-9B88-13DA-BD82A2C4D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3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17342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0EB4E-FB63-DC3B-0A75-02BB9E5C6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C84CF9-17DC-83B1-3F13-E8225B121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7D5EF-CBA9-05DC-2940-2F72E17A94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63EB3-0D74-8717-6D6B-B89454820A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5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3314953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8DE08-5496-9A1A-F020-582FAADE5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5CEC05-576C-A0D7-AF99-E7E0BFBC5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79879-B30E-9015-D521-499114101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7E12FF-8EE1-4A56-6F99-2639811D29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7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916419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BBB0-162F-60A9-CFF5-CD2D749AB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A3AD64-E2EA-4906-28BB-9384CA1518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E51454-7FA2-3960-FCD2-397415F48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50425-D88A-8134-97EF-B7324EF93B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10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9148572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4A1E-3942-729C-2411-7AAB030C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AE742-E51A-55E8-1B79-0C285CCC6F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961DC6-A11E-590E-DFE4-39660A2516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454924-46C6-6B16-61E5-34A6F052B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13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6074716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F9394-9E8D-13C6-AF11-08FCE603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D483E5-59D1-AA9C-3B10-F89F6B280F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F135F-0000-E05C-43A1-B95DA8A018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E0FDC-1006-2FB1-50FF-8126124E75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14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076833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7BEDC-3D67-2682-023D-1FA8D6186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66C398-2D39-858B-BCB7-C7B92BAC0C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60E484-CC49-A0C9-FCBC-CD252B5484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B8352E-FB4A-0382-4112-B42E30AEE5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16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01410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EE55E-E46A-CAB8-29FD-BFBE44160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0CD53A-C36E-A211-47D8-8920A88FF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62FEC4-F220-4711-7B95-D0506EFC1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84524-1F6F-F22C-ED19-2660348AE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19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5122914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D7C56-11FD-8F9B-B539-5317DBA99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4720C-5775-C189-8B9B-C51488CA5E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72BB1-190E-B16A-C75F-BD5888F0C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15AB6-E04D-661A-C976-862F51BBC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21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323097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C9C7A-C948-74A3-DB03-B869F78D4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13FC7A-EDEB-07D9-7C2F-F8A76B2A62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314836-6C40-4D51-939B-159443199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7C792F-49A3-C0DE-A1C2-8595408CB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23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8870155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F23E-7D7D-D573-80E5-C5CE04C65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2F00FD-812B-3666-42CC-02D4ECDF5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E6884A-7A1F-4026-A5CB-D5BAFE831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CDC26-8E92-1433-4386-252046848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26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0769472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D9828-B82E-AC6E-91D5-68D4F167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65DDB-5E95-2AF5-94BB-58D62CD11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DBBA6F-2026-6738-C9EE-C06B35248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AD1B4-2339-E391-D6EE-2F3B4AF497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29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256555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54CF2-C0CC-26EC-9E26-F1480D835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517C4-B34F-CCED-AAA4-87C22E94A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B46D56-892F-EF50-E93A-56BAD68B9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AA1D5-88CA-8853-C8B0-629499E60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30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7396371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22768-EB25-6321-BC6B-852D626DA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67E8A-F8A4-FCB4-8B56-20603D090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F7D8E5-7DD1-05B3-D541-F0E126DCA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5E731-174F-FB29-9EEF-7F638C1EF5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defTabSz="966612">
              <a:defRPr/>
            </a:pPr>
            <a:fld id="{F2D23699-55DC-BA44-AE31-90E8CBC64BC7}" type="slidenum">
              <a:rPr lang="en-PT" sz="1400">
                <a:solidFill>
                  <a:prstClr val="black"/>
                </a:solidFill>
                <a:latin typeface="Aptos" panose="02110004020202020204"/>
              </a:rPr>
              <a:pPr defTabSz="966612">
                <a:defRPr/>
              </a:pPr>
              <a:t>32</a:t>
            </a:fld>
            <a:endParaRPr lang="en-PT" sz="140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429644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7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7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9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9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0.xml"/><Relationship Id="rId1" Type="http://schemas.openxmlformats.org/officeDocument/2006/relationships/tags" Target="../tags/tag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141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Gree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C96FAA8-6DF1-6BAB-C635-04A098D85892}"/>
              </a:ext>
            </a:extLst>
          </p:cNvPr>
          <p:cNvSpPr/>
          <p:nvPr userDrawn="1"/>
        </p:nvSpPr>
        <p:spPr>
          <a:xfrm>
            <a:off x="0" y="0"/>
            <a:ext cx="17954005" cy="13716000"/>
          </a:xfrm>
          <a:prstGeom prst="rect">
            <a:avLst/>
          </a:prstGeom>
          <a:solidFill>
            <a:srgbClr val="0A36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116243-3424-5E20-F93E-7E5E0C7A4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850" y="5196007"/>
            <a:ext cx="12080385" cy="3323986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12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03E3AD-9795-2274-E234-C26E11AA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851" y="9306143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>
                <a:solidFill>
                  <a:srgbClr val="F4F4FF"/>
                </a:solidFill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7000-F164-26AD-B7F8-A71CE4DA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905F2B8-EB63-6033-05B3-F5F1EF89D7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953788" y="0"/>
            <a:ext cx="64333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5217BD-266B-8054-CFA4-5D7C5A22BD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60850" y="3286779"/>
            <a:ext cx="3218319" cy="1060014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73865-2201-005D-EAC4-C2E273D0E8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7" y="13272299"/>
            <a:ext cx="223167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latin typeface="Figtree" pitchFamily="2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EED708C-2374-451A-6D37-EA123C23CC2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98795" y="13119257"/>
            <a:ext cx="2001663" cy="30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332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16243-3424-5E20-F93E-7E5E0C7A4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850" y="5196007"/>
            <a:ext cx="12080385" cy="3323986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12000" b="1" i="0">
                <a:solidFill>
                  <a:schemeClr val="tx1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03E3AD-9795-2274-E234-C26E11AA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851" y="9306143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>
                <a:solidFill>
                  <a:schemeClr val="tx1"/>
                </a:solidFill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7000-F164-26AD-B7F8-A71CE4DA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905F2B8-EB63-6033-05B3-F5F1EF89D7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953788" y="0"/>
            <a:ext cx="64333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B171C99-87F3-B2C0-EA6A-79B2C63787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D6719E9E-C560-7CC0-414D-E2634B1384F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0850" y="3278904"/>
            <a:ext cx="3218319" cy="1067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721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C96FAA8-6DF1-6BAB-C635-04A098D85892}"/>
              </a:ext>
            </a:extLst>
          </p:cNvPr>
          <p:cNvSpPr/>
          <p:nvPr userDrawn="1"/>
        </p:nvSpPr>
        <p:spPr>
          <a:xfrm>
            <a:off x="0" y="0"/>
            <a:ext cx="17954005" cy="13716000"/>
          </a:xfrm>
          <a:prstGeom prst="rect">
            <a:avLst/>
          </a:prstGeom>
          <a:solidFill>
            <a:srgbClr val="00C1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116243-3424-5E20-F93E-7E5E0C7A4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850" y="5196007"/>
            <a:ext cx="12080385" cy="3323986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12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03E3AD-9795-2274-E234-C26E11AA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851" y="9306143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 b="0" i="0">
                <a:solidFill>
                  <a:srgbClr val="F4F4FF"/>
                </a:solidFill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7000-F164-26AD-B7F8-A71CE4DA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905F2B8-EB63-6033-05B3-F5F1EF89D7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953788" y="49448"/>
            <a:ext cx="64333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09580-271D-08ED-C5BB-4F715828DD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60850" y="3259653"/>
            <a:ext cx="3218319" cy="1060014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9094B9-FFAE-C51F-21C7-688D53C5DA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239861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latin typeface="Figtree" pitchFamily="2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F709CFF-46BD-1D0A-4919-3B154546F1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98795" y="13119257"/>
            <a:ext cx="2001663" cy="30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499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1D255A6-7DDD-494E-66E8-EBD3E3524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4902" y="8411032"/>
            <a:ext cx="16684110" cy="491506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</a:p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1A774FE-150A-0009-DF8A-38AABB9391A9}"/>
              </a:ext>
            </a:extLst>
          </p:cNvPr>
          <p:cNvCxnSpPr>
            <a:cxnSpLocks/>
          </p:cNvCxnSpPr>
          <p:nvPr userDrawn="1"/>
        </p:nvCxnSpPr>
        <p:spPr>
          <a:xfrm>
            <a:off x="0" y="7610490"/>
            <a:ext cx="13274668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BB3EF73B-FF54-6C67-1126-E28CDB60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4902" y="2422828"/>
            <a:ext cx="17608540" cy="221599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6000" b="1" i="0">
                <a:solidFill>
                  <a:srgbClr val="00C159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</a:t>
            </a:r>
            <a:endParaRPr lang="en-PT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3D1599-4A75-C4E5-07F3-42D4FB9A76AB}"/>
              </a:ext>
            </a:extLst>
          </p:cNvPr>
          <p:cNvSpPr txBox="1">
            <a:spLocks/>
          </p:cNvSpPr>
          <p:nvPr userDrawn="1"/>
        </p:nvSpPr>
        <p:spPr>
          <a:xfrm>
            <a:off x="2114902" y="4892653"/>
            <a:ext cx="17608540" cy="221599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000" b="1" i="0" kern="1200">
                <a:solidFill>
                  <a:srgbClr val="00C159"/>
                </a:solidFill>
                <a:latin typeface="Figtree SemiBold" pitchFamily="2" charset="0"/>
                <a:ea typeface="+mj-ea"/>
                <a:cs typeface="+mj-cs"/>
              </a:defRPr>
            </a:lvl1pPr>
          </a:lstStyle>
          <a:p>
            <a:r>
              <a:rPr lang="en-GB" sz="16000">
                <a:solidFill>
                  <a:schemeClr val="tx1"/>
                </a:solidFill>
              </a:rPr>
              <a:t>Master title style</a:t>
            </a:r>
            <a:endParaRPr lang="en-PT" sz="16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0486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DBC89C-1628-F79F-6FCE-BDA71DAD4E0A}"/>
              </a:ext>
            </a:extLst>
          </p:cNvPr>
          <p:cNvSpPr/>
          <p:nvPr userDrawn="1"/>
        </p:nvSpPr>
        <p:spPr>
          <a:xfrm>
            <a:off x="15052775" y="9711559"/>
            <a:ext cx="9334401" cy="40044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A0741-1A7A-30D6-468F-52E8A41B7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A2AA4-C529-54E1-5673-2FFC856B8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618" y="4996575"/>
            <a:ext cx="10516969" cy="350455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>
                <a:latin typeface="Figtree" pitchFamily="2" charset="0"/>
              </a:defRPr>
            </a:lvl1pPr>
            <a:lvl2pPr>
              <a:defRPr>
                <a:latin typeface="Figtree" pitchFamily="2" charset="0"/>
              </a:defRPr>
            </a:lvl2pPr>
            <a:lvl3pPr>
              <a:defRPr>
                <a:latin typeface="Figtree" pitchFamily="2" charset="0"/>
              </a:defRPr>
            </a:lvl3pPr>
            <a:lvl4pPr>
              <a:defRPr>
                <a:latin typeface="Figtree" pitchFamily="2" charset="0"/>
              </a:defRPr>
            </a:lvl4pPr>
            <a:lvl5pPr>
              <a:defRPr>
                <a:latin typeface="Figtree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F7F05-C5FC-74D7-1FE8-59AF1BC3B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A00-CBEE-34D6-6026-8A3768A96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5DB7D23-8B64-9F78-2851-49DFE3BB9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052773" y="1"/>
            <a:ext cx="9334401" cy="9712326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4849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0741-1A7A-30D6-468F-52E8A41B7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651126"/>
          </a:xfrm>
          <a:prstGeom prst="rect">
            <a:avLst/>
          </a:prstGeom>
        </p:spPr>
        <p:txBody>
          <a:bodyPr lIns="0" tIns="0" rIns="0" bIns="0"/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F7F05-C5FC-74D7-1FE8-59AF1BC3B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A00-CBEE-34D6-6026-8A3768A96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5DB7D23-8B64-9F78-2851-49DFE3BB9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655150" y="0"/>
            <a:ext cx="10732025" cy="13715992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9684502-6F49-A637-60D0-D66845A7CFC2}"/>
              </a:ext>
            </a:extLst>
          </p:cNvPr>
          <p:cNvCxnSpPr>
            <a:cxnSpLocks/>
          </p:cNvCxnSpPr>
          <p:nvPr userDrawn="1"/>
        </p:nvCxnSpPr>
        <p:spPr>
          <a:xfrm>
            <a:off x="1" y="5835314"/>
            <a:ext cx="8311704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75DCFA-1785-AC58-BF4F-BFA06A96497B}"/>
              </a:ext>
            </a:extLst>
          </p:cNvPr>
          <p:cNvCxnSpPr>
            <a:cxnSpLocks/>
          </p:cNvCxnSpPr>
          <p:nvPr userDrawn="1"/>
        </p:nvCxnSpPr>
        <p:spPr>
          <a:xfrm>
            <a:off x="1" y="9030460"/>
            <a:ext cx="4456966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B4DA833A-55BD-80AB-0895-3244107D3B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79468" y="6217389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1" name="Text Placeholder 27">
            <a:extLst>
              <a:ext uri="{FF2B5EF4-FFF2-40B4-BE49-F238E27FC236}">
                <a16:creationId xmlns:a16="http://schemas.microsoft.com/office/drawing/2014/main" id="{18CA57E9-2A66-4FE4-B55E-FC6E65ABB6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79470" y="7215484"/>
            <a:ext cx="8311704" cy="99719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22" name="Text Placeholder 27">
            <a:extLst>
              <a:ext uri="{FF2B5EF4-FFF2-40B4-BE49-F238E27FC236}">
                <a16:creationId xmlns:a16="http://schemas.microsoft.com/office/drawing/2014/main" id="{F2B9EDE2-67B6-808B-AB88-688FBBA252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56019" y="9406067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3" name="Text Placeholder 27">
            <a:extLst>
              <a:ext uri="{FF2B5EF4-FFF2-40B4-BE49-F238E27FC236}">
                <a16:creationId xmlns:a16="http://schemas.microsoft.com/office/drawing/2014/main" id="{31071515-FD7A-B7D8-00C7-7FCE9F78260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56021" y="10404162"/>
            <a:ext cx="8311704" cy="99719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29706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AA0FB064-C030-A3BF-4543-A08DFB4BE9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35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D9CD3E6-E27D-9C52-C6A1-F1EF7742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3990" y="3576128"/>
            <a:ext cx="9086567" cy="252992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460883F-A407-DCAC-B90B-12D78AF82B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23990" y="6497128"/>
            <a:ext cx="9086567" cy="437248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>
                <a:latin typeface="Figtree" pitchFamily="2" charset="0"/>
              </a:defRPr>
            </a:lvl1pPr>
            <a:lvl2pPr>
              <a:defRPr>
                <a:latin typeface="Figtree" pitchFamily="2" charset="0"/>
              </a:defRPr>
            </a:lvl2pPr>
            <a:lvl3pPr>
              <a:defRPr>
                <a:latin typeface="Figtree" pitchFamily="2" charset="0"/>
              </a:defRPr>
            </a:lvl3pPr>
            <a:lvl4pPr>
              <a:defRPr>
                <a:latin typeface="Figtree" pitchFamily="2" charset="0"/>
              </a:defRPr>
            </a:lvl4pPr>
            <a:lvl5pPr>
              <a:defRPr>
                <a:latin typeface="Figtree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F046ECD7-A639-95C8-2918-BFF0D2DD2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56708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DBC89C-1628-F79F-6FCE-BDA71DAD4E0A}"/>
              </a:ext>
            </a:extLst>
          </p:cNvPr>
          <p:cNvSpPr/>
          <p:nvPr userDrawn="1"/>
        </p:nvSpPr>
        <p:spPr>
          <a:xfrm>
            <a:off x="15052775" y="9711559"/>
            <a:ext cx="9334401" cy="40044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A0741-1A7A-30D6-468F-52E8A41B7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3937000"/>
            <a:ext cx="10516969" cy="252992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A2AA4-C529-54E1-5673-2FFC856B8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618" y="6858001"/>
            <a:ext cx="10516969" cy="35968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>
                <a:latin typeface="Figtree" pitchFamily="2" charset="0"/>
              </a:defRPr>
            </a:lvl1pPr>
            <a:lvl2pPr>
              <a:defRPr>
                <a:latin typeface="Figtree" pitchFamily="2" charset="0"/>
              </a:defRPr>
            </a:lvl2pPr>
            <a:lvl3pPr>
              <a:defRPr>
                <a:latin typeface="Figtree" pitchFamily="2" charset="0"/>
              </a:defRPr>
            </a:lvl3pPr>
            <a:lvl4pPr>
              <a:defRPr>
                <a:latin typeface="Figtree" pitchFamily="2" charset="0"/>
              </a:defRPr>
            </a:lvl4pPr>
            <a:lvl5pPr>
              <a:defRPr>
                <a:latin typeface="Figtree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A00-CBEE-34D6-6026-8A3768A96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5DB7D23-8B64-9F78-2851-49DFE3BB9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052773" y="1"/>
            <a:ext cx="9334401" cy="9712326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46108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and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0741-1A7A-30D6-468F-52E8A41B7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A00-CBEE-34D6-6026-8A3768A96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5DB7D23-8B64-9F78-2851-49DFE3BB9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630095" y="0"/>
            <a:ext cx="10757080" cy="13715992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9684502-6F49-A637-60D0-D66845A7CFC2}"/>
              </a:ext>
            </a:extLst>
          </p:cNvPr>
          <p:cNvCxnSpPr>
            <a:cxnSpLocks/>
          </p:cNvCxnSpPr>
          <p:nvPr userDrawn="1"/>
        </p:nvCxnSpPr>
        <p:spPr>
          <a:xfrm>
            <a:off x="1" y="5764062"/>
            <a:ext cx="8311704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75DCFA-1785-AC58-BF4F-BFA06A96497B}"/>
              </a:ext>
            </a:extLst>
          </p:cNvPr>
          <p:cNvCxnSpPr>
            <a:cxnSpLocks/>
          </p:cNvCxnSpPr>
          <p:nvPr userDrawn="1"/>
        </p:nvCxnSpPr>
        <p:spPr>
          <a:xfrm>
            <a:off x="1" y="8959208"/>
            <a:ext cx="4456966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B4DA833A-55BD-80AB-0895-3244107D3B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79468" y="6146137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>
                <a:latin typeface="Figtree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1" name="Text Placeholder 27">
            <a:extLst>
              <a:ext uri="{FF2B5EF4-FFF2-40B4-BE49-F238E27FC236}">
                <a16:creationId xmlns:a16="http://schemas.microsoft.com/office/drawing/2014/main" id="{18CA57E9-2A66-4FE4-B55E-FC6E65ABB6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79470" y="7144232"/>
            <a:ext cx="8311704" cy="99719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22" name="Text Placeholder 27">
            <a:extLst>
              <a:ext uri="{FF2B5EF4-FFF2-40B4-BE49-F238E27FC236}">
                <a16:creationId xmlns:a16="http://schemas.microsoft.com/office/drawing/2014/main" id="{F2B9EDE2-67B6-808B-AB88-688FBBA252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56019" y="9334815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>
                <a:latin typeface="Figtree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3" name="Text Placeholder 27">
            <a:extLst>
              <a:ext uri="{FF2B5EF4-FFF2-40B4-BE49-F238E27FC236}">
                <a16:creationId xmlns:a16="http://schemas.microsoft.com/office/drawing/2014/main" id="{31071515-FD7A-B7D8-00C7-7FCE9F78260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56021" y="10332910"/>
            <a:ext cx="8311704" cy="99719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427572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AA0FB064-C030-A3BF-4543-A08DFB4BE9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35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D9CD3E6-E27D-9C52-C6A1-F1EF7742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1498" y="4794921"/>
            <a:ext cx="9086567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460883F-A407-DCAC-B90B-12D78AF82B3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671498" y="7702285"/>
            <a:ext cx="8680774" cy="22159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4000" b="0" i="0">
                <a:latin typeface="Figtree" pitchFamily="2" charset="0"/>
              </a:defRPr>
            </a:lvl1pPr>
            <a:lvl2pPr>
              <a:defRPr>
                <a:latin typeface="Figtree" pitchFamily="2" charset="0"/>
              </a:defRPr>
            </a:lvl2pPr>
            <a:lvl3pPr>
              <a:defRPr>
                <a:latin typeface="Figtree" pitchFamily="2" charset="0"/>
              </a:defRPr>
            </a:lvl3pPr>
            <a:lvl4pPr>
              <a:defRPr>
                <a:latin typeface="Figtree" pitchFamily="2" charset="0"/>
              </a:defRPr>
            </a:lvl4pPr>
            <a:lvl5pPr>
              <a:defRPr>
                <a:latin typeface="Figtree" pitchFamily="2" charset="0"/>
              </a:defRPr>
            </a:lvl5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621317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DDBC89C-1628-F79F-6FCE-BDA71DAD4E0A}"/>
              </a:ext>
            </a:extLst>
          </p:cNvPr>
          <p:cNvSpPr/>
          <p:nvPr userDrawn="1"/>
        </p:nvSpPr>
        <p:spPr>
          <a:xfrm>
            <a:off x="15052775" y="9711559"/>
            <a:ext cx="9334401" cy="400444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A0741-1A7A-30D6-468F-52E8A41B7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3937000"/>
            <a:ext cx="10516969" cy="252992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A2AA4-C529-54E1-5673-2FFC856B82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618" y="6858001"/>
            <a:ext cx="10516969" cy="35968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>
                <a:latin typeface="Figtree" pitchFamily="2" charset="0"/>
              </a:defRPr>
            </a:lvl1pPr>
            <a:lvl2pPr>
              <a:defRPr>
                <a:latin typeface="Figtree" pitchFamily="2" charset="0"/>
              </a:defRPr>
            </a:lvl2pPr>
            <a:lvl3pPr>
              <a:defRPr>
                <a:latin typeface="Figtree" pitchFamily="2" charset="0"/>
              </a:defRPr>
            </a:lvl3pPr>
            <a:lvl4pPr>
              <a:defRPr>
                <a:latin typeface="Figtree" pitchFamily="2" charset="0"/>
              </a:defRPr>
            </a:lvl4pPr>
            <a:lvl5pPr>
              <a:defRPr>
                <a:latin typeface="Figtree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A00-CBEE-34D6-6026-8A3768A96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5DB7D23-8B64-9F78-2851-49DFE3BB9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052773" y="1"/>
            <a:ext cx="9334401" cy="9712326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342549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+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A0741-1A7A-30D6-468F-52E8A41B7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8ECA00-CBEE-34D6-6026-8A3768A96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5DB7D23-8B64-9F78-2851-49DFE3BB9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630095" y="0"/>
            <a:ext cx="10757080" cy="13715992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9684502-6F49-A637-60D0-D66845A7CFC2}"/>
              </a:ext>
            </a:extLst>
          </p:cNvPr>
          <p:cNvCxnSpPr>
            <a:cxnSpLocks/>
          </p:cNvCxnSpPr>
          <p:nvPr userDrawn="1"/>
        </p:nvCxnSpPr>
        <p:spPr>
          <a:xfrm>
            <a:off x="1" y="5764062"/>
            <a:ext cx="8311704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175DCFA-1785-AC58-BF4F-BFA06A96497B}"/>
              </a:ext>
            </a:extLst>
          </p:cNvPr>
          <p:cNvCxnSpPr>
            <a:cxnSpLocks/>
          </p:cNvCxnSpPr>
          <p:nvPr userDrawn="1"/>
        </p:nvCxnSpPr>
        <p:spPr>
          <a:xfrm>
            <a:off x="1" y="8959208"/>
            <a:ext cx="4456966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B4DA833A-55BD-80AB-0895-3244107D3B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79468" y="6146137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>
                <a:latin typeface="Figtree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1" name="Text Placeholder 27">
            <a:extLst>
              <a:ext uri="{FF2B5EF4-FFF2-40B4-BE49-F238E27FC236}">
                <a16:creationId xmlns:a16="http://schemas.microsoft.com/office/drawing/2014/main" id="{18CA57E9-2A66-4FE4-B55E-FC6E65ABB6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79470" y="7144232"/>
            <a:ext cx="8311704" cy="99719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22" name="Text Placeholder 27">
            <a:extLst>
              <a:ext uri="{FF2B5EF4-FFF2-40B4-BE49-F238E27FC236}">
                <a16:creationId xmlns:a16="http://schemas.microsoft.com/office/drawing/2014/main" id="{F2B9EDE2-67B6-808B-AB88-688FBBA252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56019" y="9334815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>
                <a:latin typeface="Figtree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3" name="Text Placeholder 27">
            <a:extLst>
              <a:ext uri="{FF2B5EF4-FFF2-40B4-BE49-F238E27FC236}">
                <a16:creationId xmlns:a16="http://schemas.microsoft.com/office/drawing/2014/main" id="{31071515-FD7A-B7D8-00C7-7FCE9F78260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656021" y="10332910"/>
            <a:ext cx="8311704" cy="99719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1768206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2">
            <a:extLst>
              <a:ext uri="{FF2B5EF4-FFF2-40B4-BE49-F238E27FC236}">
                <a16:creationId xmlns:a16="http://schemas.microsoft.com/office/drawing/2014/main" id="{AA0FB064-C030-A3BF-4543-A08DFB4BE9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35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D9CD3E6-E27D-9C52-C6A1-F1EF7742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1498" y="4794921"/>
            <a:ext cx="9086567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460883F-A407-DCAC-B90B-12D78AF82B3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671498" y="7702285"/>
            <a:ext cx="8680774" cy="22159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4000" b="0" i="0">
                <a:latin typeface="Figtree" pitchFamily="2" charset="0"/>
              </a:defRPr>
            </a:lvl1pPr>
            <a:lvl2pPr>
              <a:defRPr>
                <a:latin typeface="Figtree" pitchFamily="2" charset="0"/>
              </a:defRPr>
            </a:lvl2pPr>
            <a:lvl3pPr>
              <a:defRPr>
                <a:latin typeface="Figtree" pitchFamily="2" charset="0"/>
              </a:defRPr>
            </a:lvl3pPr>
            <a:lvl4pPr>
              <a:defRPr>
                <a:latin typeface="Figtree" pitchFamily="2" charset="0"/>
              </a:defRPr>
            </a:lvl4pPr>
            <a:lvl5pPr>
              <a:defRPr>
                <a:latin typeface="Figtree" pitchFamily="2" charset="0"/>
              </a:defRPr>
            </a:lvl5pPr>
          </a:lstStyle>
          <a:p>
            <a:pPr marL="0" marR="0" lvl="0" indent="0" algn="l" defTabSz="1828800" rtl="0" eaLnBrk="1" fontAlgn="auto" latinLnBrk="0" hangingPunct="1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77421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+Ic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D92B0922-296F-565E-2C40-42184ACDE2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73200" y="8614105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2" name="Text Placeholder 27">
            <a:extLst>
              <a:ext uri="{FF2B5EF4-FFF2-40B4-BE49-F238E27FC236}">
                <a16:creationId xmlns:a16="http://schemas.microsoft.com/office/drawing/2014/main" id="{A54ABA8D-573D-699F-A9B7-759A231517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4841" y="8597373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3" name="Text Placeholder 27">
            <a:extLst>
              <a:ext uri="{FF2B5EF4-FFF2-40B4-BE49-F238E27FC236}">
                <a16:creationId xmlns:a16="http://schemas.microsoft.com/office/drawing/2014/main" id="{D98477C6-4215-DD22-5B61-FD83423ED3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76481" y="8589053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4" name="Text Placeholder 27">
            <a:extLst>
              <a:ext uri="{FF2B5EF4-FFF2-40B4-BE49-F238E27FC236}">
                <a16:creationId xmlns:a16="http://schemas.microsoft.com/office/drawing/2014/main" id="{3E4D8812-DA23-E6A1-90DD-90CBEF2AA97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136479" y="8599167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5" name="Text Placeholder 27">
            <a:extLst>
              <a:ext uri="{FF2B5EF4-FFF2-40B4-BE49-F238E27FC236}">
                <a16:creationId xmlns:a16="http://schemas.microsoft.com/office/drawing/2014/main" id="{E723A449-B7A4-9B61-2719-35A40E037EC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69678" y="9751958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6" name="Text Placeholder 27">
            <a:extLst>
              <a:ext uri="{FF2B5EF4-FFF2-40B4-BE49-F238E27FC236}">
                <a16:creationId xmlns:a16="http://schemas.microsoft.com/office/drawing/2014/main" id="{6599A578-D1F7-FA04-2B7E-B353BA78F2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21319" y="9735226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7" name="Text Placeholder 27">
            <a:extLst>
              <a:ext uri="{FF2B5EF4-FFF2-40B4-BE49-F238E27FC236}">
                <a16:creationId xmlns:a16="http://schemas.microsoft.com/office/drawing/2014/main" id="{F49C0DA2-7FBA-D0D3-8576-01BCA61A712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2572960" y="9726906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8" name="Text Placeholder 27">
            <a:extLst>
              <a:ext uri="{FF2B5EF4-FFF2-40B4-BE49-F238E27FC236}">
                <a16:creationId xmlns:a16="http://schemas.microsoft.com/office/drawing/2014/main" id="{9D506041-9A49-A4B0-F6BF-F15FD669A8A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132958" y="9737020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ctr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38A0740D-A5FC-46F1-F7C6-590049B6D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3D55ECDA-B60A-F6CB-2691-370DB3B724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noProof="0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 noProof="0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F5AB3DCC-9147-7E45-7AEA-631B2C13B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49DB72AE-0766-74AA-6933-C4D27DA154E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0404181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A16175B-048B-1104-3095-95A129C8FAE6}"/>
              </a:ext>
            </a:extLst>
          </p:cNvPr>
          <p:cNvGrpSpPr/>
          <p:nvPr userDrawn="1"/>
        </p:nvGrpSpPr>
        <p:grpSpPr>
          <a:xfrm>
            <a:off x="1605079" y="-7684600"/>
            <a:ext cx="20376025" cy="20373372"/>
            <a:chOff x="5015458" y="-3647397"/>
            <a:chExt cx="16404113" cy="1640411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E59E967-5FCC-DECF-BCAE-FF42F91EB3DA}"/>
                </a:ext>
              </a:extLst>
            </p:cNvPr>
            <p:cNvSpPr/>
            <p:nvPr/>
          </p:nvSpPr>
          <p:spPr>
            <a:xfrm>
              <a:off x="5015458" y="-3647397"/>
              <a:ext cx="16404113" cy="16404113"/>
            </a:xfrm>
            <a:prstGeom prst="ellipse">
              <a:avLst/>
            </a:prstGeom>
            <a:gradFill flip="none" rotWithShape="1">
              <a:gsLst>
                <a:gs pos="100000">
                  <a:srgbClr val="34BD64">
                    <a:alpha val="0"/>
                  </a:srgbClr>
                </a:gs>
                <a:gs pos="0">
                  <a:schemeClr val="bg2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T" sz="720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70B041D7-CB86-6026-33A8-325C34A8F419}"/>
                </a:ext>
              </a:extLst>
            </p:cNvPr>
            <p:cNvSpPr/>
            <p:nvPr/>
          </p:nvSpPr>
          <p:spPr>
            <a:xfrm>
              <a:off x="8284084" y="-113087"/>
              <a:ext cx="9866861" cy="9335492"/>
            </a:xfrm>
            <a:prstGeom prst="ellipse">
              <a:avLst/>
            </a:prstGeom>
            <a:gradFill flip="none" rotWithShape="1">
              <a:gsLst>
                <a:gs pos="100000">
                  <a:srgbClr val="34BD64">
                    <a:alpha val="0"/>
                  </a:srgbClr>
                </a:gs>
                <a:gs pos="0">
                  <a:schemeClr val="bg2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T" sz="720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DD96774-3672-E7A7-4F63-DF7976D9E0F8}"/>
                </a:ext>
              </a:extLst>
            </p:cNvPr>
            <p:cNvSpPr/>
            <p:nvPr/>
          </p:nvSpPr>
          <p:spPr>
            <a:xfrm>
              <a:off x="11838557" y="3175702"/>
              <a:ext cx="2757915" cy="2757915"/>
            </a:xfrm>
            <a:prstGeom prst="ellipse">
              <a:avLst/>
            </a:prstGeom>
            <a:gradFill flip="none" rotWithShape="1">
              <a:gsLst>
                <a:gs pos="100000">
                  <a:srgbClr val="34BD64">
                    <a:alpha val="0"/>
                  </a:srgbClr>
                </a:gs>
                <a:gs pos="0">
                  <a:schemeClr val="bg2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T" sz="7200"/>
            </a:p>
          </p:txBody>
        </p: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4C7BB71-20A0-7549-4C09-741372215E2B}"/>
              </a:ext>
            </a:extLst>
          </p:cNvPr>
          <p:cNvCxnSpPr>
            <a:cxnSpLocks/>
          </p:cNvCxnSpPr>
          <p:nvPr userDrawn="1"/>
        </p:nvCxnSpPr>
        <p:spPr>
          <a:xfrm flipH="1">
            <a:off x="13675372" y="2125526"/>
            <a:ext cx="10759309" cy="0"/>
          </a:xfrm>
          <a:prstGeom prst="line">
            <a:avLst/>
          </a:prstGeom>
          <a:ln w="34925" cmpd="dbl">
            <a:solidFill>
              <a:srgbClr val="EFFEF6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BDA132-BC54-2D51-23F4-4EF24994CD0E}"/>
              </a:ext>
            </a:extLst>
          </p:cNvPr>
          <p:cNvCxnSpPr>
            <a:cxnSpLocks/>
          </p:cNvCxnSpPr>
          <p:nvPr userDrawn="1"/>
        </p:nvCxnSpPr>
        <p:spPr>
          <a:xfrm flipH="1">
            <a:off x="13675372" y="6035154"/>
            <a:ext cx="10759309" cy="0"/>
          </a:xfrm>
          <a:prstGeom prst="line">
            <a:avLst/>
          </a:prstGeom>
          <a:ln w="34925" cmpd="dbl">
            <a:solidFill>
              <a:srgbClr val="EFFEF6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449D2B1-28E3-C39B-AB7E-A786EBB61B11}"/>
              </a:ext>
            </a:extLst>
          </p:cNvPr>
          <p:cNvCxnSpPr>
            <a:cxnSpLocks/>
          </p:cNvCxnSpPr>
          <p:nvPr userDrawn="1"/>
        </p:nvCxnSpPr>
        <p:spPr>
          <a:xfrm flipH="1">
            <a:off x="13675372" y="9524660"/>
            <a:ext cx="10759309" cy="0"/>
          </a:xfrm>
          <a:prstGeom prst="line">
            <a:avLst/>
          </a:prstGeom>
          <a:ln w="34925" cmpd="dbl">
            <a:solidFill>
              <a:srgbClr val="EFFEF6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itle 1">
            <a:extLst>
              <a:ext uri="{FF2B5EF4-FFF2-40B4-BE49-F238E27FC236}">
                <a16:creationId xmlns:a16="http://schemas.microsoft.com/office/drawing/2014/main" id="{464653EA-259E-5D60-4D00-B29B1B5025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657841" y="3799044"/>
            <a:ext cx="10911159" cy="4985980"/>
          </a:xfrm>
          <a:prstGeom prst="rect">
            <a:avLst/>
          </a:prstGeom>
        </p:spPr>
        <p:txBody>
          <a:bodyPr lIns="0" tIns="0" rIns="0" bIns="0" anchor="b">
            <a:spAutoFit/>
          </a:bodyPr>
          <a:lstStyle>
            <a:lvl1pPr algn="l">
              <a:defRPr sz="12000" b="1" i="0">
                <a:latin typeface="Figtree SemiBold" pitchFamily="2" charset="0"/>
              </a:defRPr>
            </a:lvl1pPr>
          </a:lstStyle>
          <a:p>
            <a:r>
              <a:rPr lang="en-GB"/>
              <a:t>Click to </a:t>
            </a:r>
            <a:br>
              <a:rPr lang="en-GB"/>
            </a:br>
            <a:r>
              <a:rPr lang="en-GB"/>
              <a:t>edit Master title style</a:t>
            </a:r>
            <a:endParaRPr lang="en-PT"/>
          </a:p>
        </p:txBody>
      </p:sp>
      <p:sp>
        <p:nvSpPr>
          <p:cNvPr id="27" name="Subtitle 2">
            <a:extLst>
              <a:ext uri="{FF2B5EF4-FFF2-40B4-BE49-F238E27FC236}">
                <a16:creationId xmlns:a16="http://schemas.microsoft.com/office/drawing/2014/main" id="{68773F26-FBA3-DE7D-6D3A-7B311D3313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7841" y="8969175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31" name="Text Placeholder 27">
            <a:extLst>
              <a:ext uri="{FF2B5EF4-FFF2-40B4-BE49-F238E27FC236}">
                <a16:creationId xmlns:a16="http://schemas.microsoft.com/office/drawing/2014/main" id="{0088334B-9A9E-413A-C533-CD53CD8EF0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297621" y="2608211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2" name="Text Placeholder 27">
            <a:extLst>
              <a:ext uri="{FF2B5EF4-FFF2-40B4-BE49-F238E27FC236}">
                <a16:creationId xmlns:a16="http://schemas.microsoft.com/office/drawing/2014/main" id="{2895A366-D5B9-E932-EE15-9E8D1E11785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297622" y="3746064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3" name="Text Placeholder 27">
            <a:extLst>
              <a:ext uri="{FF2B5EF4-FFF2-40B4-BE49-F238E27FC236}">
                <a16:creationId xmlns:a16="http://schemas.microsoft.com/office/drawing/2014/main" id="{3E364667-650B-10F3-B134-918A3E541D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297621" y="6353049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4" name="Text Placeholder 27">
            <a:extLst>
              <a:ext uri="{FF2B5EF4-FFF2-40B4-BE49-F238E27FC236}">
                <a16:creationId xmlns:a16="http://schemas.microsoft.com/office/drawing/2014/main" id="{BDFD5188-B01A-5D37-A973-6E82B1DE05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297622" y="7490902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5" name="Text Placeholder 27">
            <a:extLst>
              <a:ext uri="{FF2B5EF4-FFF2-40B4-BE49-F238E27FC236}">
                <a16:creationId xmlns:a16="http://schemas.microsoft.com/office/drawing/2014/main" id="{AA3F01E9-1B29-2D25-721F-4D62E4DE2D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4297621" y="10243923"/>
            <a:ext cx="2777498" cy="600164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6" name="Text Placeholder 27">
            <a:extLst>
              <a:ext uri="{FF2B5EF4-FFF2-40B4-BE49-F238E27FC236}">
                <a16:creationId xmlns:a16="http://schemas.microsoft.com/office/drawing/2014/main" id="{3E5547CC-A944-7D8F-FBC5-4F18A7D2EC6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297622" y="11381776"/>
            <a:ext cx="4784545" cy="1569660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lnSpc>
                <a:spcPct val="100000"/>
              </a:lnSpc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7" name="Footer Placeholder 4">
            <a:extLst>
              <a:ext uri="{FF2B5EF4-FFF2-40B4-BE49-F238E27FC236}">
                <a16:creationId xmlns:a16="http://schemas.microsoft.com/office/drawing/2014/main" id="{F6C4E7BE-F500-A180-C139-B8FDD6FDCB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C67FADDE-2A37-8AFA-9D8E-D05B54205A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7DBA5C46-C155-6730-10BF-37B4017BA4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054447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+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985470D-34EB-7D7D-031B-A18D0FBDA038}"/>
              </a:ext>
            </a:extLst>
          </p:cNvPr>
          <p:cNvCxnSpPr>
            <a:cxnSpLocks/>
          </p:cNvCxnSpPr>
          <p:nvPr userDrawn="1"/>
        </p:nvCxnSpPr>
        <p:spPr>
          <a:xfrm>
            <a:off x="1" y="5867600"/>
            <a:ext cx="4456966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" name="Text Placeholder 27">
            <a:extLst>
              <a:ext uri="{FF2B5EF4-FFF2-40B4-BE49-F238E27FC236}">
                <a16:creationId xmlns:a16="http://schemas.microsoft.com/office/drawing/2014/main" id="{2F5BB0F7-50A9-CCE9-E3EE-28939B65615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56019" y="6243207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4" name="Text Placeholder 27">
            <a:extLst>
              <a:ext uri="{FF2B5EF4-FFF2-40B4-BE49-F238E27FC236}">
                <a16:creationId xmlns:a16="http://schemas.microsoft.com/office/drawing/2014/main" id="{A5359906-8729-CA8D-7F2B-B365EE6B69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656021" y="7241303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ED87186-E60C-3325-E861-142EC55DF301}"/>
              </a:ext>
            </a:extLst>
          </p:cNvPr>
          <p:cNvCxnSpPr>
            <a:cxnSpLocks/>
          </p:cNvCxnSpPr>
          <p:nvPr userDrawn="1"/>
        </p:nvCxnSpPr>
        <p:spPr>
          <a:xfrm>
            <a:off x="-25054" y="9381188"/>
            <a:ext cx="4456966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6" name="Text Placeholder 27">
            <a:extLst>
              <a:ext uri="{FF2B5EF4-FFF2-40B4-BE49-F238E27FC236}">
                <a16:creationId xmlns:a16="http://schemas.microsoft.com/office/drawing/2014/main" id="{131CF143-CD39-18FC-3F1F-A59965B6854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630964" y="9756795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7" name="Text Placeholder 27">
            <a:extLst>
              <a:ext uri="{FF2B5EF4-FFF2-40B4-BE49-F238E27FC236}">
                <a16:creationId xmlns:a16="http://schemas.microsoft.com/office/drawing/2014/main" id="{10D8AA42-F2AA-5E86-AF6B-E24D3DE6E74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30965" y="10754891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36F49F8-C527-2BA4-C715-8A64D3DA0D74}"/>
              </a:ext>
            </a:extLst>
          </p:cNvPr>
          <p:cNvCxnSpPr>
            <a:cxnSpLocks/>
          </p:cNvCxnSpPr>
          <p:nvPr userDrawn="1"/>
        </p:nvCxnSpPr>
        <p:spPr>
          <a:xfrm>
            <a:off x="7115710" y="5867600"/>
            <a:ext cx="3479809" cy="25052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27">
            <a:extLst>
              <a:ext uri="{FF2B5EF4-FFF2-40B4-BE49-F238E27FC236}">
                <a16:creationId xmlns:a16="http://schemas.microsoft.com/office/drawing/2014/main" id="{7DD833B4-719F-2BA6-4C88-03DE04E4D5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94573" y="6268259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73973F79-D36E-8DA7-26E3-38F62AED4C1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794574" y="7266355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88E09-A619-6348-89F9-CBB728E04E5D}"/>
              </a:ext>
            </a:extLst>
          </p:cNvPr>
          <p:cNvCxnSpPr>
            <a:cxnSpLocks/>
          </p:cNvCxnSpPr>
          <p:nvPr userDrawn="1"/>
        </p:nvCxnSpPr>
        <p:spPr>
          <a:xfrm>
            <a:off x="7115710" y="9381188"/>
            <a:ext cx="3454754" cy="25052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 Placeholder 27">
            <a:extLst>
              <a:ext uri="{FF2B5EF4-FFF2-40B4-BE49-F238E27FC236}">
                <a16:creationId xmlns:a16="http://schemas.microsoft.com/office/drawing/2014/main" id="{A2E852AA-BCB2-ED3C-66A0-DE173A7BFF8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69517" y="9781847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7" name="Text Placeholder 27">
            <a:extLst>
              <a:ext uri="{FF2B5EF4-FFF2-40B4-BE49-F238E27FC236}">
                <a16:creationId xmlns:a16="http://schemas.microsoft.com/office/drawing/2014/main" id="{0435B2A1-E6EE-9B08-AD70-57E0DBEC739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9519" y="10779943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149D7F07-0BFC-70AB-68EE-586DDC3CC709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3603471" y="0"/>
            <a:ext cx="10783704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45" name="Footer Placeholder 4">
            <a:extLst>
              <a:ext uri="{FF2B5EF4-FFF2-40B4-BE49-F238E27FC236}">
                <a16:creationId xmlns:a16="http://schemas.microsoft.com/office/drawing/2014/main" id="{4206AF29-824D-B6BA-EC7E-60B432CE2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46" name="Slide Number Placeholder 5">
            <a:extLst>
              <a:ext uri="{FF2B5EF4-FFF2-40B4-BE49-F238E27FC236}">
                <a16:creationId xmlns:a16="http://schemas.microsoft.com/office/drawing/2014/main" id="{9883EC97-7905-9F69-3D08-B27139325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EDDCFC8F-6EB8-9926-055B-0DA3EFC5C6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3613711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9F3E06-F870-B50F-4FBA-C9BE8E7B0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5047CA4-4B52-586B-404B-8281BDFFA5EC}"/>
              </a:ext>
            </a:extLst>
          </p:cNvPr>
          <p:cNvCxnSpPr>
            <a:cxnSpLocks/>
          </p:cNvCxnSpPr>
          <p:nvPr userDrawn="1"/>
        </p:nvCxnSpPr>
        <p:spPr>
          <a:xfrm>
            <a:off x="1" y="7289304"/>
            <a:ext cx="4456966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 Placeholder 27">
            <a:extLst>
              <a:ext uri="{FF2B5EF4-FFF2-40B4-BE49-F238E27FC236}">
                <a16:creationId xmlns:a16="http://schemas.microsoft.com/office/drawing/2014/main" id="{71F37EDE-456E-635C-B2C4-62B99228AFB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73739" y="7853281"/>
            <a:ext cx="4031539" cy="36009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6000" b="1" i="0">
                <a:solidFill>
                  <a:srgbClr val="00C159"/>
                </a:solidFill>
                <a:latin typeface="Figtree SemiBold" pitchFamily="2" charset="0"/>
              </a:defRPr>
            </a:lvl1pPr>
          </a:lstStyle>
          <a:p>
            <a:pPr lvl="0"/>
            <a:r>
              <a:rPr lang="en-GB"/>
              <a:t>21</a:t>
            </a:r>
            <a:endParaRPr lang="en-PT"/>
          </a:p>
        </p:txBody>
      </p:sp>
      <p:sp>
        <p:nvSpPr>
          <p:cNvPr id="10" name="Text Placeholder 27">
            <a:extLst>
              <a:ext uri="{FF2B5EF4-FFF2-40B4-BE49-F238E27FC236}">
                <a16:creationId xmlns:a16="http://schemas.microsoft.com/office/drawing/2014/main" id="{276B3441-4904-C4DC-44AE-3C069DAB17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05278" y="7853280"/>
            <a:ext cx="4784545" cy="3046988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lnSpc>
                <a:spcPct val="100000"/>
              </a:lnSpc>
              <a:buNone/>
              <a:defRPr sz="32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1" name="Text Placeholder 27">
            <a:extLst>
              <a:ext uri="{FF2B5EF4-FFF2-40B4-BE49-F238E27FC236}">
                <a16:creationId xmlns:a16="http://schemas.microsoft.com/office/drawing/2014/main" id="{406B5FC9-C007-D233-CE86-B274D7956B0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49959" y="2091309"/>
            <a:ext cx="4031539" cy="36009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6000" b="1" i="0">
                <a:solidFill>
                  <a:srgbClr val="00C159"/>
                </a:solidFill>
                <a:latin typeface="Figtree SemiBold" pitchFamily="2" charset="0"/>
              </a:defRPr>
            </a:lvl1pPr>
          </a:lstStyle>
          <a:p>
            <a:pPr lvl="0"/>
            <a:r>
              <a:rPr lang="en-GB"/>
              <a:t>21</a:t>
            </a:r>
            <a:endParaRPr lang="en-PT"/>
          </a:p>
        </p:txBody>
      </p:sp>
      <p:sp>
        <p:nvSpPr>
          <p:cNvPr id="12" name="Text Placeholder 27">
            <a:extLst>
              <a:ext uri="{FF2B5EF4-FFF2-40B4-BE49-F238E27FC236}">
                <a16:creationId xmlns:a16="http://schemas.microsoft.com/office/drawing/2014/main" id="{ADC5DB68-70E6-49B0-32D7-65EE9137C77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7581498" y="2091308"/>
            <a:ext cx="4784545" cy="3046988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lnSpc>
                <a:spcPct val="100000"/>
              </a:lnSpc>
              <a:buNone/>
              <a:defRPr sz="32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3" name="Text Placeholder 27">
            <a:extLst>
              <a:ext uri="{FF2B5EF4-FFF2-40B4-BE49-F238E27FC236}">
                <a16:creationId xmlns:a16="http://schemas.microsoft.com/office/drawing/2014/main" id="{68615F22-7E6F-B850-7F17-0600414EE35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3549959" y="7828229"/>
            <a:ext cx="4031539" cy="36009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6000" b="1" i="0">
                <a:solidFill>
                  <a:srgbClr val="00C159"/>
                </a:solidFill>
                <a:latin typeface="Figtree SemiBold" pitchFamily="2" charset="0"/>
              </a:defRPr>
            </a:lvl1pPr>
          </a:lstStyle>
          <a:p>
            <a:pPr lvl="0"/>
            <a:r>
              <a:rPr lang="en-GB"/>
              <a:t>21</a:t>
            </a:r>
            <a:endParaRPr lang="en-PT"/>
          </a:p>
        </p:txBody>
      </p:sp>
      <p:sp>
        <p:nvSpPr>
          <p:cNvPr id="18" name="Text Placeholder 27">
            <a:extLst>
              <a:ext uri="{FF2B5EF4-FFF2-40B4-BE49-F238E27FC236}">
                <a16:creationId xmlns:a16="http://schemas.microsoft.com/office/drawing/2014/main" id="{4A2C34A5-C552-5283-054D-335345749D8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7581498" y="7828228"/>
            <a:ext cx="4784545" cy="3046988"/>
          </a:xfrm>
          <a:prstGeom prst="rect">
            <a:avLst/>
          </a:prstGeom>
        </p:spPr>
        <p:txBody>
          <a:bodyPr lIns="0" tIns="0" rIns="0">
            <a:spAutoFit/>
          </a:bodyPr>
          <a:lstStyle>
            <a:lvl1pPr marL="0" indent="0" algn="l">
              <a:lnSpc>
                <a:spcPct val="100000"/>
              </a:lnSpc>
              <a:buNone/>
              <a:defRPr sz="32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6A9816C-5272-7652-A223-705B3C793D6E}"/>
              </a:ext>
            </a:extLst>
          </p:cNvPr>
          <p:cNvCxnSpPr>
            <a:cxnSpLocks/>
          </p:cNvCxnSpPr>
          <p:nvPr userDrawn="1"/>
        </p:nvCxnSpPr>
        <p:spPr>
          <a:xfrm>
            <a:off x="25055" y="6738158"/>
            <a:ext cx="22073734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D1F042D0-D97A-9AE4-2D45-68420E827A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627483C0-D72A-06E6-8A6D-C9707CBB62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BBDB80D5-511E-AF69-7EA4-3B68FAA3EB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587903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D8D6F9E-DEFE-0A29-0756-7B638734F69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24387175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4B9A56-8637-DD5F-C4F3-B23D69510E24}"/>
              </a:ext>
            </a:extLst>
          </p:cNvPr>
          <p:cNvSpPr/>
          <p:nvPr userDrawn="1"/>
        </p:nvSpPr>
        <p:spPr>
          <a:xfrm>
            <a:off x="1027270" y="1459282"/>
            <a:ext cx="11951384" cy="10797436"/>
          </a:xfrm>
          <a:prstGeom prst="rect">
            <a:avLst/>
          </a:prstGeom>
          <a:solidFill>
            <a:srgbClr val="0A36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5D1D74B-33DB-775B-66DE-0BD24D503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3937000"/>
            <a:ext cx="10516969" cy="252992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solidFill>
                  <a:schemeClr val="bg1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361593D-77D0-5B2F-7DF4-84E20FB09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618" y="6858001"/>
            <a:ext cx="10516969" cy="35968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bg1"/>
                </a:solidFill>
                <a:latin typeface="Figtree" pitchFamily="2" charset="0"/>
              </a:defRPr>
            </a:lvl1pPr>
            <a:lvl2pPr>
              <a:defRPr>
                <a:solidFill>
                  <a:schemeClr val="bg1"/>
                </a:solidFill>
                <a:latin typeface="Figtree" pitchFamily="2" charset="0"/>
              </a:defRPr>
            </a:lvl2pPr>
            <a:lvl3pPr>
              <a:defRPr>
                <a:solidFill>
                  <a:schemeClr val="bg1"/>
                </a:solidFill>
                <a:latin typeface="Figtree" pitchFamily="2" charset="0"/>
              </a:defRPr>
            </a:lvl3pPr>
            <a:lvl4pPr>
              <a:defRPr>
                <a:solidFill>
                  <a:schemeClr val="bg1"/>
                </a:solidFill>
                <a:latin typeface="Figtree" pitchFamily="2" charset="0"/>
              </a:defRPr>
            </a:lvl4pPr>
            <a:lvl5pPr>
              <a:defRPr>
                <a:solidFill>
                  <a:schemeClr val="bg1"/>
                </a:solidFill>
                <a:latin typeface="Figtree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71511C-4E28-1D67-BCAF-27B4EBFD90DE}"/>
              </a:ext>
            </a:extLst>
          </p:cNvPr>
          <p:cNvSpPr/>
          <p:nvPr userDrawn="1"/>
        </p:nvSpPr>
        <p:spPr>
          <a:xfrm>
            <a:off x="17622241" y="4818695"/>
            <a:ext cx="5737665" cy="3363238"/>
          </a:xfrm>
          <a:prstGeom prst="rect">
            <a:avLst/>
          </a:prstGeom>
          <a:solidFill>
            <a:srgbClr val="00C1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B4EE99-4856-8D03-E1FF-11F9193AB189}"/>
              </a:ext>
            </a:extLst>
          </p:cNvPr>
          <p:cNvSpPr/>
          <p:nvPr userDrawn="1"/>
        </p:nvSpPr>
        <p:spPr>
          <a:xfrm>
            <a:off x="13941198" y="8897307"/>
            <a:ext cx="5737665" cy="3363238"/>
          </a:xfrm>
          <a:prstGeom prst="rect">
            <a:avLst/>
          </a:prstGeom>
          <a:solidFill>
            <a:srgbClr val="00C1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14" name="Text Placeholder 27">
            <a:extLst>
              <a:ext uri="{FF2B5EF4-FFF2-40B4-BE49-F238E27FC236}">
                <a16:creationId xmlns:a16="http://schemas.microsoft.com/office/drawing/2014/main" id="{5A499A5C-5D64-548C-4089-5D8A76C7E03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515252" y="9422433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ctr">
              <a:buNone/>
              <a:defRPr sz="4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5" name="Text Placeholder 27">
            <a:extLst>
              <a:ext uri="{FF2B5EF4-FFF2-40B4-BE49-F238E27FC236}">
                <a16:creationId xmlns:a16="http://schemas.microsoft.com/office/drawing/2014/main" id="{E2B43658-7F0C-05F4-418E-09974D1DCF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675520" y="10420529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400">
                <a:solidFill>
                  <a:srgbClr val="F4F4FF"/>
                </a:solidFill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7" name="Text Placeholder 27">
            <a:extLst>
              <a:ext uri="{FF2B5EF4-FFF2-40B4-BE49-F238E27FC236}">
                <a16:creationId xmlns:a16="http://schemas.microsoft.com/office/drawing/2014/main" id="{B913708F-1AF6-BC28-C025-53652D71D68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9132485" y="5338099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ctr">
              <a:buNone/>
              <a:defRPr sz="4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8" name="Text Placeholder 27">
            <a:extLst>
              <a:ext uri="{FF2B5EF4-FFF2-40B4-BE49-F238E27FC236}">
                <a16:creationId xmlns:a16="http://schemas.microsoft.com/office/drawing/2014/main" id="{6FD0C776-7010-5FB7-9015-A6B9048FF75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8292753" y="6336195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400">
                <a:solidFill>
                  <a:srgbClr val="F4F4FF"/>
                </a:solidFill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DE8D8AB-8649-A454-D4F9-765EBC803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1539439-AAE2-063F-3400-75484B03B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7" y="13244327"/>
            <a:ext cx="223167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latin typeface="Figtree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634528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0B4EE99-4856-8D03-E1FF-11F9193AB189}"/>
              </a:ext>
            </a:extLst>
          </p:cNvPr>
          <p:cNvSpPr/>
          <p:nvPr userDrawn="1"/>
        </p:nvSpPr>
        <p:spPr>
          <a:xfrm>
            <a:off x="9500144" y="4925859"/>
            <a:ext cx="5737665" cy="3363238"/>
          </a:xfrm>
          <a:prstGeom prst="rect">
            <a:avLst/>
          </a:prstGeom>
          <a:solidFill>
            <a:srgbClr val="00C1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14" name="Text Placeholder 27">
            <a:extLst>
              <a:ext uri="{FF2B5EF4-FFF2-40B4-BE49-F238E27FC236}">
                <a16:creationId xmlns:a16="http://schemas.microsoft.com/office/drawing/2014/main" id="{5A499A5C-5D64-548C-4089-5D8A76C7E03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0868813" y="5445263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ctr">
              <a:buNone/>
              <a:defRPr sz="4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5" name="Text Placeholder 27">
            <a:extLst>
              <a:ext uri="{FF2B5EF4-FFF2-40B4-BE49-F238E27FC236}">
                <a16:creationId xmlns:a16="http://schemas.microsoft.com/office/drawing/2014/main" id="{E2B43658-7F0C-05F4-418E-09974D1DCF8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29081" y="6443359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400">
                <a:solidFill>
                  <a:srgbClr val="F4F4FF"/>
                </a:solidFill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DE8D8AB-8649-A454-D4F9-765EBC8036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FC84C5-0F2D-2022-38E5-A8E400F9C03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443211" y="2228414"/>
            <a:ext cx="7792465" cy="93472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EA860A00-C367-9A10-7E87-09ABA5BB1EB4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5399022" y="2228414"/>
            <a:ext cx="7792465" cy="93472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4835501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84F978-E81B-1E80-C1C7-C1B3D0439120}"/>
              </a:ext>
            </a:extLst>
          </p:cNvPr>
          <p:cNvCxnSpPr>
            <a:cxnSpLocks/>
          </p:cNvCxnSpPr>
          <p:nvPr userDrawn="1"/>
        </p:nvCxnSpPr>
        <p:spPr>
          <a:xfrm>
            <a:off x="0" y="8486380"/>
            <a:ext cx="22274176" cy="0"/>
          </a:xfrm>
          <a:prstGeom prst="line">
            <a:avLst/>
          </a:prstGeom>
          <a:ln w="44450">
            <a:solidFill>
              <a:srgbClr val="12BD64"/>
            </a:solidFill>
            <a:tailEnd type="oval" w="lg" len="lg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70FDD4-F23A-4823-6114-DD36A4CE8853}"/>
              </a:ext>
            </a:extLst>
          </p:cNvPr>
          <p:cNvCxnSpPr>
            <a:cxnSpLocks/>
          </p:cNvCxnSpPr>
          <p:nvPr userDrawn="1"/>
        </p:nvCxnSpPr>
        <p:spPr>
          <a:xfrm flipV="1">
            <a:off x="3658076" y="6112700"/>
            <a:ext cx="0" cy="237368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D635BB8-27B3-884D-8D63-E3AF97378CB8}"/>
              </a:ext>
            </a:extLst>
          </p:cNvPr>
          <p:cNvCxnSpPr>
            <a:cxnSpLocks/>
          </p:cNvCxnSpPr>
          <p:nvPr userDrawn="1"/>
        </p:nvCxnSpPr>
        <p:spPr>
          <a:xfrm>
            <a:off x="8619028" y="8486380"/>
            <a:ext cx="0" cy="2461364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D8D8CE5-F864-F379-99AF-0F8ED0F2191C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3410" y="6087648"/>
            <a:ext cx="0" cy="237368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xt Placeholder 27">
            <a:extLst>
              <a:ext uri="{FF2B5EF4-FFF2-40B4-BE49-F238E27FC236}">
                <a16:creationId xmlns:a16="http://schemas.microsoft.com/office/drawing/2014/main" id="{2FEEC9BC-C219-3351-6EB6-07343714A5E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12104" y="5557443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6" name="Text Placeholder 27">
            <a:extLst>
              <a:ext uri="{FF2B5EF4-FFF2-40B4-BE49-F238E27FC236}">
                <a16:creationId xmlns:a16="http://schemas.microsoft.com/office/drawing/2014/main" id="{73CEE7DB-9795-F9D1-54CD-A57E0F05FA5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412106" y="6555539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7" name="Text Placeholder 27">
            <a:extLst>
              <a:ext uri="{FF2B5EF4-FFF2-40B4-BE49-F238E27FC236}">
                <a16:creationId xmlns:a16="http://schemas.microsoft.com/office/drawing/2014/main" id="{0FECBB35-8189-253E-63E0-1AE9F30033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5887438" y="5582495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18" name="Text Placeholder 27">
            <a:extLst>
              <a:ext uri="{FF2B5EF4-FFF2-40B4-BE49-F238E27FC236}">
                <a16:creationId xmlns:a16="http://schemas.microsoft.com/office/drawing/2014/main" id="{046DD5F6-CB28-F405-F903-318122466B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887440" y="6580591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19" name="Text Placeholder 27">
            <a:extLst>
              <a:ext uri="{FF2B5EF4-FFF2-40B4-BE49-F238E27FC236}">
                <a16:creationId xmlns:a16="http://schemas.microsoft.com/office/drawing/2014/main" id="{380D002F-52D6-25B6-ED81-25DE0AA95FE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373056" y="9415459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1" i="0">
                <a:latin typeface="Figtree SemiBold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0" name="Text Placeholder 27">
            <a:extLst>
              <a:ext uri="{FF2B5EF4-FFF2-40B4-BE49-F238E27FC236}">
                <a16:creationId xmlns:a16="http://schemas.microsoft.com/office/drawing/2014/main" id="{D9A40AC5-88E2-54BA-F6E0-1D1879EAB96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73057" y="10413555"/>
            <a:ext cx="4456966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238772F8-A873-F3DA-7258-0EC49E38E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8" y="2075575"/>
            <a:ext cx="10516969" cy="243759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06F259E-6243-290A-0E33-AE690E15DF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7A48795B-6236-6C71-E652-EDE6C4C15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581FEF6A-EAB2-311A-269D-A62B9FD3B5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8650317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238772F8-A873-F3DA-7258-0EC49E38ED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01675" y="1741751"/>
            <a:ext cx="8721337" cy="365638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1" i="0">
                <a:latin typeface="Figtree SemiBold" pitchFamily="2" charset="0"/>
              </a:defRPr>
            </a:lvl1pPr>
          </a:lstStyle>
          <a:p>
            <a:r>
              <a:rPr lang="en-GB"/>
              <a:t>Click to edit Master title</a:t>
            </a:r>
            <a:br>
              <a:rPr lang="en-GB"/>
            </a:br>
            <a:r>
              <a:rPr lang="en-GB"/>
              <a:t>style</a:t>
            </a:r>
            <a:endParaRPr lang="en-PT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73CBB2D-9A1C-8EAE-C694-65FCC659A95A}"/>
              </a:ext>
            </a:extLst>
          </p:cNvPr>
          <p:cNvSpPr/>
          <p:nvPr userDrawn="1"/>
        </p:nvSpPr>
        <p:spPr>
          <a:xfrm>
            <a:off x="9119617" y="3575368"/>
            <a:ext cx="8364681" cy="8363592"/>
          </a:xfrm>
          <a:prstGeom prst="ellipse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3993C24-F3DF-6E17-DB51-430BA255F14D}"/>
              </a:ext>
            </a:extLst>
          </p:cNvPr>
          <p:cNvSpPr/>
          <p:nvPr userDrawn="1"/>
        </p:nvSpPr>
        <p:spPr>
          <a:xfrm>
            <a:off x="9775232" y="4921717"/>
            <a:ext cx="7053452" cy="7052534"/>
          </a:xfrm>
          <a:prstGeom prst="ellipse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5528EA9-5F0E-4C65-7738-5EB3B7A44FFF}"/>
              </a:ext>
            </a:extLst>
          </p:cNvPr>
          <p:cNvSpPr/>
          <p:nvPr userDrawn="1"/>
        </p:nvSpPr>
        <p:spPr>
          <a:xfrm>
            <a:off x="10817107" y="6987555"/>
            <a:ext cx="4969697" cy="4969050"/>
          </a:xfrm>
          <a:prstGeom prst="ellipse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65FCCED-F013-107D-36BC-C16D4DB9FF1F}"/>
              </a:ext>
            </a:extLst>
          </p:cNvPr>
          <p:cNvCxnSpPr>
            <a:cxnSpLocks/>
          </p:cNvCxnSpPr>
          <p:nvPr userDrawn="1"/>
        </p:nvCxnSpPr>
        <p:spPr>
          <a:xfrm flipH="1">
            <a:off x="5014008" y="7440690"/>
            <a:ext cx="5876187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Text Placeholder 27">
            <a:extLst>
              <a:ext uri="{FF2B5EF4-FFF2-40B4-BE49-F238E27FC236}">
                <a16:creationId xmlns:a16="http://schemas.microsoft.com/office/drawing/2014/main" id="{6F5BB640-17A9-AE5F-8006-1F947472C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686504" y="7872869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buNone/>
              <a:defRPr sz="4000" b="0" i="0">
                <a:latin typeface="Figtree Medium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4" name="Text Placeholder 27">
            <a:extLst>
              <a:ext uri="{FF2B5EF4-FFF2-40B4-BE49-F238E27FC236}">
                <a16:creationId xmlns:a16="http://schemas.microsoft.com/office/drawing/2014/main" id="{6FAE0E97-BA09-6AC9-8FC7-4546487081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06576" y="8870965"/>
            <a:ext cx="4957427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r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AE0BAF6-DF06-64E0-C5F5-B0A511240000}"/>
              </a:ext>
            </a:extLst>
          </p:cNvPr>
          <p:cNvCxnSpPr>
            <a:cxnSpLocks/>
          </p:cNvCxnSpPr>
          <p:nvPr userDrawn="1"/>
        </p:nvCxnSpPr>
        <p:spPr>
          <a:xfrm>
            <a:off x="14742761" y="9188446"/>
            <a:ext cx="6001471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02345275-8196-148D-27BE-B587073C71F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7728074" y="9646561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0" i="0">
                <a:latin typeface="Figtree Medium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29" name="Text Placeholder 27">
            <a:extLst>
              <a:ext uri="{FF2B5EF4-FFF2-40B4-BE49-F238E27FC236}">
                <a16:creationId xmlns:a16="http://schemas.microsoft.com/office/drawing/2014/main" id="{421A1E77-CC8D-747B-668F-8F10003F5F9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728075" y="10644657"/>
            <a:ext cx="4957427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80E2538-6DBF-7855-6F59-6C99A8B65655}"/>
              </a:ext>
            </a:extLst>
          </p:cNvPr>
          <p:cNvCxnSpPr>
            <a:cxnSpLocks/>
          </p:cNvCxnSpPr>
          <p:nvPr userDrawn="1"/>
        </p:nvCxnSpPr>
        <p:spPr>
          <a:xfrm>
            <a:off x="14742761" y="4203088"/>
            <a:ext cx="6001471" cy="0"/>
          </a:xfrm>
          <a:prstGeom prst="line">
            <a:avLst/>
          </a:prstGeom>
          <a:ln w="38100">
            <a:solidFill>
              <a:srgbClr val="12BD64"/>
            </a:solidFill>
            <a:tailEnd type="oval" w="med" len="med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3" name="Text Placeholder 27">
            <a:extLst>
              <a:ext uri="{FF2B5EF4-FFF2-40B4-BE49-F238E27FC236}">
                <a16:creationId xmlns:a16="http://schemas.microsoft.com/office/drawing/2014/main" id="{BFC3FDF3-DF16-C7F7-09FB-934E85954E4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7728074" y="4661203"/>
            <a:ext cx="2777498" cy="5539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000" b="0" i="0">
                <a:latin typeface="Figtree Medium" pitchFamily="2" charset="0"/>
              </a:defRPr>
            </a:lvl1pPr>
          </a:lstStyle>
          <a:p>
            <a:pPr lvl="0"/>
            <a:r>
              <a:rPr lang="en-GB"/>
              <a:t>Placeholder</a:t>
            </a:r>
            <a:endParaRPr lang="en-PT"/>
          </a:p>
        </p:txBody>
      </p:sp>
      <p:sp>
        <p:nvSpPr>
          <p:cNvPr id="34" name="Text Placeholder 27">
            <a:extLst>
              <a:ext uri="{FF2B5EF4-FFF2-40B4-BE49-F238E27FC236}">
                <a16:creationId xmlns:a16="http://schemas.microsoft.com/office/drawing/2014/main" id="{8FF4BA07-B326-B3BA-305A-D4A7751376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7728075" y="5659299"/>
            <a:ext cx="4957427" cy="13295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400">
                <a:latin typeface="Figtree" pitchFamily="2" charset="0"/>
              </a:defRPr>
            </a:lvl1pPr>
          </a:lstStyle>
          <a:p>
            <a:pPr lvl="0"/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consectetur</a:t>
            </a:r>
            <a:r>
              <a:rPr lang="en-GB"/>
              <a:t> </a:t>
            </a:r>
            <a:r>
              <a:rPr lang="en-GB" err="1"/>
              <a:t>adipiscing</a:t>
            </a:r>
            <a:r>
              <a:rPr lang="en-GB"/>
              <a:t> </a:t>
            </a:r>
            <a:r>
              <a:rPr lang="en-GB" err="1"/>
              <a:t>elit</a:t>
            </a:r>
            <a:r>
              <a:rPr lang="en-GB"/>
              <a:t>. Sed do </a:t>
            </a:r>
            <a:r>
              <a:rPr lang="en-GB" err="1"/>
              <a:t>eiusmod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incididunt</a:t>
            </a:r>
            <a:r>
              <a:rPr lang="en-GB"/>
              <a:t> </a:t>
            </a:r>
            <a:r>
              <a:rPr lang="en-GB" err="1"/>
              <a:t>ut</a:t>
            </a:r>
            <a:r>
              <a:rPr lang="en-GB"/>
              <a:t> labore et dolore magna </a:t>
            </a:r>
            <a:r>
              <a:rPr lang="en-GB" err="1"/>
              <a:t>aliqua</a:t>
            </a:r>
            <a:r>
              <a:rPr lang="en-GB"/>
              <a:t>.</a:t>
            </a:r>
            <a:endParaRPr lang="en-PT"/>
          </a:p>
        </p:txBody>
      </p:sp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C31B9164-17C2-EFA6-CCEC-54A1930E9E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A1288FA7-2040-AE9F-7C80-4AEEBBB126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620F257F-7E05-A791-DAF9-62E9429A48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5817872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397" y="2244726"/>
            <a:ext cx="18290381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397" y="7204076"/>
            <a:ext cx="18290381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8813737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4160822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917" y="3419477"/>
            <a:ext cx="21033938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917" y="9178927"/>
            <a:ext cx="21033938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763854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618" y="3651250"/>
            <a:ext cx="10364549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6008" y="3651250"/>
            <a:ext cx="10364549" cy="87026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5679656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795" y="730251"/>
            <a:ext cx="21033938" cy="265112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796" y="3362326"/>
            <a:ext cx="10316917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796" y="5010150"/>
            <a:ext cx="10316917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6007" y="3362326"/>
            <a:ext cx="1036772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6007" y="5010150"/>
            <a:ext cx="10367726" cy="73691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1446670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32725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3555826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796" y="914400"/>
            <a:ext cx="7865498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7726" y="1974851"/>
            <a:ext cx="12346007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796" y="4114800"/>
            <a:ext cx="7865498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89006588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796" y="914400"/>
            <a:ext cx="7865498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7726" y="1974851"/>
            <a:ext cx="12346007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796" y="4114800"/>
            <a:ext cx="7865498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6834247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9590242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52072" y="730250"/>
            <a:ext cx="5258485" cy="1162367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618" y="730250"/>
            <a:ext cx="15470614" cy="1162367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8375770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o not remove" hidden="1">
            <a:extLst>
              <a:ext uri="{FF2B5EF4-FFF2-40B4-BE49-F238E27FC236}">
                <a16:creationId xmlns:a16="http://schemas.microsoft.com/office/drawing/2014/main" id="{D776A7F9-BC5F-D222-540A-7CD421497B6F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31266" cy="25400"/>
          </a:xfrm>
          <a:prstGeom prst="octagon">
            <a:avLst/>
          </a:prstGeom>
          <a:noFill/>
          <a:ln w="25400" cap="flat">
            <a:noFill/>
            <a:prstDash val="solid"/>
            <a:round/>
          </a:ln>
          <a:effectLst/>
          <a:sp3d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25400" cap="flat">
                <a:solidFill>
                  <a:schemeClr val="accent1"/>
                </a:solidFill>
                <a:prstDash val="solid"/>
                <a:round/>
              </a14:hiddenLine>
            </a:ext>
          </a:ex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97532" tIns="97532" rIns="97532" bIns="97532" numCol="1" spcCol="38100" rtlCol="0" anchor="ctr">
            <a:spAutoFit/>
          </a:bodyPr>
          <a:lstStyle/>
          <a:p>
            <a:pPr marL="0" marR="0" indent="0" algn="l" defTabSz="260096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4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2597663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Gree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C96FAA8-6DF1-6BAB-C635-04A098D85892}"/>
              </a:ext>
            </a:extLst>
          </p:cNvPr>
          <p:cNvSpPr/>
          <p:nvPr userDrawn="1"/>
        </p:nvSpPr>
        <p:spPr>
          <a:xfrm>
            <a:off x="0" y="0"/>
            <a:ext cx="17954005" cy="13716000"/>
          </a:xfrm>
          <a:prstGeom prst="rect">
            <a:avLst/>
          </a:prstGeom>
          <a:solidFill>
            <a:srgbClr val="0A36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116243-3424-5E20-F93E-7E5E0C7A4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850" y="5196007"/>
            <a:ext cx="12080385" cy="3323986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12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03E3AD-9795-2274-E234-C26E11AA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851" y="9306143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>
                <a:solidFill>
                  <a:srgbClr val="F4F4FF"/>
                </a:solidFill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7000-F164-26AD-B7F8-A71CE4DA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905F2B8-EB63-6033-05B3-F5F1EF89D7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953788" y="0"/>
            <a:ext cx="64333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5217BD-266B-8054-CFA4-5D7C5A22BD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60850" y="3286779"/>
            <a:ext cx="3218319" cy="1060014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73865-2201-005D-EAC4-C2E273D0E8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7" y="13272299"/>
            <a:ext cx="223167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latin typeface="Figtree" pitchFamily="2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BB3EC58-2441-214A-25C9-FCD91B978F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0225" y="13257284"/>
            <a:ext cx="1415242" cy="214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9132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16243-3424-5E20-F93E-7E5E0C7A4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850" y="5196007"/>
            <a:ext cx="12080385" cy="3323986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12000" b="1" i="0">
                <a:solidFill>
                  <a:schemeClr val="tx1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03E3AD-9795-2274-E234-C26E11AA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851" y="9306143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>
                <a:solidFill>
                  <a:schemeClr val="tx1"/>
                </a:solidFill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7000-F164-26AD-B7F8-A71CE4DA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905F2B8-EB63-6033-05B3-F5F1EF89D7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953788" y="0"/>
            <a:ext cx="64333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F03A65-11C9-119B-8886-D65E621B66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88049304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C96FAA8-6DF1-6BAB-C635-04A098D85892}"/>
              </a:ext>
            </a:extLst>
          </p:cNvPr>
          <p:cNvSpPr/>
          <p:nvPr userDrawn="1"/>
        </p:nvSpPr>
        <p:spPr>
          <a:xfrm>
            <a:off x="0" y="0"/>
            <a:ext cx="17954005" cy="13716000"/>
          </a:xfrm>
          <a:prstGeom prst="rect">
            <a:avLst/>
          </a:prstGeom>
          <a:solidFill>
            <a:srgbClr val="00C1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 sz="72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116243-3424-5E20-F93E-7E5E0C7A4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0850" y="5196007"/>
            <a:ext cx="12080385" cy="3323986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defRPr sz="12000" b="1" i="0">
                <a:solidFill>
                  <a:srgbClr val="F4F4FF"/>
                </a:solidFill>
                <a:latin typeface="Figtree SemiBold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03E3AD-9795-2274-E234-C26E11AAB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60851" y="9306143"/>
            <a:ext cx="10911159" cy="664798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l">
              <a:buNone/>
              <a:defRPr sz="4800" b="0" i="0">
                <a:solidFill>
                  <a:srgbClr val="F4F4FF"/>
                </a:solidFill>
                <a:latin typeface="Figtree" pitchFamily="2" charset="0"/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GB"/>
              <a:t>Click to edit Master subtitle style</a:t>
            </a:r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C7000-F164-26AD-B7F8-A71CE4DA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/>
          <a:lstStyle/>
          <a:p>
            <a:fld id="{4AA77E54-165B-A847-AA47-6003AD81C543}" type="slidenum">
              <a:rPr lang="en-PT" smtClean="0"/>
              <a:t>‹#›</a:t>
            </a:fld>
            <a:endParaRPr lang="en-PT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905F2B8-EB63-6033-05B3-F5F1EF89D73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953788" y="49448"/>
            <a:ext cx="6433388" cy="13716000"/>
          </a:xfrm>
          <a:prstGeom prst="rect">
            <a:avLst/>
          </a:prstGeom>
        </p:spPr>
        <p:txBody>
          <a:bodyPr/>
          <a:lstStyle/>
          <a:p>
            <a:endParaRPr lang="en-PT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09580-271D-08ED-C5BB-4F715828DD8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60850" y="3259653"/>
            <a:ext cx="3218319" cy="1060014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18BF2F1-419D-1BA8-6441-7BA6A1953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0225" y="13257284"/>
            <a:ext cx="1415242" cy="214692"/>
          </a:xfrm>
          <a:prstGeom prst="rect">
            <a:avLst/>
          </a:prstGeom>
        </p:spPr>
      </p:pic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AF5811D-FD1B-2ABE-B111-EC99041F3B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3617407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F0727AA-3B46-B75F-23D4-018B3CA66F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748078775"/>
      </p:ext>
    </p:extLst>
  </p:cSld>
  <p:clrMapOvr>
    <a:masterClrMapping/>
  </p:clrMapOvr>
  <p:hf sldNum="0" hdr="0" ft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6618" y="13206186"/>
            <a:ext cx="1396546" cy="21466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53788" y="1"/>
            <a:ext cx="6433388" cy="137159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57788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5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theme" Target="../theme/theme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6.svg"/><Relationship Id="rId4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svg"/><Relationship Id="rId4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5" Type="http://schemas.openxmlformats.org/officeDocument/2006/relationships/theme" Target="../theme/theme7.xml"/><Relationship Id="rId4" Type="http://schemas.openxmlformats.org/officeDocument/2006/relationships/slideLayout" Target="../slideLayouts/slideLayout1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4.png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image" Target="../media/image14.png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7.xml"/><Relationship Id="rId7" Type="http://schemas.openxmlformats.org/officeDocument/2006/relationships/image" Target="../media/image14.png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theme" Target="../theme/theme11.xml"/><Relationship Id="rId5" Type="http://schemas.openxmlformats.org/officeDocument/2006/relationships/slideLayout" Target="../slideLayouts/slideLayout39.xml"/><Relationship Id="rId4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A36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0" descr=" ">
            <a:extLst>
              <a:ext uri="{FF2B5EF4-FFF2-40B4-BE49-F238E27FC236}">
                <a16:creationId xmlns:a16="http://schemas.microsoft.com/office/drawing/2014/main" id="{0DB94373-FFBE-214B-C27D-E0B703BAF1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0510" y="182660"/>
            <a:ext cx="24444190" cy="13746348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E992A4DB-7DF1-D210-0D42-0D5026D67432}"/>
              </a:ext>
            </a:extLst>
          </p:cNvPr>
          <p:cNvGrpSpPr/>
          <p:nvPr userDrawn="1"/>
        </p:nvGrpSpPr>
        <p:grpSpPr>
          <a:xfrm>
            <a:off x="8930462" y="4893105"/>
            <a:ext cx="6526250" cy="2162730"/>
            <a:chOff x="8648640" y="5677688"/>
            <a:chExt cx="7088627" cy="2349401"/>
          </a:xfrm>
        </p:grpSpPr>
        <p:sp>
          <p:nvSpPr>
            <p:cNvPr id="24" name="Shape 0">
              <a:extLst>
                <a:ext uri="{FF2B5EF4-FFF2-40B4-BE49-F238E27FC236}">
                  <a16:creationId xmlns:a16="http://schemas.microsoft.com/office/drawing/2014/main" id="{743CBBF1-5C45-E49C-D4DE-F17B1DE705A3}"/>
                </a:ext>
              </a:extLst>
            </p:cNvPr>
            <p:cNvSpPr/>
            <p:nvPr userDrawn="1"/>
          </p:nvSpPr>
          <p:spPr>
            <a:xfrm>
              <a:off x="8648640" y="5677688"/>
              <a:ext cx="7088627" cy="2349400"/>
            </a:xfrm>
            <a:prstGeom prst="rect">
              <a:avLst/>
            </a:prstGeom>
            <a:noFill/>
            <a:ln/>
          </p:spPr>
          <p:txBody>
            <a:bodyPr/>
            <a:lstStyle/>
            <a:p>
              <a:endParaRPr lang="en-PT" sz="7200"/>
            </a:p>
          </p:txBody>
        </p:sp>
        <p:pic>
          <p:nvPicPr>
            <p:cNvPr id="25" name="Image 1" descr=" ">
              <a:extLst>
                <a:ext uri="{FF2B5EF4-FFF2-40B4-BE49-F238E27FC236}">
                  <a16:creationId xmlns:a16="http://schemas.microsoft.com/office/drawing/2014/main" id="{D74383B9-F9B1-20AD-EB61-7591370E600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8648640" y="5677688"/>
              <a:ext cx="7088627" cy="2349401"/>
            </a:xfrm>
            <a:prstGeom prst="rect">
              <a:avLst/>
            </a:prstGeom>
          </p:spPr>
        </p:pic>
        <p:pic>
          <p:nvPicPr>
            <p:cNvPr id="26" name="Image 2" descr=" ">
              <a:extLst>
                <a:ext uri="{FF2B5EF4-FFF2-40B4-BE49-F238E27FC236}">
                  <a16:creationId xmlns:a16="http://schemas.microsoft.com/office/drawing/2014/main" id="{08A72748-B1FB-0F0C-74B2-CF167445284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10202" y="6038416"/>
              <a:ext cx="722477" cy="1519219"/>
            </a:xfrm>
            <a:prstGeom prst="rect">
              <a:avLst/>
            </a:prstGeom>
          </p:spPr>
        </p:pic>
        <p:pic>
          <p:nvPicPr>
            <p:cNvPr id="27" name="Image 3" descr=" ">
              <a:extLst>
                <a:ext uri="{FF2B5EF4-FFF2-40B4-BE49-F238E27FC236}">
                  <a16:creationId xmlns:a16="http://schemas.microsoft.com/office/drawing/2014/main" id="{F51A7D39-552E-7102-376F-5C22199DD27D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899231" y="7123671"/>
              <a:ext cx="848439" cy="630628"/>
            </a:xfrm>
            <a:prstGeom prst="rect">
              <a:avLst/>
            </a:prstGeom>
          </p:spPr>
        </p:pic>
        <p:pic>
          <p:nvPicPr>
            <p:cNvPr id="28" name="Image 4" descr=" ">
              <a:extLst>
                <a:ext uri="{FF2B5EF4-FFF2-40B4-BE49-F238E27FC236}">
                  <a16:creationId xmlns:a16="http://schemas.microsoft.com/office/drawing/2014/main" id="{F541179C-B252-0797-4A44-39B0C8E785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929176" y="7124595"/>
              <a:ext cx="555508" cy="850540"/>
            </a:xfrm>
            <a:prstGeom prst="rect">
              <a:avLst/>
            </a:prstGeom>
          </p:spPr>
        </p:pic>
        <p:pic>
          <p:nvPicPr>
            <p:cNvPr id="29" name="Image 5" descr=" ">
              <a:extLst>
                <a:ext uri="{FF2B5EF4-FFF2-40B4-BE49-F238E27FC236}">
                  <a16:creationId xmlns:a16="http://schemas.microsoft.com/office/drawing/2014/main" id="{196C91D4-4D70-B9BB-C111-5CA66D66148F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477881" y="5831427"/>
              <a:ext cx="564712" cy="858385"/>
            </a:xfrm>
            <a:prstGeom prst="rect">
              <a:avLst/>
            </a:prstGeom>
          </p:spPr>
        </p:pic>
        <p:pic>
          <p:nvPicPr>
            <p:cNvPr id="30" name="Image 6" descr=" ">
              <a:extLst>
                <a:ext uri="{FF2B5EF4-FFF2-40B4-BE49-F238E27FC236}">
                  <a16:creationId xmlns:a16="http://schemas.microsoft.com/office/drawing/2014/main" id="{153E6BC3-797D-A2F0-3910-EE12F60E072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1477881" y="6915479"/>
              <a:ext cx="655198" cy="857362"/>
            </a:xfrm>
            <a:prstGeom prst="rect">
              <a:avLst/>
            </a:prstGeom>
          </p:spPr>
        </p:pic>
        <p:pic>
          <p:nvPicPr>
            <p:cNvPr id="31" name="Image 7" descr=" ">
              <a:extLst>
                <a:ext uri="{FF2B5EF4-FFF2-40B4-BE49-F238E27FC236}">
                  <a16:creationId xmlns:a16="http://schemas.microsoft.com/office/drawing/2014/main" id="{D8A45F69-5F51-F894-3AFA-703C09242628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25465" y="6037783"/>
              <a:ext cx="498835" cy="646081"/>
            </a:xfrm>
            <a:prstGeom prst="rect">
              <a:avLst/>
            </a:prstGeom>
          </p:spPr>
        </p:pic>
        <p:pic>
          <p:nvPicPr>
            <p:cNvPr id="32" name="Image 8" descr=" ">
              <a:extLst>
                <a:ext uri="{FF2B5EF4-FFF2-40B4-BE49-F238E27FC236}">
                  <a16:creationId xmlns:a16="http://schemas.microsoft.com/office/drawing/2014/main" id="{EDACB8FB-5A7A-FEEC-472D-08464875BFE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218791" y="7120923"/>
              <a:ext cx="498959" cy="646584"/>
            </a:xfrm>
            <a:prstGeom prst="rect">
              <a:avLst/>
            </a:prstGeom>
          </p:spPr>
        </p:pic>
        <p:pic>
          <p:nvPicPr>
            <p:cNvPr id="33" name="Image 9" descr=" ">
              <a:extLst>
                <a:ext uri="{FF2B5EF4-FFF2-40B4-BE49-F238E27FC236}">
                  <a16:creationId xmlns:a16="http://schemas.microsoft.com/office/drawing/2014/main" id="{7D683264-60D0-F1FE-97F8-D111A5F5C3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4630381" y="7136203"/>
              <a:ext cx="513112" cy="632160"/>
            </a:xfrm>
            <a:prstGeom prst="rect">
              <a:avLst/>
            </a:prstGeom>
          </p:spPr>
        </p:pic>
        <p:pic>
          <p:nvPicPr>
            <p:cNvPr id="34" name="Image 10" descr=" ">
              <a:extLst>
                <a:ext uri="{FF2B5EF4-FFF2-40B4-BE49-F238E27FC236}">
                  <a16:creationId xmlns:a16="http://schemas.microsoft.com/office/drawing/2014/main" id="{A84EC64D-17CA-4036-143B-79515017D7B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3777948" y="5866259"/>
              <a:ext cx="382462" cy="819404"/>
            </a:xfrm>
            <a:prstGeom prst="rect">
              <a:avLst/>
            </a:prstGeom>
          </p:spPr>
        </p:pic>
        <p:pic>
          <p:nvPicPr>
            <p:cNvPr id="35" name="Image 11" descr=" ">
              <a:extLst>
                <a:ext uri="{FF2B5EF4-FFF2-40B4-BE49-F238E27FC236}">
                  <a16:creationId xmlns:a16="http://schemas.microsoft.com/office/drawing/2014/main" id="{61D6F536-A4C0-E265-6207-E08D15C7FF5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2165020" y="5865943"/>
              <a:ext cx="382759" cy="819572"/>
            </a:xfrm>
            <a:prstGeom prst="rect">
              <a:avLst/>
            </a:prstGeom>
          </p:spPr>
        </p:pic>
        <p:pic>
          <p:nvPicPr>
            <p:cNvPr id="36" name="Image 12" descr=" ">
              <a:extLst>
                <a:ext uri="{FF2B5EF4-FFF2-40B4-BE49-F238E27FC236}">
                  <a16:creationId xmlns:a16="http://schemas.microsoft.com/office/drawing/2014/main" id="{1227A3F5-AB38-6A52-92C0-CC67896AB4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3304045" y="6040692"/>
              <a:ext cx="373692" cy="6306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8509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91990A4-9DDF-CACD-FBBF-528BA846C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B6803CC9-808A-9451-7528-331B14CB782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057550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6" r:id="rId2"/>
    <p:sldLayoutId id="2147483665" r:id="rId3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3800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2A0F46-E181-A043-2A71-39D8528699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9A9F6-B56F-AD6D-FF08-FA883950C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3B6C8A62-45E4-6637-9B57-99287427647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1394042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61" r:id="rId2"/>
    <p:sldLayoutId id="2147483649" r:id="rId3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9A9F6-B56F-AD6D-FF08-FA883950C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5D134FFA-B501-A662-2EDF-ECBCF59ED5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7" y="13270639"/>
            <a:ext cx="223167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latin typeface="Figtree" pitchFamily="2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EFA61DE-289B-106A-E114-EA35030ED4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98795" y="13119257"/>
            <a:ext cx="2001663" cy="30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3117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9A9F6-B56F-AD6D-FF08-FA883950C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5D134FFA-B501-A662-2EDF-ECBCF59ED5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7" y="13270639"/>
            <a:ext cx="223167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latin typeface="Figtree" pitchFamily="2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DF36E7C-989D-E2CB-127E-284F9DF01FC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98795" y="13119257"/>
            <a:ext cx="2001663" cy="303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4619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43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1" r:id="rId2"/>
    <p:sldLayoutId id="2147483655" r:id="rId3"/>
    <p:sldLayoutId id="2147483656" r:id="rId4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B5F1C32-013E-57CA-8EE9-6B25A04E58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15599" y="13190413"/>
            <a:ext cx="2994800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>
                <a:solidFill>
                  <a:srgbClr val="7F7F7F"/>
                </a:solidFill>
                <a:latin typeface="Figtree" pitchFamily="2"/>
                <a:ea typeface="Figtree Regular" pitchFamily="34"/>
                <a:cs typeface="Figtree Regular" pitchFamily="34"/>
              </a:rPr>
              <a:t>| Strictly private and confidential</a:t>
            </a:r>
            <a:endParaRPr lang="en-US">
              <a:solidFill>
                <a:srgbClr val="7F7F7F"/>
              </a:solidFill>
              <a:latin typeface="Figtree" pitchFamily="2"/>
            </a:endParaRP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E87EFAF-A92B-8BED-D4CD-44438D69B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500563" y="13190413"/>
            <a:ext cx="209994" cy="246221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3" name="Picture 24">
            <a:extLst>
              <a:ext uri="{FF2B5EF4-FFF2-40B4-BE49-F238E27FC236}">
                <a16:creationId xmlns:a16="http://schemas.microsoft.com/office/drawing/2014/main" id="{1EEDB9F6-13B1-6E6D-AA14-695A20E606A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191926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7686A7-7A23-1BC5-C497-D5D0211B0F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619" y="730251"/>
            <a:ext cx="210339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C313DC-AA00-FAFE-BFFF-4544220A06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76619" y="3651250"/>
            <a:ext cx="210339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D7410-7A43-E71F-E8EE-8BDA7A792E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676618" y="12712701"/>
            <a:ext cx="548711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98641A-F24B-AF4E-B735-D7FE0A5C91F1}" type="datetimeFigureOut">
              <a:rPr lang="en-PT" smtClean="0"/>
              <a:t>07/07/2026</a:t>
            </a:fld>
            <a:endParaRPr lang="en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5A16A-8170-371C-7ABE-ECEB71DCE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8252" y="12712701"/>
            <a:ext cx="8230672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4B5D3-08C1-D5AE-B67D-EF1B30A0A9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23443" y="12712701"/>
            <a:ext cx="548711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71FAC3-EC9F-3549-8A2F-7F3E25CDA86E}" type="slidenum">
              <a:rPr lang="en-PT" smtClean="0"/>
              <a:t>‹#›</a:t>
            </a:fld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6122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619" y="730251"/>
            <a:ext cx="21033938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619" y="3651250"/>
            <a:ext cx="21033938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618" y="12712701"/>
            <a:ext cx="548711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8252" y="12712701"/>
            <a:ext cx="8230672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3443" y="12712701"/>
            <a:ext cx="5487114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pic>
        <p:nvPicPr>
          <p:cNvPr id="8" name="Picture 24">
            <a:extLst>
              <a:ext uri="{FF2B5EF4-FFF2-40B4-BE49-F238E27FC236}">
                <a16:creationId xmlns:a16="http://schemas.microsoft.com/office/drawing/2014/main" id="{A4442BE5-F9DE-B35A-C08B-72DEEF2BC864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676620" y="13119257"/>
            <a:ext cx="1961930" cy="301611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5036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53" r:id="rId12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D91990A4-9DDF-CACD-FBBF-528BA846C9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463661" y="13190413"/>
            <a:ext cx="246896" cy="246222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77E54-165B-A847-AA47-6003AD81C543}" type="slidenum">
              <a:rPr lang="en-PT" smtClean="0"/>
              <a:pPr/>
              <a:t>‹#›</a:t>
            </a:fld>
            <a:endParaRPr lang="en-PT"/>
          </a:p>
        </p:txBody>
      </p:sp>
      <p:pic>
        <p:nvPicPr>
          <p:cNvPr id="19" name="Picture 24">
            <a:extLst>
              <a:ext uri="{FF2B5EF4-FFF2-40B4-BE49-F238E27FC236}">
                <a16:creationId xmlns:a16="http://schemas.microsoft.com/office/drawing/2014/main" id="{290126AE-B33A-05A2-20EF-AF2351D3395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676620" y="13206176"/>
            <a:ext cx="1396538" cy="214692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487212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3" r:id="rId5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1.png"/><Relationship Id="rId5" Type="http://schemas.openxmlformats.org/officeDocument/2006/relationships/image" Target="../media/image24.png"/><Relationship Id="rId10" Type="http://schemas.openxmlformats.org/officeDocument/2006/relationships/image" Target="../media/image30.png"/><Relationship Id="rId4" Type="http://schemas.openxmlformats.org/officeDocument/2006/relationships/image" Target="../media/image22.png"/><Relationship Id="rId9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2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2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6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39.svg"/><Relationship Id="rId5" Type="http://schemas.openxmlformats.org/officeDocument/2006/relationships/image" Target="../media/image38.jpeg"/><Relationship Id="rId4" Type="http://schemas.openxmlformats.org/officeDocument/2006/relationships/image" Target="../media/image17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6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2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2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6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39.svg"/><Relationship Id="rId5" Type="http://schemas.openxmlformats.org/officeDocument/2006/relationships/image" Target="../media/image38.jpeg"/><Relationship Id="rId4" Type="http://schemas.openxmlformats.org/officeDocument/2006/relationships/image" Target="../media/image17.sv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hyperlink" Target="http://www.startcampus.pt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6.xml"/><Relationship Id="rId6" Type="http://schemas.openxmlformats.org/officeDocument/2006/relationships/image" Target="../media/image25.svg"/><Relationship Id="rId11" Type="http://schemas.openxmlformats.org/officeDocument/2006/relationships/image" Target="../media/image36.jpeg"/><Relationship Id="rId5" Type="http://schemas.openxmlformats.org/officeDocument/2006/relationships/image" Target="../media/image22.png"/><Relationship Id="rId10" Type="http://schemas.openxmlformats.org/officeDocument/2006/relationships/image" Target="../media/image29.png"/><Relationship Id="rId4" Type="http://schemas.openxmlformats.org/officeDocument/2006/relationships/image" Target="../media/image21.png"/><Relationship Id="rId9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E13E6-4D0F-C328-2A09-7687C3B2C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D6F600-3753-8AFC-B123-93B2FEA93E29}"/>
              </a:ext>
            </a:extLst>
          </p:cNvPr>
          <p:cNvSpPr txBox="1"/>
          <p:nvPr/>
        </p:nvSpPr>
        <p:spPr>
          <a:xfrm>
            <a:off x="7217705" y="5926976"/>
            <a:ext cx="995176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SINES DC PDF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3961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2AAF82-457D-0942-EFF1-92EA5012C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F1E089-FE02-2BE4-9869-69EDD75A385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ED3B1C02-1D97-AFC5-1CD6-73EB7C05C03D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SINES DC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3B509897-EAA3-56AD-FDAF-205D1B92016E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D71F6043-CFED-E731-9B8B-8BE410825FAA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DDB9985C-E95B-40E7-31BE-909849684815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3BBAF1FA-E052-5EFD-1DA9-07B5B1B0E372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70099AC4-ABAE-0E9F-3CCE-6628AE1E4659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293BB1-BC40-C8AE-654C-E8CAF729044D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24F230-91F4-60B2-CFD8-6C50F4767C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B5F7DDE-ECA0-B46D-CD46-7B3A18235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DE70E3-A7B7-94A6-F66F-87AD8D535C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050" y="-4233"/>
            <a:ext cx="15496538" cy="80103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01BECD9-2BCA-058E-020D-98FF7277262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8241" y="-4233"/>
            <a:ext cx="15498933" cy="871815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96C6C911-14CF-D47F-1F7E-70F9410161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69283-FD83-8667-818D-944AF369A53A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18F5CD10-95B9-6119-1C75-0EF3CC424C6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53A01E0-9550-2488-687D-615884DC42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B93591F2-24B5-B5B2-94E6-E95FEDD1B8A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58118351-8737-EF85-6CC2-F09BA455BB78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DDDB888A-348E-9A7A-4616-10D5E5400DDF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0DA03413-5539-5706-EE91-1F7FAEB565E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979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165E-9E55-0444-C686-8980D41C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4C026EA-3A4C-BF09-84BB-512718F53C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1DF0C978-AFA4-CA4C-8032-2AE25C425E18}"/>
              </a:ext>
            </a:extLst>
          </p:cNvPr>
          <p:cNvSpPr txBox="1">
            <a:spLocks/>
          </p:cNvSpPr>
          <p:nvPr/>
        </p:nvSpPr>
        <p:spPr>
          <a:xfrm>
            <a:off x="517441" y="3047301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SINES DC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1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1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1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1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26E09A4F-6B29-C0E4-F6CD-C00E7682D566}"/>
              </a:ext>
            </a:extLst>
          </p:cNvPr>
          <p:cNvSpPr txBox="1">
            <a:spLocks/>
          </p:cNvSpPr>
          <p:nvPr/>
        </p:nvSpPr>
        <p:spPr>
          <a:xfrm>
            <a:off x="789839" y="6499651"/>
            <a:ext cx="7262464" cy="828056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0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000" dirty="0">
                <a:solidFill>
                  <a:schemeClr val="bg1"/>
                </a:solidFill>
              </a:rPr>
              <a:t> - </a:t>
            </a:r>
            <a:r>
              <a:rPr lang="en-US" sz="20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0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0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-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Figtree Light" pitchFamily="2" charset="0"/>
              </a:rPr>
              <a:t>design - </a:t>
            </a:r>
            <a:r>
              <a:rPr lang="en-US" sz="20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000" dirty="0">
                <a:solidFill>
                  <a:schemeClr val="bg1"/>
                </a:solidFill>
              </a:rPr>
              <a:t> - </a:t>
            </a:r>
            <a:r>
              <a:rPr lang="en-US" sz="20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000" dirty="0">
                <a:solidFill>
                  <a:schemeClr val="bg1"/>
                </a:solidFill>
              </a:rPr>
              <a:t>-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0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0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C4310710-D63D-9563-A7F8-BAFA74198E4E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77D17717-D2BE-A47E-D28E-4402DB189CB4}"/>
              </a:ext>
            </a:extLst>
          </p:cNvPr>
          <p:cNvSpPr txBox="1">
            <a:spLocks/>
          </p:cNvSpPr>
          <p:nvPr/>
        </p:nvSpPr>
        <p:spPr>
          <a:xfrm>
            <a:off x="2155271" y="11463122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28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28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61D97885-A87C-87EB-92FB-448A57BFD7D5}"/>
              </a:ext>
            </a:extLst>
          </p:cNvPr>
          <p:cNvSpPr txBox="1">
            <a:spLocks/>
          </p:cNvSpPr>
          <p:nvPr/>
        </p:nvSpPr>
        <p:spPr>
          <a:xfrm>
            <a:off x="2155272" y="10499183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28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503C6403-5056-DF14-F092-E3A42DB2C09D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619D3F-BF43-1FA5-C707-A4F4BD725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84067" y="1169490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37EA0BF-4AB4-FA29-DE8C-11D9919D24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03730" y="11516660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170E07-7014-B949-2717-C80F9018B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6797" y="-4233"/>
            <a:ext cx="14980377" cy="8426462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B5BED0D9-5881-6C81-9513-FE8C7F719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D666E95-FC6C-AD6E-D9C6-ED6F4A45C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0353" y="11442147"/>
            <a:ext cx="1171547" cy="149958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DE18F3C-3100-8868-D7DF-17CDCC0F61B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454" t="10584" r="19003" b="9847"/>
          <a:stretch>
            <a:fillRect/>
          </a:stretch>
        </p:blipFill>
        <p:spPr>
          <a:xfrm>
            <a:off x="9462382" y="11403863"/>
            <a:ext cx="1282700" cy="163195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3209EE8-D38A-F897-CC1D-500FC68ACD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5053" y="8646753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3EF8CF0B-D47E-3719-0A4F-16E16E4E2AAB}"/>
              </a:ext>
            </a:extLst>
          </p:cNvPr>
          <p:cNvSpPr txBox="1">
            <a:spLocks/>
          </p:cNvSpPr>
          <p:nvPr/>
        </p:nvSpPr>
        <p:spPr>
          <a:xfrm>
            <a:off x="2155271" y="8571307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28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28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28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20C1277F-4D4F-7DC8-3B35-495021C3CB0D}"/>
              </a:ext>
            </a:extLst>
          </p:cNvPr>
          <p:cNvSpPr txBox="1">
            <a:spLocks/>
          </p:cNvSpPr>
          <p:nvPr/>
        </p:nvSpPr>
        <p:spPr>
          <a:xfrm>
            <a:off x="2155272" y="9535245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28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28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28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28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28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28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968133-4942-7063-8054-C95DD46E921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66688"/>
          <a:stretch>
            <a:fillRect/>
          </a:stretch>
        </p:blipFill>
        <p:spPr>
          <a:xfrm>
            <a:off x="8850407" y="8447064"/>
            <a:ext cx="15536767" cy="238203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14396A-4F20-5798-B5CF-5AB64BB7339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735309" y="11416317"/>
            <a:ext cx="2771677" cy="155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37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A5048-1F40-0D4F-056C-1C6422A55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462211-C154-4536-7D01-8B733D5A650F}"/>
              </a:ext>
            </a:extLst>
          </p:cNvPr>
          <p:cNvSpPr txBox="1"/>
          <p:nvPr/>
        </p:nvSpPr>
        <p:spPr>
          <a:xfrm>
            <a:off x="7217705" y="5926976"/>
            <a:ext cx="9951763" cy="363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SINES DC PDF</a:t>
            </a:r>
            <a:br>
              <a:rPr lang="en-US" sz="11500" b="1" dirty="0">
                <a:latin typeface="Figtree" pitchFamily="2" charset="0"/>
              </a:rPr>
            </a:br>
            <a:r>
              <a:rPr lang="en-US" sz="11500" b="1" dirty="0">
                <a:latin typeface="Figtree" pitchFamily="2" charset="0"/>
              </a:rPr>
              <a:t>PT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8494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ACC056-89E5-15D1-18DF-06D2036E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CE0A041-98B8-09CF-F3CC-DA681DACF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141E48A-3DDD-8607-CAE5-B5BA57C72E0C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SINES DC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A Primeira Giga Fábrica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de IA na Europa
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2800" dirty="0">
                <a:solidFill>
                  <a:schemeClr val="bg1"/>
                </a:solidFill>
                <a:latin typeface="Figtree SemiBold" pitchFamily="2" charset="0"/>
              </a:rPr>
              <a:t>Sines, Portugal 
</a:t>
            </a:r>
            <a:r>
              <a:rPr lang="pt-PT" sz="2800" dirty="0">
                <a:solidFill>
                  <a:schemeClr val="bg1"/>
                </a:solidFill>
                <a:latin typeface="Figtree Light" pitchFamily="2" charset="0"/>
              </a:rPr>
              <a:t>Coordenadas do local: 37.934961, -8.812558
c. 90 km a sul de Lisboa</a:t>
            </a:r>
            <a:endParaRPr lang="en-US" sz="2800" dirty="0">
              <a:solidFill>
                <a:schemeClr val="bg1"/>
              </a:solidFill>
              <a:latin typeface="Figtree Light" pitchFamily="2" charset="0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3CA8727-0833-D416-5858-75C3AD318B12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677D91C2-1D0E-2C3A-CF9F-A43CA1220077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A0C84FD1-1C11-3FB7-96BB-83B0135FBE87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Energia 100%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renovável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e de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baixo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custo</a:t>
            </a:r>
            <a:endParaRPr lang="en-US" sz="3600" b="1" dirty="0">
              <a:solidFill>
                <a:srgbClr val="00C159"/>
              </a:solidFill>
              <a:latin typeface="Figtree SemiBold" pitchFamily="2" charset="0"/>
            </a:endParaRP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C9E91AC7-79E4-938B-E8C7-F951B2C8C4EC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889354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Baixa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Latência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para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grandes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cidades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B81E26D9-51F2-72CC-32F7-D70E6DF8E5C3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392DF1-7081-2118-26D8-EA7AD19B07EC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1DB104-8C24-AF5E-B18E-C09ECA3944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27ACBD4-3DF5-8540-7FBF-B32E8A97E3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5A07A7-29A0-EA09-E523-F0CE44BEFC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050" y="-4233"/>
            <a:ext cx="15496538" cy="80103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C5397D7-C0E6-0493-E84A-2099C5700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8241" y="-4233"/>
            <a:ext cx="15498933" cy="871815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D8B5DAE1-AC40-979E-A144-812E10F23C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AB5F2034-21C6-6B5B-E936-385CA8F93827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BB6239B-89C3-8A1C-6CCF-9CE163BF9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8504A76-459D-AA5A-3FA3-F6C489B1E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928E266B-0DD1-355A-5C0D-D105BC9D4EE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EE252B53-997F-2ED4-0BD2-AAD1DE2B2C5D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de capacidade IT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170E85CA-64DC-0C37-9CD6-56653BC458B8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capacidade assegurada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5D3C734-6FFD-E6CF-6E44-76AF442C1C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133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997338-2111-3469-90ED-5BB7277650C0}"/>
              </a:ext>
            </a:extLst>
          </p:cNvPr>
          <p:cNvSpPr txBox="1"/>
          <p:nvPr/>
        </p:nvSpPr>
        <p:spPr>
          <a:xfrm>
            <a:off x="8420759" y="5926976"/>
            <a:ext cx="7313220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SIN01 PDF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0313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7FDE78-0D29-9B89-6EAB-2F5170581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55D48B0-7E7F-B780-5BC8-1C789AD1A8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825A2FB3-76D9-EC3D-5209-29671A32071F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 01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494F063-00AE-093C-ABE1-2B5E61CD427A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4B268D99-0514-264C-2870-902120D15AC1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DCFD8A60-6120-CACC-CFBC-366B7BF4A718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BCCFC071-0C66-DB0D-9F24-14ED2726FCB9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3DE6372E-CAF9-7AD6-91C2-B43204B7297C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933D08-6DE6-BAA8-ACCB-C0DF6ABF2FB9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4C1783-0ED2-7B53-514B-4757B3B58C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4E482C7-5C1E-99D9-ADA3-106484349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FE8EA373-1592-88FC-1234-1B71FBE5F2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E6067F4F-A38D-FABD-C3E8-265DC9E2E14E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CE309EC-5ACF-A62D-8134-472BB19F4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FC2D842-FCA3-CFDC-B7D4-E32592D0F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2A34FE7D-CA58-BE4F-F91C-6C26A7C3B4A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1148693E-0C7B-E060-5600-AB372A82D532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7BF8F1BC-E5CA-3227-FE69-B7D029A45D5A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2FE7B378-F0F0-430D-67C6-54E3FCE0556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7AD218C-2663-9F68-B5BD-75DEE2D41FDC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8"/>
          <a:stretch>
            <a:fillRect/>
          </a:stretch>
        </p:blipFill>
        <p:spPr>
          <a:xfrm>
            <a:off x="8860697" y="0"/>
            <a:ext cx="15526478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195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154110"/>
              </p:ext>
            </p:extLst>
          </p:nvPr>
        </p:nvGraphicFramePr>
        <p:xfrm>
          <a:off x="634402" y="2034082"/>
          <a:ext cx="8136890" cy="566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080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General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Availability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US" sz="2200" dirty="0">
                          <a:latin typeface="Figtree"/>
                          <a:cs typeface="Figtree"/>
                        </a:rPr>
                        <a:t>Fully Operational and leased as off end-October 2025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Building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New build,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1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story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building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  <a:p>
                      <a:pPr marL="1384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Part of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6-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building,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1.2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GW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IT</a:t>
                      </a:r>
                      <a:r>
                        <a:rPr sz="2200" spc="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campus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Base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Build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design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Tier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III-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equivalent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Data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Halls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3,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with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possible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cages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Office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/</a:t>
                      </a:r>
                      <a:r>
                        <a:rPr sz="2200" spc="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Storage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Available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upon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request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Access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20" dirty="0">
                          <a:latin typeface="Figtree"/>
                          <a:cs typeface="Figtree"/>
                        </a:rPr>
                        <a:t>24/7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Loading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docks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Three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bays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Others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11239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and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Ops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24/7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Remote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hands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available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Certifications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9334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OCP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Ready for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Hyperscale ISO27001</a:t>
                      </a:r>
                      <a:r>
                        <a:rPr lang="en-US" sz="2200" spc="-10" dirty="0">
                          <a:latin typeface="Figtree"/>
                          <a:cs typeface="Figtree"/>
                        </a:rPr>
                        <a:t> ; Leed Gold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9308655" y="2034082"/>
          <a:ext cx="8135620" cy="33858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Power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Utility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Providers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E-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Redes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Utility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Power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2N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High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Voltage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60kV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feeds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Power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Distribution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2N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Medium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Voltage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11kV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Power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Usage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 marR="32956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Revenue-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grade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metering;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option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of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pass-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through,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fixed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or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hybrid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pricing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spc="-25" dirty="0">
                          <a:latin typeface="Figtree"/>
                          <a:cs typeface="Figtree"/>
                        </a:rPr>
                        <a:t>UPS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Distributed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redundant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LV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&amp;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UPS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backup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Back-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up</a:t>
                      </a:r>
                      <a:r>
                        <a:rPr sz="2200" spc="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power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24h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HVO-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fueled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Gen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308656" y="5806237"/>
          <a:ext cx="8136890" cy="3895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6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Cooling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2311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Heat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rejection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to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Sea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Water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System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and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chiller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system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as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back-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up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Flexibility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49910" indent="-170180">
                        <a:lnSpc>
                          <a:spcPct val="100000"/>
                        </a:lnSpc>
                        <a:spcBef>
                          <a:spcPts val="90"/>
                        </a:spcBef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100%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Liquid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cooling</a:t>
                      </a:r>
                      <a:endParaRPr sz="2200">
                        <a:latin typeface="Figtree"/>
                        <a:cs typeface="Figtree"/>
                      </a:endParaRPr>
                    </a:p>
                    <a:p>
                      <a:pPr marL="549910" indent="-170180">
                        <a:lnSpc>
                          <a:spcPct val="100000"/>
                        </a:lnSpc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Air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cooling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(fan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walls)</a:t>
                      </a:r>
                      <a:endParaRPr sz="2200">
                        <a:latin typeface="Figtree"/>
                        <a:cs typeface="Figtree"/>
                      </a:endParaRPr>
                    </a:p>
                    <a:p>
                      <a:pPr marL="549910" indent="-170180">
                        <a:lnSpc>
                          <a:spcPct val="100000"/>
                        </a:lnSpc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Hybrid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air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&amp;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liquid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cooling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Service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Concurrently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maintainable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Reliability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9080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N+1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redundancy,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dual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power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source,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2N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piping;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fault-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tolerant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with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thermal</a:t>
                      </a:r>
                      <a:endParaRPr sz="2200">
                        <a:latin typeface="Figtree"/>
                        <a:cs typeface="Figtree"/>
                      </a:endParaRPr>
                    </a:p>
                    <a:p>
                      <a:pPr marL="379730">
                        <a:lnSpc>
                          <a:spcPct val="100000"/>
                        </a:lnSpc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storage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for</a:t>
                      </a:r>
                      <a:r>
                        <a:rPr sz="2200" spc="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uninterrupted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cooling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9308656" y="10086320"/>
          <a:ext cx="8136890" cy="23088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1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Telecom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Entry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points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Four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diverse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entry</a:t>
                      </a:r>
                      <a:r>
                        <a:rPr sz="2200" spc="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points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Meet-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</a:t>
                      </a:r>
                      <a:r>
                        <a:rPr sz="2200" spc="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Rooms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Two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independent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MMRs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Neutral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Multiple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access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Cable</a:t>
                      </a:r>
                      <a:r>
                        <a:rPr sz="2200" spc="-6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Landing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Sines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&lt;4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miles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away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(EllaLink,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Nuvem</a:t>
                      </a:r>
                      <a:r>
                        <a:rPr sz="2100" spc="-15" baseline="27777" dirty="0">
                          <a:latin typeface="Figtree"/>
                          <a:cs typeface="Figtree"/>
                        </a:rPr>
                        <a:t>1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)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668184" y="7941869"/>
          <a:ext cx="8136890" cy="34201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1440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Security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Personnel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24/7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manned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security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20" dirty="0">
                          <a:latin typeface="Figtree"/>
                          <a:cs typeface="Figtree"/>
                        </a:rPr>
                        <a:t>CCTV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360º</a:t>
                      </a:r>
                      <a:r>
                        <a:rPr sz="2200" spc="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video-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analytics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(interior/exterior)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Access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control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Biometric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&amp;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MFA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access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control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Perimeter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20701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Anti-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climb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metal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fencing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with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intrusion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detection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Defense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In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Depth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Multiple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concentric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layers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Integration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Integrated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Physical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object 7"/>
          <p:cNvSpPr/>
          <p:nvPr/>
        </p:nvSpPr>
        <p:spPr>
          <a:xfrm>
            <a:off x="636917" y="669974"/>
            <a:ext cx="1026160" cy="1064260"/>
          </a:xfrm>
          <a:custGeom>
            <a:avLst/>
            <a:gdLst/>
            <a:ahLst/>
            <a:cxnLst/>
            <a:rect l="l" t="t" r="r" b="b"/>
            <a:pathLst>
              <a:path w="513080" h="532130">
                <a:moveTo>
                  <a:pt x="336372" y="229755"/>
                </a:moveTo>
                <a:lnTo>
                  <a:pt x="256235" y="229755"/>
                </a:lnTo>
                <a:lnTo>
                  <a:pt x="294462" y="81940"/>
                </a:lnTo>
                <a:lnTo>
                  <a:pt x="293573" y="81648"/>
                </a:lnTo>
                <a:lnTo>
                  <a:pt x="172593" y="278866"/>
                </a:lnTo>
                <a:lnTo>
                  <a:pt x="247637" y="278866"/>
                </a:lnTo>
                <a:lnTo>
                  <a:pt x="209207" y="425234"/>
                </a:lnTo>
                <a:lnTo>
                  <a:pt x="209918" y="425551"/>
                </a:lnTo>
                <a:lnTo>
                  <a:pt x="336372" y="229755"/>
                </a:lnTo>
                <a:close/>
              </a:path>
              <a:path w="513080" h="532130">
                <a:moveTo>
                  <a:pt x="512686" y="0"/>
                </a:moveTo>
                <a:lnTo>
                  <a:pt x="4648" y="0"/>
                </a:lnTo>
                <a:lnTo>
                  <a:pt x="0" y="76"/>
                </a:lnTo>
                <a:lnTo>
                  <a:pt x="0" y="414693"/>
                </a:lnTo>
                <a:lnTo>
                  <a:pt x="39039" y="414693"/>
                </a:lnTo>
                <a:lnTo>
                  <a:pt x="39039" y="38989"/>
                </a:lnTo>
                <a:lnTo>
                  <a:pt x="473633" y="38989"/>
                </a:lnTo>
                <a:lnTo>
                  <a:pt x="473633" y="468376"/>
                </a:lnTo>
                <a:lnTo>
                  <a:pt x="141490" y="468363"/>
                </a:lnTo>
                <a:lnTo>
                  <a:pt x="136715" y="461352"/>
                </a:lnTo>
                <a:lnTo>
                  <a:pt x="130378" y="455028"/>
                </a:lnTo>
                <a:lnTo>
                  <a:pt x="119735" y="449072"/>
                </a:lnTo>
                <a:lnTo>
                  <a:pt x="104203" y="446417"/>
                </a:lnTo>
                <a:lnTo>
                  <a:pt x="87337" y="449745"/>
                </a:lnTo>
                <a:lnTo>
                  <a:pt x="73901" y="458825"/>
                </a:lnTo>
                <a:lnTo>
                  <a:pt x="64985" y="472287"/>
                </a:lnTo>
                <a:lnTo>
                  <a:pt x="61772" y="488759"/>
                </a:lnTo>
                <a:lnTo>
                  <a:pt x="65100" y="505358"/>
                </a:lnTo>
                <a:lnTo>
                  <a:pt x="74206" y="519061"/>
                </a:lnTo>
                <a:lnTo>
                  <a:pt x="87693" y="528370"/>
                </a:lnTo>
                <a:lnTo>
                  <a:pt x="104203" y="531812"/>
                </a:lnTo>
                <a:lnTo>
                  <a:pt x="120103" y="529145"/>
                </a:lnTo>
                <a:lnTo>
                  <a:pt x="130670" y="523151"/>
                </a:lnTo>
                <a:lnTo>
                  <a:pt x="136766" y="516813"/>
                </a:lnTo>
                <a:lnTo>
                  <a:pt x="141351" y="509587"/>
                </a:lnTo>
                <a:lnTo>
                  <a:pt x="512686" y="509651"/>
                </a:lnTo>
                <a:lnTo>
                  <a:pt x="512686" y="0"/>
                </a:lnTo>
                <a:close/>
              </a:path>
            </a:pathLst>
          </a:custGeom>
          <a:solidFill>
            <a:srgbClr val="12BC63"/>
          </a:solidFill>
        </p:spPr>
        <p:txBody>
          <a:bodyPr wrap="square" lIns="0" tIns="0" rIns="0" bIns="0" rtlCol="0"/>
          <a:lstStyle/>
          <a:p>
            <a:endParaRPr sz="7200"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7952" y="740069"/>
            <a:ext cx="1932834" cy="97035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727260" y="12036144"/>
            <a:ext cx="3511550" cy="45653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5400">
              <a:spcBef>
                <a:spcPts val="200"/>
              </a:spcBef>
            </a:pPr>
            <a:r>
              <a:rPr sz="2800" spc="-40" dirty="0">
                <a:latin typeface="Figtree"/>
                <a:cs typeface="Figtree"/>
              </a:rPr>
              <a:t>Take </a:t>
            </a:r>
            <a:r>
              <a:rPr sz="2800" dirty="0">
                <a:latin typeface="Figtree"/>
                <a:cs typeface="Figtree"/>
              </a:rPr>
              <a:t>a</a:t>
            </a:r>
            <a:r>
              <a:rPr sz="2800" spc="-40" dirty="0">
                <a:latin typeface="Figtree"/>
                <a:cs typeface="Figtree"/>
              </a:rPr>
              <a:t> </a:t>
            </a:r>
            <a:r>
              <a:rPr sz="2800" dirty="0">
                <a:solidFill>
                  <a:srgbClr val="00C057"/>
                </a:solidFill>
                <a:latin typeface="Figtree"/>
                <a:cs typeface="Figtree"/>
              </a:rPr>
              <a:t>virtual</a:t>
            </a:r>
            <a:r>
              <a:rPr sz="2800" spc="-40" dirty="0">
                <a:solidFill>
                  <a:srgbClr val="00C057"/>
                </a:solidFill>
                <a:latin typeface="Figtree"/>
                <a:cs typeface="Figtree"/>
              </a:rPr>
              <a:t> </a:t>
            </a:r>
            <a:r>
              <a:rPr sz="2800" dirty="0">
                <a:solidFill>
                  <a:srgbClr val="00C057"/>
                </a:solidFill>
                <a:latin typeface="Figtree"/>
                <a:cs typeface="Figtree"/>
              </a:rPr>
              <a:t>site</a:t>
            </a:r>
            <a:r>
              <a:rPr sz="2800" spc="-60" dirty="0">
                <a:solidFill>
                  <a:srgbClr val="00C057"/>
                </a:solidFill>
                <a:latin typeface="Figtree"/>
                <a:cs typeface="Figtree"/>
              </a:rPr>
              <a:t> </a:t>
            </a:r>
            <a:r>
              <a:rPr sz="2800" spc="-40" dirty="0">
                <a:solidFill>
                  <a:srgbClr val="00C057"/>
                </a:solidFill>
                <a:latin typeface="Figtree"/>
                <a:cs typeface="Figtree"/>
              </a:rPr>
              <a:t>tour</a:t>
            </a:r>
            <a:endParaRPr sz="2800">
              <a:latin typeface="Figtree"/>
              <a:cs typeface="Figtree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012" y="11645352"/>
            <a:ext cx="1243686" cy="124508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413809" y="12497612"/>
            <a:ext cx="5384800" cy="23980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76200">
              <a:spcBef>
                <a:spcPts val="190"/>
              </a:spcBef>
            </a:pPr>
            <a:r>
              <a:rPr sz="1400" dirty="0">
                <a:latin typeface="Figtree"/>
                <a:cs typeface="Figtree"/>
              </a:rPr>
              <a:t>Note: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CLS</a:t>
            </a:r>
            <a:r>
              <a:rPr sz="1400" spc="-7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stands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for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Cable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Landing</a:t>
            </a:r>
            <a:r>
              <a:rPr sz="1400" spc="-1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Station; </a:t>
            </a:r>
            <a:r>
              <a:rPr sz="1350" baseline="24691" dirty="0">
                <a:latin typeface="Figtree"/>
                <a:cs typeface="Figtree"/>
              </a:rPr>
              <a:t>1</a:t>
            </a:r>
            <a:r>
              <a:rPr sz="1350" spc="88" baseline="24691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From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2026</a:t>
            </a:r>
            <a:r>
              <a:rPr sz="1400" spc="-30" dirty="0">
                <a:latin typeface="Figtree"/>
                <a:cs typeface="Figtree"/>
              </a:rPr>
              <a:t> </a:t>
            </a:r>
            <a:r>
              <a:rPr sz="1400" spc="-20" dirty="0">
                <a:latin typeface="Figtree"/>
                <a:cs typeface="Figtree"/>
              </a:rPr>
              <a:t>onwards</a:t>
            </a:r>
            <a:endParaRPr sz="1400">
              <a:latin typeface="Figtree"/>
              <a:cs typeface="Figtree"/>
            </a:endParaRPr>
          </a:p>
        </p:txBody>
      </p:sp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4996" y="12083476"/>
            <a:ext cx="239294" cy="41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1B885-0809-B7FF-B895-1ACC1E820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E470FF-49B0-A27E-84A8-F440021C4561}"/>
              </a:ext>
            </a:extLst>
          </p:cNvPr>
          <p:cNvSpPr txBox="1"/>
          <p:nvPr/>
        </p:nvSpPr>
        <p:spPr>
          <a:xfrm>
            <a:off x="8420759" y="5926976"/>
            <a:ext cx="7313220" cy="363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SIN01 PDF</a:t>
            </a:r>
            <a:br>
              <a:rPr lang="en-US" sz="11500" b="1" dirty="0">
                <a:latin typeface="Figtree" pitchFamily="2" charset="0"/>
              </a:rPr>
            </a:br>
            <a:r>
              <a:rPr lang="en-US" sz="11500" b="1" dirty="0">
                <a:latin typeface="Figtree" pitchFamily="2" charset="0"/>
              </a:rPr>
              <a:t>PT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9771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5E1840-439D-FAAF-12C4-25BCB544D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D36BCC-35CC-3B1F-1B6B-E9AF36B85A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47D41CEB-FABD-2723-EE24-03A0DC8A59DB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>
                <a:solidFill>
                  <a:srgbClr val="00C159"/>
                </a:solidFill>
                <a:latin typeface="Figtree SemiBold" pitchFamily="2" charset="0"/>
              </a:rPr>
              <a:t>SIN 01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A Primeira Giga Fábrica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de IA na Europa
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2800" dirty="0">
                <a:solidFill>
                  <a:schemeClr val="bg1"/>
                </a:solidFill>
                <a:latin typeface="Figtree SemiBold" pitchFamily="2" charset="0"/>
              </a:rPr>
              <a:t>Sines, Portugal 
</a:t>
            </a:r>
            <a:r>
              <a:rPr lang="pt-PT" sz="2800" dirty="0">
                <a:solidFill>
                  <a:schemeClr val="bg1"/>
                </a:solidFill>
                <a:latin typeface="Figtree Light" pitchFamily="2" charset="0"/>
              </a:rPr>
              <a:t>Coordenadas do local: 37.934961, -8.812558
c. 90 km a sul de Lisboa</a:t>
            </a:r>
            <a:endParaRPr lang="en-US" sz="2800" dirty="0">
              <a:solidFill>
                <a:schemeClr val="bg1"/>
              </a:solidFill>
              <a:latin typeface="Figtree Light" pitchFamily="2" charset="0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F6ED128B-D38F-7537-8711-4642A2FD680B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0A3CDC03-96B8-EECE-0CF3-127567953500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7E9FE58A-F346-CB43-EB8D-72074E32F80F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Energia 100%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renovável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e de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baixo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custo</a:t>
            </a:r>
            <a:endParaRPr lang="en-US" sz="3600" b="1" dirty="0">
              <a:solidFill>
                <a:srgbClr val="00C159"/>
              </a:solidFill>
              <a:latin typeface="Figtree SemiBold" pitchFamily="2" charset="0"/>
            </a:endParaRP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B98A9AC5-4E73-50E0-9CB7-B1F80A9DD5C6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889354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Baixa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Latência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para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grandes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cidades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3CB72F8D-6D8A-D125-E8A5-48D823475547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F58592-55BD-A18F-5E88-A44C8FEDE507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3DD30-204B-D895-58BF-D6CC72AB6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F879301-CE14-A2F3-5B91-8D513187B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7925CC87-A1B9-A1B5-6A8E-CFF81F7582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3E8FBAA6-750B-CD3D-B43C-FC8DA1B3FCCF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3F5EBE2-0967-54B2-FEF2-EB8ECCEECB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F2F68D5-9AE6-67EC-03EB-84B65162AE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26E87FB0-5EA0-D191-6DE2-FC44E2CF9E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AA6F24B4-1057-DAD0-2AE8-29DB3F209421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de capacidade IT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2DF2947F-5F8E-2888-563A-F00904B258F9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capacidade assegurada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6B2C7E-A02A-FB71-CB82-BFFF11A2BCA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7EF4DBD-5458-9F88-715C-CEF3277C39A8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8"/>
          <a:stretch>
            <a:fillRect/>
          </a:stretch>
        </p:blipFill>
        <p:spPr>
          <a:xfrm>
            <a:off x="8860697" y="0"/>
            <a:ext cx="15526478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236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4E111-A1C5-CF28-1048-CD8DB0571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>
            <a:extLst>
              <a:ext uri="{FF2B5EF4-FFF2-40B4-BE49-F238E27FC236}">
                <a16:creationId xmlns:a16="http://schemas.microsoft.com/office/drawing/2014/main" id="{993AF786-8017-092A-50A8-19F046136E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6575024"/>
              </p:ext>
            </p:extLst>
          </p:nvPr>
        </p:nvGraphicFramePr>
        <p:xfrm>
          <a:off x="668184" y="1997016"/>
          <a:ext cx="8136890" cy="56217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080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Geral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Disponibilidade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Totalmente operacional e arrendado no final de outubro de 2025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Edifício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Construção nova, edifício de 1 andar
Parte de um campus de TI com 6 edifícios e 1,2 GW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Design da Construção da Base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Equivalente ao Nível III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>
                          <a:latin typeface="Figtree"/>
                          <a:cs typeface="Figtree"/>
                        </a:rPr>
                        <a:t>Data</a:t>
                      </a:r>
                      <a:r>
                        <a:rPr sz="1800" spc="-2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>
                          <a:latin typeface="Figtree"/>
                          <a:cs typeface="Figtree"/>
                        </a:rPr>
                        <a:t>Halls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3, com possíveis “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cages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”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Escritório / Armazenamento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Disponível mediante pedido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58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Acesso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spc="-20" dirty="0">
                          <a:latin typeface="Figtree"/>
                          <a:cs typeface="Figtree"/>
                        </a:rPr>
                        <a:t>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Docas de carga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en-US" sz="1800" dirty="0">
                          <a:latin typeface="Figtree"/>
                          <a:cs typeface="Figtree"/>
                        </a:rPr>
                        <a:t>3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1876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Outros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11239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Segurança e Operações 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Certificações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9334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OCP</a:t>
                      </a:r>
                      <a:r>
                        <a:rPr sz="18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Ready for</a:t>
                      </a:r>
                      <a:r>
                        <a:rPr sz="18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Hyperscale ISO27001</a:t>
                      </a:r>
                      <a:br>
                        <a:rPr lang="en-US" sz="1800" spc="-10" dirty="0">
                          <a:latin typeface="Figtree"/>
                          <a:cs typeface="Figtree"/>
                        </a:rPr>
                      </a:br>
                      <a:r>
                        <a:rPr lang="en-US" sz="1800" spc="-10" dirty="0">
                          <a:latin typeface="Figtree"/>
                          <a:cs typeface="Figtree"/>
                        </a:rPr>
                        <a:t>Leed Gold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BC84A7A0-9591-2A66-FD43-4A49255219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352"/>
              </p:ext>
            </p:extLst>
          </p:nvPr>
        </p:nvGraphicFramePr>
        <p:xfrm>
          <a:off x="9308655" y="2034082"/>
          <a:ext cx="8135620" cy="3549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Energia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Fornecedores de Serviços Públicos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E-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Redes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Energia Elétrica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alimentações de alta tensão 60kV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Distribuição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Tensão Média 11kV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Utilização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 marR="32956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Medição de nível comercial; Opção de preços </a:t>
                      </a:r>
                      <a:r>
                        <a:rPr lang="pt-PT" sz="1800" spc="-10" dirty="0" err="1">
                          <a:latin typeface="Figtree"/>
                          <a:cs typeface="Figtree"/>
                        </a:rPr>
                        <a:t>pass-through</a:t>
                      </a:r>
                      <a:r>
                        <a:rPr lang="pt-PT" sz="1800" spc="-10" dirty="0">
                          <a:latin typeface="Figtree"/>
                          <a:cs typeface="Figtree"/>
                        </a:rPr>
                        <a:t>, fixos ou híbridos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800" spc="-25" dirty="0">
                          <a:latin typeface="Figtree"/>
                          <a:cs typeface="Figtree"/>
                        </a:rPr>
                        <a:t>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Backup redundante distribuído de LV &amp; 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Energia de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Sistema de geração alimentado por HVO 24h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5C796BB3-992B-1E20-1F3A-55B97C8A8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32267"/>
              </p:ext>
            </p:extLst>
          </p:nvPr>
        </p:nvGraphicFramePr>
        <p:xfrm>
          <a:off x="9308656" y="5806237"/>
          <a:ext cx="8136890" cy="3895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02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Arrefecimento</a:t>
                      </a: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Sistema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2311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Rejeição de calor para um Sistema de Água do Mar e sistema de arrefecimento como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Flexibilidade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49910" indent="-170180">
                        <a:lnSpc>
                          <a:spcPct val="100000"/>
                        </a:lnSpc>
                        <a:spcBef>
                          <a:spcPts val="90"/>
                        </a:spcBef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100% Refrigeração líquida
Arrefecimento a ar (paredes do ventilador)
Arrefecimento híbrido de ar e líquido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Serviço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Simultaneamente sustentável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Fiabilidade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9080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Redundância N+1, fonte de energia dupla, tubagem 2N; Tolerante a falhas com térmico
Armazenamento para arrefecimento ininterrupto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DDD1C483-82F6-9D35-6BC6-37580B509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901858"/>
              </p:ext>
            </p:extLst>
          </p:nvPr>
        </p:nvGraphicFramePr>
        <p:xfrm>
          <a:off x="9308656" y="10086320"/>
          <a:ext cx="8136890" cy="23088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30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5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Telecomunicações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Pontos de entrada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Quatro pontos de entrada diferentes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Meet-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Me</a:t>
                      </a:r>
                      <a:r>
                        <a:rPr sz="1800" spc="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Rooms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Dois 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MMRs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 independentes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18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Neutral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Acesso a múltiplos operadores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Cable</a:t>
                      </a:r>
                      <a:r>
                        <a:rPr sz="1800" spc="-6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Landing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Sines &lt;4 milhas de distância (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EllaLink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, Nuvem1)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E9DA4E91-DEAA-854F-2B30-1A62CBA70C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173104"/>
              </p:ext>
            </p:extLst>
          </p:nvPr>
        </p:nvGraphicFramePr>
        <p:xfrm>
          <a:off x="668184" y="7941869"/>
          <a:ext cx="8136890" cy="34201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1440">
                        <a:lnSpc>
                          <a:spcPts val="1614"/>
                        </a:lnSpc>
                      </a:pPr>
                      <a:r>
                        <a:rPr lang="pt-PT" sz="2800" b="1" spc="-10" noProof="0" dirty="0">
                          <a:latin typeface="Figtree"/>
                          <a:cs typeface="Figtree"/>
                        </a:rPr>
                        <a:t>Segurança</a:t>
                      </a:r>
                      <a:endParaRPr lang="pt-PT" sz="2800" noProof="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pt-PT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Pessoal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Segurança 24/7</a:t>
                      </a: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CCTV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360º</a:t>
                      </a:r>
                      <a:r>
                        <a:rPr lang="pt-PT" sz="1800" spc="5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video-</a:t>
                      </a:r>
                      <a:r>
                        <a:rPr lang="pt-PT" sz="1800" noProof="0" dirty="0" err="1">
                          <a:latin typeface="Figtree"/>
                          <a:cs typeface="Figtree"/>
                        </a:rPr>
                        <a:t>analytics</a:t>
                      </a: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(interior/exterior)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Controlo de acesso</a:t>
                      </a: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de controlo de acesso biométrico e MFA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Perímetro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20701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Vedação metálica de segurança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anti-escalada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 com deteção de intrusão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Defesa em Profundidade</a:t>
                      </a: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Múltiplas camadas concêntricas de segurança</a:t>
                      </a: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Integração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Integrado de Segurança Física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object 7">
            <a:extLst>
              <a:ext uri="{FF2B5EF4-FFF2-40B4-BE49-F238E27FC236}">
                <a16:creationId xmlns:a16="http://schemas.microsoft.com/office/drawing/2014/main" id="{99EBF068-99AF-AD65-4A40-415CE8F09D57}"/>
              </a:ext>
            </a:extLst>
          </p:cNvPr>
          <p:cNvSpPr/>
          <p:nvPr/>
        </p:nvSpPr>
        <p:spPr>
          <a:xfrm>
            <a:off x="636917" y="669974"/>
            <a:ext cx="1026160" cy="1064260"/>
          </a:xfrm>
          <a:custGeom>
            <a:avLst/>
            <a:gdLst/>
            <a:ahLst/>
            <a:cxnLst/>
            <a:rect l="l" t="t" r="r" b="b"/>
            <a:pathLst>
              <a:path w="513080" h="532130">
                <a:moveTo>
                  <a:pt x="336372" y="229755"/>
                </a:moveTo>
                <a:lnTo>
                  <a:pt x="256235" y="229755"/>
                </a:lnTo>
                <a:lnTo>
                  <a:pt x="294462" y="81940"/>
                </a:lnTo>
                <a:lnTo>
                  <a:pt x="293573" y="81648"/>
                </a:lnTo>
                <a:lnTo>
                  <a:pt x="172593" y="278866"/>
                </a:lnTo>
                <a:lnTo>
                  <a:pt x="247637" y="278866"/>
                </a:lnTo>
                <a:lnTo>
                  <a:pt x="209207" y="425234"/>
                </a:lnTo>
                <a:lnTo>
                  <a:pt x="209918" y="425551"/>
                </a:lnTo>
                <a:lnTo>
                  <a:pt x="336372" y="229755"/>
                </a:lnTo>
                <a:close/>
              </a:path>
              <a:path w="513080" h="532130">
                <a:moveTo>
                  <a:pt x="512686" y="0"/>
                </a:moveTo>
                <a:lnTo>
                  <a:pt x="4648" y="0"/>
                </a:lnTo>
                <a:lnTo>
                  <a:pt x="0" y="76"/>
                </a:lnTo>
                <a:lnTo>
                  <a:pt x="0" y="414693"/>
                </a:lnTo>
                <a:lnTo>
                  <a:pt x="39039" y="414693"/>
                </a:lnTo>
                <a:lnTo>
                  <a:pt x="39039" y="38989"/>
                </a:lnTo>
                <a:lnTo>
                  <a:pt x="473633" y="38989"/>
                </a:lnTo>
                <a:lnTo>
                  <a:pt x="473633" y="468376"/>
                </a:lnTo>
                <a:lnTo>
                  <a:pt x="141490" y="468363"/>
                </a:lnTo>
                <a:lnTo>
                  <a:pt x="136715" y="461352"/>
                </a:lnTo>
                <a:lnTo>
                  <a:pt x="130378" y="455028"/>
                </a:lnTo>
                <a:lnTo>
                  <a:pt x="119735" y="449072"/>
                </a:lnTo>
                <a:lnTo>
                  <a:pt x="104203" y="446417"/>
                </a:lnTo>
                <a:lnTo>
                  <a:pt x="87337" y="449745"/>
                </a:lnTo>
                <a:lnTo>
                  <a:pt x="73901" y="458825"/>
                </a:lnTo>
                <a:lnTo>
                  <a:pt x="64985" y="472287"/>
                </a:lnTo>
                <a:lnTo>
                  <a:pt x="61772" y="488759"/>
                </a:lnTo>
                <a:lnTo>
                  <a:pt x="65100" y="505358"/>
                </a:lnTo>
                <a:lnTo>
                  <a:pt x="74206" y="519061"/>
                </a:lnTo>
                <a:lnTo>
                  <a:pt x="87693" y="528370"/>
                </a:lnTo>
                <a:lnTo>
                  <a:pt x="104203" y="531812"/>
                </a:lnTo>
                <a:lnTo>
                  <a:pt x="120103" y="529145"/>
                </a:lnTo>
                <a:lnTo>
                  <a:pt x="130670" y="523151"/>
                </a:lnTo>
                <a:lnTo>
                  <a:pt x="136766" y="516813"/>
                </a:lnTo>
                <a:lnTo>
                  <a:pt x="141351" y="509587"/>
                </a:lnTo>
                <a:lnTo>
                  <a:pt x="512686" y="509651"/>
                </a:lnTo>
                <a:lnTo>
                  <a:pt x="512686" y="0"/>
                </a:lnTo>
                <a:close/>
              </a:path>
            </a:pathLst>
          </a:custGeom>
          <a:solidFill>
            <a:srgbClr val="12BC63"/>
          </a:solidFill>
        </p:spPr>
        <p:txBody>
          <a:bodyPr wrap="square" lIns="0" tIns="0" rIns="0" bIns="0" rtlCol="0"/>
          <a:lstStyle/>
          <a:p>
            <a:endParaRPr sz="7200"/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05CB2E1A-A9F2-EA63-57F8-39DFD98CE6D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7952" y="740069"/>
            <a:ext cx="1932834" cy="970354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74B3D692-205F-B8F9-EC6D-F88DA1FCA74D}"/>
              </a:ext>
            </a:extLst>
          </p:cNvPr>
          <p:cNvSpPr txBox="1"/>
          <p:nvPr/>
        </p:nvSpPr>
        <p:spPr>
          <a:xfrm>
            <a:off x="2727260" y="12036144"/>
            <a:ext cx="5384800" cy="45653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5400">
              <a:spcBef>
                <a:spcPts val="200"/>
              </a:spcBef>
            </a:pPr>
            <a:r>
              <a:rPr lang="pt-PT" sz="2800" spc="-40" dirty="0">
                <a:latin typeface="Figtree"/>
                <a:cs typeface="Figtree"/>
              </a:rPr>
              <a:t>Faça uma visita virtual ao local</a:t>
            </a:r>
            <a:endParaRPr sz="2800" dirty="0">
              <a:latin typeface="Figtree"/>
              <a:cs typeface="Figtree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60EBFFE3-EEB6-33CB-B31B-C9234DB22A1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012" y="11645352"/>
            <a:ext cx="1243686" cy="1245080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99A890A5-BCD9-58B1-48B0-AF01476AE9B3}"/>
              </a:ext>
            </a:extLst>
          </p:cNvPr>
          <p:cNvSpPr txBox="1"/>
          <p:nvPr/>
        </p:nvSpPr>
        <p:spPr>
          <a:xfrm>
            <a:off x="9413809" y="12497612"/>
            <a:ext cx="5384800" cy="23980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76200">
              <a:spcBef>
                <a:spcPts val="190"/>
              </a:spcBef>
            </a:pPr>
            <a:r>
              <a:rPr sz="1400" dirty="0">
                <a:latin typeface="Figtree"/>
                <a:cs typeface="Figtree"/>
              </a:rPr>
              <a:t>Note: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CLS</a:t>
            </a:r>
            <a:r>
              <a:rPr sz="1400" spc="-7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stands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for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Cable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Landing</a:t>
            </a:r>
            <a:r>
              <a:rPr sz="1400" spc="-1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Station; </a:t>
            </a:r>
            <a:r>
              <a:rPr sz="1350" baseline="24691" dirty="0">
                <a:latin typeface="Figtree"/>
                <a:cs typeface="Figtree"/>
              </a:rPr>
              <a:t>1</a:t>
            </a:r>
            <a:r>
              <a:rPr sz="1350" spc="88" baseline="24691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From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2026</a:t>
            </a:r>
            <a:r>
              <a:rPr sz="1400" spc="-30" dirty="0">
                <a:latin typeface="Figtree"/>
                <a:cs typeface="Figtree"/>
              </a:rPr>
              <a:t> </a:t>
            </a:r>
            <a:r>
              <a:rPr sz="1400" spc="-20" dirty="0">
                <a:latin typeface="Figtree"/>
                <a:cs typeface="Figtree"/>
              </a:rPr>
              <a:t>onwards</a:t>
            </a:r>
            <a:endParaRPr sz="1400">
              <a:latin typeface="Figtree"/>
              <a:cs typeface="Figtree"/>
            </a:endParaRPr>
          </a:p>
        </p:txBody>
      </p:sp>
      <p:pic>
        <p:nvPicPr>
          <p:cNvPr id="12" name="object 12">
            <a:extLst>
              <a:ext uri="{FF2B5EF4-FFF2-40B4-BE49-F238E27FC236}">
                <a16:creationId xmlns:a16="http://schemas.microsoft.com/office/drawing/2014/main" id="{4B2B8568-FB04-38E0-5D3B-AEAC08D3A0D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4996" y="12083476"/>
            <a:ext cx="239294" cy="4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5640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12BE3-18F1-2C0F-CCCE-132CCC129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A28162-F12C-3B00-2D70-6A510E93BE9C}"/>
              </a:ext>
            </a:extLst>
          </p:cNvPr>
          <p:cNvSpPr txBox="1"/>
          <p:nvPr/>
        </p:nvSpPr>
        <p:spPr>
          <a:xfrm>
            <a:off x="8420759" y="5926976"/>
            <a:ext cx="754565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SIN02 PDF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283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CB267D-AE18-7D13-2BF6-7FE92255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19CDD9-94A7-781A-2B2E-F5B6141497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1F1DCB6-A7A6-16E5-DACA-E7164CA55A59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 02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40E8B496-B188-1DF4-70DD-2955AFB194E1}"/>
              </a:ext>
            </a:extLst>
          </p:cNvPr>
          <p:cNvSpPr txBox="1">
            <a:spLocks/>
          </p:cNvSpPr>
          <p:nvPr/>
        </p:nvSpPr>
        <p:spPr>
          <a:xfrm>
            <a:off x="806767" y="7411712"/>
            <a:ext cx="7262464" cy="1188783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IT Capacity - up to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600kW racks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Q3 2027 - 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C8E0A549-DBB2-88FA-DB40-148A2362F79C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F8635DC5-777C-42A4-589E-195E2CAC7273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854D9E0C-EBF5-0488-3148-E13CEBD65DA5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4C69E5F8-2A32-6BF6-DFD3-17FE9876250E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BC829-59A8-EA2D-324E-6DD4DF4281F3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0B8915-D11B-A7AB-7F17-2D40168AF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A96BF17-B78E-AC50-8613-4881A7DFE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C0E74DC3-C810-CEAB-E621-22EA613242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9464B5F2-DFD7-3AE4-7DCC-3BE7EB00FA4D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FF4A2FF-0CD2-BA16-0E83-A0234437F29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8BEB254-AF47-0F4D-BC63-8EA062B2B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344D01C0-2922-3916-499D-E72D58008D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D94E4AA1-0F2D-C857-0055-F892F71838F6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B9F500BB-F478-F346-CE2A-1AD6D3D5D52E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C665651-011F-236C-8420-C285509253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071CE9-6CC2-A7FF-A11A-CC0BFC38E111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6"/>
          <a:stretch>
            <a:fillRect/>
          </a:stretch>
        </p:blipFill>
        <p:spPr>
          <a:xfrm>
            <a:off x="8882677" y="0"/>
            <a:ext cx="15510061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3801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A05C2-993C-1499-8FBC-482F33F42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id="{5A390582-F5F8-0973-66D4-70CD2C320DF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4369" r="34369"/>
          <a:stretch>
            <a:fillRect/>
          </a:stretch>
        </p:blipFill>
        <p:spPr>
          <a:xfrm>
            <a:off x="17953038" y="0"/>
            <a:ext cx="6432550" cy="13716000"/>
          </a:xfr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E581602-9607-2A99-0A59-A6A1B6B1D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6799399"/>
              </p:ext>
            </p:extLst>
          </p:nvPr>
        </p:nvGraphicFramePr>
        <p:xfrm>
          <a:off x="634391" y="2004428"/>
          <a:ext cx="8136000" cy="57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General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778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Availability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200 MW </a:t>
                      </a:r>
                    </a:p>
                    <a:p>
                      <a:r>
                        <a:rPr lang="en-US" sz="2200" dirty="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Q3 2027</a:t>
                      </a:r>
                      <a:endParaRPr lang="en-GB" sz="2200" dirty="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Building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New build, 2 stories building</a:t>
                      </a:r>
                    </a:p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Part of a 6-building, 1.2 GW IT campus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Base Build design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Tier III-equivalent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32859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Data Halls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3, with possible cages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196189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Office / Storage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Available upon request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905140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Access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24/7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143017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Loading docks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Three bays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5824016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Others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Security and Ops 24/7</a:t>
                      </a:r>
                      <a:b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</a:b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Remote hands available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906611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Certifications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OCP Ready for Hyperscale</a:t>
                      </a:r>
                    </a:p>
                    <a:p>
                      <a:r>
                        <a:rPr lang="en-GB" sz="2200" dirty="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ISO27001 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834249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BE896AC0-401B-DF12-2809-7AF7A35EF5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316088"/>
              </p:ext>
            </p:extLst>
          </p:nvPr>
        </p:nvGraphicFramePr>
        <p:xfrm>
          <a:off x="9308773" y="2004428"/>
          <a:ext cx="8136000" cy="34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Power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443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Utility Providers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REN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407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Utility Power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2N 400kv and 4N3 150kV/22kV</a:t>
                      </a:r>
                      <a:endParaRPr lang="en-GB" sz="2200" kern="1200">
                        <a:solidFill>
                          <a:schemeClr val="tx1"/>
                        </a:solidFill>
                        <a:latin typeface="Figtree" pitchFamily="2" charset="0"/>
                        <a:ea typeface="+mn-ea"/>
                        <a:cs typeface="+mn-cs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  <a:tr h="407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Power Distribution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4N3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990192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Power Usage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Revenue-grade metering; option of pass-through, fixed or hybrid pricing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013986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UPS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Distributed redundant LV &amp; UPS backup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905140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Back-up power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24h HVO-fueled Gen system​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14301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7B1BCD3-805A-EB0C-6283-30C20F047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04714"/>
              </p:ext>
            </p:extLst>
          </p:nvPr>
        </p:nvGraphicFramePr>
        <p:xfrm>
          <a:off x="9308773" y="5775688"/>
          <a:ext cx="8136000" cy="39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Cooling 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778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System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Heat rejection to a Sea Water System and chiller system as back-up</a:t>
                      </a:r>
                    </a:p>
                  </a:txBody>
                  <a:tcPr marL="182880" marR="182880" marT="72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107784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Flexibility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Liquid cooling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Air cooling (fan walls)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Hybrid air &amp; liquid cooling 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Service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Concurrently maintainable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013986"/>
                  </a:ext>
                </a:extLst>
              </a:tr>
              <a:tr h="107784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Reliability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N+1 redundancy, dual power source, 2N piping; fault-tolerant with thermal storage for uninterrupted cooling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905140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0C4165F-5D07-2C6C-0392-56BB3D0A8A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274826"/>
              </p:ext>
            </p:extLst>
          </p:nvPr>
        </p:nvGraphicFramePr>
        <p:xfrm>
          <a:off x="9308773" y="10055988"/>
          <a:ext cx="8136000" cy="300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Telecom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49872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Entry points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Six diverse entry points (4 at SIN01+ 2 at SIN02)</a:t>
                      </a:r>
                    </a:p>
                  </a:txBody>
                  <a:tcPr marL="182880" marR="182880" marT="72000" marB="9144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Meet-Me Rooms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Two independent MMRs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986649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Carrier Neutral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Multiple carrier access + Connection to the SIN01.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02801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Cable Landing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Sines &lt;4 miles away (</a:t>
                      </a:r>
                      <a:r>
                        <a:rPr lang="en-US" sz="2200" kern="1200" dirty="0" err="1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EllaLink</a:t>
                      </a: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, Nuvem</a:t>
                      </a:r>
                      <a:r>
                        <a:rPr lang="en-US" sz="2200" kern="1200" baseline="300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EBD67D2C-A4FC-8758-343A-53BEE5844606}"/>
              </a:ext>
            </a:extLst>
          </p:cNvPr>
          <p:cNvGraphicFramePr>
            <a:graphicFrameLocks noGrp="1"/>
          </p:cNvGraphicFramePr>
          <p:nvPr/>
        </p:nvGraphicFramePr>
        <p:xfrm>
          <a:off x="668183" y="7910870"/>
          <a:ext cx="8136000" cy="346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Security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443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Personnel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24/7 manned security</a:t>
                      </a:r>
                    </a:p>
                  </a:txBody>
                  <a:tcPr marL="182880" marR="182880" marT="72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CCTV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360º video-analytics (interior/exterior)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986649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Access control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Biometric &amp; MFA access control system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364911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Perimeter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Anti-climb security metal fencing with intrusion detection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553126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GB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Defense In Depth</a:t>
                      </a: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Multiple concentric security layers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989322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Integration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Integrated Physical Security system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0440830"/>
                  </a:ext>
                </a:extLst>
              </a:tr>
            </a:tbl>
          </a:graphicData>
        </a:graphic>
      </p:graphicFrame>
      <p:pic>
        <p:nvPicPr>
          <p:cNvPr id="30" name="Graphic 29">
            <a:extLst>
              <a:ext uri="{FF2B5EF4-FFF2-40B4-BE49-F238E27FC236}">
                <a16:creationId xmlns:a16="http://schemas.microsoft.com/office/drawing/2014/main" id="{81ED7D5B-B006-B475-7F4F-C6DA242BD1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391" y="667382"/>
            <a:ext cx="3217900" cy="1067888"/>
          </a:xfrm>
          <a:prstGeom prst="rect">
            <a:avLst/>
          </a:prstGeom>
        </p:spPr>
      </p:pic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B8E1D4CE-8912-EFAC-8649-4F9C2D1D2F7F}"/>
              </a:ext>
            </a:extLst>
          </p:cNvPr>
          <p:cNvSpPr txBox="1">
            <a:spLocks/>
          </p:cNvSpPr>
          <p:nvPr/>
        </p:nvSpPr>
        <p:spPr>
          <a:xfrm>
            <a:off x="2752125" y="11933233"/>
            <a:ext cx="3900532" cy="71510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2800">
                <a:solidFill>
                  <a:srgbClr val="000000"/>
                </a:solidFill>
                <a:latin typeface="Figtree" pitchFamily="2" charset="0"/>
              </a:rPr>
              <a:t>Take a </a:t>
            </a:r>
            <a:r>
              <a:rPr lang="en-US" sz="2800">
                <a:solidFill>
                  <a:srgbClr val="00C058"/>
                </a:solidFill>
                <a:latin typeface="Figtree" pitchFamily="2" charset="0"/>
              </a:rPr>
              <a:t>virtual site tour</a:t>
            </a: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DF5321F-A68D-F7E8-6004-5C534D33E2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07" y="11572113"/>
            <a:ext cx="1527176" cy="1437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34C5299-0AF4-D820-D790-3284BBA49E73}"/>
              </a:ext>
            </a:extLst>
          </p:cNvPr>
          <p:cNvSpPr txBox="1"/>
          <p:nvPr/>
        </p:nvSpPr>
        <p:spPr>
          <a:xfrm>
            <a:off x="9308773" y="13058148"/>
            <a:ext cx="5568810" cy="307777"/>
          </a:xfrm>
          <a:prstGeom prst="rect">
            <a:avLst/>
          </a:prstGeom>
          <a:noFill/>
        </p:spPr>
        <p:txBody>
          <a:bodyPr wrap="none" lIns="180000" rtlCol="0">
            <a:spAutoFit/>
          </a:bodyPr>
          <a:lstStyle/>
          <a:p>
            <a:pPr defTabSz="1828800"/>
            <a:r>
              <a:rPr lang="en-US" sz="1400">
                <a:solidFill>
                  <a:srgbClr val="000000"/>
                </a:solidFill>
                <a:latin typeface="Figtree" pitchFamily="2" charset="0"/>
              </a:rPr>
              <a:t>Note: CLS stands for Cable Landing Station; </a:t>
            </a:r>
            <a:r>
              <a:rPr lang="en-US" sz="1400" baseline="30000">
                <a:solidFill>
                  <a:srgbClr val="000000"/>
                </a:solidFill>
                <a:latin typeface="Figtree" pitchFamily="2" charset="0"/>
              </a:rPr>
              <a:t>1</a:t>
            </a:r>
            <a:r>
              <a:rPr lang="en-US" sz="1400">
                <a:solidFill>
                  <a:srgbClr val="000000"/>
                </a:solidFill>
                <a:latin typeface="Figtree" pitchFamily="2" charset="0"/>
              </a:rPr>
              <a:t> From 2026 onwards</a:t>
            </a:r>
            <a:endParaRPr lang="en-GB" sz="1400">
              <a:solidFill>
                <a:srgbClr val="000000"/>
              </a:solidFill>
              <a:latin typeface="Figtree" pitchFamily="2" charset="0"/>
            </a:endParaRPr>
          </a:p>
        </p:txBody>
      </p:sp>
      <p:pic>
        <p:nvPicPr>
          <p:cNvPr id="39" name="Graphic 38" descr="Caret Right with solid fill">
            <a:extLst>
              <a:ext uri="{FF2B5EF4-FFF2-40B4-BE49-F238E27FC236}">
                <a16:creationId xmlns:a16="http://schemas.microsoft.com/office/drawing/2014/main" id="{99E67403-E9E5-9DD8-5FCB-496BFC0851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5454" y="11933233"/>
            <a:ext cx="715102" cy="71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271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52699-9A70-E67C-FA92-65990C44D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0D216A-4293-9F18-40A7-1630669BD759}"/>
              </a:ext>
            </a:extLst>
          </p:cNvPr>
          <p:cNvSpPr txBox="1"/>
          <p:nvPr/>
        </p:nvSpPr>
        <p:spPr>
          <a:xfrm>
            <a:off x="8420759" y="5926976"/>
            <a:ext cx="7545655" cy="363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SIN02 PDF</a:t>
            </a:r>
            <a:br>
              <a:rPr lang="en-US" sz="11500" b="1" dirty="0">
                <a:latin typeface="Figtree" pitchFamily="2" charset="0"/>
              </a:rPr>
            </a:br>
            <a:r>
              <a:rPr lang="en-US" sz="11500" b="1" dirty="0">
                <a:latin typeface="Figtree" pitchFamily="2" charset="0"/>
              </a:rPr>
              <a:t>PT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98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547033-A03C-1D9D-7687-F36416DDB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D42F2D3-A294-97A6-A562-CD94EDF3D2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995BC2-B4D3-C314-A8A1-58FF05E223DE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 02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A Primeira Giga Fábrica de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IA na Europa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C70DA614-DD69-2928-C43E-8C298FB1EAC5}"/>
              </a:ext>
            </a:extLst>
          </p:cNvPr>
          <p:cNvSpPr txBox="1">
            <a:spLocks/>
          </p:cNvSpPr>
          <p:nvPr/>
        </p:nvSpPr>
        <p:spPr>
          <a:xfrm>
            <a:off x="806767" y="7411712"/>
            <a:ext cx="7262464" cy="1188783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 err="1">
                <a:solidFill>
                  <a:schemeClr val="bg1"/>
                </a:solidFill>
                <a:latin typeface="Figtree Light" pitchFamily="2" charset="0"/>
              </a:rPr>
              <a:t>capacidade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 de IT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Racks </a:t>
            </a:r>
            <a:r>
              <a:rPr lang="en-US" sz="2800" dirty="0" err="1">
                <a:solidFill>
                  <a:schemeClr val="bg1"/>
                </a:solidFill>
                <a:latin typeface="Figtree Light" pitchFamily="2" charset="0"/>
              </a:rPr>
              <a:t>até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600kW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Q3 2027 - 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7AC8C7B7-99BB-21BE-4E86-06A0E40C5BDF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AFD74C05-C02E-970A-9B05-229760A0B541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89B661-032A-57D7-4516-5091FC4C928F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63BCAA-08D6-1ED8-5ED2-798E35BAD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D33EDC7-DFC2-DB61-9E51-D9E16FA32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8178E53F-F2E3-DAFB-4373-07CAAD15F2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663D7103-7150-8DCD-5DEC-B96668F271F7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3F84050-92BC-DA58-EAAC-2F6DD9417F7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1E3DBE94-5D72-73AA-FC93-A50A08D5E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E2167C55-FC22-B766-C882-5EFCB752D5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1B29216-E657-41F0-FEEF-11836D473A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A1F6D5-7F30-E9F7-9903-92680411AF87}"/>
              </a:ext>
            </a:extLst>
          </p:cNvPr>
          <p:cNvSpPr txBox="1">
            <a:spLocks/>
          </p:cNvSpPr>
          <p:nvPr/>
        </p:nvSpPr>
        <p:spPr>
          <a:xfrm>
            <a:off x="10837464" y="12002094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Energia 100%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renovável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e de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baixo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custo</a:t>
            </a:r>
            <a:endParaRPr lang="en-US" sz="3600" b="1" dirty="0">
              <a:solidFill>
                <a:srgbClr val="00C159"/>
              </a:solidFill>
              <a:latin typeface="Figtree SemiBold" pitchFamily="2" charset="0"/>
            </a:endParaRP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4C179EF4-3EB6-0054-021E-C824F124A607}"/>
              </a:ext>
            </a:extLst>
          </p:cNvPr>
          <p:cNvSpPr txBox="1">
            <a:spLocks/>
          </p:cNvSpPr>
          <p:nvPr/>
        </p:nvSpPr>
        <p:spPr>
          <a:xfrm>
            <a:off x="10837465" y="11038155"/>
            <a:ext cx="8889354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Baixa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Latência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para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grandes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cidades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6791AEBA-3A51-6B28-8EEF-991916BBD0F9}"/>
              </a:ext>
            </a:extLst>
          </p:cNvPr>
          <p:cNvSpPr txBox="1">
            <a:spLocks/>
          </p:cNvSpPr>
          <p:nvPr/>
        </p:nvSpPr>
        <p:spPr>
          <a:xfrm>
            <a:off x="10837464" y="9110279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de capacidade IT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D6096497-48D5-7650-5B6C-DD679979E98A}"/>
              </a:ext>
            </a:extLst>
          </p:cNvPr>
          <p:cNvSpPr txBox="1">
            <a:spLocks/>
          </p:cNvSpPr>
          <p:nvPr/>
        </p:nvSpPr>
        <p:spPr>
          <a:xfrm>
            <a:off x="10837465" y="10074217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capacidade assegurada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AE74502-785C-4307-11AA-C1A9C2C276F2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6"/>
          <a:stretch>
            <a:fillRect/>
          </a:stretch>
        </p:blipFill>
        <p:spPr>
          <a:xfrm>
            <a:off x="8877114" y="7009"/>
            <a:ext cx="15510061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2283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2EF1A-244F-F7DD-92B4-3FA4F297C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>
            <a:extLst>
              <a:ext uri="{FF2B5EF4-FFF2-40B4-BE49-F238E27FC236}">
                <a16:creationId xmlns:a16="http://schemas.microsoft.com/office/drawing/2014/main" id="{68D4A9EC-41A4-3133-3D3A-1993CAEFE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747533"/>
              </p:ext>
            </p:extLst>
          </p:nvPr>
        </p:nvGraphicFramePr>
        <p:xfrm>
          <a:off x="668184" y="1997016"/>
          <a:ext cx="8136890" cy="56217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080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Geral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Disponibilidade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200MW</a:t>
                      </a:r>
                      <a:br>
                        <a:rPr lang="pt-PT" sz="1800" dirty="0">
                          <a:latin typeface="Figtree"/>
                          <a:cs typeface="Figtree"/>
                        </a:rPr>
                      </a:br>
                      <a:r>
                        <a:rPr lang="pt-PT" sz="1800" dirty="0">
                          <a:latin typeface="Figtree"/>
                          <a:cs typeface="Figtree"/>
                        </a:rPr>
                        <a:t>Q3 2027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Edifício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Construção nova, edifício de 2 andares</a:t>
                      </a:r>
                    </a:p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Parte de um campus de TI com 6 edifícios e 1,2 GW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Design da Construção da Base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Equivalente ao Nível III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>
                          <a:latin typeface="Figtree"/>
                          <a:cs typeface="Figtree"/>
                        </a:rPr>
                        <a:t>Data</a:t>
                      </a:r>
                      <a:r>
                        <a:rPr sz="1800" spc="-2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>
                          <a:latin typeface="Figtree"/>
                          <a:cs typeface="Figtree"/>
                        </a:rPr>
                        <a:t>Halls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3, com possíveis “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cages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”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Escritório / Armazenamento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Disponível mediante pedido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58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Acesso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spc="-20" dirty="0">
                          <a:latin typeface="Figtree"/>
                          <a:cs typeface="Figtree"/>
                        </a:rPr>
                        <a:t>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Docas de carga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en-US" sz="1800" dirty="0">
                          <a:latin typeface="Figtree"/>
                          <a:cs typeface="Figtree"/>
                        </a:rPr>
                        <a:t>3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1876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Outros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11239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Segurança e Operações 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Certificações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9334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OCP</a:t>
                      </a:r>
                      <a:r>
                        <a:rPr sz="18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Ready for</a:t>
                      </a:r>
                      <a:r>
                        <a:rPr sz="18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Hyperscale ISO27001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77A1F233-C329-C6B0-620E-550BE263750C}"/>
              </a:ext>
            </a:extLst>
          </p:cNvPr>
          <p:cNvGraphicFramePr>
            <a:graphicFrameLocks noGrp="1"/>
          </p:cNvGraphicFramePr>
          <p:nvPr/>
        </p:nvGraphicFramePr>
        <p:xfrm>
          <a:off x="9308655" y="2034082"/>
          <a:ext cx="8135620" cy="3549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Energia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Fornecedores de Serviços Públicos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E-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Redes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Energia Elétrica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alimentações de alta tensão 60kV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Distribuição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Tensão Média 11kV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Utilização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 marR="32956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Medição de nível comercial; Opção de preços </a:t>
                      </a:r>
                      <a:r>
                        <a:rPr lang="pt-PT" sz="1800" spc="-10" dirty="0" err="1">
                          <a:latin typeface="Figtree"/>
                          <a:cs typeface="Figtree"/>
                        </a:rPr>
                        <a:t>pass-through</a:t>
                      </a:r>
                      <a:r>
                        <a:rPr lang="pt-PT" sz="1800" spc="-10" dirty="0">
                          <a:latin typeface="Figtree"/>
                          <a:cs typeface="Figtree"/>
                        </a:rPr>
                        <a:t>, fixos ou híbridos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800" spc="-25" dirty="0">
                          <a:latin typeface="Figtree"/>
                          <a:cs typeface="Figtree"/>
                        </a:rPr>
                        <a:t>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Backup redundante distribuído de LV &amp; 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Energia de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Sistema de geração alimentado por HVO 24h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C74AA9FD-97A0-8B22-8EF5-47CFEE3CE9C8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5806237"/>
          <a:ext cx="8136890" cy="3895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02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Arrefecimento</a:t>
                      </a: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Sistema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2311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Rejeição de calor para um Sistema de Água do Mar e sistema de arrefecimento como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Flexibilidade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49910" indent="-170180">
                        <a:lnSpc>
                          <a:spcPct val="100000"/>
                        </a:lnSpc>
                        <a:spcBef>
                          <a:spcPts val="90"/>
                        </a:spcBef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100% Refrigeração líquida
Arrefecimento a ar (paredes do ventilador)
Arrefecimento híbrido de ar e líquido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Serviço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Simultaneamente sustentável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Fiabilidade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9080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Redundância N+1, fonte de energia dupla, tubagem 2N; Tolerante a falhas com térmico
Armazenamento para arrefecimento ininterrupto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D620921E-5C4E-A77A-6181-B5D99E1CC4FD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10086320"/>
          <a:ext cx="8136890" cy="23088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30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5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Telecomunicações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Pontos de entrada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Quatro pontos de entrada diferentes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Meet-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Me</a:t>
                      </a:r>
                      <a:r>
                        <a:rPr sz="1800" spc="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Rooms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Dois 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MMRs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 independentes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18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Neutral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Acesso a múltiplos operadores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Cable</a:t>
                      </a:r>
                      <a:r>
                        <a:rPr sz="1800" spc="-6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Landing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Sines &lt;4 milhas de distância (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EllaLink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, Nuvem1)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61C29DB0-B9E9-A88D-1083-A7C65DFC5941}"/>
              </a:ext>
            </a:extLst>
          </p:cNvPr>
          <p:cNvGraphicFramePr>
            <a:graphicFrameLocks noGrp="1"/>
          </p:cNvGraphicFramePr>
          <p:nvPr/>
        </p:nvGraphicFramePr>
        <p:xfrm>
          <a:off x="668184" y="7941869"/>
          <a:ext cx="8136890" cy="34201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1440">
                        <a:lnSpc>
                          <a:spcPts val="1614"/>
                        </a:lnSpc>
                      </a:pPr>
                      <a:r>
                        <a:rPr lang="pt-PT" sz="2800" b="1" spc="-10" noProof="0" dirty="0">
                          <a:latin typeface="Figtree"/>
                          <a:cs typeface="Figtree"/>
                        </a:rPr>
                        <a:t>Segurança</a:t>
                      </a:r>
                      <a:endParaRPr lang="pt-PT" sz="2800" noProof="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pt-PT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Pessoal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Segurança 24/7</a:t>
                      </a: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CCTV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360º</a:t>
                      </a:r>
                      <a:r>
                        <a:rPr lang="pt-PT" sz="1800" spc="5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video-</a:t>
                      </a:r>
                      <a:r>
                        <a:rPr lang="pt-PT" sz="1800" noProof="0" dirty="0" err="1">
                          <a:latin typeface="Figtree"/>
                          <a:cs typeface="Figtree"/>
                        </a:rPr>
                        <a:t>analytics</a:t>
                      </a: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(interior/exterior)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Controlo de acesso</a:t>
                      </a: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de controlo de acesso biométrico e MFA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Perímetro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20701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Vedação metálica de segurança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anti-escalada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 com deteção de intrusão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Defesa em Profundidade</a:t>
                      </a: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Múltiplas camadas concêntricas de segurança</a:t>
                      </a: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Integração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Integrado de Segurança Física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object 7">
            <a:extLst>
              <a:ext uri="{FF2B5EF4-FFF2-40B4-BE49-F238E27FC236}">
                <a16:creationId xmlns:a16="http://schemas.microsoft.com/office/drawing/2014/main" id="{0E8DEACF-A87F-4ECE-A627-835F036C3516}"/>
              </a:ext>
            </a:extLst>
          </p:cNvPr>
          <p:cNvSpPr/>
          <p:nvPr/>
        </p:nvSpPr>
        <p:spPr>
          <a:xfrm>
            <a:off x="636917" y="669974"/>
            <a:ext cx="1026160" cy="1064260"/>
          </a:xfrm>
          <a:custGeom>
            <a:avLst/>
            <a:gdLst/>
            <a:ahLst/>
            <a:cxnLst/>
            <a:rect l="l" t="t" r="r" b="b"/>
            <a:pathLst>
              <a:path w="513080" h="532130">
                <a:moveTo>
                  <a:pt x="336372" y="229755"/>
                </a:moveTo>
                <a:lnTo>
                  <a:pt x="256235" y="229755"/>
                </a:lnTo>
                <a:lnTo>
                  <a:pt x="294462" y="81940"/>
                </a:lnTo>
                <a:lnTo>
                  <a:pt x="293573" y="81648"/>
                </a:lnTo>
                <a:lnTo>
                  <a:pt x="172593" y="278866"/>
                </a:lnTo>
                <a:lnTo>
                  <a:pt x="247637" y="278866"/>
                </a:lnTo>
                <a:lnTo>
                  <a:pt x="209207" y="425234"/>
                </a:lnTo>
                <a:lnTo>
                  <a:pt x="209918" y="425551"/>
                </a:lnTo>
                <a:lnTo>
                  <a:pt x="336372" y="229755"/>
                </a:lnTo>
                <a:close/>
              </a:path>
              <a:path w="513080" h="532130">
                <a:moveTo>
                  <a:pt x="512686" y="0"/>
                </a:moveTo>
                <a:lnTo>
                  <a:pt x="4648" y="0"/>
                </a:lnTo>
                <a:lnTo>
                  <a:pt x="0" y="76"/>
                </a:lnTo>
                <a:lnTo>
                  <a:pt x="0" y="414693"/>
                </a:lnTo>
                <a:lnTo>
                  <a:pt x="39039" y="414693"/>
                </a:lnTo>
                <a:lnTo>
                  <a:pt x="39039" y="38989"/>
                </a:lnTo>
                <a:lnTo>
                  <a:pt x="473633" y="38989"/>
                </a:lnTo>
                <a:lnTo>
                  <a:pt x="473633" y="468376"/>
                </a:lnTo>
                <a:lnTo>
                  <a:pt x="141490" y="468363"/>
                </a:lnTo>
                <a:lnTo>
                  <a:pt x="136715" y="461352"/>
                </a:lnTo>
                <a:lnTo>
                  <a:pt x="130378" y="455028"/>
                </a:lnTo>
                <a:lnTo>
                  <a:pt x="119735" y="449072"/>
                </a:lnTo>
                <a:lnTo>
                  <a:pt x="104203" y="446417"/>
                </a:lnTo>
                <a:lnTo>
                  <a:pt x="87337" y="449745"/>
                </a:lnTo>
                <a:lnTo>
                  <a:pt x="73901" y="458825"/>
                </a:lnTo>
                <a:lnTo>
                  <a:pt x="64985" y="472287"/>
                </a:lnTo>
                <a:lnTo>
                  <a:pt x="61772" y="488759"/>
                </a:lnTo>
                <a:lnTo>
                  <a:pt x="65100" y="505358"/>
                </a:lnTo>
                <a:lnTo>
                  <a:pt x="74206" y="519061"/>
                </a:lnTo>
                <a:lnTo>
                  <a:pt x="87693" y="528370"/>
                </a:lnTo>
                <a:lnTo>
                  <a:pt x="104203" y="531812"/>
                </a:lnTo>
                <a:lnTo>
                  <a:pt x="120103" y="529145"/>
                </a:lnTo>
                <a:lnTo>
                  <a:pt x="130670" y="523151"/>
                </a:lnTo>
                <a:lnTo>
                  <a:pt x="136766" y="516813"/>
                </a:lnTo>
                <a:lnTo>
                  <a:pt x="141351" y="509587"/>
                </a:lnTo>
                <a:lnTo>
                  <a:pt x="512686" y="509651"/>
                </a:lnTo>
                <a:lnTo>
                  <a:pt x="512686" y="0"/>
                </a:lnTo>
                <a:close/>
              </a:path>
            </a:pathLst>
          </a:custGeom>
          <a:solidFill>
            <a:srgbClr val="12BC63"/>
          </a:solidFill>
        </p:spPr>
        <p:txBody>
          <a:bodyPr wrap="square" lIns="0" tIns="0" rIns="0" bIns="0" rtlCol="0"/>
          <a:lstStyle/>
          <a:p>
            <a:endParaRPr sz="7200"/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BDCB99FE-D42F-AF1F-CC2A-C31D0A2C92F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7952" y="740069"/>
            <a:ext cx="1932834" cy="970354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AB7D6CFD-872B-E5C1-20D3-14D2E45EA43D}"/>
              </a:ext>
            </a:extLst>
          </p:cNvPr>
          <p:cNvSpPr txBox="1"/>
          <p:nvPr/>
        </p:nvSpPr>
        <p:spPr>
          <a:xfrm>
            <a:off x="2727260" y="12036144"/>
            <a:ext cx="5384800" cy="45653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5400">
              <a:spcBef>
                <a:spcPts val="200"/>
              </a:spcBef>
            </a:pPr>
            <a:r>
              <a:rPr lang="pt-PT" sz="2800" spc="-40" dirty="0">
                <a:latin typeface="Figtree"/>
                <a:cs typeface="Figtree"/>
              </a:rPr>
              <a:t>Faça uma visita virtual ao local</a:t>
            </a:r>
            <a:endParaRPr sz="2800" dirty="0">
              <a:latin typeface="Figtree"/>
              <a:cs typeface="Figtree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7CDCC3B5-4E63-A379-E826-75E9AB8D9047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012" y="11645352"/>
            <a:ext cx="1243686" cy="1245080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CB88EA78-63A3-9E9F-6C09-4C7285211C2D}"/>
              </a:ext>
            </a:extLst>
          </p:cNvPr>
          <p:cNvSpPr txBox="1"/>
          <p:nvPr/>
        </p:nvSpPr>
        <p:spPr>
          <a:xfrm>
            <a:off x="9413809" y="12497612"/>
            <a:ext cx="5384800" cy="23980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76200">
              <a:spcBef>
                <a:spcPts val="190"/>
              </a:spcBef>
            </a:pPr>
            <a:r>
              <a:rPr sz="1400" dirty="0">
                <a:latin typeface="Figtree"/>
                <a:cs typeface="Figtree"/>
              </a:rPr>
              <a:t>Note: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CLS</a:t>
            </a:r>
            <a:r>
              <a:rPr sz="1400" spc="-7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stands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for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Cable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Landing</a:t>
            </a:r>
            <a:r>
              <a:rPr sz="1400" spc="-1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Station; </a:t>
            </a:r>
            <a:r>
              <a:rPr sz="1350" baseline="24691" dirty="0">
                <a:latin typeface="Figtree"/>
                <a:cs typeface="Figtree"/>
              </a:rPr>
              <a:t>1</a:t>
            </a:r>
            <a:r>
              <a:rPr sz="1350" spc="88" baseline="24691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From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2026</a:t>
            </a:r>
            <a:r>
              <a:rPr sz="1400" spc="-30" dirty="0">
                <a:latin typeface="Figtree"/>
                <a:cs typeface="Figtree"/>
              </a:rPr>
              <a:t> </a:t>
            </a:r>
            <a:r>
              <a:rPr sz="1400" spc="-20" dirty="0">
                <a:latin typeface="Figtree"/>
                <a:cs typeface="Figtree"/>
              </a:rPr>
              <a:t>onwards</a:t>
            </a:r>
            <a:endParaRPr sz="1400">
              <a:latin typeface="Figtree"/>
              <a:cs typeface="Figtree"/>
            </a:endParaRPr>
          </a:p>
        </p:txBody>
      </p:sp>
      <p:pic>
        <p:nvPicPr>
          <p:cNvPr id="12" name="object 12">
            <a:extLst>
              <a:ext uri="{FF2B5EF4-FFF2-40B4-BE49-F238E27FC236}">
                <a16:creationId xmlns:a16="http://schemas.microsoft.com/office/drawing/2014/main" id="{0C2F5D73-2681-FF79-3313-43CB29F836EE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4996" y="12083476"/>
            <a:ext cx="239294" cy="4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65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09E4D82-7018-D77A-8D81-3796DA57F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13DDDF-BC0A-998E-15CB-617C5B272111}"/>
              </a:ext>
            </a:extLst>
          </p:cNvPr>
          <p:cNvSpPr txBox="1"/>
          <p:nvPr/>
        </p:nvSpPr>
        <p:spPr>
          <a:xfrm>
            <a:off x="7217705" y="5926976"/>
            <a:ext cx="995176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SINES DC PDF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223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2444E6B-828B-DBC8-6E90-CAA3D9469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AC7DBA8-C570-309C-190A-F330210756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5ABB0BED-B533-C9EE-EF1C-B5B37578DFE2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SINES DC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6FCEB61D-4389-7A33-B751-005CFB1BF1D7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15AE655D-9C82-4280-F1FD-53EABC76BED8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06D02496-C37F-EF47-33A8-865FF620A658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595EF185-AEC2-5533-3172-ED8D619BCD73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DD691D94-39A7-67E1-9808-92DC2130D888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354937-9503-8DB3-D7D6-642200F207D7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AC65BA-39D2-8BA2-BC3C-0DEE4FF1F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79B27F2-4E22-F7FF-FE2A-7B9FBD7FB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FED66E0-F5CF-1AD8-A8F1-480FC7922E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050" y="-4233"/>
            <a:ext cx="15496538" cy="80103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951A79-C893-67BA-A4FB-97EEE55233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8241" y="-4233"/>
            <a:ext cx="15498933" cy="871815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F1F0023A-6835-F216-B791-DE3FC5BD72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1D90C31C-2AF7-CA21-0653-463508F3566F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C1F4374-CCC1-6CE6-7E1F-21297E8F00D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7E94A49-9ADF-1246-6652-69A5D5394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40F6B8B9-CDE4-E281-D7CF-C302EC7EF2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1CF97271-E3F2-9459-8DC2-8C9364BD4C74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542D2215-A95E-0444-986C-D6757238275E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ADEE6D8-E346-CD4E-4793-F817A36FD01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2338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C54182-2936-5D8D-B11B-22C441884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808C96-7A98-BFA2-6C47-AD7A42598521}"/>
              </a:ext>
            </a:extLst>
          </p:cNvPr>
          <p:cNvSpPr txBox="1"/>
          <p:nvPr/>
        </p:nvSpPr>
        <p:spPr>
          <a:xfrm>
            <a:off x="7217705" y="5926976"/>
            <a:ext cx="9951763" cy="363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SINES DC PDF</a:t>
            </a:r>
            <a:br>
              <a:rPr lang="en-US" sz="11500" b="1" dirty="0">
                <a:latin typeface="Figtree" pitchFamily="2" charset="0"/>
              </a:rPr>
            </a:br>
            <a:r>
              <a:rPr lang="en-US" sz="11500" b="1" dirty="0">
                <a:latin typeface="Figtree" pitchFamily="2" charset="0"/>
              </a:rPr>
              <a:t>PT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15195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1F8C6A-DD98-2D98-E30D-1E8D9A697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7DF01C3-51E2-00E4-6473-EA1F5C97C4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7A150F8B-FBEF-D3BA-02E4-01BA2BA328DF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SINES DC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A Primeira Giga Fábrica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de IA na Europa
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2800" dirty="0">
                <a:solidFill>
                  <a:schemeClr val="bg1"/>
                </a:solidFill>
                <a:latin typeface="Figtree SemiBold" pitchFamily="2" charset="0"/>
              </a:rPr>
              <a:t>Sines, Portugal 
</a:t>
            </a:r>
            <a:r>
              <a:rPr lang="pt-PT" sz="2800" dirty="0">
                <a:solidFill>
                  <a:schemeClr val="bg1"/>
                </a:solidFill>
                <a:latin typeface="Figtree Light" pitchFamily="2" charset="0"/>
              </a:rPr>
              <a:t>Coordenadas do local: 37.934961, -8.812558
c. 90 km a sul de Lisboa</a:t>
            </a:r>
            <a:endParaRPr lang="en-US" sz="2800" dirty="0">
              <a:solidFill>
                <a:schemeClr val="bg1"/>
              </a:solidFill>
              <a:latin typeface="Figtree Light" pitchFamily="2" charset="0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0DAA363B-93B5-8D46-3534-528062DB0BB2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4ED7704B-2700-2092-34BF-73BFF6FE08E2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4F7100CC-4457-6A3E-A096-EE6A050084CD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Energia 100%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renovável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e de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baixo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custo</a:t>
            </a:r>
            <a:endParaRPr lang="en-US" sz="3600" b="1" dirty="0">
              <a:solidFill>
                <a:srgbClr val="00C159"/>
              </a:solidFill>
              <a:latin typeface="Figtree SemiBold" pitchFamily="2" charset="0"/>
            </a:endParaRP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CEA4ED33-9B33-76A3-BB39-30DC7CFBB9F4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889354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Baixa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Latência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para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grandes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cidades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EE082B2B-03AC-3F4E-36B6-14B2EC71B36C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502BDA-FD82-FC86-1695-7494603DD45E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7579F6-0C5F-F9DF-97E3-451C306B1A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9A54AE2-EAA5-4FD8-3A96-C501305B04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0CD5C9-83C8-E057-B8F1-6B1977352F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050" y="-4233"/>
            <a:ext cx="15496538" cy="80103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3D3796-F8C0-9B85-8A58-24DD87D8FB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8241" y="-4233"/>
            <a:ext cx="15498933" cy="8718150"/>
          </a:xfrm>
          <a:prstGeom prst="rect">
            <a:avLst/>
          </a:prstGeom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2885A727-1184-AEE4-4A34-79760C33B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DF0D77F2-BE1A-A69A-7E2D-7CE96CE0990B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84CC388-6D5C-CB12-5A20-D3FFE1F23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151FA92-509B-CC51-4EFA-92B22B088D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42F28CBC-6A2E-7B72-10FA-37CEB1B2CB8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45E6A79B-F0B9-3302-98D0-A59AD52C4F91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de capacidade IT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DC415985-EF7E-1CCF-4B96-20810134A574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capacidade assegurada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5E36B8C0-8457-558B-0863-24D799E006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491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B98471C-D52C-AAD3-0D96-01316835C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9E2468-8C15-F872-6203-EA525F7A1312}"/>
              </a:ext>
            </a:extLst>
          </p:cNvPr>
          <p:cNvSpPr txBox="1"/>
          <p:nvPr/>
        </p:nvSpPr>
        <p:spPr>
          <a:xfrm>
            <a:off x="8420759" y="5926976"/>
            <a:ext cx="7313220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SIN01 PDF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7271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B278D05-9685-5528-D5F1-150B2FFA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4B46879-A915-FC06-BB32-F8D21875A7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1F987723-DCA7-02F7-4554-80E3FAFF9419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 01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DA1BA900-EAED-CBE0-B938-FDD7B9369665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4CB223BD-8CFC-6216-95B6-336884FC005C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5E2ACC27-2274-490D-43BA-9CA3490855E6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94E82AA6-7327-1D31-7B30-8065CC2BD11C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D57853F5-52E8-8ED2-4CAD-F4247DD96ED6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79E6D9-9E69-A7B0-08BC-7337204054FA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4E50E5-1E96-08B0-F489-E5A801DBD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1335B7C6-E6BD-472D-497D-113F7F9BD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0FB9E51D-AE72-DF80-60F7-6956C3CD2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016FEA18-A27C-20E6-8C5B-51B9A1B0C1EF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9E6C131-EC7E-AD84-F1C2-EF65654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C0B1EB24-BFAE-3282-365B-A7288A1A2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E9ABE94A-A716-EB8A-8A50-5E530EF6B05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7975A386-ECDC-7C95-0EB1-08AF40CB69DA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9FC28C1D-38C8-E7C1-45CF-6ABD0A3A2565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68D6D6F8-A59A-0C03-C4AA-7FE1198256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D73511-F2DA-AFBA-DF3E-D8CACD1D8176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8"/>
          <a:stretch>
            <a:fillRect/>
          </a:stretch>
        </p:blipFill>
        <p:spPr>
          <a:xfrm>
            <a:off x="8860697" y="0"/>
            <a:ext cx="15526478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217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A6135-80B2-CFB3-1403-4DE866707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>
            <a:extLst>
              <a:ext uri="{FF2B5EF4-FFF2-40B4-BE49-F238E27FC236}">
                <a16:creationId xmlns:a16="http://schemas.microsoft.com/office/drawing/2014/main" id="{D6BAA3D6-2386-01A5-A639-E1E8EAE243EB}"/>
              </a:ext>
            </a:extLst>
          </p:cNvPr>
          <p:cNvGraphicFramePr>
            <a:graphicFrameLocks noGrp="1"/>
          </p:cNvGraphicFramePr>
          <p:nvPr/>
        </p:nvGraphicFramePr>
        <p:xfrm>
          <a:off x="634402" y="2034082"/>
          <a:ext cx="8136890" cy="566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080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General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Availability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en-US" sz="2200" dirty="0">
                          <a:latin typeface="Figtree"/>
                          <a:cs typeface="Figtree"/>
                        </a:rPr>
                        <a:t>Fully Operational and leased as off end-October 2025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Building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New build,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1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story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building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  <a:p>
                      <a:pPr marL="1384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Part of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6-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building,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1.2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GW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IT</a:t>
                      </a:r>
                      <a:r>
                        <a:rPr sz="2200" spc="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campus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Base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Build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design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Tier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III-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equivalent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Data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Halls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3,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with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possible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cages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Office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/</a:t>
                      </a:r>
                      <a:r>
                        <a:rPr sz="2200" spc="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Storage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Available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upon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request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Access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20" dirty="0">
                          <a:latin typeface="Figtree"/>
                          <a:cs typeface="Figtree"/>
                        </a:rPr>
                        <a:t>24/7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Loading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docks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Three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bays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Others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11239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and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Ops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24/7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Remote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hands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available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Certifications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9334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OCP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Ready for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Hyperscale ISO27001</a:t>
                      </a:r>
                      <a:r>
                        <a:rPr lang="en-US" sz="2200" spc="-10" dirty="0">
                          <a:latin typeface="Figtree"/>
                          <a:cs typeface="Figtree"/>
                        </a:rPr>
                        <a:t> ; Leed Gold</a:t>
                      </a:r>
                      <a:endParaRPr sz="22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53252B0D-93BE-F8DE-0E73-665F8498EDC9}"/>
              </a:ext>
            </a:extLst>
          </p:cNvPr>
          <p:cNvGraphicFramePr>
            <a:graphicFrameLocks noGrp="1"/>
          </p:cNvGraphicFramePr>
          <p:nvPr/>
        </p:nvGraphicFramePr>
        <p:xfrm>
          <a:off x="9308655" y="2034082"/>
          <a:ext cx="8135620" cy="33858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Power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Utility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Providers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E-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Redes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Utility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Power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2N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High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Voltage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60kV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feeds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Power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Distribution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2N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Medium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Voltage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11kV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Power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Usage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 marR="32956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Revenue-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grade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metering;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option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of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pass-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through,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fixed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or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hybrid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pricing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spc="-25" dirty="0">
                          <a:latin typeface="Figtree"/>
                          <a:cs typeface="Figtree"/>
                        </a:rPr>
                        <a:t>UPS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Distributed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redundant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LV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&amp;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UPS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backup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Back-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up</a:t>
                      </a:r>
                      <a:r>
                        <a:rPr sz="2200" spc="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power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24h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HVO-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fueled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Gen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D3DA00D1-CAA6-518D-E80B-3E494284D605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5806237"/>
          <a:ext cx="8136890" cy="3895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6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Cooling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2311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Heat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rejection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to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Sea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Water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System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and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chiller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system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as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back-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up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Flexibility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49910" indent="-170180">
                        <a:lnSpc>
                          <a:spcPct val="100000"/>
                        </a:lnSpc>
                        <a:spcBef>
                          <a:spcPts val="90"/>
                        </a:spcBef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100%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Liquid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cooling</a:t>
                      </a:r>
                      <a:endParaRPr sz="2200">
                        <a:latin typeface="Figtree"/>
                        <a:cs typeface="Figtree"/>
                      </a:endParaRPr>
                    </a:p>
                    <a:p>
                      <a:pPr marL="549910" indent="-170180">
                        <a:lnSpc>
                          <a:spcPct val="100000"/>
                        </a:lnSpc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Air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cooling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(fan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walls)</a:t>
                      </a:r>
                      <a:endParaRPr sz="2200">
                        <a:latin typeface="Figtree"/>
                        <a:cs typeface="Figtree"/>
                      </a:endParaRPr>
                    </a:p>
                    <a:p>
                      <a:pPr marL="549910" indent="-170180">
                        <a:lnSpc>
                          <a:spcPct val="100000"/>
                        </a:lnSpc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Hybrid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air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&amp;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liquid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cooling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Service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Concurrently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maintainable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Reliability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9080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N+1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redundancy,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dual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power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source,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2N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piping;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fault-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tolerant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with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thermal</a:t>
                      </a:r>
                      <a:endParaRPr sz="2200">
                        <a:latin typeface="Figtree"/>
                        <a:cs typeface="Figtree"/>
                      </a:endParaRPr>
                    </a:p>
                    <a:p>
                      <a:pPr marL="379730">
                        <a:lnSpc>
                          <a:spcPct val="100000"/>
                        </a:lnSpc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storage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for</a:t>
                      </a:r>
                      <a:r>
                        <a:rPr sz="2200" spc="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uninterrupted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cooling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C75B3F2E-972F-4A82-07BF-2A6608A06FB3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10086320"/>
          <a:ext cx="8136890" cy="23088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9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1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Telecom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Entry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points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Four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diverse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entry</a:t>
                      </a:r>
                      <a:r>
                        <a:rPr sz="2200" spc="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points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Meet-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</a:t>
                      </a:r>
                      <a:r>
                        <a:rPr sz="2200" spc="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Rooms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Two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independent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MMRs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Neutral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Multiple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access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Cable</a:t>
                      </a:r>
                      <a:r>
                        <a:rPr sz="2200" spc="-6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Landing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Sines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&lt;4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miles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away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(EllaLink,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Nuvem</a:t>
                      </a:r>
                      <a:r>
                        <a:rPr sz="2100" spc="-15" baseline="27777" dirty="0">
                          <a:latin typeface="Figtree"/>
                          <a:cs typeface="Figtree"/>
                        </a:rPr>
                        <a:t>1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)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23FFFD74-14D7-6F5E-9F8A-4183915053DF}"/>
              </a:ext>
            </a:extLst>
          </p:cNvPr>
          <p:cNvGraphicFramePr>
            <a:graphicFrameLocks noGrp="1"/>
          </p:cNvGraphicFramePr>
          <p:nvPr/>
        </p:nvGraphicFramePr>
        <p:xfrm>
          <a:off x="668184" y="7941869"/>
          <a:ext cx="8136890" cy="34201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1440">
                        <a:lnSpc>
                          <a:spcPts val="1614"/>
                        </a:lnSpc>
                      </a:pPr>
                      <a:r>
                        <a:rPr sz="2800" b="1" spc="-10" dirty="0">
                          <a:latin typeface="Figtree"/>
                          <a:cs typeface="Figtree"/>
                        </a:rPr>
                        <a:t>Security</a:t>
                      </a:r>
                      <a:endParaRPr sz="280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Personnel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24/7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manned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security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20" dirty="0">
                          <a:latin typeface="Figtree"/>
                          <a:cs typeface="Figtree"/>
                        </a:rPr>
                        <a:t>CCTV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360º</a:t>
                      </a:r>
                      <a:r>
                        <a:rPr sz="2200" spc="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video-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analytics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(interior/exterior)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Access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control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Biometric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&amp;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MFA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access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control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Perimeter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20701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Anti-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climb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metal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fencing</a:t>
                      </a:r>
                      <a:r>
                        <a:rPr sz="2200" spc="-20" dirty="0">
                          <a:latin typeface="Figtree"/>
                          <a:cs typeface="Figtree"/>
                        </a:rPr>
                        <a:t> with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intrusion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detection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Defense</a:t>
                      </a:r>
                      <a:r>
                        <a:rPr sz="2200" spc="-3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In</a:t>
                      </a:r>
                      <a:r>
                        <a:rPr sz="22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Depth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Multiple</a:t>
                      </a:r>
                      <a:r>
                        <a:rPr sz="22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concentric</a:t>
                      </a:r>
                      <a:r>
                        <a:rPr sz="2200" spc="-1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layers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2200" spc="-10" dirty="0">
                          <a:latin typeface="Figtree"/>
                          <a:cs typeface="Figtree"/>
                        </a:rPr>
                        <a:t>Integration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sz="2200" dirty="0">
                          <a:latin typeface="Figtree"/>
                          <a:cs typeface="Figtree"/>
                        </a:rPr>
                        <a:t>Integrated</a:t>
                      </a:r>
                      <a:r>
                        <a:rPr sz="2200" spc="-4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Physical</a:t>
                      </a:r>
                      <a:r>
                        <a:rPr sz="22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dirty="0">
                          <a:latin typeface="Figtree"/>
                          <a:cs typeface="Figtree"/>
                        </a:rPr>
                        <a:t>Security</a:t>
                      </a:r>
                      <a:r>
                        <a:rPr sz="2200" spc="-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2200" spc="-10" dirty="0">
                          <a:latin typeface="Figtree"/>
                          <a:cs typeface="Figtree"/>
                        </a:rPr>
                        <a:t>system</a:t>
                      </a:r>
                      <a:endParaRPr sz="220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object 7">
            <a:extLst>
              <a:ext uri="{FF2B5EF4-FFF2-40B4-BE49-F238E27FC236}">
                <a16:creationId xmlns:a16="http://schemas.microsoft.com/office/drawing/2014/main" id="{DF9B3055-8D3A-E76B-7B0E-308F7119B674}"/>
              </a:ext>
            </a:extLst>
          </p:cNvPr>
          <p:cNvSpPr/>
          <p:nvPr/>
        </p:nvSpPr>
        <p:spPr>
          <a:xfrm>
            <a:off x="636917" y="669974"/>
            <a:ext cx="1026160" cy="1064260"/>
          </a:xfrm>
          <a:custGeom>
            <a:avLst/>
            <a:gdLst/>
            <a:ahLst/>
            <a:cxnLst/>
            <a:rect l="l" t="t" r="r" b="b"/>
            <a:pathLst>
              <a:path w="513080" h="532130">
                <a:moveTo>
                  <a:pt x="336372" y="229755"/>
                </a:moveTo>
                <a:lnTo>
                  <a:pt x="256235" y="229755"/>
                </a:lnTo>
                <a:lnTo>
                  <a:pt x="294462" y="81940"/>
                </a:lnTo>
                <a:lnTo>
                  <a:pt x="293573" y="81648"/>
                </a:lnTo>
                <a:lnTo>
                  <a:pt x="172593" y="278866"/>
                </a:lnTo>
                <a:lnTo>
                  <a:pt x="247637" y="278866"/>
                </a:lnTo>
                <a:lnTo>
                  <a:pt x="209207" y="425234"/>
                </a:lnTo>
                <a:lnTo>
                  <a:pt x="209918" y="425551"/>
                </a:lnTo>
                <a:lnTo>
                  <a:pt x="336372" y="229755"/>
                </a:lnTo>
                <a:close/>
              </a:path>
              <a:path w="513080" h="532130">
                <a:moveTo>
                  <a:pt x="512686" y="0"/>
                </a:moveTo>
                <a:lnTo>
                  <a:pt x="4648" y="0"/>
                </a:lnTo>
                <a:lnTo>
                  <a:pt x="0" y="76"/>
                </a:lnTo>
                <a:lnTo>
                  <a:pt x="0" y="414693"/>
                </a:lnTo>
                <a:lnTo>
                  <a:pt x="39039" y="414693"/>
                </a:lnTo>
                <a:lnTo>
                  <a:pt x="39039" y="38989"/>
                </a:lnTo>
                <a:lnTo>
                  <a:pt x="473633" y="38989"/>
                </a:lnTo>
                <a:lnTo>
                  <a:pt x="473633" y="468376"/>
                </a:lnTo>
                <a:lnTo>
                  <a:pt x="141490" y="468363"/>
                </a:lnTo>
                <a:lnTo>
                  <a:pt x="136715" y="461352"/>
                </a:lnTo>
                <a:lnTo>
                  <a:pt x="130378" y="455028"/>
                </a:lnTo>
                <a:lnTo>
                  <a:pt x="119735" y="449072"/>
                </a:lnTo>
                <a:lnTo>
                  <a:pt x="104203" y="446417"/>
                </a:lnTo>
                <a:lnTo>
                  <a:pt x="87337" y="449745"/>
                </a:lnTo>
                <a:lnTo>
                  <a:pt x="73901" y="458825"/>
                </a:lnTo>
                <a:lnTo>
                  <a:pt x="64985" y="472287"/>
                </a:lnTo>
                <a:lnTo>
                  <a:pt x="61772" y="488759"/>
                </a:lnTo>
                <a:lnTo>
                  <a:pt x="65100" y="505358"/>
                </a:lnTo>
                <a:lnTo>
                  <a:pt x="74206" y="519061"/>
                </a:lnTo>
                <a:lnTo>
                  <a:pt x="87693" y="528370"/>
                </a:lnTo>
                <a:lnTo>
                  <a:pt x="104203" y="531812"/>
                </a:lnTo>
                <a:lnTo>
                  <a:pt x="120103" y="529145"/>
                </a:lnTo>
                <a:lnTo>
                  <a:pt x="130670" y="523151"/>
                </a:lnTo>
                <a:lnTo>
                  <a:pt x="136766" y="516813"/>
                </a:lnTo>
                <a:lnTo>
                  <a:pt x="141351" y="509587"/>
                </a:lnTo>
                <a:lnTo>
                  <a:pt x="512686" y="509651"/>
                </a:lnTo>
                <a:lnTo>
                  <a:pt x="512686" y="0"/>
                </a:lnTo>
                <a:close/>
              </a:path>
            </a:pathLst>
          </a:custGeom>
          <a:solidFill>
            <a:srgbClr val="12BC63"/>
          </a:solidFill>
        </p:spPr>
        <p:txBody>
          <a:bodyPr wrap="square" lIns="0" tIns="0" rIns="0" bIns="0" rtlCol="0"/>
          <a:lstStyle/>
          <a:p>
            <a:endParaRPr sz="7200"/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938CE870-0266-6CAE-05F8-99F05630396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7952" y="740069"/>
            <a:ext cx="1932834" cy="970354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AE4FBADF-B726-0410-85CC-C218B584E1E8}"/>
              </a:ext>
            </a:extLst>
          </p:cNvPr>
          <p:cNvSpPr txBox="1"/>
          <p:nvPr/>
        </p:nvSpPr>
        <p:spPr>
          <a:xfrm>
            <a:off x="2727260" y="12036144"/>
            <a:ext cx="3511550" cy="45653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5400">
              <a:spcBef>
                <a:spcPts val="200"/>
              </a:spcBef>
            </a:pPr>
            <a:r>
              <a:rPr sz="2800" spc="-40" dirty="0">
                <a:latin typeface="Figtree"/>
                <a:cs typeface="Figtree"/>
              </a:rPr>
              <a:t>Take </a:t>
            </a:r>
            <a:r>
              <a:rPr sz="2800" dirty="0">
                <a:latin typeface="Figtree"/>
                <a:cs typeface="Figtree"/>
              </a:rPr>
              <a:t>a</a:t>
            </a:r>
            <a:r>
              <a:rPr sz="2800" spc="-40" dirty="0">
                <a:latin typeface="Figtree"/>
                <a:cs typeface="Figtree"/>
              </a:rPr>
              <a:t> </a:t>
            </a:r>
            <a:r>
              <a:rPr sz="2800" dirty="0">
                <a:solidFill>
                  <a:srgbClr val="00C057"/>
                </a:solidFill>
                <a:latin typeface="Figtree"/>
                <a:cs typeface="Figtree"/>
              </a:rPr>
              <a:t>virtual</a:t>
            </a:r>
            <a:r>
              <a:rPr sz="2800" spc="-40" dirty="0">
                <a:solidFill>
                  <a:srgbClr val="00C057"/>
                </a:solidFill>
                <a:latin typeface="Figtree"/>
                <a:cs typeface="Figtree"/>
              </a:rPr>
              <a:t> </a:t>
            </a:r>
            <a:r>
              <a:rPr sz="2800" dirty="0">
                <a:solidFill>
                  <a:srgbClr val="00C057"/>
                </a:solidFill>
                <a:latin typeface="Figtree"/>
                <a:cs typeface="Figtree"/>
              </a:rPr>
              <a:t>site</a:t>
            </a:r>
            <a:r>
              <a:rPr sz="2800" spc="-60" dirty="0">
                <a:solidFill>
                  <a:srgbClr val="00C057"/>
                </a:solidFill>
                <a:latin typeface="Figtree"/>
                <a:cs typeface="Figtree"/>
              </a:rPr>
              <a:t> </a:t>
            </a:r>
            <a:r>
              <a:rPr sz="2800" spc="-40" dirty="0">
                <a:solidFill>
                  <a:srgbClr val="00C057"/>
                </a:solidFill>
                <a:latin typeface="Figtree"/>
                <a:cs typeface="Figtree"/>
              </a:rPr>
              <a:t>tour</a:t>
            </a:r>
            <a:endParaRPr sz="2800">
              <a:latin typeface="Figtree"/>
              <a:cs typeface="Figtree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690E60DC-729F-2C08-2CD8-0BAFCC675AC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012" y="11645352"/>
            <a:ext cx="1243686" cy="1245080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CAB9096F-7295-3303-DB81-DD2CA301B439}"/>
              </a:ext>
            </a:extLst>
          </p:cNvPr>
          <p:cNvSpPr txBox="1"/>
          <p:nvPr/>
        </p:nvSpPr>
        <p:spPr>
          <a:xfrm>
            <a:off x="9413809" y="12497612"/>
            <a:ext cx="5384800" cy="23980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76200">
              <a:spcBef>
                <a:spcPts val="190"/>
              </a:spcBef>
            </a:pPr>
            <a:r>
              <a:rPr sz="1400" dirty="0">
                <a:latin typeface="Figtree"/>
                <a:cs typeface="Figtree"/>
              </a:rPr>
              <a:t>Note: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CLS</a:t>
            </a:r>
            <a:r>
              <a:rPr sz="1400" spc="-7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stands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for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Cable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Landing</a:t>
            </a:r>
            <a:r>
              <a:rPr sz="1400" spc="-1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Station; </a:t>
            </a:r>
            <a:r>
              <a:rPr sz="1350" baseline="24691" dirty="0">
                <a:latin typeface="Figtree"/>
                <a:cs typeface="Figtree"/>
              </a:rPr>
              <a:t>1</a:t>
            </a:r>
            <a:r>
              <a:rPr sz="1350" spc="88" baseline="24691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From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2026</a:t>
            </a:r>
            <a:r>
              <a:rPr sz="1400" spc="-30" dirty="0">
                <a:latin typeface="Figtree"/>
                <a:cs typeface="Figtree"/>
              </a:rPr>
              <a:t> </a:t>
            </a:r>
            <a:r>
              <a:rPr sz="1400" spc="-20" dirty="0">
                <a:latin typeface="Figtree"/>
                <a:cs typeface="Figtree"/>
              </a:rPr>
              <a:t>onwards</a:t>
            </a:r>
            <a:endParaRPr sz="1400">
              <a:latin typeface="Figtree"/>
              <a:cs typeface="Figtree"/>
            </a:endParaRPr>
          </a:p>
        </p:txBody>
      </p:sp>
      <p:pic>
        <p:nvPicPr>
          <p:cNvPr id="12" name="object 12">
            <a:extLst>
              <a:ext uri="{FF2B5EF4-FFF2-40B4-BE49-F238E27FC236}">
                <a16:creationId xmlns:a16="http://schemas.microsoft.com/office/drawing/2014/main" id="{DC2582B3-9BEE-55DD-C6A2-56C7D9465C84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4996" y="12083476"/>
            <a:ext cx="239294" cy="4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86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BFBD0E-17B7-9B47-B18A-E82CFDCCD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3AA6BF-4828-132C-B24E-A3E4F0839034}"/>
              </a:ext>
            </a:extLst>
          </p:cNvPr>
          <p:cNvSpPr txBox="1"/>
          <p:nvPr/>
        </p:nvSpPr>
        <p:spPr>
          <a:xfrm>
            <a:off x="8420759" y="5926976"/>
            <a:ext cx="7313220" cy="363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SIN01 PDF</a:t>
            </a:r>
            <a:br>
              <a:rPr lang="en-US" sz="11500" b="1" dirty="0">
                <a:latin typeface="Figtree" pitchFamily="2" charset="0"/>
              </a:rPr>
            </a:br>
            <a:r>
              <a:rPr lang="en-US" sz="11500" b="1" dirty="0">
                <a:latin typeface="Figtree" pitchFamily="2" charset="0"/>
              </a:rPr>
              <a:t>PT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4183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473E07-24A3-310E-90F7-E114A4455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A5EA96B-CF21-D384-C0AD-59A7B58BA9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F3965C5-24F9-722A-21AB-628C56F678B7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>
                <a:solidFill>
                  <a:srgbClr val="00C159"/>
                </a:solidFill>
                <a:latin typeface="Figtree SemiBold" pitchFamily="2" charset="0"/>
              </a:rPr>
              <a:t>SIN 01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A Primeira Giga Fábrica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de IA na Europa
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2800" dirty="0">
                <a:solidFill>
                  <a:schemeClr val="bg1"/>
                </a:solidFill>
                <a:latin typeface="Figtree SemiBold" pitchFamily="2" charset="0"/>
              </a:rPr>
              <a:t>Sines, Portugal 
</a:t>
            </a:r>
            <a:r>
              <a:rPr lang="pt-PT" sz="2800" dirty="0">
                <a:solidFill>
                  <a:schemeClr val="bg1"/>
                </a:solidFill>
                <a:latin typeface="Figtree Light" pitchFamily="2" charset="0"/>
              </a:rPr>
              <a:t>Coordenadas do local: 37.934961, -8.812558
c. 90 km a sul de Lisboa</a:t>
            </a:r>
            <a:endParaRPr lang="en-US" sz="2800" dirty="0">
              <a:solidFill>
                <a:schemeClr val="bg1"/>
              </a:solidFill>
              <a:latin typeface="Figtree Light" pitchFamily="2" charset="0"/>
            </a:endParaRP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BDC57181-825D-72BD-0A5D-FE7A31B68646}"/>
              </a:ext>
            </a:extLst>
          </p:cNvPr>
          <p:cNvSpPr txBox="1">
            <a:spLocks/>
          </p:cNvSpPr>
          <p:nvPr/>
        </p:nvSpPr>
        <p:spPr>
          <a:xfrm>
            <a:off x="806767" y="7196592"/>
            <a:ext cx="7262464" cy="1819435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1.2GW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campus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ready-to-build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37.5 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SIN01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SOC 2</a:t>
            </a:r>
            <a:r>
              <a:rPr lang="en-US" sz="2800" dirty="0">
                <a:solidFill>
                  <a:schemeClr val="bg1"/>
                </a:solidFill>
              </a:rPr>
              <a:t> -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Leed Gold </a:t>
            </a:r>
            <a:r>
              <a:rPr lang="en-US" sz="2800" dirty="0">
                <a:solidFill>
                  <a:schemeClr val="bg1"/>
                </a:solidFill>
              </a:rPr>
              <a:t>-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ISO27001 - OCP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Read</a:t>
            </a:r>
            <a:r>
              <a:rPr lang="en-US" sz="2800" dirty="0">
                <a:solidFill>
                  <a:schemeClr val="bg1"/>
                </a:solidFill>
              </a:rPr>
              <a:t>y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5BFE00FD-4C55-186E-586B-1A8D666184CC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30A77D01-C28A-2727-E372-AB3CA497ACC9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Energia 100%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renovável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e de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baixo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custo</a:t>
            </a:r>
            <a:endParaRPr lang="en-US" sz="3600" b="1" dirty="0">
              <a:solidFill>
                <a:srgbClr val="00C159"/>
              </a:solidFill>
              <a:latin typeface="Figtree SemiBold" pitchFamily="2" charset="0"/>
            </a:endParaRP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946618C0-5D21-75A8-59FC-8DA94D0A9E54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889354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Baixa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Latência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para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grandes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cidades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59A3CCCE-214A-84C6-54BC-36C33B8BA1E4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738A22-CB44-EBF7-4928-49F6511AAEFA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2C6C3B-4C43-4A9B-1E17-21713D596B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5816BFF-1F36-14E9-90A5-576E6D8429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217E3B0D-4C3D-EEC0-30A1-79F2628834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3D4A36C6-255F-5A95-9F20-01423F4EA65A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2B4DDF1-A316-4FDA-E90F-7054EFA9663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E029C652-9472-BDAD-4453-5C516B63C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BF29C15B-186B-40ED-91B9-34003BFD553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F4C1A35A-6B5D-448C-6F20-9B8462A1DBA1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de capacidade IT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1A04737E-AB4C-A4AF-D53B-2C16FF698223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capacidade assegurada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8B31B55-3430-2B03-EB7C-584F6649601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060898D-A80D-F1D8-901F-FE8428B2D5E4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8"/>
          <a:stretch>
            <a:fillRect/>
          </a:stretch>
        </p:blipFill>
        <p:spPr>
          <a:xfrm>
            <a:off x="8860697" y="0"/>
            <a:ext cx="15526478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206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5A4150-C741-F274-ED8A-941357CAA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>
            <a:extLst>
              <a:ext uri="{FF2B5EF4-FFF2-40B4-BE49-F238E27FC236}">
                <a16:creationId xmlns:a16="http://schemas.microsoft.com/office/drawing/2014/main" id="{93ED4EE2-A39C-6DC8-D2ED-F23BF1399E60}"/>
              </a:ext>
            </a:extLst>
          </p:cNvPr>
          <p:cNvGraphicFramePr>
            <a:graphicFrameLocks noGrp="1"/>
          </p:cNvGraphicFramePr>
          <p:nvPr/>
        </p:nvGraphicFramePr>
        <p:xfrm>
          <a:off x="668184" y="1997016"/>
          <a:ext cx="8136890" cy="56217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080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Geral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Disponibilidade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Totalmente operacional e arrendado no final de outubro de 2025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Edifício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Construção nova, edifício de 1 andar
Parte de um campus de TI com 6 edifícios e 1,2 GW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Design da Construção da Base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Equivalente ao Nível III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>
                          <a:latin typeface="Figtree"/>
                          <a:cs typeface="Figtree"/>
                        </a:rPr>
                        <a:t>Data</a:t>
                      </a:r>
                      <a:r>
                        <a:rPr sz="1800" spc="-2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>
                          <a:latin typeface="Figtree"/>
                          <a:cs typeface="Figtree"/>
                        </a:rPr>
                        <a:t>Halls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3, com possíveis “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cages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”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Escritório / Armazenamento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Disponível mediante pedido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58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Acesso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spc="-20" dirty="0">
                          <a:latin typeface="Figtree"/>
                          <a:cs typeface="Figtree"/>
                        </a:rPr>
                        <a:t>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Docas de carga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en-US" sz="1800" dirty="0">
                          <a:latin typeface="Figtree"/>
                          <a:cs typeface="Figtree"/>
                        </a:rPr>
                        <a:t>3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1876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Outros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11239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Segurança e Operações 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Certificações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9334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OCP</a:t>
                      </a:r>
                      <a:r>
                        <a:rPr sz="18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Ready for</a:t>
                      </a:r>
                      <a:r>
                        <a:rPr sz="18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Hyperscale ISO27001</a:t>
                      </a:r>
                      <a:br>
                        <a:rPr lang="en-US" sz="1800" spc="-10" dirty="0">
                          <a:latin typeface="Figtree"/>
                          <a:cs typeface="Figtree"/>
                        </a:rPr>
                      </a:br>
                      <a:r>
                        <a:rPr lang="en-US" sz="1800" spc="-10" dirty="0">
                          <a:latin typeface="Figtree"/>
                          <a:cs typeface="Figtree"/>
                        </a:rPr>
                        <a:t>Leed Gold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A8F92D2B-60CE-8575-F051-4573FC705DF6}"/>
              </a:ext>
            </a:extLst>
          </p:cNvPr>
          <p:cNvGraphicFramePr>
            <a:graphicFrameLocks noGrp="1"/>
          </p:cNvGraphicFramePr>
          <p:nvPr/>
        </p:nvGraphicFramePr>
        <p:xfrm>
          <a:off x="9308655" y="2034082"/>
          <a:ext cx="8135620" cy="3549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Energia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Fornecedores de Serviços Públicos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E-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Redes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Energia Elétrica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alimentações de alta tensão 60kV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Distribuição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Tensão Média 11kV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Utilização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 marR="32956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Medição de nível comercial; Opção de preços </a:t>
                      </a:r>
                      <a:r>
                        <a:rPr lang="pt-PT" sz="1800" spc="-10" dirty="0" err="1">
                          <a:latin typeface="Figtree"/>
                          <a:cs typeface="Figtree"/>
                        </a:rPr>
                        <a:t>pass-through</a:t>
                      </a:r>
                      <a:r>
                        <a:rPr lang="pt-PT" sz="1800" spc="-10" dirty="0">
                          <a:latin typeface="Figtree"/>
                          <a:cs typeface="Figtree"/>
                        </a:rPr>
                        <a:t>, fixos ou híbridos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800" spc="-25" dirty="0">
                          <a:latin typeface="Figtree"/>
                          <a:cs typeface="Figtree"/>
                        </a:rPr>
                        <a:t>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Backup redundante distribuído de LV &amp; 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Energia de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Sistema de geração alimentado por HVO 24h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893AFAD4-D588-C358-C145-21B0807587C9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5806237"/>
          <a:ext cx="8136890" cy="3895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02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Arrefecimento</a:t>
                      </a: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Sistema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2311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Rejeição de calor para um Sistema de Água do Mar e sistema de arrefecimento como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Flexibilidade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49910" indent="-170180">
                        <a:lnSpc>
                          <a:spcPct val="100000"/>
                        </a:lnSpc>
                        <a:spcBef>
                          <a:spcPts val="90"/>
                        </a:spcBef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100% Refrigeração líquida
Arrefecimento a ar (paredes do ventilador)
Arrefecimento híbrido de ar e líquido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Serviço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Simultaneamente sustentável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Fiabilidade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9080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Redundância N+1, fonte de energia dupla, tubagem 2N; Tolerante a falhas com térmico
Armazenamento para arrefecimento ininterrupto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0B06243F-2203-138D-0FF4-C320947D9B29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10086320"/>
          <a:ext cx="8136890" cy="23088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30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5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Telecomunicações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Pontos de entrada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Quatro pontos de entrada diferentes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Meet-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Me</a:t>
                      </a:r>
                      <a:r>
                        <a:rPr sz="1800" spc="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Rooms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Dois 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MMRs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 independentes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18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Neutral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Acesso a múltiplos operadores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Cable</a:t>
                      </a:r>
                      <a:r>
                        <a:rPr sz="1800" spc="-6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Landing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Sines &lt;4 milhas de distância (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EllaLink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, Nuvem1)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C2C66277-CF88-2C60-4C17-A55563CC4559}"/>
              </a:ext>
            </a:extLst>
          </p:cNvPr>
          <p:cNvGraphicFramePr>
            <a:graphicFrameLocks noGrp="1"/>
          </p:cNvGraphicFramePr>
          <p:nvPr/>
        </p:nvGraphicFramePr>
        <p:xfrm>
          <a:off x="668184" y="7941869"/>
          <a:ext cx="8136890" cy="34201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1440">
                        <a:lnSpc>
                          <a:spcPts val="1614"/>
                        </a:lnSpc>
                      </a:pPr>
                      <a:r>
                        <a:rPr lang="pt-PT" sz="2800" b="1" spc="-10" noProof="0" dirty="0">
                          <a:latin typeface="Figtree"/>
                          <a:cs typeface="Figtree"/>
                        </a:rPr>
                        <a:t>Segurança</a:t>
                      </a:r>
                      <a:endParaRPr lang="pt-PT" sz="2800" noProof="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pt-PT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Pessoal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Segurança 24/7</a:t>
                      </a: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CCTV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360º</a:t>
                      </a:r>
                      <a:r>
                        <a:rPr lang="pt-PT" sz="1800" spc="5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video-</a:t>
                      </a:r>
                      <a:r>
                        <a:rPr lang="pt-PT" sz="1800" noProof="0" dirty="0" err="1">
                          <a:latin typeface="Figtree"/>
                          <a:cs typeface="Figtree"/>
                        </a:rPr>
                        <a:t>analytics</a:t>
                      </a: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(interior/exterior)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Controlo de acesso</a:t>
                      </a: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de controlo de acesso biométrico e MFA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Perímetro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20701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Vedação metálica de segurança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anti-escalada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 com deteção de intrusão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Defesa em Profundidade</a:t>
                      </a: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Múltiplas camadas concêntricas de segurança</a:t>
                      </a: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Integração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Integrado de Segurança Física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object 7">
            <a:extLst>
              <a:ext uri="{FF2B5EF4-FFF2-40B4-BE49-F238E27FC236}">
                <a16:creationId xmlns:a16="http://schemas.microsoft.com/office/drawing/2014/main" id="{76264AA1-8734-8B40-5855-FD1BD3A8BBAE}"/>
              </a:ext>
            </a:extLst>
          </p:cNvPr>
          <p:cNvSpPr/>
          <p:nvPr/>
        </p:nvSpPr>
        <p:spPr>
          <a:xfrm>
            <a:off x="636917" y="669974"/>
            <a:ext cx="1026160" cy="1064260"/>
          </a:xfrm>
          <a:custGeom>
            <a:avLst/>
            <a:gdLst/>
            <a:ahLst/>
            <a:cxnLst/>
            <a:rect l="l" t="t" r="r" b="b"/>
            <a:pathLst>
              <a:path w="513080" h="532130">
                <a:moveTo>
                  <a:pt x="336372" y="229755"/>
                </a:moveTo>
                <a:lnTo>
                  <a:pt x="256235" y="229755"/>
                </a:lnTo>
                <a:lnTo>
                  <a:pt x="294462" y="81940"/>
                </a:lnTo>
                <a:lnTo>
                  <a:pt x="293573" y="81648"/>
                </a:lnTo>
                <a:lnTo>
                  <a:pt x="172593" y="278866"/>
                </a:lnTo>
                <a:lnTo>
                  <a:pt x="247637" y="278866"/>
                </a:lnTo>
                <a:lnTo>
                  <a:pt x="209207" y="425234"/>
                </a:lnTo>
                <a:lnTo>
                  <a:pt x="209918" y="425551"/>
                </a:lnTo>
                <a:lnTo>
                  <a:pt x="336372" y="229755"/>
                </a:lnTo>
                <a:close/>
              </a:path>
              <a:path w="513080" h="532130">
                <a:moveTo>
                  <a:pt x="512686" y="0"/>
                </a:moveTo>
                <a:lnTo>
                  <a:pt x="4648" y="0"/>
                </a:lnTo>
                <a:lnTo>
                  <a:pt x="0" y="76"/>
                </a:lnTo>
                <a:lnTo>
                  <a:pt x="0" y="414693"/>
                </a:lnTo>
                <a:lnTo>
                  <a:pt x="39039" y="414693"/>
                </a:lnTo>
                <a:lnTo>
                  <a:pt x="39039" y="38989"/>
                </a:lnTo>
                <a:lnTo>
                  <a:pt x="473633" y="38989"/>
                </a:lnTo>
                <a:lnTo>
                  <a:pt x="473633" y="468376"/>
                </a:lnTo>
                <a:lnTo>
                  <a:pt x="141490" y="468363"/>
                </a:lnTo>
                <a:lnTo>
                  <a:pt x="136715" y="461352"/>
                </a:lnTo>
                <a:lnTo>
                  <a:pt x="130378" y="455028"/>
                </a:lnTo>
                <a:lnTo>
                  <a:pt x="119735" y="449072"/>
                </a:lnTo>
                <a:lnTo>
                  <a:pt x="104203" y="446417"/>
                </a:lnTo>
                <a:lnTo>
                  <a:pt x="87337" y="449745"/>
                </a:lnTo>
                <a:lnTo>
                  <a:pt x="73901" y="458825"/>
                </a:lnTo>
                <a:lnTo>
                  <a:pt x="64985" y="472287"/>
                </a:lnTo>
                <a:lnTo>
                  <a:pt x="61772" y="488759"/>
                </a:lnTo>
                <a:lnTo>
                  <a:pt x="65100" y="505358"/>
                </a:lnTo>
                <a:lnTo>
                  <a:pt x="74206" y="519061"/>
                </a:lnTo>
                <a:lnTo>
                  <a:pt x="87693" y="528370"/>
                </a:lnTo>
                <a:lnTo>
                  <a:pt x="104203" y="531812"/>
                </a:lnTo>
                <a:lnTo>
                  <a:pt x="120103" y="529145"/>
                </a:lnTo>
                <a:lnTo>
                  <a:pt x="130670" y="523151"/>
                </a:lnTo>
                <a:lnTo>
                  <a:pt x="136766" y="516813"/>
                </a:lnTo>
                <a:lnTo>
                  <a:pt x="141351" y="509587"/>
                </a:lnTo>
                <a:lnTo>
                  <a:pt x="512686" y="509651"/>
                </a:lnTo>
                <a:lnTo>
                  <a:pt x="512686" y="0"/>
                </a:lnTo>
                <a:close/>
              </a:path>
            </a:pathLst>
          </a:custGeom>
          <a:solidFill>
            <a:srgbClr val="12BC63"/>
          </a:solidFill>
        </p:spPr>
        <p:txBody>
          <a:bodyPr wrap="square" lIns="0" tIns="0" rIns="0" bIns="0" rtlCol="0"/>
          <a:lstStyle/>
          <a:p>
            <a:endParaRPr sz="7200"/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53A8567D-586A-3A3B-4104-31D63710129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7952" y="740069"/>
            <a:ext cx="1932834" cy="970354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C33CB273-7455-6CDA-4AB2-D797A5B78713}"/>
              </a:ext>
            </a:extLst>
          </p:cNvPr>
          <p:cNvSpPr txBox="1"/>
          <p:nvPr/>
        </p:nvSpPr>
        <p:spPr>
          <a:xfrm>
            <a:off x="2727260" y="12036144"/>
            <a:ext cx="5384800" cy="45653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5400">
              <a:spcBef>
                <a:spcPts val="200"/>
              </a:spcBef>
            </a:pPr>
            <a:r>
              <a:rPr lang="pt-PT" sz="2800" spc="-40" dirty="0">
                <a:latin typeface="Figtree"/>
                <a:cs typeface="Figtree"/>
              </a:rPr>
              <a:t>Faça uma visita virtual ao local</a:t>
            </a:r>
            <a:endParaRPr sz="2800" dirty="0">
              <a:latin typeface="Figtree"/>
              <a:cs typeface="Figtree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832BC3E6-136B-2EF9-7BCB-7006F7D6D5D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012" y="11645352"/>
            <a:ext cx="1243686" cy="1245080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B0715790-151A-8627-FFB6-6CCFD106C228}"/>
              </a:ext>
            </a:extLst>
          </p:cNvPr>
          <p:cNvSpPr txBox="1"/>
          <p:nvPr/>
        </p:nvSpPr>
        <p:spPr>
          <a:xfrm>
            <a:off x="9413809" y="12497612"/>
            <a:ext cx="5384800" cy="23980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76200">
              <a:spcBef>
                <a:spcPts val="190"/>
              </a:spcBef>
            </a:pPr>
            <a:r>
              <a:rPr sz="1400" dirty="0">
                <a:latin typeface="Figtree"/>
                <a:cs typeface="Figtree"/>
              </a:rPr>
              <a:t>Note: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CLS</a:t>
            </a:r>
            <a:r>
              <a:rPr sz="1400" spc="-7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stands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for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Cable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Landing</a:t>
            </a:r>
            <a:r>
              <a:rPr sz="1400" spc="-1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Station; </a:t>
            </a:r>
            <a:r>
              <a:rPr sz="1350" baseline="24691" dirty="0">
                <a:latin typeface="Figtree"/>
                <a:cs typeface="Figtree"/>
              </a:rPr>
              <a:t>1</a:t>
            </a:r>
            <a:r>
              <a:rPr sz="1350" spc="88" baseline="24691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From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2026</a:t>
            </a:r>
            <a:r>
              <a:rPr sz="1400" spc="-30" dirty="0">
                <a:latin typeface="Figtree"/>
                <a:cs typeface="Figtree"/>
              </a:rPr>
              <a:t> </a:t>
            </a:r>
            <a:r>
              <a:rPr sz="1400" spc="-20" dirty="0">
                <a:latin typeface="Figtree"/>
                <a:cs typeface="Figtree"/>
              </a:rPr>
              <a:t>onwards</a:t>
            </a:r>
            <a:endParaRPr sz="1400">
              <a:latin typeface="Figtree"/>
              <a:cs typeface="Figtree"/>
            </a:endParaRPr>
          </a:p>
        </p:txBody>
      </p:sp>
      <p:pic>
        <p:nvPicPr>
          <p:cNvPr id="12" name="object 12">
            <a:extLst>
              <a:ext uri="{FF2B5EF4-FFF2-40B4-BE49-F238E27FC236}">
                <a16:creationId xmlns:a16="http://schemas.microsoft.com/office/drawing/2014/main" id="{9287CB8C-C261-C84E-EF05-7014FFA7078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4996" y="12083476"/>
            <a:ext cx="239294" cy="4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394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AE38B1F-A116-D731-F38A-0E49CBDC5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4D0296-B724-3816-3E53-60ADD2495D9F}"/>
              </a:ext>
            </a:extLst>
          </p:cNvPr>
          <p:cNvSpPr txBox="1"/>
          <p:nvPr/>
        </p:nvSpPr>
        <p:spPr>
          <a:xfrm>
            <a:off x="8420759" y="5926976"/>
            <a:ext cx="754565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SIN02 PDF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51420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E0B442-F6B8-8DC1-BAFE-D5050FA01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C35F65C-4C68-3CF4-DA89-32EE65A499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524BE89-2409-610B-0E40-971CB39CECEC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 02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Europe’s First Giga-Scale</a:t>
            </a:r>
            <a:b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it-IT" sz="4000" dirty="0">
                <a:solidFill>
                  <a:schemeClr val="bg1"/>
                </a:solidFill>
                <a:latin typeface="Figtree SemiBold" pitchFamily="2" charset="0"/>
              </a:rPr>
              <a:t>AI Data Campus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B8C741C7-7299-05F4-14EA-9E1A240B00F3}"/>
              </a:ext>
            </a:extLst>
          </p:cNvPr>
          <p:cNvSpPr txBox="1">
            <a:spLocks/>
          </p:cNvSpPr>
          <p:nvPr/>
        </p:nvSpPr>
        <p:spPr>
          <a:xfrm>
            <a:off x="806767" y="7411712"/>
            <a:ext cx="7262464" cy="1188783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IT Capacity - up to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600kW racks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Q3 2027 - 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EC328A49-8CE2-F0B4-8067-FAF5530F568D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5" name="Text Placeholder 1">
            <a:extLst>
              <a:ext uri="{FF2B5EF4-FFF2-40B4-BE49-F238E27FC236}">
                <a16:creationId xmlns:a16="http://schemas.microsoft.com/office/drawing/2014/main" id="{7E7DDFD3-3B59-59D3-E583-811757D79F23}"/>
              </a:ext>
            </a:extLst>
          </p:cNvPr>
          <p:cNvSpPr txBox="1">
            <a:spLocks/>
          </p:cNvSpPr>
          <p:nvPr/>
        </p:nvSpPr>
        <p:spPr>
          <a:xfrm>
            <a:off x="10803386" y="12046835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cost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and 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100% renewable power</a:t>
            </a:r>
          </a:p>
        </p:txBody>
      </p:sp>
      <p:sp>
        <p:nvSpPr>
          <p:cNvPr id="27" name="Text Placeholder 1">
            <a:extLst>
              <a:ext uri="{FF2B5EF4-FFF2-40B4-BE49-F238E27FC236}">
                <a16:creationId xmlns:a16="http://schemas.microsoft.com/office/drawing/2014/main" id="{6B512F87-1C34-6525-A0AD-3047236FC26E}"/>
              </a:ext>
            </a:extLst>
          </p:cNvPr>
          <p:cNvSpPr txBox="1">
            <a:spLocks/>
          </p:cNvSpPr>
          <p:nvPr/>
        </p:nvSpPr>
        <p:spPr>
          <a:xfrm>
            <a:off x="10803387" y="11082896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Low latency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to all major cities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042881B5-3571-C3F1-5DE0-154E4C6F5BCC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1FCED8D-D229-8865-6522-D55DAF27E703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2A4E08-E73B-49C4-666C-A0F55234C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FFAC922-AB25-72A2-F5A2-7725D6B8F7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9FCCB2D2-57BB-A93B-00FF-FDC36D1A3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A3693567-CFE0-0EEB-8E10-9F17E15A1517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B97F82-F65D-9A7B-5FB3-FD6ABC173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48A87D9-73E4-B9B4-EA1E-51A91BFEA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1172E655-48EC-A4F8-CD1F-B8EAAA40394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sp>
        <p:nvSpPr>
          <p:cNvPr id="37" name="Text Placeholder 1">
            <a:extLst>
              <a:ext uri="{FF2B5EF4-FFF2-40B4-BE49-F238E27FC236}">
                <a16:creationId xmlns:a16="http://schemas.microsoft.com/office/drawing/2014/main" id="{3798A1A4-3EB4-4C4F-E3CC-E2165B3D5FCA}"/>
              </a:ext>
            </a:extLst>
          </p:cNvPr>
          <p:cNvSpPr txBox="1">
            <a:spLocks/>
          </p:cNvSpPr>
          <p:nvPr/>
        </p:nvSpPr>
        <p:spPr>
          <a:xfrm>
            <a:off x="10803386" y="9155020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IT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38" name="Text Placeholder 1">
            <a:extLst>
              <a:ext uri="{FF2B5EF4-FFF2-40B4-BE49-F238E27FC236}">
                <a16:creationId xmlns:a16="http://schemas.microsoft.com/office/drawing/2014/main" id="{36544594-3730-7ED1-3D13-5028878287CD}"/>
              </a:ext>
            </a:extLst>
          </p:cNvPr>
          <p:cNvSpPr txBox="1">
            <a:spLocks/>
          </p:cNvSpPr>
          <p:nvPr/>
        </p:nvSpPr>
        <p:spPr>
          <a:xfrm>
            <a:off x="10803387" y="10118958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Grid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capacity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pt-PT" sz="3600" b="1" dirty="0" err="1">
                <a:solidFill>
                  <a:schemeClr val="bg1"/>
                </a:solidFill>
                <a:latin typeface="Figtree SemiBold" pitchFamily="2" charset="0"/>
              </a:rPr>
              <a:t>secured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D6C92E9C-3BE1-4BF4-345A-6328F13BBD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C326EE-643C-9598-73CB-9317EECCD5C2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6"/>
          <a:stretch>
            <a:fillRect/>
          </a:stretch>
        </p:blipFill>
        <p:spPr>
          <a:xfrm>
            <a:off x="8882677" y="0"/>
            <a:ext cx="15510061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7911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44F797-ADD3-0185-414F-2D09F76F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id="{C7BF0E00-2467-8BE2-DA9F-763FA5CC617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4369" r="34369"/>
          <a:stretch>
            <a:fillRect/>
          </a:stretch>
        </p:blipFill>
        <p:spPr>
          <a:xfrm>
            <a:off x="17953038" y="0"/>
            <a:ext cx="6432550" cy="13716000"/>
          </a:xfr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6FC38DE-BDAE-A192-1553-61FF8208B8BE}"/>
              </a:ext>
            </a:extLst>
          </p:cNvPr>
          <p:cNvGraphicFramePr>
            <a:graphicFrameLocks noGrp="1"/>
          </p:cNvGraphicFramePr>
          <p:nvPr/>
        </p:nvGraphicFramePr>
        <p:xfrm>
          <a:off x="634391" y="2004428"/>
          <a:ext cx="8136000" cy="57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General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778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Availability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200 MW </a:t>
                      </a:r>
                    </a:p>
                    <a:p>
                      <a:r>
                        <a:rPr lang="en-US" sz="2200" dirty="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Q3 2027</a:t>
                      </a:r>
                      <a:endParaRPr lang="en-GB" sz="2200" dirty="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Building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New build, 2 stories building</a:t>
                      </a:r>
                    </a:p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Part of a 6-building, 1.2 GW IT campus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Base Build design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Tier III-equivalent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32859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Data Halls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3, with possible cages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196189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Office / Storage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Available upon request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905140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Access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24/7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143017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Loading docks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Three bays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5824016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Others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Security and Ops 24/7</a:t>
                      </a:r>
                      <a:b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</a:b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Remote hands available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906611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Certifications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OCP Ready for Hyperscale</a:t>
                      </a:r>
                    </a:p>
                    <a:p>
                      <a:r>
                        <a:rPr lang="en-GB" sz="2200" dirty="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ISO27001 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9834249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B5857ED-E54A-F838-DF36-3E4E0DBAFA98}"/>
              </a:ext>
            </a:extLst>
          </p:cNvPr>
          <p:cNvGraphicFramePr>
            <a:graphicFrameLocks noGrp="1"/>
          </p:cNvGraphicFramePr>
          <p:nvPr/>
        </p:nvGraphicFramePr>
        <p:xfrm>
          <a:off x="9308773" y="2004428"/>
          <a:ext cx="8136000" cy="34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Power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443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Utility Providers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REN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407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Utility Power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2N 400kv and 4N3 150kV/22kV</a:t>
                      </a:r>
                      <a:endParaRPr lang="en-GB" sz="2200" kern="1200">
                        <a:solidFill>
                          <a:schemeClr val="tx1"/>
                        </a:solidFill>
                        <a:latin typeface="Figtree" pitchFamily="2" charset="0"/>
                        <a:ea typeface="+mn-ea"/>
                        <a:cs typeface="+mn-cs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  <a:tr h="407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Power Distribution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4N3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990192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Power Usage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Revenue-grade metering; option of pass-through, fixed or hybrid pricing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013986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UPS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Distributed redundant LV &amp; UPS backup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905140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Back-up power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24h HVO-fueled Gen system​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914301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5BE58830-BC64-247A-3450-5E58405518B1}"/>
              </a:ext>
            </a:extLst>
          </p:cNvPr>
          <p:cNvGraphicFramePr>
            <a:graphicFrameLocks noGrp="1"/>
          </p:cNvGraphicFramePr>
          <p:nvPr/>
        </p:nvGraphicFramePr>
        <p:xfrm>
          <a:off x="9308773" y="5775688"/>
          <a:ext cx="8136000" cy="39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Cooling 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778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System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Heat rejection to a Sea Water System and chiller system as back-up</a:t>
                      </a:r>
                    </a:p>
                  </a:txBody>
                  <a:tcPr marL="182880" marR="182880" marT="72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107784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Flexibility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Liquid cooling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Air cooling (fan walls)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Hybrid air &amp; liquid cooling </a:t>
                      </a: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Service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Concurrently maintainable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013986"/>
                  </a:ext>
                </a:extLst>
              </a:tr>
              <a:tr h="107784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Reliability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N+1 redundancy, dual power source, 2N piping; fault-tolerant with thermal storage for uninterrupted cooling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8905140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7053492E-47C7-7DCE-410D-EAB8E9D3E50B}"/>
              </a:ext>
            </a:extLst>
          </p:cNvPr>
          <p:cNvGraphicFramePr>
            <a:graphicFrameLocks noGrp="1"/>
          </p:cNvGraphicFramePr>
          <p:nvPr/>
        </p:nvGraphicFramePr>
        <p:xfrm>
          <a:off x="9308773" y="10055988"/>
          <a:ext cx="8136000" cy="300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Telecom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49872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Entry points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Six diverse entry points (4 at SIN01+ 2 at SIN02)</a:t>
                      </a:r>
                    </a:p>
                  </a:txBody>
                  <a:tcPr marL="182880" marR="182880" marT="72000" marB="9144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Meet-Me Rooms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Two independent MMRs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986649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Carrier Neutral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Multiple carrier access + Connection to the SIN01.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02801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Cable Landing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Sines &lt;4 miles away (</a:t>
                      </a:r>
                      <a:r>
                        <a:rPr lang="en-US" sz="2200" kern="1200" dirty="0" err="1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EllaLink</a:t>
                      </a: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, Nuvem</a:t>
                      </a:r>
                      <a:r>
                        <a:rPr lang="en-US" sz="2200" kern="1200" baseline="300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1</a:t>
                      </a:r>
                      <a:r>
                        <a:rPr lang="en-US" sz="2200" kern="1200" dirty="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058348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04963F8-EFCA-5A73-4649-D476279DFBAD}"/>
              </a:ext>
            </a:extLst>
          </p:cNvPr>
          <p:cNvGraphicFramePr>
            <a:graphicFrameLocks noGrp="1"/>
          </p:cNvGraphicFramePr>
          <p:nvPr/>
        </p:nvGraphicFramePr>
        <p:xfrm>
          <a:off x="668183" y="7910870"/>
          <a:ext cx="8136000" cy="346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92837733"/>
                    </a:ext>
                  </a:extLst>
                </a:gridCol>
                <a:gridCol w="5400000">
                  <a:extLst>
                    <a:ext uri="{9D8B030D-6E8A-4147-A177-3AD203B41FA5}">
                      <a16:colId xmlns:a16="http://schemas.microsoft.com/office/drawing/2014/main" val="1185552388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r>
                        <a:rPr lang="en-US" sz="28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Security</a:t>
                      </a:r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GB" sz="28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441108"/>
                  </a:ext>
                </a:extLst>
              </a:tr>
              <a:tr h="44328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Personnel 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72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24/7 manned security</a:t>
                      </a:r>
                    </a:p>
                  </a:txBody>
                  <a:tcPr marL="182880" marR="182880" marT="72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00794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CCTV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360º video-analytics (interior/exterior)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986649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Access control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Biometric &amp; MFA access control system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2364911"/>
                  </a:ext>
                </a:extLst>
              </a:tr>
              <a:tr h="74256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Perimeter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Anti-climb security metal fencing with intrusion detection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5531268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GB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Defense In Depth</a:t>
                      </a: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Multiple concentric security layers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8989322"/>
                  </a:ext>
                </a:extLst>
              </a:tr>
              <a:tr h="424800">
                <a:tc>
                  <a:txBody>
                    <a:bodyPr/>
                    <a:lstStyle/>
                    <a:p>
                      <a:r>
                        <a:rPr lang="en-US" sz="2200">
                          <a:solidFill>
                            <a:schemeClr val="tx1"/>
                          </a:solidFill>
                          <a:latin typeface="Figtree" pitchFamily="2" charset="0"/>
                        </a:rPr>
                        <a:t>Integration</a:t>
                      </a:r>
                      <a:endParaRPr lang="en-GB" sz="2200">
                        <a:solidFill>
                          <a:schemeClr val="tx1"/>
                        </a:solidFill>
                        <a:latin typeface="Figtree" pitchFamily="2" charset="0"/>
                      </a:endParaRPr>
                    </a:p>
                  </a:txBody>
                  <a:tcPr marL="182880" marR="182880" marT="36000" marB="3600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kern="1200">
                          <a:solidFill>
                            <a:schemeClr val="tx1"/>
                          </a:solidFill>
                          <a:latin typeface="Figtree" pitchFamily="2" charset="0"/>
                          <a:ea typeface="+mn-ea"/>
                          <a:cs typeface="+mn-cs"/>
                        </a:rPr>
                        <a:t>Integrated Physical Security system</a:t>
                      </a:r>
                    </a:p>
                  </a:txBody>
                  <a:tcPr marL="182880" marR="182880" marT="36000" marB="36000" anchor="ctr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0440830"/>
                  </a:ext>
                </a:extLst>
              </a:tr>
            </a:tbl>
          </a:graphicData>
        </a:graphic>
      </p:graphicFrame>
      <p:pic>
        <p:nvPicPr>
          <p:cNvPr id="30" name="Graphic 29">
            <a:extLst>
              <a:ext uri="{FF2B5EF4-FFF2-40B4-BE49-F238E27FC236}">
                <a16:creationId xmlns:a16="http://schemas.microsoft.com/office/drawing/2014/main" id="{2B4D1CD9-8AA8-6A8C-D05A-175478503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391" y="667382"/>
            <a:ext cx="3217900" cy="1067888"/>
          </a:xfrm>
          <a:prstGeom prst="rect">
            <a:avLst/>
          </a:prstGeom>
        </p:spPr>
      </p:pic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35545730-6E1C-E802-EE20-22A49B5D4C9B}"/>
              </a:ext>
            </a:extLst>
          </p:cNvPr>
          <p:cNvSpPr txBox="1">
            <a:spLocks/>
          </p:cNvSpPr>
          <p:nvPr/>
        </p:nvSpPr>
        <p:spPr>
          <a:xfrm>
            <a:off x="2752125" y="11933233"/>
            <a:ext cx="3900532" cy="71510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2800">
                <a:solidFill>
                  <a:srgbClr val="000000"/>
                </a:solidFill>
                <a:latin typeface="Figtree" pitchFamily="2" charset="0"/>
              </a:rPr>
              <a:t>Take a </a:t>
            </a:r>
            <a:r>
              <a:rPr lang="en-US" sz="2800">
                <a:solidFill>
                  <a:srgbClr val="00C058"/>
                </a:solidFill>
                <a:latin typeface="Figtree" pitchFamily="2" charset="0"/>
              </a:rPr>
              <a:t>virtual site tour</a:t>
            </a: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7117CC0-1C4E-BB41-8464-6E3E61FCE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07" y="11572113"/>
            <a:ext cx="1527176" cy="1437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7441654-7E64-FCAB-5794-8482267714FF}"/>
              </a:ext>
            </a:extLst>
          </p:cNvPr>
          <p:cNvSpPr txBox="1"/>
          <p:nvPr/>
        </p:nvSpPr>
        <p:spPr>
          <a:xfrm>
            <a:off x="9308773" y="13058148"/>
            <a:ext cx="5568810" cy="307777"/>
          </a:xfrm>
          <a:prstGeom prst="rect">
            <a:avLst/>
          </a:prstGeom>
          <a:noFill/>
        </p:spPr>
        <p:txBody>
          <a:bodyPr wrap="none" lIns="180000" rtlCol="0">
            <a:spAutoFit/>
          </a:bodyPr>
          <a:lstStyle/>
          <a:p>
            <a:pPr defTabSz="1828800"/>
            <a:r>
              <a:rPr lang="en-US" sz="1400">
                <a:solidFill>
                  <a:srgbClr val="000000"/>
                </a:solidFill>
                <a:latin typeface="Figtree" pitchFamily="2" charset="0"/>
              </a:rPr>
              <a:t>Note: CLS stands for Cable Landing Station; </a:t>
            </a:r>
            <a:r>
              <a:rPr lang="en-US" sz="1400" baseline="30000">
                <a:solidFill>
                  <a:srgbClr val="000000"/>
                </a:solidFill>
                <a:latin typeface="Figtree" pitchFamily="2" charset="0"/>
              </a:rPr>
              <a:t>1</a:t>
            </a:r>
            <a:r>
              <a:rPr lang="en-US" sz="1400">
                <a:solidFill>
                  <a:srgbClr val="000000"/>
                </a:solidFill>
                <a:latin typeface="Figtree" pitchFamily="2" charset="0"/>
              </a:rPr>
              <a:t> From 2026 onwards</a:t>
            </a:r>
            <a:endParaRPr lang="en-GB" sz="1400">
              <a:solidFill>
                <a:srgbClr val="000000"/>
              </a:solidFill>
              <a:latin typeface="Figtree" pitchFamily="2" charset="0"/>
            </a:endParaRPr>
          </a:p>
        </p:txBody>
      </p:sp>
      <p:pic>
        <p:nvPicPr>
          <p:cNvPr id="39" name="Graphic 38" descr="Caret Right with solid fill">
            <a:extLst>
              <a:ext uri="{FF2B5EF4-FFF2-40B4-BE49-F238E27FC236}">
                <a16:creationId xmlns:a16="http://schemas.microsoft.com/office/drawing/2014/main" id="{9DFE11A3-FD97-B06C-D0F2-DB45DAC229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05454" y="11933233"/>
            <a:ext cx="715102" cy="71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0404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A6F750-CAC8-3641-24D8-20EA9CF8A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160D66-8E84-8812-800F-9C37FE5C24C6}"/>
              </a:ext>
            </a:extLst>
          </p:cNvPr>
          <p:cNvSpPr txBox="1"/>
          <p:nvPr/>
        </p:nvSpPr>
        <p:spPr>
          <a:xfrm>
            <a:off x="8420759" y="5926976"/>
            <a:ext cx="7545655" cy="363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>
                <a:latin typeface="Figtree" pitchFamily="2" charset="0"/>
              </a:rPr>
              <a:t>SIN02 PDF</a:t>
            </a:r>
            <a:br>
              <a:rPr lang="en-US" sz="11500" b="1" dirty="0">
                <a:latin typeface="Figtree" pitchFamily="2" charset="0"/>
              </a:rPr>
            </a:br>
            <a:r>
              <a:rPr lang="en-US" sz="11500" b="1" dirty="0">
                <a:latin typeface="Figtree" pitchFamily="2" charset="0"/>
              </a:rPr>
              <a:t>PT</a:t>
            </a:r>
            <a:endParaRPr lang="pt-PT" sz="11500" b="1" dirty="0">
              <a:latin typeface="Figtre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93999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1EBF0C-6C24-BBEA-5E40-2027809F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397C7C0-9138-7C2C-5916-88ED1DBFDD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6679" y="0"/>
            <a:ext cx="8889356" cy="1371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800"/>
            <a:endParaRPr lang="en-GB">
              <a:solidFill>
                <a:srgbClr val="F4F4FF"/>
              </a:solidFill>
              <a:latin typeface="Gill Sans MT" panose="020B0502020104020203"/>
            </a:endParaRP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E35DB72-F30A-B7A7-3680-01034CFD53BC}"/>
              </a:ext>
            </a:extLst>
          </p:cNvPr>
          <p:cNvSpPr txBox="1">
            <a:spLocks/>
          </p:cNvSpPr>
          <p:nvPr/>
        </p:nvSpPr>
        <p:spPr>
          <a:xfrm>
            <a:off x="517441" y="3710863"/>
            <a:ext cx="7841116" cy="3147137"/>
          </a:xfrm>
          <a:prstGeom prst="rect">
            <a:avLst/>
          </a:prstGeom>
        </p:spPr>
        <p:txBody>
          <a:bodyPr lIns="72000" tIns="0" rIns="0" bIns="0" anchor="b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 defTabSz="1828526"/>
            <a:r>
              <a:rPr lang="en-US" sz="6600" b="1" dirty="0">
                <a:solidFill>
                  <a:srgbClr val="00C159"/>
                </a:solidFill>
                <a:latin typeface="Figtree SemiBold" pitchFamily="2" charset="0"/>
              </a:rPr>
              <a:t>SIN 02</a:t>
            </a:r>
            <a:br>
              <a:rPr lang="en-US" sz="8000" b="1" dirty="0">
                <a:solidFill>
                  <a:srgbClr val="00C159"/>
                </a:solidFill>
                <a:latin typeface="Figtree SemiBold" pitchFamily="2" charset="0"/>
              </a:rPr>
            </a:br>
            <a:endParaRPr lang="en-US" sz="1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 defTabSz="1828526"/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A Primeira Giga Fábrica de</a:t>
            </a:r>
            <a:b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</a:br>
            <a:r>
              <a:rPr lang="pt-PT" sz="4000" dirty="0">
                <a:solidFill>
                  <a:schemeClr val="bg1"/>
                </a:solidFill>
                <a:latin typeface="Figtree SemiBold" pitchFamily="2" charset="0"/>
              </a:rPr>
              <a:t>IA na Europa</a:t>
            </a:r>
            <a:endParaRPr lang="en-US" sz="7200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/>
            <a:endParaRPr lang="en-US" sz="2800" b="1" dirty="0">
              <a:solidFill>
                <a:schemeClr val="bg1"/>
              </a:solidFill>
              <a:latin typeface="Figtree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Sines, Portugal</a:t>
            </a:r>
            <a:r>
              <a:rPr lang="en-US" sz="2800" dirty="0">
                <a:solidFill>
                  <a:schemeClr val="bg1"/>
                </a:solidFill>
                <a:latin typeface="Figtree SemiBold" pitchFamily="2" charset="0"/>
              </a:rPr>
              <a:t> 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Site Coordinates: 37.934961, -8.812558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c. 90 km south of Lisbon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49003FBD-F460-F36E-5025-3B82BDE2C5AB}"/>
              </a:ext>
            </a:extLst>
          </p:cNvPr>
          <p:cNvSpPr txBox="1">
            <a:spLocks/>
          </p:cNvSpPr>
          <p:nvPr/>
        </p:nvSpPr>
        <p:spPr>
          <a:xfrm>
            <a:off x="806767" y="7411712"/>
            <a:ext cx="7262464" cy="1188783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algn="ctr"/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200MW </a:t>
            </a:r>
            <a:r>
              <a:rPr lang="en-US" sz="2800" dirty="0" err="1">
                <a:solidFill>
                  <a:schemeClr val="bg1"/>
                </a:solidFill>
                <a:latin typeface="Figtree Light" pitchFamily="2" charset="0"/>
              </a:rPr>
              <a:t>capacidade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 de IT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Racks </a:t>
            </a:r>
            <a:r>
              <a:rPr lang="en-US" sz="2800" dirty="0" err="1">
                <a:solidFill>
                  <a:schemeClr val="bg1"/>
                </a:solidFill>
                <a:latin typeface="Figtree Light" pitchFamily="2" charset="0"/>
              </a:rPr>
              <a:t>até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 </a:t>
            </a: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600kW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b="1" dirty="0">
                <a:solidFill>
                  <a:schemeClr val="bg1"/>
                </a:solidFill>
                <a:latin typeface="Figtree SemiBold" pitchFamily="2" charset="0"/>
              </a:rPr>
              <a:t>Q3 2027 - AI-ready</a:t>
            </a:r>
            <a:r>
              <a:rPr lang="en-US" sz="2800" b="1" dirty="0">
                <a:solidFill>
                  <a:schemeClr val="bg1"/>
                </a:solidFill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design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1083E7D1-78BD-66BE-B3FC-B77EF1126FC5}"/>
              </a:ext>
            </a:extLst>
          </p:cNvPr>
          <p:cNvSpPr txBox="1">
            <a:spLocks/>
          </p:cNvSpPr>
          <p:nvPr/>
        </p:nvSpPr>
        <p:spPr>
          <a:xfrm>
            <a:off x="11279309" y="7671332"/>
            <a:ext cx="6912000" cy="1008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C5A10804-A67B-5390-AAB3-F3229DCEDD33}"/>
              </a:ext>
            </a:extLst>
          </p:cNvPr>
          <p:cNvSpPr txBox="1">
            <a:spLocks/>
          </p:cNvSpPr>
          <p:nvPr/>
        </p:nvSpPr>
        <p:spPr>
          <a:xfrm>
            <a:off x="525707" y="9887313"/>
            <a:ext cx="7840800" cy="1440000"/>
          </a:xfrm>
          <a:prstGeom prst="rect">
            <a:avLst/>
          </a:prstGeom>
        </p:spPr>
        <p:txBody>
          <a:bodyPr lIns="72000" tIns="36000" rIns="72000" bIns="36000" anchor="t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marL="0" lvl="1">
              <a:lnSpc>
                <a:spcPct val="100000"/>
              </a:lnSpc>
              <a:buSzPct val="120000"/>
            </a:pPr>
            <a:endParaRPr lang="en-US" sz="2800">
              <a:solidFill>
                <a:srgbClr val="000000"/>
              </a:solidFill>
              <a:latin typeface="Figtree" pitchFamily="2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F4FE13-099E-0F38-0159-4F624F37E260}"/>
              </a:ext>
            </a:extLst>
          </p:cNvPr>
          <p:cNvSpPr txBox="1"/>
          <p:nvPr/>
        </p:nvSpPr>
        <p:spPr>
          <a:xfrm>
            <a:off x="20038624" y="11893730"/>
            <a:ext cx="421005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1828526"/>
            <a:r>
              <a:rPr lang="en-US" sz="2800" dirty="0">
                <a:solidFill>
                  <a:srgbClr val="00C159"/>
                </a:solidFill>
                <a:latin typeface="Figtree Light" pitchFamily="2" charset="0"/>
                <a:hlinkClick r:id="rId3"/>
              </a:rPr>
              <a:t>www.startcampus.pt</a:t>
            </a:r>
            <a:br>
              <a:rPr lang="en-US" sz="2800" dirty="0">
                <a:solidFill>
                  <a:schemeClr val="bg1"/>
                </a:solidFill>
                <a:latin typeface="Figtree Light" pitchFamily="2" charset="0"/>
              </a:rPr>
            </a:br>
            <a:r>
              <a:rPr lang="en-US" sz="2800" dirty="0">
                <a:solidFill>
                  <a:schemeClr val="bg1"/>
                </a:solidFill>
                <a:latin typeface="Figtree Light" pitchFamily="2" charset="0"/>
              </a:rPr>
              <a:t>sales@startcampus.pt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689DE0-2D93-0841-ABAF-2E7EEE42C9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7437" y="11611947"/>
            <a:ext cx="2331639" cy="11018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CBC99B2-30E7-841F-81B9-E7705BFEA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7837" y="11386894"/>
            <a:ext cx="1458392" cy="145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phic 27">
            <a:extLst>
              <a:ext uri="{FF2B5EF4-FFF2-40B4-BE49-F238E27FC236}">
                <a16:creationId xmlns:a16="http://schemas.microsoft.com/office/drawing/2014/main" id="{F736EFA5-73E9-13BB-F638-EF6E1D8F79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9430" y="720372"/>
            <a:ext cx="4277139" cy="1417836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F42D960A-E6DE-D9D5-DDAB-FA5694089D7A}"/>
              </a:ext>
            </a:extLst>
          </p:cNvPr>
          <p:cNvGrpSpPr/>
          <p:nvPr/>
        </p:nvGrpSpPr>
        <p:grpSpPr>
          <a:xfrm>
            <a:off x="2123192" y="9256089"/>
            <a:ext cx="4629615" cy="1631950"/>
            <a:chOff x="2230511" y="9256089"/>
            <a:chExt cx="4629615" cy="163195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A1BEA81-8FAB-EC19-11BB-A14DFE376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688579" y="9289033"/>
              <a:ext cx="1171547" cy="149958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862A5D5-7F1C-B853-295B-59CE93D8E29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18454" t="10584" r="19003" b="9847"/>
            <a:stretch>
              <a:fillRect/>
            </a:stretch>
          </p:blipFill>
          <p:spPr>
            <a:xfrm>
              <a:off x="2230511" y="9256089"/>
              <a:ext cx="1282700" cy="1631950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994313D5-6083-0E4F-FC95-19E24746AA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73168" y="9230466"/>
            <a:ext cx="852491" cy="3765162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868AAD5-BD1A-2698-826E-5FB7618524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31200" y="9464208"/>
            <a:ext cx="2224899" cy="2224899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770F09-4506-1638-17E5-02869721418A}"/>
              </a:ext>
            </a:extLst>
          </p:cNvPr>
          <p:cNvSpPr txBox="1">
            <a:spLocks/>
          </p:cNvSpPr>
          <p:nvPr/>
        </p:nvSpPr>
        <p:spPr>
          <a:xfrm>
            <a:off x="10837464" y="12002094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Energia 100%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renovável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e de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baixo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custo</a:t>
            </a:r>
            <a:endParaRPr lang="en-US" sz="3600" b="1" dirty="0">
              <a:solidFill>
                <a:srgbClr val="00C159"/>
              </a:solidFill>
              <a:latin typeface="Figtree SemiBold" pitchFamily="2" charset="0"/>
            </a:endParaRP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0071901-A6DD-CC38-BAA1-89D67912FB21}"/>
              </a:ext>
            </a:extLst>
          </p:cNvPr>
          <p:cNvSpPr txBox="1">
            <a:spLocks/>
          </p:cNvSpPr>
          <p:nvPr/>
        </p:nvSpPr>
        <p:spPr>
          <a:xfrm>
            <a:off x="10837465" y="11038155"/>
            <a:ext cx="8889354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Baixa </a:t>
            </a:r>
            <a:r>
              <a:rPr lang="en-US" sz="3600" b="1" dirty="0" err="1">
                <a:solidFill>
                  <a:srgbClr val="00C159"/>
                </a:solidFill>
                <a:latin typeface="Figtree SemiBold" pitchFamily="2" charset="0"/>
              </a:rPr>
              <a:t>Latência</a:t>
            </a:r>
            <a:r>
              <a:rPr lang="en-US" sz="3600" b="1" dirty="0">
                <a:solidFill>
                  <a:srgbClr val="00C159"/>
                </a:solidFill>
                <a:latin typeface="Figtree SemiBold" pitchFamily="2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para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grandes</a:t>
            </a:r>
            <a:r>
              <a:rPr lang="en-US" sz="3600" b="1" dirty="0">
                <a:solidFill>
                  <a:schemeClr val="bg1"/>
                </a:solidFill>
                <a:latin typeface="Figtree SemiBold" pitchFamily="2" charset="0"/>
              </a:rPr>
              <a:t> </a:t>
            </a:r>
            <a:r>
              <a:rPr lang="en-US" sz="3600" b="1" dirty="0" err="1">
                <a:solidFill>
                  <a:schemeClr val="bg1"/>
                </a:solidFill>
                <a:latin typeface="Figtree SemiBold" pitchFamily="2" charset="0"/>
              </a:rPr>
              <a:t>cidades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5919B140-F029-E5CD-2A77-B5E023F4C324}"/>
              </a:ext>
            </a:extLst>
          </p:cNvPr>
          <p:cNvSpPr txBox="1">
            <a:spLocks/>
          </p:cNvSpPr>
          <p:nvPr/>
        </p:nvSpPr>
        <p:spPr>
          <a:xfrm>
            <a:off x="10837464" y="9110279"/>
            <a:ext cx="8889355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1.2 GW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de capacidade IT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74465CD6-DD46-4BE2-692F-11E0CDF7AB14}"/>
              </a:ext>
            </a:extLst>
          </p:cNvPr>
          <p:cNvSpPr txBox="1">
            <a:spLocks/>
          </p:cNvSpPr>
          <p:nvPr/>
        </p:nvSpPr>
        <p:spPr>
          <a:xfrm>
            <a:off x="10837465" y="10074217"/>
            <a:ext cx="8059798" cy="108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defPPr>
              <a:defRPr lang="en-PT"/>
            </a:defPPr>
            <a:lvl1pPr indent="0" defTabSz="914263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/>
            </a:lvl1pPr>
            <a:lvl2pPr marL="457132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2pPr>
            <a:lvl3pPr marL="914263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3pPr>
            <a:lvl4pPr marL="1371394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4pPr>
            <a:lvl5pPr marL="1828526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5pPr>
            <a:lvl6pPr marL="2285657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6pPr>
            <a:lvl7pPr marL="2742788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7pPr>
            <a:lvl8pPr marL="3199920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8pPr>
            <a:lvl9pPr marL="3657051" indent="0" defTabSz="914263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</a:lvl9pPr>
          </a:lstStyle>
          <a:p>
            <a:pPr defTabSz="1828526"/>
            <a:r>
              <a:rPr lang="pt-PT" sz="3600" b="1" dirty="0">
                <a:solidFill>
                  <a:srgbClr val="00C159"/>
                </a:solidFill>
                <a:latin typeface="Figtree SemiBold" pitchFamily="2" charset="0"/>
              </a:rPr>
              <a:t>100% </a:t>
            </a:r>
            <a:r>
              <a:rPr lang="pt-PT" sz="3600" b="1" dirty="0">
                <a:solidFill>
                  <a:schemeClr val="bg1"/>
                </a:solidFill>
                <a:latin typeface="Figtree SemiBold" pitchFamily="2" charset="0"/>
              </a:rPr>
              <a:t>capacidade assegurada</a:t>
            </a:r>
            <a:endParaRPr lang="en-US" sz="3600" b="1" dirty="0">
              <a:solidFill>
                <a:schemeClr val="bg1"/>
              </a:solidFill>
              <a:latin typeface="Figtree SemiBold" pitchFamily="2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64B74CC-4367-F295-A96B-DBAFCB831884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6"/>
          <a:stretch>
            <a:fillRect/>
          </a:stretch>
        </p:blipFill>
        <p:spPr>
          <a:xfrm>
            <a:off x="8877114" y="7009"/>
            <a:ext cx="15510061" cy="86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009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457336-3A3A-99A0-BF15-3967282FF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>
            <a:extLst>
              <a:ext uri="{FF2B5EF4-FFF2-40B4-BE49-F238E27FC236}">
                <a16:creationId xmlns:a16="http://schemas.microsoft.com/office/drawing/2014/main" id="{07DB1D84-8283-1E89-F973-47F2872720DB}"/>
              </a:ext>
            </a:extLst>
          </p:cNvPr>
          <p:cNvGraphicFramePr>
            <a:graphicFrameLocks noGrp="1"/>
          </p:cNvGraphicFramePr>
          <p:nvPr/>
        </p:nvGraphicFramePr>
        <p:xfrm>
          <a:off x="668184" y="1997016"/>
          <a:ext cx="8136890" cy="562171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28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4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080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Geral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Disponibilidade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200MW</a:t>
                      </a:r>
                      <a:br>
                        <a:rPr lang="pt-PT" sz="1800" dirty="0">
                          <a:latin typeface="Figtree"/>
                          <a:cs typeface="Figtree"/>
                        </a:rPr>
                      </a:br>
                      <a:r>
                        <a:rPr lang="pt-PT" sz="1800" dirty="0">
                          <a:latin typeface="Figtree"/>
                          <a:cs typeface="Figtree"/>
                        </a:rPr>
                        <a:t>Q3 2027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Edifício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Construção nova, edifício de 2 andares</a:t>
                      </a:r>
                    </a:p>
                    <a:p>
                      <a:pPr marL="138430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Parte de um campus de TI com 6 edifícios e 1,2 GW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Design da Construção da Base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Equivalente ao Nível III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>
                          <a:latin typeface="Figtree"/>
                          <a:cs typeface="Figtree"/>
                        </a:rPr>
                        <a:t>Data</a:t>
                      </a:r>
                      <a:r>
                        <a:rPr sz="1800" spc="-2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>
                          <a:latin typeface="Figtree"/>
                          <a:cs typeface="Figtree"/>
                        </a:rPr>
                        <a:t>Halls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3, com possíveis “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cages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”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Escritório / Armazenamento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Disponível mediante pedido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858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Acesso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spc="-20" dirty="0">
                          <a:latin typeface="Figtree"/>
                          <a:cs typeface="Figtree"/>
                        </a:rPr>
                        <a:t>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Docas de carga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en-US" sz="1800" dirty="0">
                          <a:latin typeface="Figtree"/>
                          <a:cs typeface="Figtree"/>
                        </a:rPr>
                        <a:t>3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1876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Outros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11239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Segurança e Operações 24/7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080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Certificações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93345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OCP</a:t>
                      </a:r>
                      <a:r>
                        <a:rPr sz="1800" spc="-4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Ready for</a:t>
                      </a:r>
                      <a:r>
                        <a:rPr sz="1800" spc="-3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Hyperscale ISO27001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" name="object 3">
            <a:extLst>
              <a:ext uri="{FF2B5EF4-FFF2-40B4-BE49-F238E27FC236}">
                <a16:creationId xmlns:a16="http://schemas.microsoft.com/office/drawing/2014/main" id="{D0A62DF3-F223-0EB2-877B-6D798495DE16}"/>
              </a:ext>
            </a:extLst>
          </p:cNvPr>
          <p:cNvGraphicFramePr>
            <a:graphicFrameLocks noGrp="1"/>
          </p:cNvGraphicFramePr>
          <p:nvPr/>
        </p:nvGraphicFramePr>
        <p:xfrm>
          <a:off x="9308655" y="2034082"/>
          <a:ext cx="8135620" cy="35496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11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Energia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Fornecedores de Serviços Públicos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E-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Redes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Energia Elétrica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alimentações de alta tensão 60kV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Distribuição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2N Tensão Média 11kV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Utilização de Energia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 marR="32956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Medição de nível comercial; Opção de preços </a:t>
                      </a:r>
                      <a:r>
                        <a:rPr lang="pt-PT" sz="1800" spc="-10" dirty="0" err="1">
                          <a:latin typeface="Figtree"/>
                          <a:cs typeface="Figtree"/>
                        </a:rPr>
                        <a:t>pass-through</a:t>
                      </a:r>
                      <a:r>
                        <a:rPr lang="pt-PT" sz="1800" spc="-10" dirty="0">
                          <a:latin typeface="Figtree"/>
                          <a:cs typeface="Figtree"/>
                        </a:rPr>
                        <a:t>, fixos ou híbridos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sz="1800" spc="-25" dirty="0">
                          <a:latin typeface="Figtree"/>
                          <a:cs typeface="Figtree"/>
                        </a:rPr>
                        <a:t>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8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Backup redundante distribuído de LV &amp; UPS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159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Energia de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139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Sistema de geração alimentado por HVO 24h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633F9F78-1C68-8AE5-C71D-1AFA1A557671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5806237"/>
          <a:ext cx="8136890" cy="3895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02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4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Arrefecimento</a:t>
                      </a: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Sistema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23114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Rejeição de calor para um Sistema de Água do Mar e sistema de arrefecimento como reserva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841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Flexibilidade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49910" indent="-170180">
                        <a:lnSpc>
                          <a:spcPct val="100000"/>
                        </a:lnSpc>
                        <a:spcBef>
                          <a:spcPts val="90"/>
                        </a:spcBef>
                        <a:buFont typeface="Arial"/>
                        <a:buChar char="•"/>
                        <a:tabLst>
                          <a:tab pos="549910" algn="l"/>
                        </a:tabLst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100% Refrigeração líquida
Arrefecimento a ar (paredes do ventilador)
Arrefecimento híbrido de ar e líquido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Serviço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Simultaneamente sustentável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7696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dirty="0">
                          <a:latin typeface="Figtree"/>
                          <a:cs typeface="Figtree"/>
                        </a:rPr>
                        <a:t>Fiabilidade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9730" marR="9080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Redundância N+1, fonte de energia dupla, tubagem 2N; Tolerante a falhas com térmico
Armazenamento para arrefecimento ininterrupto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9FF4B699-C265-7475-A116-C91929DC02E3}"/>
              </a:ext>
            </a:extLst>
          </p:cNvPr>
          <p:cNvGraphicFramePr>
            <a:graphicFrameLocks noGrp="1"/>
          </p:cNvGraphicFramePr>
          <p:nvPr/>
        </p:nvGraphicFramePr>
        <p:xfrm>
          <a:off x="9308656" y="10086320"/>
          <a:ext cx="8136890" cy="23088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309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5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2075">
                        <a:lnSpc>
                          <a:spcPts val="1614"/>
                        </a:lnSpc>
                      </a:pPr>
                      <a:r>
                        <a:rPr lang="pt-PT" sz="2800" b="1" spc="-10" dirty="0">
                          <a:latin typeface="Figtree"/>
                          <a:cs typeface="Figtree"/>
                        </a:rPr>
                        <a:t>Telecomunicações</a:t>
                      </a:r>
                      <a:endParaRPr sz="280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84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Pontos de entrada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Quatro pontos de entrada diferentes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59690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spc="-10" dirty="0">
                          <a:latin typeface="Figtree"/>
                          <a:cs typeface="Figtree"/>
                        </a:rPr>
                        <a:t>Meet-</a:t>
                      </a:r>
                      <a:r>
                        <a:rPr sz="1800" dirty="0">
                          <a:latin typeface="Figtree"/>
                          <a:cs typeface="Figtree"/>
                        </a:rPr>
                        <a:t>Me</a:t>
                      </a:r>
                      <a:r>
                        <a:rPr sz="1800" spc="25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20" dirty="0">
                          <a:latin typeface="Figtree"/>
                          <a:cs typeface="Figtree"/>
                        </a:rPr>
                        <a:t>Rooms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Dois 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MMRs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 independentes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Carrier</a:t>
                      </a:r>
                      <a:r>
                        <a:rPr sz="1800" spc="-5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Neutral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Acesso a múltiplos operadores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sz="1800" dirty="0">
                          <a:latin typeface="Figtree"/>
                          <a:cs typeface="Figtree"/>
                        </a:rPr>
                        <a:t>Cable</a:t>
                      </a:r>
                      <a:r>
                        <a:rPr sz="1800" spc="-6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sz="1800" spc="-10" dirty="0">
                          <a:latin typeface="Figtree"/>
                          <a:cs typeface="Figtree"/>
                        </a:rPr>
                        <a:t>Landing</a:t>
                      </a:r>
                      <a:endParaRPr sz="180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dirty="0">
                          <a:latin typeface="Figtree"/>
                          <a:cs typeface="Figtree"/>
                        </a:rPr>
                        <a:t>Sines &lt;4 milhas de distância (</a:t>
                      </a:r>
                      <a:r>
                        <a:rPr lang="pt-PT" sz="1800" dirty="0" err="1">
                          <a:latin typeface="Figtree"/>
                          <a:cs typeface="Figtree"/>
                        </a:rPr>
                        <a:t>EllaLink</a:t>
                      </a:r>
                      <a:r>
                        <a:rPr lang="pt-PT" sz="1800" dirty="0">
                          <a:latin typeface="Figtree"/>
                          <a:cs typeface="Figtree"/>
                        </a:rPr>
                        <a:t>, Nuvem1)</a:t>
                      </a:r>
                      <a:endParaRPr sz="1800" dirty="0">
                        <a:latin typeface="Figtree"/>
                        <a:cs typeface="Figtree"/>
                      </a:endParaRP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object 6">
            <a:extLst>
              <a:ext uri="{FF2B5EF4-FFF2-40B4-BE49-F238E27FC236}">
                <a16:creationId xmlns:a16="http://schemas.microsoft.com/office/drawing/2014/main" id="{C74A9B5C-A4C2-748C-4324-78798A125EB0}"/>
              </a:ext>
            </a:extLst>
          </p:cNvPr>
          <p:cNvGraphicFramePr>
            <a:graphicFrameLocks noGrp="1"/>
          </p:cNvGraphicFramePr>
          <p:nvPr/>
        </p:nvGraphicFramePr>
        <p:xfrm>
          <a:off x="668184" y="7941869"/>
          <a:ext cx="8136890" cy="34201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4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9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marL="91440">
                        <a:lnSpc>
                          <a:spcPts val="1614"/>
                        </a:lnSpc>
                      </a:pPr>
                      <a:r>
                        <a:rPr lang="pt-PT" sz="2800" b="1" spc="-10" noProof="0" dirty="0">
                          <a:latin typeface="Figtree"/>
                          <a:cs typeface="Figtree"/>
                        </a:rPr>
                        <a:t>Segurança</a:t>
                      </a:r>
                      <a:endParaRPr lang="pt-PT" sz="2800" noProof="0" dirty="0">
                        <a:latin typeface="Figtree"/>
                        <a:cs typeface="Figtree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pt-PT" sz="2000" noProof="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B w="28575">
                      <a:solidFill>
                        <a:srgbClr val="00C057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32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Pessoal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234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Segurança 24/7</a:t>
                      </a:r>
                    </a:p>
                  </a:txBody>
                  <a:tcPr marL="0" marR="0" marT="59688" marB="0">
                    <a:lnT w="28575">
                      <a:solidFill>
                        <a:srgbClr val="00C057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CCTV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360º</a:t>
                      </a:r>
                      <a:r>
                        <a:rPr lang="pt-PT" sz="1800" spc="5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video-</a:t>
                      </a:r>
                      <a:r>
                        <a:rPr lang="pt-PT" sz="1800" noProof="0" dirty="0" err="1">
                          <a:latin typeface="Figtree"/>
                          <a:cs typeface="Figtree"/>
                        </a:rPr>
                        <a:t>analytics</a:t>
                      </a:r>
                      <a:r>
                        <a:rPr lang="pt-PT" sz="1800" spc="-20" noProof="0" dirty="0">
                          <a:latin typeface="Figtree"/>
                          <a:cs typeface="Figtree"/>
                        </a:rPr>
                        <a:t> 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(interior/exterior)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Controlo de acesso</a:t>
                      </a: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de controlo de acesso biométrico e MFA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6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Perímetro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 marR="20701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Vedação metálica de segurança </a:t>
                      </a:r>
                      <a:r>
                        <a:rPr lang="pt-PT" sz="1800" spc="-10" noProof="0" dirty="0" err="1">
                          <a:latin typeface="Figtree"/>
                          <a:cs typeface="Figtree"/>
                        </a:rPr>
                        <a:t>anti-escalada</a:t>
                      </a: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 com deteção de intrusão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286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Defesa em Profundidade</a:t>
                      </a: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Múltiplas camadas concêntricas de segurança</a:t>
                      </a:r>
                    </a:p>
                  </a:txBody>
                  <a:tcPr marL="0" marR="0" marT="3302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18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95"/>
                        </a:spcBef>
                      </a:pPr>
                      <a:r>
                        <a:rPr lang="pt-PT" sz="1800" spc="-10" noProof="0" dirty="0">
                          <a:latin typeface="Figtree"/>
                          <a:cs typeface="Figtree"/>
                        </a:rPr>
                        <a:t>Integração</a:t>
                      </a:r>
                      <a:endParaRPr lang="pt-PT" sz="1800" noProof="0" dirty="0">
                        <a:latin typeface="Figtree"/>
                        <a:cs typeface="Figtree"/>
                      </a:endParaRPr>
                    </a:p>
                  </a:txBody>
                  <a:tcPr marL="0" marR="0" marT="2413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r>
                        <a:rPr lang="pt-PT" sz="1800" noProof="0" dirty="0">
                          <a:latin typeface="Figtree"/>
                          <a:cs typeface="Figtree"/>
                        </a:rPr>
                        <a:t>Sistema Integrado de Segurança Física</a:t>
                      </a:r>
                    </a:p>
                  </a:txBody>
                  <a:tcPr marL="0" marR="0" marT="31750" marB="0">
                    <a:lnT w="6350">
                      <a:solidFill>
                        <a:srgbClr val="D1CDCD"/>
                      </a:solidFill>
                      <a:prstDash val="solid"/>
                    </a:lnT>
                    <a:lnB w="6350">
                      <a:solidFill>
                        <a:srgbClr val="D1CD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object 7">
            <a:extLst>
              <a:ext uri="{FF2B5EF4-FFF2-40B4-BE49-F238E27FC236}">
                <a16:creationId xmlns:a16="http://schemas.microsoft.com/office/drawing/2014/main" id="{C58A5814-1351-5BE4-521D-1A80EA052E0D}"/>
              </a:ext>
            </a:extLst>
          </p:cNvPr>
          <p:cNvSpPr/>
          <p:nvPr/>
        </p:nvSpPr>
        <p:spPr>
          <a:xfrm>
            <a:off x="636917" y="669974"/>
            <a:ext cx="1026160" cy="1064260"/>
          </a:xfrm>
          <a:custGeom>
            <a:avLst/>
            <a:gdLst/>
            <a:ahLst/>
            <a:cxnLst/>
            <a:rect l="l" t="t" r="r" b="b"/>
            <a:pathLst>
              <a:path w="513080" h="532130">
                <a:moveTo>
                  <a:pt x="336372" y="229755"/>
                </a:moveTo>
                <a:lnTo>
                  <a:pt x="256235" y="229755"/>
                </a:lnTo>
                <a:lnTo>
                  <a:pt x="294462" y="81940"/>
                </a:lnTo>
                <a:lnTo>
                  <a:pt x="293573" y="81648"/>
                </a:lnTo>
                <a:lnTo>
                  <a:pt x="172593" y="278866"/>
                </a:lnTo>
                <a:lnTo>
                  <a:pt x="247637" y="278866"/>
                </a:lnTo>
                <a:lnTo>
                  <a:pt x="209207" y="425234"/>
                </a:lnTo>
                <a:lnTo>
                  <a:pt x="209918" y="425551"/>
                </a:lnTo>
                <a:lnTo>
                  <a:pt x="336372" y="229755"/>
                </a:lnTo>
                <a:close/>
              </a:path>
              <a:path w="513080" h="532130">
                <a:moveTo>
                  <a:pt x="512686" y="0"/>
                </a:moveTo>
                <a:lnTo>
                  <a:pt x="4648" y="0"/>
                </a:lnTo>
                <a:lnTo>
                  <a:pt x="0" y="76"/>
                </a:lnTo>
                <a:lnTo>
                  <a:pt x="0" y="414693"/>
                </a:lnTo>
                <a:lnTo>
                  <a:pt x="39039" y="414693"/>
                </a:lnTo>
                <a:lnTo>
                  <a:pt x="39039" y="38989"/>
                </a:lnTo>
                <a:lnTo>
                  <a:pt x="473633" y="38989"/>
                </a:lnTo>
                <a:lnTo>
                  <a:pt x="473633" y="468376"/>
                </a:lnTo>
                <a:lnTo>
                  <a:pt x="141490" y="468363"/>
                </a:lnTo>
                <a:lnTo>
                  <a:pt x="136715" y="461352"/>
                </a:lnTo>
                <a:lnTo>
                  <a:pt x="130378" y="455028"/>
                </a:lnTo>
                <a:lnTo>
                  <a:pt x="119735" y="449072"/>
                </a:lnTo>
                <a:lnTo>
                  <a:pt x="104203" y="446417"/>
                </a:lnTo>
                <a:lnTo>
                  <a:pt x="87337" y="449745"/>
                </a:lnTo>
                <a:lnTo>
                  <a:pt x="73901" y="458825"/>
                </a:lnTo>
                <a:lnTo>
                  <a:pt x="64985" y="472287"/>
                </a:lnTo>
                <a:lnTo>
                  <a:pt x="61772" y="488759"/>
                </a:lnTo>
                <a:lnTo>
                  <a:pt x="65100" y="505358"/>
                </a:lnTo>
                <a:lnTo>
                  <a:pt x="74206" y="519061"/>
                </a:lnTo>
                <a:lnTo>
                  <a:pt x="87693" y="528370"/>
                </a:lnTo>
                <a:lnTo>
                  <a:pt x="104203" y="531812"/>
                </a:lnTo>
                <a:lnTo>
                  <a:pt x="120103" y="529145"/>
                </a:lnTo>
                <a:lnTo>
                  <a:pt x="130670" y="523151"/>
                </a:lnTo>
                <a:lnTo>
                  <a:pt x="136766" y="516813"/>
                </a:lnTo>
                <a:lnTo>
                  <a:pt x="141351" y="509587"/>
                </a:lnTo>
                <a:lnTo>
                  <a:pt x="512686" y="509651"/>
                </a:lnTo>
                <a:lnTo>
                  <a:pt x="512686" y="0"/>
                </a:lnTo>
                <a:close/>
              </a:path>
            </a:pathLst>
          </a:custGeom>
          <a:solidFill>
            <a:srgbClr val="12BC63"/>
          </a:solidFill>
        </p:spPr>
        <p:txBody>
          <a:bodyPr wrap="square" lIns="0" tIns="0" rIns="0" bIns="0" rtlCol="0"/>
          <a:lstStyle/>
          <a:p>
            <a:endParaRPr sz="7200"/>
          </a:p>
        </p:txBody>
      </p:sp>
      <p:pic>
        <p:nvPicPr>
          <p:cNvPr id="8" name="object 8">
            <a:extLst>
              <a:ext uri="{FF2B5EF4-FFF2-40B4-BE49-F238E27FC236}">
                <a16:creationId xmlns:a16="http://schemas.microsoft.com/office/drawing/2014/main" id="{9D6BBB26-971D-A97D-01E7-405D1A9D6C0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7952" y="740069"/>
            <a:ext cx="1932834" cy="970354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A7F67BC3-1E1A-4674-2306-AA37537199E3}"/>
              </a:ext>
            </a:extLst>
          </p:cNvPr>
          <p:cNvSpPr txBox="1"/>
          <p:nvPr/>
        </p:nvSpPr>
        <p:spPr>
          <a:xfrm>
            <a:off x="2727260" y="12036144"/>
            <a:ext cx="5384800" cy="45653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5400">
              <a:spcBef>
                <a:spcPts val="200"/>
              </a:spcBef>
            </a:pPr>
            <a:r>
              <a:rPr lang="pt-PT" sz="2800" spc="-40" dirty="0">
                <a:latin typeface="Figtree"/>
                <a:cs typeface="Figtree"/>
              </a:rPr>
              <a:t>Faça uma visita virtual ao local</a:t>
            </a:r>
            <a:endParaRPr sz="2800" dirty="0">
              <a:latin typeface="Figtree"/>
              <a:cs typeface="Figtree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5751BB8E-3ABA-E3A2-961C-AA1E9300494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012" y="11645352"/>
            <a:ext cx="1243686" cy="1245080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FA608315-7B0B-C78E-475D-10E9B588F005}"/>
              </a:ext>
            </a:extLst>
          </p:cNvPr>
          <p:cNvSpPr txBox="1"/>
          <p:nvPr/>
        </p:nvSpPr>
        <p:spPr>
          <a:xfrm>
            <a:off x="9413809" y="12497612"/>
            <a:ext cx="5384800" cy="239809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76200">
              <a:spcBef>
                <a:spcPts val="190"/>
              </a:spcBef>
            </a:pPr>
            <a:r>
              <a:rPr sz="1400" dirty="0">
                <a:latin typeface="Figtree"/>
                <a:cs typeface="Figtree"/>
              </a:rPr>
              <a:t>Note: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CLS</a:t>
            </a:r>
            <a:r>
              <a:rPr sz="1400" spc="-7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stands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for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Cable</a:t>
            </a:r>
            <a:r>
              <a:rPr sz="1400" spc="-2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Landing</a:t>
            </a:r>
            <a:r>
              <a:rPr sz="1400" spc="-1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Station; </a:t>
            </a:r>
            <a:r>
              <a:rPr sz="1350" baseline="24691" dirty="0">
                <a:latin typeface="Figtree"/>
                <a:cs typeface="Figtree"/>
              </a:rPr>
              <a:t>1</a:t>
            </a:r>
            <a:r>
              <a:rPr sz="1350" spc="88" baseline="24691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From</a:t>
            </a:r>
            <a:r>
              <a:rPr sz="1400" spc="-40" dirty="0">
                <a:latin typeface="Figtree"/>
                <a:cs typeface="Figtree"/>
              </a:rPr>
              <a:t> </a:t>
            </a:r>
            <a:r>
              <a:rPr sz="1400" dirty="0">
                <a:latin typeface="Figtree"/>
                <a:cs typeface="Figtree"/>
              </a:rPr>
              <a:t>2026</a:t>
            </a:r>
            <a:r>
              <a:rPr sz="1400" spc="-30" dirty="0">
                <a:latin typeface="Figtree"/>
                <a:cs typeface="Figtree"/>
              </a:rPr>
              <a:t> </a:t>
            </a:r>
            <a:r>
              <a:rPr sz="1400" spc="-20" dirty="0">
                <a:latin typeface="Figtree"/>
                <a:cs typeface="Figtree"/>
              </a:rPr>
              <a:t>onwards</a:t>
            </a:r>
            <a:endParaRPr sz="1400">
              <a:latin typeface="Figtree"/>
              <a:cs typeface="Figtree"/>
            </a:endParaRPr>
          </a:p>
        </p:txBody>
      </p:sp>
      <p:pic>
        <p:nvPicPr>
          <p:cNvPr id="12" name="object 12">
            <a:extLst>
              <a:ext uri="{FF2B5EF4-FFF2-40B4-BE49-F238E27FC236}">
                <a16:creationId xmlns:a16="http://schemas.microsoft.com/office/drawing/2014/main" id="{71B8237D-0C81-B0DC-97CE-87DF412239C4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344996" y="12083476"/>
            <a:ext cx="239294" cy="4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62896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Cover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Dividers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lide Quo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Light - Content and Image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Green - Content and Image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Dark - Content and Image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Bullets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8.xml><?xml version="1.0" encoding="utf-8"?>
<a:theme xmlns:a="http://schemas.openxmlformats.org/drawingml/2006/main" name="Images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Graphs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0.xml><?xml version="1.0" encoding="utf-8"?>
<a:theme xmlns:a="http://schemas.openxmlformats.org/drawingml/2006/main" name="1_Dividers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1.xml><?xml version="1.0" encoding="utf-8"?>
<a:theme xmlns:a="http://schemas.openxmlformats.org/drawingml/2006/main" name="2_Dividers">
  <a:themeElements>
    <a:clrScheme name="StartCampus Theme 1">
      <a:dk1>
        <a:srgbClr val="000000"/>
      </a:dk1>
      <a:lt1>
        <a:srgbClr val="F4F4FF"/>
      </a:lt1>
      <a:dk2>
        <a:srgbClr val="183438"/>
      </a:dk2>
      <a:lt2>
        <a:srgbClr val="EBFEF5"/>
      </a:lt2>
      <a:accent1>
        <a:srgbClr val="00C058"/>
      </a:accent1>
      <a:accent2>
        <a:srgbClr val="FBDD6F"/>
      </a:accent2>
      <a:accent3>
        <a:srgbClr val="D1CDCD"/>
      </a:accent3>
      <a:accent4>
        <a:srgbClr val="48392C"/>
      </a:accent4>
      <a:accent5>
        <a:srgbClr val="3EA2F5"/>
      </a:accent5>
      <a:accent6>
        <a:srgbClr val="144044"/>
      </a:accent6>
      <a:hlink>
        <a:srgbClr val="00C058"/>
      </a:hlink>
      <a:folHlink>
        <a:srgbClr val="00C058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28A3C5EB-B5CE-4BF2-B26A-10EBE5A49E51}" vid="{2FB53C36-4FEF-48FC-828F-391719FDE557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c6923647-6c10-4b9b-9e1b-195d02f1da30" xsi:nil="true"/>
    <lcf76f155ced4ddcb4097134ff3c332f xmlns="b238ed95-c9d5-48cb-87cf-e826bc585f76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45D0161F036854390CF70D1AFABE0F8" ma:contentTypeVersion="16" ma:contentTypeDescription="Create a new document." ma:contentTypeScope="" ma:versionID="7395c18e222b5e86c30e8d48d5b89eed">
  <xsd:schema xmlns:xsd="http://www.w3.org/2001/XMLSchema" xmlns:xs="http://www.w3.org/2001/XMLSchema" xmlns:p="http://schemas.microsoft.com/office/2006/metadata/properties" xmlns:ns1="http://schemas.microsoft.com/sharepoint/v3" xmlns:ns2="b238ed95-c9d5-48cb-87cf-e826bc585f76" xmlns:ns3="c6923647-6c10-4b9b-9e1b-195d02f1da30" targetNamespace="http://schemas.microsoft.com/office/2006/metadata/properties" ma:root="true" ma:fieldsID="4696ef49c178ecaf3117fa06aa864a36" ns1:_="" ns2:_="" ns3:_="">
    <xsd:import namespace="http://schemas.microsoft.com/sharepoint/v3"/>
    <xsd:import namespace="b238ed95-c9d5-48cb-87cf-e826bc585f76"/>
    <xsd:import namespace="c6923647-6c10-4b9b-9e1b-195d02f1da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1:_ip_UnifiedCompliancePolicyProperties" minOccurs="0"/>
                <xsd:element ref="ns1:_ip_UnifiedCompliancePolicyUIAc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238ed95-c9d5-48cb-87cf-e826bc585f7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1c6e5c-4a4a-441d-a49e-c2a13b6952d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6923647-6c10-4b9b-9e1b-195d02f1da30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e9134d1-7cf1-43d4-951a-d044717e1e34}" ma:internalName="TaxCatchAll" ma:showField="CatchAllData" ma:web="c6923647-6c10-4b9b-9e1b-195d02f1da3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DD7558-4226-4E70-BB9B-BB0B79783C77}">
  <ds:schemaRefs>
    <ds:schemaRef ds:uri="http://purl.org/dc/elements/1.1/"/>
    <ds:schemaRef ds:uri="http://purl.org/dc/dcmitype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c6923647-6c10-4b9b-9e1b-195d02f1da30"/>
    <ds:schemaRef ds:uri="b238ed95-c9d5-48cb-87cf-e826bc585f76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79A80499-CBB2-45F3-B06E-AFF9DBD18FDF}"/>
</file>

<file path=customXml/itemProps3.xml><?xml version="1.0" encoding="utf-8"?>
<ds:datastoreItem xmlns:ds="http://schemas.openxmlformats.org/officeDocument/2006/customXml" ds:itemID="{5B0FE42E-ED55-47E6-AC8A-112080CF85A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fe64ef0-fba9-49f9-8f0a-831dc20d6f0b}" enabled="1" method="Privileged" siteId="{39b4e89d-f3a2-4b41-b98b-7ac345637da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4411</TotalTime>
  <Words>3292</Words>
  <Application>Microsoft Office PowerPoint</Application>
  <PresentationFormat>Custom</PresentationFormat>
  <Paragraphs>714</Paragraphs>
  <Slides>33</Slides>
  <Notes>15</Notes>
  <HiddenSlides>16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33</vt:i4>
      </vt:variant>
    </vt:vector>
  </HeadingPairs>
  <TitlesOfParts>
    <vt:vector size="53" baseType="lpstr">
      <vt:lpstr>Aptos</vt:lpstr>
      <vt:lpstr>Aptos Display</vt:lpstr>
      <vt:lpstr>Arial</vt:lpstr>
      <vt:lpstr>Figtree</vt:lpstr>
      <vt:lpstr>Figtree Light</vt:lpstr>
      <vt:lpstr>Figtree Medium</vt:lpstr>
      <vt:lpstr>Figtree SemiBold</vt:lpstr>
      <vt:lpstr>Gill Sans MT</vt:lpstr>
      <vt:lpstr>Times New Roman</vt:lpstr>
      <vt:lpstr>Cover</vt:lpstr>
      <vt:lpstr>Dividers</vt:lpstr>
      <vt:lpstr>Slide Quote</vt:lpstr>
      <vt:lpstr>Light - Content and Image</vt:lpstr>
      <vt:lpstr>Green - Content and Image</vt:lpstr>
      <vt:lpstr>Dark - Content and Image</vt:lpstr>
      <vt:lpstr>Bullets</vt:lpstr>
      <vt:lpstr>Images</vt:lpstr>
      <vt:lpstr>Graphs</vt:lpstr>
      <vt:lpstr>1_Dividers</vt:lpstr>
      <vt:lpstr>2_Dividers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Larissa Gama Kansler Carvalho</dc:creator>
  <cp:lastModifiedBy>Hugo de Oliveira</cp:lastModifiedBy>
  <cp:revision>2</cp:revision>
  <dcterms:created xsi:type="dcterms:W3CDTF">2024-09-30T10:06:28Z</dcterms:created>
  <dcterms:modified xsi:type="dcterms:W3CDTF">2026-07-07T12:58:34Z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0x010100445D0161F036854390CF70D1AFABE0F8</vt:lpwstr>
  </property>
  <property fmtid="{D5CDD505-2E9C-101B-9397-08002B2CF9AE}" pid="3" name="MediaServiceImageTags">
    <vt:lpwstr/>
  </property>
</Properties>
</file>