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heme/themeOverride1.xml" ContentType="application/vnd.openxmlformats-officedocument.themeOverrid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drawings/drawing1.xml" ContentType="application/vnd.openxmlformats-officedocument.drawingml.chartshape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4"/>
    <p:sldMasterId id="2147483697" r:id="rId5"/>
    <p:sldMasterId id="2147483710" r:id="rId6"/>
    <p:sldMasterId id="2147483723" r:id="rId7"/>
    <p:sldMasterId id="2147483737" r:id="rId8"/>
    <p:sldMasterId id="2147483757" r:id="rId9"/>
  </p:sldMasterIdLst>
  <p:notesMasterIdLst>
    <p:notesMasterId r:id="rId45"/>
  </p:notesMasterIdLst>
  <p:handoutMasterIdLst>
    <p:handoutMasterId r:id="rId46"/>
  </p:handoutMasterIdLst>
  <p:sldIdLst>
    <p:sldId id="257" r:id="rId10"/>
    <p:sldId id="258" r:id="rId11"/>
    <p:sldId id="261" r:id="rId12"/>
    <p:sldId id="262" r:id="rId13"/>
    <p:sldId id="263" r:id="rId14"/>
    <p:sldId id="264" r:id="rId15"/>
    <p:sldId id="265" r:id="rId16"/>
    <p:sldId id="266" r:id="rId17"/>
    <p:sldId id="267" r:id="rId18"/>
    <p:sldId id="4471" r:id="rId19"/>
    <p:sldId id="269" r:id="rId20"/>
    <p:sldId id="270" r:id="rId21"/>
    <p:sldId id="271" r:id="rId22"/>
    <p:sldId id="272" r:id="rId23"/>
    <p:sldId id="273" r:id="rId24"/>
    <p:sldId id="2142534991" r:id="rId25"/>
    <p:sldId id="339" r:id="rId26"/>
    <p:sldId id="275" r:id="rId27"/>
    <p:sldId id="276" r:id="rId28"/>
    <p:sldId id="277" r:id="rId29"/>
    <p:sldId id="278" r:id="rId30"/>
    <p:sldId id="279" r:id="rId31"/>
    <p:sldId id="280" r:id="rId32"/>
    <p:sldId id="322" r:id="rId33"/>
    <p:sldId id="4484" r:id="rId34"/>
    <p:sldId id="324" r:id="rId35"/>
    <p:sldId id="327" r:id="rId36"/>
    <p:sldId id="335" r:id="rId37"/>
    <p:sldId id="328" r:id="rId38"/>
    <p:sldId id="311" r:id="rId39"/>
    <p:sldId id="284" r:id="rId40"/>
    <p:sldId id="332" r:id="rId41"/>
    <p:sldId id="2142534894" r:id="rId42"/>
    <p:sldId id="333" r:id="rId43"/>
    <p:sldId id="338" r:id="rId44"/>
  </p:sldIdLst>
  <p:sldSz cx="24387175" cy="13716000"/>
  <p:notesSz cx="6858000" cy="9144000"/>
  <p:defaultTextStyle>
    <a:defPPr>
      <a:defRPr lang="en-PT"/>
    </a:defPPr>
    <a:lvl1pPr marL="0" algn="l" defTabSz="1828891" rtl="0" eaLnBrk="1" latinLnBrk="0" hangingPunct="1">
      <a:defRPr sz="3600" kern="1200">
        <a:solidFill>
          <a:schemeClr val="tx1"/>
        </a:solidFill>
        <a:latin typeface="+mn-lt"/>
        <a:ea typeface="+mn-ea"/>
        <a:cs typeface="+mn-cs"/>
      </a:defRPr>
    </a:lvl1pPr>
    <a:lvl2pPr marL="914446" algn="l" defTabSz="1828891" rtl="0" eaLnBrk="1" latinLnBrk="0" hangingPunct="1">
      <a:defRPr sz="3600" kern="1200">
        <a:solidFill>
          <a:schemeClr val="tx1"/>
        </a:solidFill>
        <a:latin typeface="+mn-lt"/>
        <a:ea typeface="+mn-ea"/>
        <a:cs typeface="+mn-cs"/>
      </a:defRPr>
    </a:lvl2pPr>
    <a:lvl3pPr marL="1828891" algn="l" defTabSz="1828891" rtl="0" eaLnBrk="1" latinLnBrk="0" hangingPunct="1">
      <a:defRPr sz="3600" kern="1200">
        <a:solidFill>
          <a:schemeClr val="tx1"/>
        </a:solidFill>
        <a:latin typeface="+mn-lt"/>
        <a:ea typeface="+mn-ea"/>
        <a:cs typeface="+mn-cs"/>
      </a:defRPr>
    </a:lvl3pPr>
    <a:lvl4pPr marL="2743337" algn="l" defTabSz="1828891" rtl="0" eaLnBrk="1" latinLnBrk="0" hangingPunct="1">
      <a:defRPr sz="3600" kern="1200">
        <a:solidFill>
          <a:schemeClr val="tx1"/>
        </a:solidFill>
        <a:latin typeface="+mn-lt"/>
        <a:ea typeface="+mn-ea"/>
        <a:cs typeface="+mn-cs"/>
      </a:defRPr>
    </a:lvl4pPr>
    <a:lvl5pPr marL="3657783" algn="l" defTabSz="1828891" rtl="0" eaLnBrk="1" latinLnBrk="0" hangingPunct="1">
      <a:defRPr sz="3600" kern="1200">
        <a:solidFill>
          <a:schemeClr val="tx1"/>
        </a:solidFill>
        <a:latin typeface="+mn-lt"/>
        <a:ea typeface="+mn-ea"/>
        <a:cs typeface="+mn-cs"/>
      </a:defRPr>
    </a:lvl5pPr>
    <a:lvl6pPr marL="4572229" algn="l" defTabSz="1828891" rtl="0" eaLnBrk="1" latinLnBrk="0" hangingPunct="1">
      <a:defRPr sz="3600" kern="1200">
        <a:solidFill>
          <a:schemeClr val="tx1"/>
        </a:solidFill>
        <a:latin typeface="+mn-lt"/>
        <a:ea typeface="+mn-ea"/>
        <a:cs typeface="+mn-cs"/>
      </a:defRPr>
    </a:lvl6pPr>
    <a:lvl7pPr marL="5486674" algn="l" defTabSz="1828891" rtl="0" eaLnBrk="1" latinLnBrk="0" hangingPunct="1">
      <a:defRPr sz="3600" kern="1200">
        <a:solidFill>
          <a:schemeClr val="tx1"/>
        </a:solidFill>
        <a:latin typeface="+mn-lt"/>
        <a:ea typeface="+mn-ea"/>
        <a:cs typeface="+mn-cs"/>
      </a:defRPr>
    </a:lvl7pPr>
    <a:lvl8pPr marL="6401120" algn="l" defTabSz="1828891" rtl="0" eaLnBrk="1" latinLnBrk="0" hangingPunct="1">
      <a:defRPr sz="3600" kern="1200">
        <a:solidFill>
          <a:schemeClr val="tx1"/>
        </a:solidFill>
        <a:latin typeface="+mn-lt"/>
        <a:ea typeface="+mn-ea"/>
        <a:cs typeface="+mn-cs"/>
      </a:defRPr>
    </a:lvl8pPr>
    <a:lvl9pPr marL="7315566" algn="l" defTabSz="1828891"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159"/>
    <a:srgbClr val="F4F4FF"/>
    <a:srgbClr val="0A363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F380E3-011E-4561-B7D3-6BA9100ECC9B}" v="4" dt="2026-07-07T13:13:03.63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706"/>
    <p:restoredTop sz="94703"/>
  </p:normalViewPr>
  <p:slideViewPr>
    <p:cSldViewPr snapToGrid="0">
      <p:cViewPr varScale="1">
        <p:scale>
          <a:sx n="79" d="100"/>
          <a:sy n="79" d="100"/>
        </p:scale>
        <p:origin x="3048" y="132"/>
      </p:cViewPr>
      <p:guideLst/>
    </p:cSldViewPr>
  </p:slideViewPr>
  <p:notesTextViewPr>
    <p:cViewPr>
      <p:scale>
        <a:sx n="1" d="1"/>
        <a:sy n="1" d="1"/>
      </p:scale>
      <p:origin x="0" y="0"/>
    </p:cViewPr>
  </p:notesTextViewPr>
  <p:notesViewPr>
    <p:cSldViewPr snapToGrid="0">
      <p:cViewPr varScale="1">
        <p:scale>
          <a:sx n="114" d="100"/>
          <a:sy n="114" d="100"/>
        </p:scale>
        <p:origin x="3176" y="168"/>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9" Type="http://schemas.openxmlformats.org/officeDocument/2006/relationships/slide" Target="slides/slide30.xml"/><Relationship Id="rId21" Type="http://schemas.openxmlformats.org/officeDocument/2006/relationships/slide" Target="slides/slide12.xml"/><Relationship Id="rId34" Type="http://schemas.openxmlformats.org/officeDocument/2006/relationships/slide" Target="slides/slide25.xml"/><Relationship Id="rId42" Type="http://schemas.openxmlformats.org/officeDocument/2006/relationships/slide" Target="slides/slide33.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7.xml"/><Relationship Id="rId29" Type="http://schemas.openxmlformats.org/officeDocument/2006/relationships/slide" Target="slides/slide20.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slide" Target="slides/slide28.xml"/><Relationship Id="rId40" Type="http://schemas.openxmlformats.org/officeDocument/2006/relationships/slide" Target="slides/slide31.xml"/><Relationship Id="rId45" Type="http://schemas.openxmlformats.org/officeDocument/2006/relationships/notesMaster" Target="notesMasters/notesMaster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theme" Target="theme/theme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4" Type="http://schemas.openxmlformats.org/officeDocument/2006/relationships/slide" Target="slides/slide35.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viewProps" Target="viewProps.xml"/><Relationship Id="rId8" Type="http://schemas.openxmlformats.org/officeDocument/2006/relationships/slideMaster" Target="slideMasters/slideMaster5.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handoutMaster" Target="handoutMasters/handoutMaster1.xml"/><Relationship Id="rId20" Type="http://schemas.openxmlformats.org/officeDocument/2006/relationships/slide" Target="slides/slide11.xml"/><Relationship Id="rId41" Type="http://schemas.openxmlformats.org/officeDocument/2006/relationships/slide" Target="slides/slide32.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ugo de Oliveira" userId="3af7bcc3-daaf-48cc-a7ea-cb8500c544d3" providerId="ADAL" clId="{3CFB7E92-1BAE-4158-94CB-C0CF061743D6}"/>
    <pc:docChg chg="undo custSel addSld delSld modSld">
      <pc:chgData name="Hugo de Oliveira" userId="3af7bcc3-daaf-48cc-a7ea-cb8500c544d3" providerId="ADAL" clId="{3CFB7E92-1BAE-4158-94CB-C0CF061743D6}" dt="2026-07-07T13:12:44.620" v="3" actId="1076"/>
      <pc:docMkLst>
        <pc:docMk/>
      </pc:docMkLst>
      <pc:sldChg chg="modSp mod">
        <pc:chgData name="Hugo de Oliveira" userId="3af7bcc3-daaf-48cc-a7ea-cb8500c544d3" providerId="ADAL" clId="{3CFB7E92-1BAE-4158-94CB-C0CF061743D6}" dt="2026-07-07T13:12:44.620" v="3" actId="1076"/>
        <pc:sldMkLst>
          <pc:docMk/>
          <pc:sldMk cId="3105878587" sldId="324"/>
        </pc:sldMkLst>
        <pc:picChg chg="mod">
          <ac:chgData name="Hugo de Oliveira" userId="3af7bcc3-daaf-48cc-a7ea-cb8500c544d3" providerId="ADAL" clId="{3CFB7E92-1BAE-4158-94CB-C0CF061743D6}" dt="2026-07-07T13:12:44.620" v="3" actId="1076"/>
          <ac:picMkLst>
            <pc:docMk/>
            <pc:sldMk cId="3105878587" sldId="324"/>
            <ac:picMk id="2" creationId="{82708157-B065-C91D-7606-9CB3FE664C2C}"/>
          </ac:picMkLst>
        </pc:picChg>
      </pc:sldChg>
      <pc:sldChg chg="del">
        <pc:chgData name="Hugo de Oliveira" userId="3af7bcc3-daaf-48cc-a7ea-cb8500c544d3" providerId="ADAL" clId="{3CFB7E92-1BAE-4158-94CB-C0CF061743D6}" dt="2026-07-07T13:07:04.807" v="1" actId="47"/>
        <pc:sldMkLst>
          <pc:docMk/>
          <pc:sldMk cId="1530803137" sldId="337"/>
        </pc:sldMkLst>
      </pc:sldChg>
      <pc:sldChg chg="add">
        <pc:chgData name="Hugo de Oliveira" userId="3af7bcc3-daaf-48cc-a7ea-cb8500c544d3" providerId="ADAL" clId="{3CFB7E92-1BAE-4158-94CB-C0CF061743D6}" dt="2026-07-07T13:07:00.831" v="0"/>
        <pc:sldMkLst>
          <pc:docMk/>
          <pc:sldMk cId="1749979117" sldId="4484"/>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oleObject" Target="NULL" TargetMode="External"/></Relationships>
</file>

<file path=ppt/charts/_rels/chart3.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4.xml.rels><?xml version="1.0" encoding="UTF-8" standalone="yes"?>
<Relationships xmlns="http://schemas.openxmlformats.org/package/2006/relationships"><Relationship Id="rId1" Type="http://schemas.openxmlformats.org/officeDocument/2006/relationships/oleObject" Target="NULL"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1.6250607560997672E-2"/>
          <c:y val="0.12666087731270018"/>
          <c:w val="0.97797176258472418"/>
          <c:h val="0.78502957278662766"/>
        </c:manualLayout>
      </c:layout>
      <c:barChart>
        <c:barDir val="col"/>
        <c:grouping val="stacked"/>
        <c:varyColors val="0"/>
        <c:ser>
          <c:idx val="0"/>
          <c:order val="0"/>
          <c:tx>
            <c:v>Hydro</c:v>
          </c:tx>
          <c:spPr>
            <a:solidFill>
              <a:srgbClr val="00C159">
                <a:alpha val="20000"/>
              </a:srgbClr>
            </a:solidFill>
            <a:ln>
              <a:noFill/>
            </a:ln>
          </c:spPr>
          <c:invertIfNegative val="0"/>
          <c:dPt>
            <c:idx val="5"/>
            <c:invertIfNegative val="0"/>
            <c:bubble3D val="0"/>
            <c:extLst>
              <c:ext xmlns:c16="http://schemas.microsoft.com/office/drawing/2014/chart" uri="{C3380CC4-5D6E-409C-BE32-E72D297353CC}">
                <c16:uniqueId val="{00000000-921B-AF47-A6A7-7D2C5F533CF3}"/>
              </c:ext>
            </c:extLst>
          </c:dPt>
          <c:dLbls>
            <c:dLbl>
              <c:idx val="4"/>
              <c:delete val="1"/>
              <c:extLst>
                <c:ext xmlns:c15="http://schemas.microsoft.com/office/drawing/2012/chart" uri="{CE6537A1-D6FC-4f65-9D91-7224C49458BB}"/>
                <c:ext xmlns:c16="http://schemas.microsoft.com/office/drawing/2014/chart" uri="{C3380CC4-5D6E-409C-BE32-E72D297353CC}">
                  <c16:uniqueId val="{00000001-921B-AF47-A6A7-7D2C5F533CF3}"/>
                </c:ext>
              </c:extLst>
            </c:dLbl>
            <c:dLbl>
              <c:idx val="5"/>
              <c:tx>
                <c:rich>
                  <a:bodyPr wrap="square" lIns="38100" tIns="19050" rIns="38100" bIns="19050" anchor="ctr">
                    <a:spAutoFit/>
                  </a:bodyPr>
                  <a:lstStyle/>
                  <a:p>
                    <a:pPr>
                      <a:defRPr/>
                    </a:pPr>
                    <a:r>
                      <a:rPr lang="en-US" sz="2400">
                        <a:solidFill>
                          <a:schemeClr val="bg1"/>
                        </a:solidFill>
                      </a:rPr>
                      <a:t>8</a:t>
                    </a:r>
                  </a:p>
                </c:rich>
              </c:tx>
              <c:spPr>
                <a:noFill/>
                <a:ln>
                  <a:noFill/>
                </a:ln>
                <a:effectLst/>
              </c:spP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921B-AF47-A6A7-7D2C5F533CF3}"/>
                </c:ext>
              </c:extLst>
            </c:dLbl>
            <c:spPr>
              <a:noFill/>
              <a:ln>
                <a:noFill/>
              </a:ln>
              <a:effectLst/>
            </c:spPr>
            <c:txPr>
              <a:bodyPr lIns="0" tIns="0" rIns="0" bIns="0"/>
              <a:lstStyle/>
              <a:p>
                <a:pPr marL="0" marR="0" indent="0" algn="ctr" defTabSz="914400" fontAlgn="auto" hangingPunct="1">
                  <a:lnSpc>
                    <a:spcPct val="100000"/>
                  </a:lnSpc>
                  <a:spcBef>
                    <a:spcPts val="0"/>
                  </a:spcBef>
                  <a:spcAft>
                    <a:spcPts val="0"/>
                  </a:spcAft>
                  <a:tabLst/>
                  <a:defRPr sz="2400" b="0" i="0" u="none" strike="noStrike" kern="1200" baseline="0">
                    <a:solidFill>
                      <a:srgbClr val="FFFFFF"/>
                    </a:solidFill>
                    <a:latin typeface="Calibri"/>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ect">
                    <a:avLst/>
                  </a:prstGeom>
                </c15:spPr>
                <c15:showLeaderLines val="1"/>
              </c:ext>
            </c:extLst>
          </c:dLbls>
          <c:cat>
            <c:strLit>
              <c:ptCount val="6"/>
              <c:pt idx="0">
                <c:v>2021</c:v>
              </c:pt>
              <c:pt idx="1">
                <c:v>2022</c:v>
              </c:pt>
              <c:pt idx="2">
                <c:v>2023</c:v>
              </c:pt>
              <c:pt idx="3">
                <c:v>2024</c:v>
              </c:pt>
              <c:pt idx="4">
                <c:v>…</c:v>
              </c:pt>
              <c:pt idx="5">
                <c:v>2030</c:v>
              </c:pt>
            </c:strLit>
          </c:cat>
          <c:val>
            <c:numLit>
              <c:formatCode>General</c:formatCode>
              <c:ptCount val="6"/>
              <c:pt idx="0">
                <c:v>7.2</c:v>
              </c:pt>
              <c:pt idx="1">
                <c:v>8.1999999999999993</c:v>
              </c:pt>
              <c:pt idx="2">
                <c:v>8.1999999999999993</c:v>
              </c:pt>
              <c:pt idx="3">
                <c:v>8.4</c:v>
              </c:pt>
              <c:pt idx="4">
                <c:v>0</c:v>
              </c:pt>
              <c:pt idx="5">
                <c:v>8.4</c:v>
              </c:pt>
            </c:numLit>
          </c:val>
          <c:extLst>
            <c:ext xmlns:c16="http://schemas.microsoft.com/office/drawing/2014/chart" uri="{C3380CC4-5D6E-409C-BE32-E72D297353CC}">
              <c16:uniqueId val="{00000002-921B-AF47-A6A7-7D2C5F533CF3}"/>
            </c:ext>
          </c:extLst>
        </c:ser>
        <c:ser>
          <c:idx val="1"/>
          <c:order val="1"/>
          <c:tx>
            <c:v>Wind</c:v>
          </c:tx>
          <c:spPr>
            <a:solidFill>
              <a:srgbClr val="1BCC70"/>
            </a:solidFill>
            <a:ln>
              <a:noFill/>
            </a:ln>
          </c:spPr>
          <c:invertIfNegative val="0"/>
          <c:dPt>
            <c:idx val="5"/>
            <c:invertIfNegative val="0"/>
            <c:bubble3D val="0"/>
            <c:extLst>
              <c:ext xmlns:c16="http://schemas.microsoft.com/office/drawing/2014/chart" uri="{C3380CC4-5D6E-409C-BE32-E72D297353CC}">
                <c16:uniqueId val="{00000003-921B-AF47-A6A7-7D2C5F533CF3}"/>
              </c:ext>
            </c:extLst>
          </c:dPt>
          <c:dLbls>
            <c:dLbl>
              <c:idx val="4"/>
              <c:delete val="1"/>
              <c:extLst>
                <c:ext xmlns:c15="http://schemas.microsoft.com/office/drawing/2012/chart" uri="{CE6537A1-D6FC-4f65-9D91-7224C49458BB}"/>
                <c:ext xmlns:c16="http://schemas.microsoft.com/office/drawing/2014/chart" uri="{C3380CC4-5D6E-409C-BE32-E72D297353CC}">
                  <c16:uniqueId val="{00000004-921B-AF47-A6A7-7D2C5F533CF3}"/>
                </c:ext>
              </c:extLst>
            </c:dLbl>
            <c:dLbl>
              <c:idx val="5"/>
              <c:tx>
                <c:rich>
                  <a:bodyPr/>
                  <a:lstStyle/>
                  <a:p>
                    <a:r>
                      <a:rPr lang="en-US" sz="2400" b="0" i="0" u="none" strike="noStrike" kern="1200" cap="none" spc="0" baseline="0">
                        <a:solidFill>
                          <a:srgbClr val="FFFFFF"/>
                        </a:solidFill>
                        <a:uFillTx/>
                        <a:latin typeface="Calibri"/>
                      </a:rPr>
                      <a:t>12</a:t>
                    </a:r>
                  </a:p>
                </c:rich>
              </c:tx>
              <c:showLegendKey val="0"/>
              <c:showVal val="1"/>
              <c:showCatName val="0"/>
              <c:showSerName val="0"/>
              <c:showPercent val="0"/>
              <c:showBubbleSize val="0"/>
              <c:separator>, </c:separator>
              <c:extLst>
                <c:ext xmlns:c15="http://schemas.microsoft.com/office/drawing/2012/chart" uri="{CE6537A1-D6FC-4f65-9D91-7224C49458BB}">
                  <c15:showDataLabelsRange val="0"/>
                </c:ext>
                <c:ext xmlns:c16="http://schemas.microsoft.com/office/drawing/2014/chart" uri="{C3380CC4-5D6E-409C-BE32-E72D297353CC}">
                  <c16:uniqueId val="{00000003-921B-AF47-A6A7-7D2C5F533CF3}"/>
                </c:ext>
              </c:extLst>
            </c:dLbl>
            <c:spPr>
              <a:noFill/>
              <a:ln>
                <a:noFill/>
              </a:ln>
              <a:effectLst/>
            </c:spPr>
            <c:txPr>
              <a:bodyPr lIns="0" tIns="0" rIns="0" bIns="0"/>
              <a:lstStyle/>
              <a:p>
                <a:pPr marL="0" marR="0" indent="0" algn="ctr" defTabSz="914400" fontAlgn="auto" hangingPunct="1">
                  <a:lnSpc>
                    <a:spcPct val="100000"/>
                  </a:lnSpc>
                  <a:spcBef>
                    <a:spcPts val="0"/>
                  </a:spcBef>
                  <a:spcAft>
                    <a:spcPts val="0"/>
                  </a:spcAft>
                  <a:tabLst/>
                  <a:defRPr sz="2400" b="0" i="0" u="none" strike="noStrike" kern="1200" baseline="0">
                    <a:solidFill>
                      <a:srgbClr val="FFFFFF"/>
                    </a:solidFill>
                    <a:latin typeface="Calibri"/>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ect">
                    <a:avLst/>
                  </a:prstGeom>
                </c15:spPr>
                <c15:showLeaderLines val="1"/>
              </c:ext>
            </c:extLst>
          </c:dLbls>
          <c:cat>
            <c:strLit>
              <c:ptCount val="6"/>
              <c:pt idx="0">
                <c:v>2021</c:v>
              </c:pt>
              <c:pt idx="1">
                <c:v>2022</c:v>
              </c:pt>
              <c:pt idx="2">
                <c:v>2023</c:v>
              </c:pt>
              <c:pt idx="3">
                <c:v>2024</c:v>
              </c:pt>
              <c:pt idx="4">
                <c:v>…</c:v>
              </c:pt>
              <c:pt idx="5">
                <c:v>2030</c:v>
              </c:pt>
            </c:strLit>
          </c:cat>
          <c:val>
            <c:numLit>
              <c:formatCode>General</c:formatCode>
              <c:ptCount val="6"/>
              <c:pt idx="0">
                <c:v>5.4</c:v>
              </c:pt>
              <c:pt idx="1">
                <c:v>5.4</c:v>
              </c:pt>
              <c:pt idx="2">
                <c:v>5.4</c:v>
              </c:pt>
              <c:pt idx="3">
                <c:v>5.4</c:v>
              </c:pt>
              <c:pt idx="4">
                <c:v>0</c:v>
              </c:pt>
              <c:pt idx="5">
                <c:v>13.9</c:v>
              </c:pt>
            </c:numLit>
          </c:val>
          <c:extLst>
            <c:ext xmlns:c16="http://schemas.microsoft.com/office/drawing/2014/chart" uri="{C3380CC4-5D6E-409C-BE32-E72D297353CC}">
              <c16:uniqueId val="{00000005-921B-AF47-A6A7-7D2C5F533CF3}"/>
            </c:ext>
          </c:extLst>
        </c:ser>
        <c:ser>
          <c:idx val="2"/>
          <c:order val="2"/>
          <c:tx>
            <c:v>Solar</c:v>
          </c:tx>
          <c:spPr>
            <a:solidFill>
              <a:srgbClr val="0A3638">
                <a:alpha val="40000"/>
              </a:srgbClr>
            </a:solidFill>
            <a:ln>
              <a:noFill/>
            </a:ln>
          </c:spPr>
          <c:invertIfNegative val="0"/>
          <c:dPt>
            <c:idx val="5"/>
            <c:invertIfNegative val="0"/>
            <c:bubble3D val="0"/>
            <c:extLst>
              <c:ext xmlns:c16="http://schemas.microsoft.com/office/drawing/2014/chart" uri="{C3380CC4-5D6E-409C-BE32-E72D297353CC}">
                <c16:uniqueId val="{00000006-921B-AF47-A6A7-7D2C5F533CF3}"/>
              </c:ext>
            </c:extLst>
          </c:dPt>
          <c:dLbls>
            <c:dLbl>
              <c:idx val="4"/>
              <c:delete val="1"/>
              <c:extLst>
                <c:ext xmlns:c15="http://schemas.microsoft.com/office/drawing/2012/chart" uri="{CE6537A1-D6FC-4f65-9D91-7224C49458BB}"/>
                <c:ext xmlns:c16="http://schemas.microsoft.com/office/drawing/2014/chart" uri="{C3380CC4-5D6E-409C-BE32-E72D297353CC}">
                  <c16:uniqueId val="{00000007-921B-AF47-A6A7-7D2C5F533CF3}"/>
                </c:ext>
              </c:extLst>
            </c:dLbl>
            <c:dLbl>
              <c:idx val="5"/>
              <c:tx>
                <c:rich>
                  <a:bodyPr/>
                  <a:lstStyle/>
                  <a:p>
                    <a:r>
                      <a:rPr lang="en-US" sz="2400"/>
                      <a:t>20</a:t>
                    </a:r>
                  </a:p>
                </c:rich>
              </c:tx>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921B-AF47-A6A7-7D2C5F533CF3}"/>
                </c:ext>
              </c:extLst>
            </c:dLbl>
            <c:spPr>
              <a:noFill/>
              <a:ln>
                <a:noFill/>
              </a:ln>
              <a:effectLst/>
            </c:spPr>
            <c:txPr>
              <a:bodyPr wrap="square" lIns="38100" tIns="19050" rIns="38100" bIns="19050" anchor="ctr">
                <a:spAutoFit/>
              </a:bodyPr>
              <a:lstStyle/>
              <a:p>
                <a:pPr>
                  <a:defRPr sz="2400"/>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Lit>
              <c:ptCount val="6"/>
              <c:pt idx="0">
                <c:v>2021</c:v>
              </c:pt>
              <c:pt idx="1">
                <c:v>2022</c:v>
              </c:pt>
              <c:pt idx="2">
                <c:v>2023</c:v>
              </c:pt>
              <c:pt idx="3">
                <c:v>2024</c:v>
              </c:pt>
              <c:pt idx="4">
                <c:v>…</c:v>
              </c:pt>
              <c:pt idx="5">
                <c:v>2030</c:v>
              </c:pt>
            </c:strLit>
          </c:cat>
          <c:val>
            <c:numLit>
              <c:formatCode>General</c:formatCode>
              <c:ptCount val="6"/>
              <c:pt idx="0">
                <c:v>1.4</c:v>
              </c:pt>
              <c:pt idx="1">
                <c:v>1.9</c:v>
              </c:pt>
              <c:pt idx="2">
                <c:v>2.6</c:v>
              </c:pt>
              <c:pt idx="3">
                <c:v>3.4</c:v>
              </c:pt>
              <c:pt idx="4">
                <c:v>0</c:v>
              </c:pt>
              <c:pt idx="5">
                <c:v>20.399999999999999</c:v>
              </c:pt>
            </c:numLit>
          </c:val>
          <c:extLst>
            <c:ext xmlns:c16="http://schemas.microsoft.com/office/drawing/2014/chart" uri="{C3380CC4-5D6E-409C-BE32-E72D297353CC}">
              <c16:uniqueId val="{00000008-921B-AF47-A6A7-7D2C5F533CF3}"/>
            </c:ext>
          </c:extLst>
        </c:ser>
        <c:ser>
          <c:idx val="3"/>
          <c:order val="3"/>
          <c:tx>
            <c:v>Biomass</c:v>
          </c:tx>
          <c:spPr>
            <a:solidFill>
              <a:srgbClr val="0A3638"/>
            </a:solidFill>
            <a:ln>
              <a:noFill/>
            </a:ln>
          </c:spPr>
          <c:invertIfNegative val="0"/>
          <c:cat>
            <c:strLit>
              <c:ptCount val="6"/>
              <c:pt idx="0">
                <c:v>2021</c:v>
              </c:pt>
              <c:pt idx="1">
                <c:v>2022</c:v>
              </c:pt>
              <c:pt idx="2">
                <c:v>2023</c:v>
              </c:pt>
              <c:pt idx="3">
                <c:v>2024</c:v>
              </c:pt>
              <c:pt idx="4">
                <c:v>…</c:v>
              </c:pt>
              <c:pt idx="5">
                <c:v>2030</c:v>
              </c:pt>
            </c:strLit>
          </c:cat>
          <c:val>
            <c:numLit>
              <c:formatCode>General</c:formatCode>
              <c:ptCount val="6"/>
              <c:pt idx="0">
                <c:v>0.7</c:v>
              </c:pt>
              <c:pt idx="1">
                <c:v>0.7</c:v>
              </c:pt>
              <c:pt idx="2">
                <c:v>0.7</c:v>
              </c:pt>
              <c:pt idx="3">
                <c:v>0.7</c:v>
              </c:pt>
              <c:pt idx="4">
                <c:v>0</c:v>
              </c:pt>
              <c:pt idx="5">
                <c:v>0.7</c:v>
              </c:pt>
            </c:numLit>
          </c:val>
          <c:extLst>
            <c:ext xmlns:c16="http://schemas.microsoft.com/office/drawing/2014/chart" uri="{C3380CC4-5D6E-409C-BE32-E72D297353CC}">
              <c16:uniqueId val="{00000009-921B-AF47-A6A7-7D2C5F533CF3}"/>
            </c:ext>
          </c:extLst>
        </c:ser>
        <c:ser>
          <c:idx val="4"/>
          <c:order val="4"/>
          <c:tx>
            <c:v>Total</c:v>
          </c:tx>
          <c:spPr>
            <a:noFill/>
            <a:ln>
              <a:noFill/>
            </a:ln>
          </c:spPr>
          <c:invertIfNegative val="0"/>
          <c:dPt>
            <c:idx val="3"/>
            <c:invertIfNegative val="0"/>
            <c:bubble3D val="0"/>
            <c:extLst>
              <c:ext xmlns:c16="http://schemas.microsoft.com/office/drawing/2014/chart" uri="{C3380CC4-5D6E-409C-BE32-E72D297353CC}">
                <c16:uniqueId val="{0000000A-921B-AF47-A6A7-7D2C5F533CF3}"/>
              </c:ext>
            </c:extLst>
          </c:dPt>
          <c:dPt>
            <c:idx val="4"/>
            <c:invertIfNegative val="0"/>
            <c:bubble3D val="0"/>
            <c:extLst>
              <c:ext xmlns:c16="http://schemas.microsoft.com/office/drawing/2014/chart" uri="{C3380CC4-5D6E-409C-BE32-E72D297353CC}">
                <c16:uniqueId val="{0000000B-921B-AF47-A6A7-7D2C5F533CF3}"/>
              </c:ext>
            </c:extLst>
          </c:dPt>
          <c:dPt>
            <c:idx val="5"/>
            <c:invertIfNegative val="0"/>
            <c:bubble3D val="0"/>
            <c:extLst>
              <c:ext xmlns:c16="http://schemas.microsoft.com/office/drawing/2014/chart" uri="{C3380CC4-5D6E-409C-BE32-E72D297353CC}">
                <c16:uniqueId val="{0000000C-921B-AF47-A6A7-7D2C5F533CF3}"/>
              </c:ext>
            </c:extLst>
          </c:dPt>
          <c:dLbls>
            <c:dLbl>
              <c:idx val="0"/>
              <c:layout>
                <c:manualLayout>
                  <c:x val="0"/>
                  <c:y val="6.8743141222749826E-2"/>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D-921B-AF47-A6A7-7D2C5F533CF3}"/>
                </c:ext>
              </c:extLst>
            </c:dLbl>
            <c:dLbl>
              <c:idx val="1"/>
              <c:layout>
                <c:manualLayout>
                  <c:x val="0"/>
                  <c:y val="7.7654289159032219E-2"/>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E-921B-AF47-A6A7-7D2C5F533CF3}"/>
                </c:ext>
              </c:extLst>
            </c:dLbl>
            <c:dLbl>
              <c:idx val="2"/>
              <c:layout>
                <c:manualLayout>
                  <c:x val="-1.0012825088639126E-3"/>
                  <c:y val="7.8927310292786837E-2"/>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F-921B-AF47-A6A7-7D2C5F533CF3}"/>
                </c:ext>
              </c:extLst>
            </c:dLbl>
            <c:dLbl>
              <c:idx val="3"/>
              <c:layout>
                <c:manualLayout>
                  <c:x val="1.0012825088639126E-3"/>
                  <c:y val="9.2930542764087729E-2"/>
                </c:manualLayout>
              </c:layout>
              <c:tx>
                <c:rich>
                  <a:bodyPr/>
                  <a:lstStyle/>
                  <a:p>
                    <a:r>
                      <a:rPr lang="en-US" sz="3200" b="1" i="0" u="none" strike="noStrike" kern="1200" cap="none" spc="0" baseline="0">
                        <a:solidFill>
                          <a:srgbClr val="404040"/>
                        </a:solidFill>
                        <a:uFillTx/>
                        <a:latin typeface="Figtree" pitchFamily="2" charset="0"/>
                      </a:rPr>
                      <a:t>17.8</a:t>
                    </a:r>
                  </a:p>
                </c:rich>
              </c:tx>
              <c:showLegendKey val="0"/>
              <c:showVal val="1"/>
              <c:showCatName val="0"/>
              <c:showSerName val="0"/>
              <c:showPercent val="0"/>
              <c:showBubbleSize val="0"/>
              <c:separator>, </c:separator>
              <c:extLst>
                <c:ext xmlns:c15="http://schemas.microsoft.com/office/drawing/2012/chart" uri="{CE6537A1-D6FC-4f65-9D91-7224C49458BB}">
                  <c15:showDataLabelsRange val="0"/>
                </c:ext>
                <c:ext xmlns:c16="http://schemas.microsoft.com/office/drawing/2014/chart" uri="{C3380CC4-5D6E-409C-BE32-E72D297353CC}">
                  <c16:uniqueId val="{0000000A-921B-AF47-A6A7-7D2C5F533CF3}"/>
                </c:ext>
              </c:extLst>
            </c:dLbl>
            <c:dLbl>
              <c:idx val="4"/>
              <c:delete val="1"/>
              <c:extLst>
                <c:ext xmlns:c15="http://schemas.microsoft.com/office/drawing/2012/chart" uri="{CE6537A1-D6FC-4f65-9D91-7224C49458BB}"/>
                <c:ext xmlns:c16="http://schemas.microsoft.com/office/drawing/2014/chart" uri="{C3380CC4-5D6E-409C-BE32-E72D297353CC}">
                  <c16:uniqueId val="{0000000B-921B-AF47-A6A7-7D2C5F533CF3}"/>
                </c:ext>
              </c:extLst>
            </c:dLbl>
            <c:dLbl>
              <c:idx val="5"/>
              <c:tx>
                <c:rich>
                  <a:bodyPr/>
                  <a:lstStyle/>
                  <a:p>
                    <a:r>
                      <a:rPr lang="en-US" sz="3200" b="1" i="0" u="none" strike="noStrike" kern="1200" cap="none" spc="0" baseline="0">
                        <a:solidFill>
                          <a:srgbClr val="404040"/>
                        </a:solidFill>
                        <a:uFillTx/>
                        <a:latin typeface="Calibri"/>
                      </a:rPr>
                      <a:t>&gt;40</a:t>
                    </a:r>
                  </a:p>
                </c:rich>
              </c:tx>
              <c:showLegendKey val="0"/>
              <c:showVal val="1"/>
              <c:showCatName val="0"/>
              <c:showSerName val="0"/>
              <c:showPercent val="0"/>
              <c:showBubbleSize val="0"/>
              <c:separator>, </c:separator>
              <c:extLst>
                <c:ext xmlns:c15="http://schemas.microsoft.com/office/drawing/2012/chart" uri="{CE6537A1-D6FC-4f65-9D91-7224C49458BB}">
                  <c15:showDataLabelsRange val="0"/>
                </c:ext>
                <c:ext xmlns:c16="http://schemas.microsoft.com/office/drawing/2014/chart" uri="{C3380CC4-5D6E-409C-BE32-E72D297353CC}">
                  <c16:uniqueId val="{0000000C-921B-AF47-A6A7-7D2C5F533CF3}"/>
                </c:ext>
              </c:extLst>
            </c:dLbl>
            <c:numFmt formatCode="General" sourceLinked="0"/>
            <c:spPr>
              <a:noFill/>
              <a:ln>
                <a:noFill/>
              </a:ln>
              <a:effectLst/>
            </c:spPr>
            <c:txPr>
              <a:bodyPr lIns="0" tIns="0" rIns="0" bIns="0"/>
              <a:lstStyle/>
              <a:p>
                <a:pPr marL="0" marR="0" indent="0" algn="ctr" defTabSz="914400" fontAlgn="auto" hangingPunct="1">
                  <a:lnSpc>
                    <a:spcPct val="100000"/>
                  </a:lnSpc>
                  <a:spcBef>
                    <a:spcPts val="0"/>
                  </a:spcBef>
                  <a:spcAft>
                    <a:spcPts val="0"/>
                  </a:spcAft>
                  <a:tabLst/>
                  <a:defRPr sz="3200" b="1" i="0" u="none" strike="noStrike" kern="1200" baseline="0">
                    <a:solidFill>
                      <a:srgbClr val="404040"/>
                    </a:solidFill>
                    <a:latin typeface="Figtree" pitchFamily="2" charset="0"/>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ect">
                    <a:avLst/>
                  </a:prstGeom>
                </c15:spPr>
                <c15:showLeaderLines val="1"/>
              </c:ext>
            </c:extLst>
          </c:dLbls>
          <c:cat>
            <c:strLit>
              <c:ptCount val="6"/>
              <c:pt idx="0">
                <c:v>2021</c:v>
              </c:pt>
              <c:pt idx="1">
                <c:v>2022</c:v>
              </c:pt>
              <c:pt idx="2">
                <c:v>2023</c:v>
              </c:pt>
              <c:pt idx="3">
                <c:v>2024</c:v>
              </c:pt>
              <c:pt idx="4">
                <c:v>…</c:v>
              </c:pt>
              <c:pt idx="5">
                <c:v>2030</c:v>
              </c:pt>
            </c:strLit>
          </c:cat>
          <c:val>
            <c:numLit>
              <c:formatCode>General</c:formatCode>
              <c:ptCount val="6"/>
              <c:pt idx="0">
                <c:v>14.700000000000001</c:v>
              </c:pt>
              <c:pt idx="1">
                <c:v>16.2</c:v>
              </c:pt>
              <c:pt idx="2">
                <c:v>16.899999999999999</c:v>
              </c:pt>
              <c:pt idx="3">
                <c:v>17.899999999999999</c:v>
              </c:pt>
              <c:pt idx="4">
                <c:v>0</c:v>
              </c:pt>
              <c:pt idx="5">
                <c:v>43.400000000000006</c:v>
              </c:pt>
            </c:numLit>
          </c:val>
          <c:extLst>
            <c:ext xmlns:c16="http://schemas.microsoft.com/office/drawing/2014/chart" uri="{C3380CC4-5D6E-409C-BE32-E72D297353CC}">
              <c16:uniqueId val="{00000010-921B-AF47-A6A7-7D2C5F533CF3}"/>
            </c:ext>
          </c:extLst>
        </c:ser>
        <c:dLbls>
          <c:showLegendKey val="0"/>
          <c:showVal val="0"/>
          <c:showCatName val="0"/>
          <c:showSerName val="0"/>
          <c:showPercent val="0"/>
          <c:showBubbleSize val="0"/>
        </c:dLbls>
        <c:gapWidth val="150"/>
        <c:overlap val="100"/>
        <c:axId val="729946191"/>
        <c:axId val="488237983"/>
      </c:barChart>
      <c:valAx>
        <c:axId val="488237983"/>
        <c:scaling>
          <c:orientation val="minMax"/>
          <c:max val="50"/>
        </c:scaling>
        <c:delete val="1"/>
        <c:axPos val="l"/>
        <c:numFmt formatCode="General" sourceLinked="0"/>
        <c:majorTickMark val="out"/>
        <c:minorTickMark val="none"/>
        <c:tickLblPos val="nextTo"/>
        <c:crossAx val="729946191"/>
        <c:crosses val="autoZero"/>
        <c:crossBetween val="between"/>
      </c:valAx>
      <c:catAx>
        <c:axId val="729946191"/>
        <c:scaling>
          <c:orientation val="minMax"/>
        </c:scaling>
        <c:delete val="0"/>
        <c:axPos val="b"/>
        <c:numFmt formatCode="General" sourceLinked="0"/>
        <c:majorTickMark val="none"/>
        <c:minorTickMark val="none"/>
        <c:tickLblPos val="nextTo"/>
        <c:spPr>
          <a:no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sz="2000" b="0" i="0" u="none" strike="noStrike" kern="1200" baseline="0">
                <a:solidFill>
                  <a:srgbClr val="595959"/>
                </a:solidFill>
                <a:latin typeface="Figtree" pitchFamily="2" charset="0"/>
              </a:defRPr>
            </a:pPr>
            <a:endParaRPr lang="en-US"/>
          </a:p>
        </c:txPr>
        <c:crossAx val="488237983"/>
        <c:crosses val="autoZero"/>
        <c:auto val="1"/>
        <c:lblAlgn val="ctr"/>
        <c:lblOffset val="100"/>
        <c:noMultiLvlLbl val="0"/>
      </c:catAx>
      <c:spPr>
        <a:noFill/>
        <a:ln w="25400">
          <a:noFill/>
        </a:ln>
      </c:spPr>
    </c:plotArea>
    <c:legend>
      <c:legendPos val="t"/>
      <c:legendEntry>
        <c:idx val="4"/>
        <c:delete val="1"/>
      </c:legendEntry>
      <c:layout>
        <c:manualLayout>
          <c:xMode val="edge"/>
          <c:yMode val="edge"/>
          <c:x val="0.22877585398373493"/>
          <c:y val="5.1419365354314128E-2"/>
          <c:w val="0.56086209880274773"/>
          <c:h val="5.8527152721761781E-2"/>
        </c:manualLayout>
      </c:layout>
      <c:overlay val="0"/>
      <c:txPr>
        <a:bodyPr/>
        <a:lstStyle/>
        <a:p>
          <a:pPr>
            <a:defRPr sz="2000">
              <a:latin typeface="Figtree"/>
            </a:defRPr>
          </a:pPr>
          <a:endParaRPr lang="en-US"/>
        </a:p>
      </c:txPr>
    </c:legend>
    <c:plotVisOnly val="1"/>
    <c:dispBlanksAs val="gap"/>
    <c:showDLblsOverMax val="0"/>
  </c:chart>
  <c:spPr>
    <a:noFill/>
    <a:ln>
      <a:noFill/>
    </a:ln>
  </c:spPr>
  <c:txPr>
    <a:bodyPr lIns="0" tIns="0" rIns="0" bIns="0"/>
    <a:lstStyle/>
    <a:p>
      <a:pPr marL="0" marR="0" indent="0" defTabSz="914400" fontAlgn="auto" hangingPunct="1">
        <a:lnSpc>
          <a:spcPct val="100000"/>
        </a:lnSpc>
        <a:spcBef>
          <a:spcPts val="0"/>
        </a:spcBef>
        <a:spcAft>
          <a:spcPts val="0"/>
        </a:spcAft>
        <a:tabLst/>
        <a:defRPr lang="en-GB" sz="1330" b="0" i="0" u="none" strike="noStrike" kern="1200" baseline="0">
          <a:solidFill>
            <a:srgbClr val="000000"/>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v>Sales</c:v>
          </c:tx>
          <c:dPt>
            <c:idx val="0"/>
            <c:bubble3D val="0"/>
            <c:spPr>
              <a:solidFill>
                <a:srgbClr val="00C159">
                  <a:alpha val="20000"/>
                </a:srgbClr>
              </a:solidFill>
              <a:ln w="19046">
                <a:solidFill>
                  <a:srgbClr val="FFFFFF"/>
                </a:solidFill>
                <a:prstDash val="solid"/>
              </a:ln>
            </c:spPr>
            <c:extLst>
              <c:ext xmlns:c16="http://schemas.microsoft.com/office/drawing/2014/chart" uri="{C3380CC4-5D6E-409C-BE32-E72D297353CC}">
                <c16:uniqueId val="{00000001-832C-3D4D-8F28-862D65D7A67D}"/>
              </c:ext>
            </c:extLst>
          </c:dPt>
          <c:dPt>
            <c:idx val="1"/>
            <c:bubble3D val="0"/>
            <c:spPr>
              <a:solidFill>
                <a:srgbClr val="1BCC70"/>
              </a:solidFill>
              <a:ln w="19046">
                <a:solidFill>
                  <a:srgbClr val="FFFFFF"/>
                </a:solidFill>
                <a:prstDash val="solid"/>
              </a:ln>
            </c:spPr>
            <c:extLst>
              <c:ext xmlns:c16="http://schemas.microsoft.com/office/drawing/2014/chart" uri="{C3380CC4-5D6E-409C-BE32-E72D297353CC}">
                <c16:uniqueId val="{00000003-832C-3D4D-8F28-862D65D7A67D}"/>
              </c:ext>
            </c:extLst>
          </c:dPt>
          <c:dPt>
            <c:idx val="2"/>
            <c:bubble3D val="0"/>
            <c:spPr>
              <a:solidFill>
                <a:srgbClr val="0A3638">
                  <a:alpha val="40000"/>
                </a:srgbClr>
              </a:solidFill>
              <a:ln w="19046">
                <a:solidFill>
                  <a:srgbClr val="FFFFFF"/>
                </a:solidFill>
                <a:prstDash val="solid"/>
              </a:ln>
            </c:spPr>
            <c:extLst>
              <c:ext xmlns:c16="http://schemas.microsoft.com/office/drawing/2014/chart" uri="{C3380CC4-5D6E-409C-BE32-E72D297353CC}">
                <c16:uniqueId val="{00000005-832C-3D4D-8F28-862D65D7A67D}"/>
              </c:ext>
            </c:extLst>
          </c:dPt>
          <c:dPt>
            <c:idx val="3"/>
            <c:bubble3D val="0"/>
            <c:spPr>
              <a:solidFill>
                <a:srgbClr val="0A3638"/>
              </a:solidFill>
              <a:ln w="19046">
                <a:solidFill>
                  <a:srgbClr val="FFFFFF"/>
                </a:solidFill>
                <a:prstDash val="solid"/>
              </a:ln>
            </c:spPr>
            <c:extLst>
              <c:ext xmlns:c16="http://schemas.microsoft.com/office/drawing/2014/chart" uri="{C3380CC4-5D6E-409C-BE32-E72D297353CC}">
                <c16:uniqueId val="{00000007-832C-3D4D-8F28-862D65D7A67D}"/>
              </c:ext>
            </c:extLst>
          </c:dPt>
          <c:dPt>
            <c:idx val="4"/>
            <c:bubble3D val="0"/>
            <c:spPr>
              <a:solidFill>
                <a:srgbClr val="D1CECE"/>
              </a:solidFill>
              <a:ln w="19046">
                <a:solidFill>
                  <a:srgbClr val="FFFFFF"/>
                </a:solidFill>
                <a:prstDash val="solid"/>
              </a:ln>
            </c:spPr>
            <c:extLst>
              <c:ext xmlns:c16="http://schemas.microsoft.com/office/drawing/2014/chart" uri="{C3380CC4-5D6E-409C-BE32-E72D297353CC}">
                <c16:uniqueId val="{00000009-832C-3D4D-8F28-862D65D7A67D}"/>
              </c:ext>
            </c:extLst>
          </c:dPt>
          <c:dLbls>
            <c:dLbl>
              <c:idx val="0"/>
              <c:layout>
                <c:manualLayout>
                  <c:x val="8.9525746171247016E-3"/>
                  <c:y val="3.6975743281587453E-2"/>
                </c:manualLayout>
              </c:layout>
              <c:showLegendKey val="0"/>
              <c:showVal val="1"/>
              <c:showCatName val="0"/>
              <c:showSerName val="0"/>
              <c:showPercent val="0"/>
              <c:showBubbleSize val="0"/>
              <c:separator>, </c:separator>
              <c:extLst>
                <c:ext xmlns:c15="http://schemas.microsoft.com/office/drawing/2012/chart" uri="{CE6537A1-D6FC-4f65-9D91-7224C49458BB}"/>
                <c:ext xmlns:c16="http://schemas.microsoft.com/office/drawing/2014/chart" uri="{C3380CC4-5D6E-409C-BE32-E72D297353CC}">
                  <c16:uniqueId val="{00000001-832C-3D4D-8F28-862D65D7A67D}"/>
                </c:ext>
              </c:extLst>
            </c:dLbl>
            <c:dLbl>
              <c:idx val="1"/>
              <c:showLegendKey val="0"/>
              <c:showVal val="1"/>
              <c:showCatName val="0"/>
              <c:showSerName val="0"/>
              <c:showPercent val="0"/>
              <c:showBubbleSize val="0"/>
              <c:separator>, </c:separator>
              <c:extLst>
                <c:ext xmlns:c15="http://schemas.microsoft.com/office/drawing/2012/chart" uri="{CE6537A1-D6FC-4f65-9D91-7224C49458BB}">
                  <c15:layout>
                    <c:manualLayout>
                      <c:w val="7.5813386049351006E-2"/>
                      <c:h val="4.5911547907971161E-2"/>
                    </c:manualLayout>
                  </c15:layout>
                </c:ext>
                <c:ext xmlns:c16="http://schemas.microsoft.com/office/drawing/2014/chart" uri="{C3380CC4-5D6E-409C-BE32-E72D297353CC}">
                  <c16:uniqueId val="{00000003-832C-3D4D-8F28-862D65D7A67D}"/>
                </c:ext>
              </c:extLst>
            </c:dLbl>
            <c:numFmt formatCode="0%" sourceLinked="0"/>
            <c:spPr>
              <a:noFill/>
              <a:ln>
                <a:noFill/>
              </a:ln>
              <a:effectLst/>
            </c:spPr>
            <c:txPr>
              <a:bodyPr lIns="0" tIns="0" rIns="0" bIns="0"/>
              <a:lstStyle/>
              <a:p>
                <a:pPr marL="0" marR="0" indent="0" algn="ctr" defTabSz="914400" fontAlgn="auto" hangingPunct="1">
                  <a:lnSpc>
                    <a:spcPct val="100000"/>
                  </a:lnSpc>
                  <a:spcBef>
                    <a:spcPts val="0"/>
                  </a:spcBef>
                  <a:spcAft>
                    <a:spcPts val="0"/>
                  </a:spcAft>
                  <a:tabLst/>
                  <a:defRPr sz="2400" b="1" i="0" u="none" strike="noStrike" kern="1200" baseline="0">
                    <a:solidFill>
                      <a:srgbClr val="FFFFFF"/>
                    </a:solidFill>
                    <a:latin typeface="Figtree" pitchFamily="2" charset="0"/>
                  </a:defRPr>
                </a:pPr>
                <a:endParaRPr lang="en-US"/>
              </a:p>
            </c:txPr>
            <c:showLegendKey val="0"/>
            <c:showVal val="1"/>
            <c:showCatName val="0"/>
            <c:showSerName val="0"/>
            <c:showPercent val="0"/>
            <c:showBubbleSize val="0"/>
            <c:separator>, </c:separator>
            <c:showLeaderLines val="0"/>
            <c:extLst>
              <c:ext xmlns:c15="http://schemas.microsoft.com/office/drawing/2012/chart" uri="{CE6537A1-D6FC-4f65-9D91-7224C49458BB}">
                <c15:spPr xmlns:c15="http://schemas.microsoft.com/office/drawing/2012/chart">
                  <a:prstGeom prst="rect">
                    <a:avLst/>
                  </a:prstGeom>
                </c15:spPr>
              </c:ext>
            </c:extLst>
          </c:dLbls>
          <c:cat>
            <c:strLit>
              <c:ptCount val="5"/>
              <c:pt idx="0">
                <c:v>Hydro</c:v>
              </c:pt>
              <c:pt idx="1">
                <c:v>Wind</c:v>
              </c:pt>
              <c:pt idx="2">
                <c:v>Solar</c:v>
              </c:pt>
              <c:pt idx="3">
                <c:v>Biomass</c:v>
              </c:pt>
              <c:pt idx="4">
                <c:v>Fossil</c:v>
              </c:pt>
            </c:strLit>
          </c:cat>
          <c:val>
            <c:numLit>
              <c:formatCode>General</c:formatCode>
              <c:ptCount val="5"/>
              <c:pt idx="0">
                <c:v>0.38</c:v>
              </c:pt>
              <c:pt idx="1">
                <c:v>0.24</c:v>
              </c:pt>
              <c:pt idx="2">
                <c:v>0.15</c:v>
              </c:pt>
              <c:pt idx="3">
                <c:v>0.03</c:v>
              </c:pt>
              <c:pt idx="4">
                <c:v>0.2</c:v>
              </c:pt>
            </c:numLit>
          </c:val>
          <c:extLst>
            <c:ext xmlns:c16="http://schemas.microsoft.com/office/drawing/2014/chart" uri="{C3380CC4-5D6E-409C-BE32-E72D297353CC}">
              <c16:uniqueId val="{0000000A-832C-3D4D-8F28-862D65D7A67D}"/>
            </c:ext>
          </c:extLst>
        </c:ser>
        <c:dLbls>
          <c:showLegendKey val="0"/>
          <c:showVal val="0"/>
          <c:showCatName val="0"/>
          <c:showSerName val="0"/>
          <c:showPercent val="0"/>
          <c:showBubbleSize val="0"/>
          <c:showLeaderLines val="0"/>
        </c:dLbls>
        <c:firstSliceAng val="360"/>
        <c:holeSize val="65"/>
      </c:doughnutChart>
      <c:spPr>
        <a:noFill/>
        <a:ln>
          <a:noFill/>
        </a:ln>
      </c:spPr>
    </c:plotArea>
    <c:legend>
      <c:legendPos val="t"/>
      <c:overlay val="0"/>
      <c:spPr>
        <a:noFill/>
        <a:ln>
          <a:noFill/>
        </a:ln>
      </c:spPr>
      <c:txPr>
        <a:bodyPr lIns="0" tIns="0" rIns="0" bIns="0"/>
        <a:lstStyle/>
        <a:p>
          <a:pPr marL="0" marR="0" indent="0" defTabSz="914400" fontAlgn="auto" hangingPunct="1">
            <a:lnSpc>
              <a:spcPct val="100000"/>
            </a:lnSpc>
            <a:spcBef>
              <a:spcPts val="0"/>
            </a:spcBef>
            <a:spcAft>
              <a:spcPts val="0"/>
            </a:spcAft>
            <a:tabLst/>
            <a:defRPr sz="2000" b="0" i="0" u="none" strike="noStrike" kern="1200" baseline="0">
              <a:solidFill>
                <a:srgbClr val="595959"/>
              </a:solidFill>
              <a:latin typeface="Figtree" pitchFamily="2" charset="0"/>
            </a:defRPr>
          </a:pPr>
          <a:endParaRPr lang="en-US"/>
        </a:p>
      </c:txPr>
    </c:legend>
    <c:plotVisOnly val="1"/>
    <c:dispBlanksAs val="gap"/>
    <c:showDLblsOverMax val="0"/>
  </c:chart>
  <c:spPr>
    <a:noFill/>
    <a:ln>
      <a:noFill/>
    </a:ln>
  </c:spPr>
  <c:txPr>
    <a:bodyPr lIns="0" tIns="0" rIns="0" bIns="0"/>
    <a:lstStyle/>
    <a:p>
      <a:pPr marL="0" marR="0" indent="0" defTabSz="914400" fontAlgn="auto" hangingPunct="1">
        <a:lnSpc>
          <a:spcPct val="100000"/>
        </a:lnSpc>
        <a:spcBef>
          <a:spcPts val="0"/>
        </a:spcBef>
        <a:spcAft>
          <a:spcPts val="0"/>
        </a:spcAft>
        <a:tabLst/>
        <a:defRPr lang="en-GB" sz="1197" b="0" i="0" u="none" strike="noStrike" kern="1200" baseline="0">
          <a:solidFill>
            <a:srgbClr val="000000"/>
          </a:solidFill>
          <a:latin typeface="Calibri"/>
        </a:defRPr>
      </a:pPr>
      <a:endParaRPr lang="en-US"/>
    </a:p>
  </c:tx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8434319656484157E-2"/>
          <c:y val="7.0214908599522535E-2"/>
          <c:w val="0.93479038117695623"/>
          <c:h val="0.86133792877128446"/>
        </c:manualLayout>
      </c:layout>
      <c:lineChart>
        <c:grouping val="standard"/>
        <c:varyColors val="0"/>
        <c:ser>
          <c:idx val="0"/>
          <c:order val="0"/>
          <c:tx>
            <c:v>Average DC size (all DCs) </c:v>
          </c:tx>
          <c:spPr>
            <a:ln w="127001" cap="rnd">
              <a:noFill/>
              <a:prstDash val="solid"/>
              <a:round/>
            </a:ln>
          </c:spPr>
          <c:marker>
            <c:symbol val="none"/>
          </c:marker>
          <c:cat>
            <c:numLit>
              <c:formatCode>General</c:formatCode>
              <c:ptCount val="7"/>
              <c:pt idx="0">
                <c:v>2019</c:v>
              </c:pt>
              <c:pt idx="1">
                <c:v>2020</c:v>
              </c:pt>
              <c:pt idx="2">
                <c:v>2021</c:v>
              </c:pt>
              <c:pt idx="3">
                <c:v>2022</c:v>
              </c:pt>
              <c:pt idx="4">
                <c:v>2023</c:v>
              </c:pt>
              <c:pt idx="5">
                <c:v>2024</c:v>
              </c:pt>
              <c:pt idx="6">
                <c:v>2025</c:v>
              </c:pt>
            </c:numLit>
          </c:cat>
          <c:val>
            <c:numLit>
              <c:formatCode>General</c:formatCode>
              <c:ptCount val="7"/>
              <c:pt idx="0">
                <c:v>17.5</c:v>
              </c:pt>
              <c:pt idx="1">
                <c:v>25</c:v>
              </c:pt>
              <c:pt idx="2">
                <c:v>32.5</c:v>
              </c:pt>
              <c:pt idx="3">
                <c:v>45</c:v>
              </c:pt>
              <c:pt idx="4">
                <c:v>55</c:v>
              </c:pt>
              <c:pt idx="5">
                <c:v>70</c:v>
              </c:pt>
              <c:pt idx="6">
                <c:v>130</c:v>
              </c:pt>
            </c:numLit>
          </c:val>
          <c:smooth val="0"/>
          <c:extLst>
            <c:ext xmlns:c16="http://schemas.microsoft.com/office/drawing/2014/chart" uri="{C3380CC4-5D6E-409C-BE32-E72D297353CC}">
              <c16:uniqueId val="{00000000-C525-A840-A19E-EBB2D8E628FB}"/>
            </c:ext>
          </c:extLst>
        </c:ser>
        <c:dLbls>
          <c:showLegendKey val="0"/>
          <c:showVal val="0"/>
          <c:showCatName val="0"/>
          <c:showSerName val="0"/>
          <c:showPercent val="0"/>
          <c:showBubbleSize val="0"/>
        </c:dLbls>
        <c:smooth val="0"/>
        <c:axId val="1301708511"/>
        <c:axId val="1302270383"/>
      </c:lineChart>
      <c:valAx>
        <c:axId val="1302270383"/>
        <c:scaling>
          <c:orientation val="minMax"/>
          <c:max val="1800"/>
        </c:scaling>
        <c:delete val="0"/>
        <c:axPos val="l"/>
        <c:majorGridlines>
          <c:spPr>
            <a:ln w="9528" cap="flat">
              <a:solidFill>
                <a:schemeClr val="bg1">
                  <a:lumMod val="95000"/>
                </a:schemeClr>
              </a:solidFill>
              <a:prstDash val="solid"/>
              <a:round/>
            </a:ln>
          </c:spPr>
        </c:majorGridlines>
        <c:numFmt formatCode="General" sourceLinked="0"/>
        <c:majorTickMark val="none"/>
        <c:minorTickMark val="none"/>
        <c:tickLblPos val="nextTo"/>
        <c:spPr>
          <a:noFill/>
          <a:ln>
            <a:noFill/>
          </a:ln>
        </c:spPr>
        <c:txPr>
          <a:bodyPr lIns="0" tIns="0" rIns="0" bIns="0"/>
          <a:lstStyle/>
          <a:p>
            <a:pPr marL="0" marR="0" indent="0" defTabSz="914400" fontAlgn="auto" hangingPunct="1">
              <a:lnSpc>
                <a:spcPct val="100000"/>
              </a:lnSpc>
              <a:spcBef>
                <a:spcPts val="0"/>
              </a:spcBef>
              <a:spcAft>
                <a:spcPts val="0"/>
              </a:spcAft>
              <a:tabLst/>
              <a:defRPr sz="2400" b="0" i="0" u="none" strike="noStrike" kern="1200" baseline="0">
                <a:solidFill>
                  <a:schemeClr val="bg1">
                    <a:lumMod val="85000"/>
                  </a:schemeClr>
                </a:solidFill>
                <a:latin typeface="Figtree" pitchFamily="2" charset="0"/>
              </a:defRPr>
            </a:pPr>
            <a:endParaRPr lang="en-US"/>
          </a:p>
        </c:txPr>
        <c:crossAx val="1301708511"/>
        <c:crossesAt val="42196"/>
        <c:crossBetween val="between"/>
      </c:valAx>
      <c:dateAx>
        <c:axId val="1301708511"/>
        <c:scaling>
          <c:orientation val="minMax"/>
          <c:max val="46579"/>
          <c:min val="42196"/>
        </c:scaling>
        <c:delete val="1"/>
        <c:axPos val="b"/>
        <c:numFmt formatCode="General" sourceLinked="0"/>
        <c:majorTickMark val="none"/>
        <c:minorTickMark val="none"/>
        <c:tickLblPos val="nextTo"/>
        <c:crossAx val="1302270383"/>
        <c:crosses val="autoZero"/>
        <c:auto val="0"/>
        <c:lblOffset val="100"/>
        <c:baseTimeUnit val="days"/>
        <c:majorUnit val="1"/>
        <c:majorTimeUnit val="years"/>
      </c:dateAx>
      <c:spPr>
        <a:noFill/>
        <a:ln>
          <a:noFill/>
        </a:ln>
      </c:spPr>
    </c:plotArea>
    <c:plotVisOnly val="1"/>
    <c:dispBlanksAs val="gap"/>
    <c:showDLblsOverMax val="0"/>
  </c:chart>
  <c:spPr>
    <a:noFill/>
    <a:ln>
      <a:noFill/>
    </a:ln>
  </c:spPr>
  <c:txPr>
    <a:bodyPr lIns="0" tIns="0" rIns="0" bIns="0"/>
    <a:lstStyle/>
    <a:p>
      <a:pPr marL="0" marR="0" indent="0" defTabSz="914400" fontAlgn="auto" hangingPunct="1">
        <a:lnSpc>
          <a:spcPct val="100000"/>
        </a:lnSpc>
        <a:spcBef>
          <a:spcPts val="0"/>
        </a:spcBef>
        <a:spcAft>
          <a:spcPts val="0"/>
        </a:spcAft>
        <a:tabLst/>
        <a:defRPr lang="en-GB" sz="2800" b="0" i="0" u="none" strike="noStrike" kern="1200" baseline="0">
          <a:solidFill>
            <a:srgbClr val="000000"/>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xMode val="edge"/>
          <c:yMode val="edge"/>
          <c:x val="2.9900097417813465E-3"/>
          <c:y val="3.6001388965261616E-2"/>
          <c:w val="0.99043196882629969"/>
          <c:h val="0.95753238712620647"/>
        </c:manualLayout>
      </c:layout>
      <c:lineChart>
        <c:grouping val="standard"/>
        <c:varyColors val="0"/>
        <c:ser>
          <c:idx val="0"/>
          <c:order val="0"/>
          <c:tx>
            <c:v>Average DC size (all DCs) </c:v>
          </c:tx>
          <c:spPr>
            <a:ln w="127001" cap="rnd">
              <a:solidFill>
                <a:srgbClr val="D9D9D9"/>
              </a:solidFill>
              <a:prstDash val="solid"/>
              <a:round/>
            </a:ln>
          </c:spPr>
          <c:marker>
            <c:symbol val="none"/>
          </c:marker>
          <c:cat>
            <c:numLit>
              <c:formatCode>General</c:formatCode>
              <c:ptCount val="7"/>
              <c:pt idx="0">
                <c:v>2019</c:v>
              </c:pt>
              <c:pt idx="1">
                <c:v>2020</c:v>
              </c:pt>
              <c:pt idx="2">
                <c:v>2021</c:v>
              </c:pt>
              <c:pt idx="3">
                <c:v>2022</c:v>
              </c:pt>
              <c:pt idx="4">
                <c:v>2023</c:v>
              </c:pt>
              <c:pt idx="5">
                <c:v>2024</c:v>
              </c:pt>
              <c:pt idx="6">
                <c:v>2025</c:v>
              </c:pt>
            </c:numLit>
          </c:cat>
          <c:val>
            <c:numLit>
              <c:formatCode>General</c:formatCode>
              <c:ptCount val="7"/>
              <c:pt idx="0">
                <c:v>17.5</c:v>
              </c:pt>
              <c:pt idx="1">
                <c:v>25</c:v>
              </c:pt>
              <c:pt idx="2">
                <c:v>32.5</c:v>
              </c:pt>
              <c:pt idx="3">
                <c:v>45</c:v>
              </c:pt>
              <c:pt idx="4">
                <c:v>55</c:v>
              </c:pt>
              <c:pt idx="5">
                <c:v>70</c:v>
              </c:pt>
              <c:pt idx="6">
                <c:v>130</c:v>
              </c:pt>
            </c:numLit>
          </c:val>
          <c:smooth val="0"/>
          <c:extLst>
            <c:ext xmlns:c16="http://schemas.microsoft.com/office/drawing/2014/chart" uri="{C3380CC4-5D6E-409C-BE32-E72D297353CC}">
              <c16:uniqueId val="{00000000-A9FA-DC44-BCD5-F20A08337976}"/>
            </c:ext>
          </c:extLst>
        </c:ser>
        <c:ser>
          <c:idx val="1"/>
          <c:order val="1"/>
          <c:tx>
            <c:v>Hyperscaler DC</c:v>
          </c:tx>
          <c:spPr>
            <a:ln w="127001" cap="rnd">
              <a:solidFill>
                <a:srgbClr val="12BD64"/>
              </a:solidFill>
              <a:prstDash val="solid"/>
              <a:round/>
            </a:ln>
          </c:spPr>
          <c:marker>
            <c:symbol val="none"/>
          </c:marker>
          <c:cat>
            <c:numLit>
              <c:formatCode>General</c:formatCode>
              <c:ptCount val="7"/>
              <c:pt idx="0">
                <c:v>2019</c:v>
              </c:pt>
              <c:pt idx="1">
                <c:v>2020</c:v>
              </c:pt>
              <c:pt idx="2">
                <c:v>2021</c:v>
              </c:pt>
              <c:pt idx="3">
                <c:v>2022</c:v>
              </c:pt>
              <c:pt idx="4">
                <c:v>2023</c:v>
              </c:pt>
              <c:pt idx="5">
                <c:v>2024</c:v>
              </c:pt>
              <c:pt idx="6">
                <c:v>2025</c:v>
              </c:pt>
            </c:numLit>
          </c:cat>
          <c:val>
            <c:numLit>
              <c:formatCode>General</c:formatCode>
              <c:ptCount val="7"/>
              <c:pt idx="0">
                <c:v>30</c:v>
              </c:pt>
              <c:pt idx="1">
                <c:v>50</c:v>
              </c:pt>
              <c:pt idx="2">
                <c:v>100</c:v>
              </c:pt>
              <c:pt idx="3">
                <c:v>100</c:v>
              </c:pt>
              <c:pt idx="4">
                <c:v>100</c:v>
              </c:pt>
              <c:pt idx="5">
                <c:v>150</c:v>
              </c:pt>
              <c:pt idx="6">
                <c:v>360</c:v>
              </c:pt>
            </c:numLit>
          </c:val>
          <c:smooth val="0"/>
          <c:extLst>
            <c:ext xmlns:c16="http://schemas.microsoft.com/office/drawing/2014/chart" uri="{C3380CC4-5D6E-409C-BE32-E72D297353CC}">
              <c16:uniqueId val="{00000001-A9FA-DC44-BCD5-F20A08337976}"/>
            </c:ext>
          </c:extLst>
        </c:ser>
        <c:dLbls>
          <c:showLegendKey val="0"/>
          <c:showVal val="0"/>
          <c:showCatName val="0"/>
          <c:showSerName val="0"/>
          <c:showPercent val="0"/>
          <c:showBubbleSize val="0"/>
        </c:dLbls>
        <c:smooth val="0"/>
        <c:axId val="1301708511"/>
        <c:axId val="1302270383"/>
      </c:lineChart>
      <c:valAx>
        <c:axId val="1302270383"/>
        <c:scaling>
          <c:orientation val="minMax"/>
        </c:scaling>
        <c:delete val="0"/>
        <c:axPos val="l"/>
        <c:majorGridlines>
          <c:spPr>
            <a:ln w="9528" cap="flat">
              <a:solidFill>
                <a:schemeClr val="bg1">
                  <a:lumMod val="95000"/>
                </a:schemeClr>
              </a:solidFill>
              <a:prstDash val="solid"/>
              <a:round/>
            </a:ln>
          </c:spPr>
        </c:majorGridlines>
        <c:numFmt formatCode="General" sourceLinked="0"/>
        <c:majorTickMark val="none"/>
        <c:minorTickMark val="none"/>
        <c:tickLblPos val="nextTo"/>
        <c:spPr>
          <a:noFill/>
          <a:ln>
            <a:noFill/>
          </a:ln>
        </c:spPr>
        <c:txPr>
          <a:bodyPr lIns="0" tIns="0" rIns="0" bIns="0"/>
          <a:lstStyle/>
          <a:p>
            <a:pPr marL="0" marR="0" indent="0" defTabSz="914400" fontAlgn="auto" hangingPunct="1">
              <a:lnSpc>
                <a:spcPct val="100000"/>
              </a:lnSpc>
              <a:spcBef>
                <a:spcPts val="0"/>
              </a:spcBef>
              <a:spcAft>
                <a:spcPts val="0"/>
              </a:spcAft>
              <a:tabLst/>
              <a:defRPr sz="2800" b="0" i="0" u="none" strike="noStrike" kern="1200" baseline="0">
                <a:solidFill>
                  <a:schemeClr val="bg1">
                    <a:lumMod val="85000"/>
                  </a:schemeClr>
                </a:solidFill>
                <a:latin typeface="Calibri"/>
              </a:defRPr>
            </a:pPr>
            <a:endParaRPr lang="en-US"/>
          </a:p>
        </c:txPr>
        <c:crossAx val="1301708511"/>
        <c:crosses val="autoZero"/>
        <c:crossBetween val="between"/>
        <c:majorUnit val="100"/>
      </c:valAx>
      <c:catAx>
        <c:axId val="1301708511"/>
        <c:scaling>
          <c:orientation val="minMax"/>
        </c:scaling>
        <c:delete val="0"/>
        <c:axPos val="b"/>
        <c:numFmt formatCode="General" sourceLinked="0"/>
        <c:majorTickMark val="none"/>
        <c:minorTickMark val="none"/>
        <c:tickLblPos val="nextTo"/>
        <c:spPr>
          <a:noFill/>
          <a:ln w="9528" cap="flat">
            <a:solidFill>
              <a:srgbClr val="D9D9D9"/>
            </a:solidFill>
            <a:prstDash val="solid"/>
            <a:round/>
          </a:ln>
        </c:spPr>
        <c:txPr>
          <a:bodyPr lIns="0" tIns="0" rIns="0" bIns="0"/>
          <a:lstStyle/>
          <a:p>
            <a:pPr marL="0" marR="0" indent="0" defTabSz="914400" fontAlgn="auto" hangingPunct="1">
              <a:lnSpc>
                <a:spcPct val="100000"/>
              </a:lnSpc>
              <a:spcBef>
                <a:spcPts val="0"/>
              </a:spcBef>
              <a:spcAft>
                <a:spcPts val="0"/>
              </a:spcAft>
              <a:tabLst/>
              <a:defRPr sz="2800" b="0" i="0" u="none" strike="noStrike" kern="1200" baseline="0">
                <a:solidFill>
                  <a:schemeClr val="bg1">
                    <a:lumMod val="85000"/>
                  </a:schemeClr>
                </a:solidFill>
                <a:latin typeface="Calibri"/>
              </a:defRPr>
            </a:pPr>
            <a:endParaRPr lang="en-US"/>
          </a:p>
        </c:txPr>
        <c:crossAx val="1302270383"/>
        <c:crosses val="autoZero"/>
        <c:auto val="1"/>
        <c:lblAlgn val="ctr"/>
        <c:lblOffset val="100"/>
        <c:noMultiLvlLbl val="0"/>
      </c:catAx>
      <c:spPr>
        <a:noFill/>
        <a:ln>
          <a:noFill/>
        </a:ln>
      </c:spPr>
    </c:plotArea>
    <c:plotVisOnly val="1"/>
    <c:dispBlanksAs val="gap"/>
    <c:showDLblsOverMax val="0"/>
  </c:chart>
  <c:spPr>
    <a:noFill/>
    <a:ln>
      <a:noFill/>
    </a:ln>
  </c:spPr>
  <c:txPr>
    <a:bodyPr lIns="0" tIns="0" rIns="0" bIns="0"/>
    <a:lstStyle/>
    <a:p>
      <a:pPr marL="0" marR="0" indent="0" defTabSz="914400" fontAlgn="auto" hangingPunct="1">
        <a:lnSpc>
          <a:spcPct val="100000"/>
        </a:lnSpc>
        <a:spcBef>
          <a:spcPts val="0"/>
        </a:spcBef>
        <a:spcAft>
          <a:spcPts val="0"/>
        </a:spcAft>
        <a:tabLst/>
        <a:defRPr lang="en-GB" sz="2800" b="0" i="0" u="none" strike="noStrike" kern="1200" baseline="0">
          <a:solidFill>
            <a:srgbClr val="000000"/>
          </a:solidFill>
          <a:latin typeface="Calibri"/>
        </a:defRPr>
      </a:pPr>
      <a:endParaRPr lang="en-US"/>
    </a:p>
  </c:txPr>
  <c:externalData r:id="rId1">
    <c:autoUpdate val="0"/>
  </c:externalData>
</c:chartSpace>
</file>

<file path=ppt/drawings/_rels/drawing1.xml.rels><?xml version="1.0" encoding="UTF-8" standalone="yes"?>
<Relationships xmlns="http://schemas.openxmlformats.org/package/2006/relationships"><Relationship Id="rId1" Type="http://schemas.openxmlformats.org/officeDocument/2006/relationships/image" Target="../media/image160.svg"/></Relationships>
</file>

<file path=ppt/drawings/drawing1.xml><?xml version="1.0" encoding="utf-8"?>
<c:userShapes xmlns:c="http://schemas.openxmlformats.org/drawingml/2006/chart">
  <cdr:relSizeAnchor xmlns:cdr="http://schemas.openxmlformats.org/drawingml/2006/chartDrawing">
    <cdr:from>
      <cdr:x>0</cdr:x>
      <cdr:y>0</cdr:y>
    </cdr:from>
    <cdr:to>
      <cdr:x>0.05372</cdr:x>
      <cdr:y>0.05546</cdr:y>
    </cdr:to>
    <cdr:pic>
      <cdr:nvPicPr>
        <cdr:cNvPr id="4" name="Graphic 3">
          <a:extLst xmlns:a="http://schemas.openxmlformats.org/drawingml/2006/main">
            <a:ext uri="{FF2B5EF4-FFF2-40B4-BE49-F238E27FC236}">
              <a16:creationId xmlns:a16="http://schemas.microsoft.com/office/drawing/2014/main" id="{EB74842F-EC71-4A83-7828-8690AF99A3A1}"/>
            </a:ext>
          </a:extLst>
        </cdr:cNvPr>
        <cdr:cNvPicPr>
          <a:picLocks xmlns:a="http://schemas.openxmlformats.org/drawingml/2006/main" noChangeAspect="1"/>
        </cdr:cNvPicPr>
      </cdr:nvPicPr>
      <cdr:blipFill>
        <a:blip xmlns:a="http://schemas.openxmlformats.org/drawingml/2006/main" xmlns:r="http://schemas.openxmlformats.org/officeDocument/2006/relationships">
          <a:extLst>
            <a:ext uri="{96DAC541-7B7A-43D3-8B79-37D633B846F1}">
              <asvg:svgBlip xmlns:asvg="http://schemas.microsoft.com/office/drawing/2016/SVG/main" r:embed="rId1"/>
            </a:ext>
          </a:extLst>
        </a:blip>
        <a:stretch xmlns:a="http://schemas.openxmlformats.org/drawingml/2006/main">
          <a:fillRect/>
        </a:stretch>
      </cdr:blipFill>
      <cdr:spPr>
        <a:xfrm xmlns:a="http://schemas.openxmlformats.org/drawingml/2006/main">
          <a:off x="0" y="0"/>
          <a:ext cx="457200" cy="457200"/>
        </a:xfrm>
        <a:prstGeom xmlns:a="http://schemas.openxmlformats.org/drawingml/2006/main" prst="rect">
          <a:avLst/>
        </a:prstGeom>
      </cdr:spPr>
    </cdr:pic>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19D4F9E-86B9-7C02-165E-47BFF2553F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T"/>
          </a:p>
        </p:txBody>
      </p:sp>
      <p:sp>
        <p:nvSpPr>
          <p:cNvPr id="3" name="Date Placeholder 2">
            <a:extLst>
              <a:ext uri="{FF2B5EF4-FFF2-40B4-BE49-F238E27FC236}">
                <a16:creationId xmlns:a16="http://schemas.microsoft.com/office/drawing/2014/main" id="{91F166D5-636D-DCDF-88F4-C0C9E31D849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291483-AE46-F84B-81FE-471A1047BB18}" type="datetimeFigureOut">
              <a:rPr lang="en-PT" smtClean="0"/>
              <a:t>10/15/2026</a:t>
            </a:fld>
            <a:endParaRPr lang="en-PT"/>
          </a:p>
        </p:txBody>
      </p:sp>
      <p:sp>
        <p:nvSpPr>
          <p:cNvPr id="4" name="Footer Placeholder 3">
            <a:extLst>
              <a:ext uri="{FF2B5EF4-FFF2-40B4-BE49-F238E27FC236}">
                <a16:creationId xmlns:a16="http://schemas.microsoft.com/office/drawing/2014/main" id="{04904703-1271-1A21-4DB1-043A9B4ABCF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PT"/>
          </a:p>
        </p:txBody>
      </p:sp>
      <p:sp>
        <p:nvSpPr>
          <p:cNvPr id="5" name="Slide Number Placeholder 4">
            <a:extLst>
              <a:ext uri="{FF2B5EF4-FFF2-40B4-BE49-F238E27FC236}">
                <a16:creationId xmlns:a16="http://schemas.microsoft.com/office/drawing/2014/main" id="{373CE5C7-D11C-285B-6161-9AC28AB8D49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CCCA78F-A7C1-2E4F-90DA-73786A2EB1CC}" type="slidenum">
              <a:rPr lang="en-PT" smtClean="0"/>
              <a:t>‹#›</a:t>
            </a:fld>
            <a:endParaRPr lang="en-PT"/>
          </a:p>
        </p:txBody>
      </p:sp>
    </p:spTree>
    <p:extLst>
      <p:ext uri="{BB962C8B-B14F-4D97-AF65-F5344CB8AC3E}">
        <p14:creationId xmlns:p14="http://schemas.microsoft.com/office/powerpoint/2010/main" val="9762039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C8248A-F490-AD4C-B79F-C68C9213EEA2}" type="datetimeFigureOut">
              <a:rPr lang="en-PT" smtClean="0"/>
              <a:t>10/15/2026</a:t>
            </a:fld>
            <a:endParaRPr lang="en-P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D23699-55DC-BA44-AE31-90E8CBC64BC7}" type="slidenum">
              <a:rPr lang="en-PT" smtClean="0"/>
              <a:t>‹#›</a:t>
            </a:fld>
            <a:endParaRPr lang="en-PT"/>
          </a:p>
        </p:txBody>
      </p:sp>
    </p:spTree>
    <p:extLst>
      <p:ext uri="{BB962C8B-B14F-4D97-AF65-F5344CB8AC3E}">
        <p14:creationId xmlns:p14="http://schemas.microsoft.com/office/powerpoint/2010/main" val="2773256249"/>
      </p:ext>
    </p:extLst>
  </p:cSld>
  <p:clrMap bg1="lt1" tx1="dk1" bg2="lt2" tx2="dk2" accent1="accent1" accent2="accent2" accent3="accent3" accent4="accent4" accent5="accent5" accent6="accent6" hlink="hlink" folHlink="folHlink"/>
  <p:notesStyle>
    <a:lvl1pPr marL="0" algn="l" defTabSz="1828891" rtl="0" eaLnBrk="1" latinLnBrk="0" hangingPunct="1">
      <a:defRPr sz="2400" kern="1200">
        <a:solidFill>
          <a:schemeClr val="tx1"/>
        </a:solidFill>
        <a:latin typeface="+mn-lt"/>
        <a:ea typeface="+mn-ea"/>
        <a:cs typeface="+mn-cs"/>
      </a:defRPr>
    </a:lvl1pPr>
    <a:lvl2pPr marL="914446" algn="l" defTabSz="1828891" rtl="0" eaLnBrk="1" latinLnBrk="0" hangingPunct="1">
      <a:defRPr sz="2400" kern="1200">
        <a:solidFill>
          <a:schemeClr val="tx1"/>
        </a:solidFill>
        <a:latin typeface="+mn-lt"/>
        <a:ea typeface="+mn-ea"/>
        <a:cs typeface="+mn-cs"/>
      </a:defRPr>
    </a:lvl2pPr>
    <a:lvl3pPr marL="1828891" algn="l" defTabSz="1828891" rtl="0" eaLnBrk="1" latinLnBrk="0" hangingPunct="1">
      <a:defRPr sz="2400" kern="1200">
        <a:solidFill>
          <a:schemeClr val="tx1"/>
        </a:solidFill>
        <a:latin typeface="+mn-lt"/>
        <a:ea typeface="+mn-ea"/>
        <a:cs typeface="+mn-cs"/>
      </a:defRPr>
    </a:lvl3pPr>
    <a:lvl4pPr marL="2743337" algn="l" defTabSz="1828891" rtl="0" eaLnBrk="1" latinLnBrk="0" hangingPunct="1">
      <a:defRPr sz="2400" kern="1200">
        <a:solidFill>
          <a:schemeClr val="tx1"/>
        </a:solidFill>
        <a:latin typeface="+mn-lt"/>
        <a:ea typeface="+mn-ea"/>
        <a:cs typeface="+mn-cs"/>
      </a:defRPr>
    </a:lvl4pPr>
    <a:lvl5pPr marL="3657783" algn="l" defTabSz="1828891" rtl="0" eaLnBrk="1" latinLnBrk="0" hangingPunct="1">
      <a:defRPr sz="2400" kern="1200">
        <a:solidFill>
          <a:schemeClr val="tx1"/>
        </a:solidFill>
        <a:latin typeface="+mn-lt"/>
        <a:ea typeface="+mn-ea"/>
        <a:cs typeface="+mn-cs"/>
      </a:defRPr>
    </a:lvl5pPr>
    <a:lvl6pPr marL="4572229" algn="l" defTabSz="1828891" rtl="0" eaLnBrk="1" latinLnBrk="0" hangingPunct="1">
      <a:defRPr sz="2400" kern="1200">
        <a:solidFill>
          <a:schemeClr val="tx1"/>
        </a:solidFill>
        <a:latin typeface="+mn-lt"/>
        <a:ea typeface="+mn-ea"/>
        <a:cs typeface="+mn-cs"/>
      </a:defRPr>
    </a:lvl6pPr>
    <a:lvl7pPr marL="5486674" algn="l" defTabSz="1828891" rtl="0" eaLnBrk="1" latinLnBrk="0" hangingPunct="1">
      <a:defRPr sz="2400" kern="1200">
        <a:solidFill>
          <a:schemeClr val="tx1"/>
        </a:solidFill>
        <a:latin typeface="+mn-lt"/>
        <a:ea typeface="+mn-ea"/>
        <a:cs typeface="+mn-cs"/>
      </a:defRPr>
    </a:lvl7pPr>
    <a:lvl8pPr marL="6401120" algn="l" defTabSz="1828891" rtl="0" eaLnBrk="1" latinLnBrk="0" hangingPunct="1">
      <a:defRPr sz="2400" kern="1200">
        <a:solidFill>
          <a:schemeClr val="tx1"/>
        </a:solidFill>
        <a:latin typeface="+mn-lt"/>
        <a:ea typeface="+mn-ea"/>
        <a:cs typeface="+mn-cs"/>
      </a:defRPr>
    </a:lvl8pPr>
    <a:lvl9pPr marL="7315566" algn="l" defTabSz="1828891"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45D48-F4E4-7613-B02A-DFAD6A7F7A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FAD5FB-E382-02FA-8793-51F628D7A5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9072E8-4D2A-1A5C-AE70-A3722240E21A}"/>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5C9B2F65-186B-1C23-8D0E-45B1EC90B5E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2D23699-55DC-BA44-AE31-90E8CBC64BC7}" type="slidenum">
              <a:rPr kumimoji="0" lang="en-PT" sz="13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PT" sz="13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361210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8493A-C37D-E371-BA32-B2A0E3AF97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DC4AB-03F7-AEE2-DA38-E6554AD185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566506-A4F7-9CC7-2582-9FD20CFC21C6}"/>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BD629771-20C6-48CE-AA80-6E833BAA097B}"/>
              </a:ext>
            </a:extLst>
          </p:cNvPr>
          <p:cNvSpPr>
            <a:spLocks noGrp="1"/>
          </p:cNvSpPr>
          <p:nvPr>
            <p:ph type="sldNum" sz="quarter" idx="5"/>
          </p:nvPr>
        </p:nvSpPr>
        <p:spPr/>
        <p:txBody>
          <a:bodyPr/>
          <a:lstStyle/>
          <a:p>
            <a:fld id="{F2D23699-55DC-BA44-AE31-90E8CBC64BC7}" type="slidenum">
              <a:rPr lang="en-PT" smtClean="0"/>
              <a:t>16</a:t>
            </a:fld>
            <a:endParaRPr lang="en-PT"/>
          </a:p>
        </p:txBody>
      </p:sp>
    </p:spTree>
    <p:extLst>
      <p:ext uri="{BB962C8B-B14F-4D97-AF65-F5344CB8AC3E}">
        <p14:creationId xmlns:p14="http://schemas.microsoft.com/office/powerpoint/2010/main" val="28277572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8500"/>
            <a:ext cx="6197600" cy="348615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20AF6EA-12C6-F740-841E-6293CFE968DD}" type="slidenum">
              <a:rPr lang="en-PT" smtClean="0"/>
              <a:t>24</a:t>
            </a:fld>
            <a:endParaRPr lang="en-PT"/>
          </a:p>
        </p:txBody>
      </p:sp>
    </p:spTree>
    <p:extLst>
      <p:ext uri="{BB962C8B-B14F-4D97-AF65-F5344CB8AC3E}">
        <p14:creationId xmlns:p14="http://schemas.microsoft.com/office/powerpoint/2010/main" val="27118386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52BC4C-B1DF-DBE5-42EF-7AF29EF9BE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7F7F6-675B-4CA2-C0BF-6067DB1B7688}"/>
              </a:ext>
            </a:extLst>
          </p:cNvPr>
          <p:cNvSpPr>
            <a:spLocks noGrp="1" noRot="1" noChangeAspect="1"/>
          </p:cNvSpPr>
          <p:nvPr>
            <p:ph type="sldImg"/>
          </p:nvPr>
        </p:nvSpPr>
        <p:spPr/>
        <p:txBody>
          <a:bodyPr/>
          <a:lstStyle/>
          <a:p>
            <a:endParaRPr lang="pt-PT"/>
          </a:p>
        </p:txBody>
      </p:sp>
      <p:sp>
        <p:nvSpPr>
          <p:cNvPr id="3" name="Notes Placeholder 2">
            <a:extLst>
              <a:ext uri="{FF2B5EF4-FFF2-40B4-BE49-F238E27FC236}">
                <a16:creationId xmlns:a16="http://schemas.microsoft.com/office/drawing/2014/main" id="{48396B5B-19B3-5537-5D1B-76048F59983D}"/>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FB33793-4893-9273-9586-686D56FCC05C}"/>
              </a:ext>
            </a:extLst>
          </p:cNvPr>
          <p:cNvSpPr>
            <a:spLocks noGrp="1"/>
          </p:cNvSpPr>
          <p:nvPr>
            <p:ph type="sldNum" sz="quarter" idx="5"/>
          </p:nvPr>
        </p:nvSpPr>
        <p:spPr/>
        <p:txBody>
          <a:bodyPr/>
          <a:lstStyle/>
          <a:p>
            <a:pPr marL="0" marR="0" lvl="0" indent="0" algn="r" defTabSz="966612" rtl="0" eaLnBrk="1" fontAlgn="auto" latinLnBrk="0" hangingPunct="1">
              <a:lnSpc>
                <a:spcPct val="100000"/>
              </a:lnSpc>
              <a:spcBef>
                <a:spcPts val="0"/>
              </a:spcBef>
              <a:spcAft>
                <a:spcPts val="0"/>
              </a:spcAft>
              <a:buClrTx/>
              <a:buSzTx/>
              <a:buFontTx/>
              <a:buNone/>
              <a:tabLst/>
              <a:defRPr/>
            </a:pPr>
            <a:fld id="{F2D23699-55DC-BA44-AE31-90E8CBC64BC7}" type="slidenum">
              <a:rPr kumimoji="0" lang="en-PT" sz="14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r" defTabSz="966612" rtl="0" eaLnBrk="1" fontAlgn="auto" latinLnBrk="0" hangingPunct="1">
                <a:lnSpc>
                  <a:spcPct val="100000"/>
                </a:lnSpc>
                <a:spcBef>
                  <a:spcPts val="0"/>
                </a:spcBef>
                <a:spcAft>
                  <a:spcPts val="0"/>
                </a:spcAft>
                <a:buClrTx/>
                <a:buSzTx/>
                <a:buFontTx/>
                <a:buNone/>
                <a:tabLst/>
                <a:defRPr/>
              </a:pPr>
              <a:t>25</a:t>
            </a:fld>
            <a:endParaRPr kumimoji="0" lang="en-PT" sz="14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99623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8500"/>
            <a:ext cx="6197600" cy="348615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20AF6EA-12C6-F740-841E-6293CFE968DD}" type="slidenum">
              <a:rPr lang="en-PT" smtClean="0"/>
              <a:t>26</a:t>
            </a:fld>
            <a:endParaRPr lang="en-PT"/>
          </a:p>
        </p:txBody>
      </p:sp>
    </p:spTree>
    <p:extLst>
      <p:ext uri="{BB962C8B-B14F-4D97-AF65-F5344CB8AC3E}">
        <p14:creationId xmlns:p14="http://schemas.microsoft.com/office/powerpoint/2010/main" val="34704247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20AF6EA-12C6-F740-841E-6293CFE968DD}" type="slidenum">
              <a:rPr kumimoji="0" lang="en-PT"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PT"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498211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146F6-80AB-3870-84A0-F9341B3239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E1D5B1-1524-6FBA-3BE7-A3CCD07F9ABA}"/>
              </a:ext>
            </a:extLst>
          </p:cNvPr>
          <p:cNvSpPr>
            <a:spLocks noGrp="1" noRot="1" noChangeAspect="1"/>
          </p:cNvSpPr>
          <p:nvPr>
            <p:ph type="sldImg"/>
          </p:nvPr>
        </p:nvSpPr>
        <p:spPr>
          <a:xfrm>
            <a:off x="717550" y="1162050"/>
            <a:ext cx="5575300" cy="3136900"/>
          </a:xfrm>
        </p:spPr>
      </p:sp>
      <p:sp>
        <p:nvSpPr>
          <p:cNvPr id="3" name="Notes Placeholder 2">
            <a:extLst>
              <a:ext uri="{FF2B5EF4-FFF2-40B4-BE49-F238E27FC236}">
                <a16:creationId xmlns:a16="http://schemas.microsoft.com/office/drawing/2014/main" id="{FF5A1CCB-5A3D-4084-6539-0A242690255C}"/>
              </a:ext>
            </a:extLst>
          </p:cNvPr>
          <p:cNvSpPr>
            <a:spLocks noGrp="1"/>
          </p:cNvSpPr>
          <p:nvPr>
            <p:ph type="body" idx="1"/>
          </p:nvPr>
        </p:nvSpPr>
        <p:spPr/>
        <p:txBody>
          <a:bodyPr/>
          <a:lstStyle/>
          <a:p>
            <a:endParaRPr lang="en-GB"/>
          </a:p>
        </p:txBody>
      </p:sp>
      <p:sp>
        <p:nvSpPr>
          <p:cNvPr id="4" name="Slide Number Placeholder 3">
            <a:extLst>
              <a:ext uri="{FF2B5EF4-FFF2-40B4-BE49-F238E27FC236}">
                <a16:creationId xmlns:a16="http://schemas.microsoft.com/office/drawing/2014/main" id="{42F77417-A986-D68F-80B5-6FC62B852D37}"/>
              </a:ext>
            </a:extLst>
          </p:cNvPr>
          <p:cNvSpPr>
            <a:spLocks noGrp="1"/>
          </p:cNvSpPr>
          <p:nvPr>
            <p:ph type="sldNum" sz="quarter"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20AF6EA-12C6-F740-841E-6293CFE968DD}" type="slidenum">
              <a:rPr kumimoji="0" lang="en-PT" sz="18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PT"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646847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275CBF-6166-77E9-F868-EAB5A963A534}"/>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38568857-D238-B73F-9D47-7A1FEBA38393}"/>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pPr lvl="0"/>
            <a:r>
              <a:rPr lang="en-US">
                <a:solidFill>
                  <a:srgbClr val="000000"/>
                </a:solidFill>
                <a:latin typeface="Aptos"/>
              </a:rPr>
              <a:t>Demand for high performance compute has risen dramatically in the last 2 years, especially since the release of Chat GBT.</a:t>
            </a:r>
          </a:p>
          <a:p>
            <a:pPr lvl="0"/>
            <a:endParaRPr lang="en-US">
              <a:solidFill>
                <a:srgbClr val="000000"/>
              </a:solidFill>
              <a:latin typeface="Aptos"/>
            </a:endParaRPr>
          </a:p>
          <a:p>
            <a:pPr lvl="0"/>
            <a:r>
              <a:rPr lang="en-US">
                <a:solidFill>
                  <a:srgbClr val="000000"/>
                </a:solidFill>
                <a:latin typeface="Aptos"/>
              </a:rPr>
              <a:t>And the chip suppliers like NVIDIA, AMD and Intel are responding by producing higher performing GPUs that can run even more powerful AI models</a:t>
            </a:r>
          </a:p>
          <a:p>
            <a:pPr lvl="0"/>
            <a:endParaRPr lang="en-US">
              <a:solidFill>
                <a:srgbClr val="000000"/>
              </a:solidFill>
              <a:latin typeface="Aptos"/>
            </a:endParaRPr>
          </a:p>
          <a:p>
            <a:pPr lvl="0"/>
            <a:r>
              <a:rPr lang="en-US">
                <a:solidFill>
                  <a:srgbClr val="000000"/>
                </a:solidFill>
                <a:latin typeface="Aptos"/>
              </a:rPr>
              <a:t>This increase in </a:t>
            </a:r>
            <a:r>
              <a:rPr lang="en-US" b="1">
                <a:solidFill>
                  <a:srgbClr val="000000"/>
                </a:solidFill>
                <a:latin typeface="Aptos"/>
              </a:rPr>
              <a:t>CPU and GPU workloads </a:t>
            </a:r>
            <a:r>
              <a:rPr lang="en-US">
                <a:solidFill>
                  <a:srgbClr val="000000"/>
                </a:solidFill>
                <a:latin typeface="Aptos"/>
              </a:rPr>
              <a:t>has a knock-on effect on the rack capacities which have gone from </a:t>
            </a:r>
            <a:r>
              <a:rPr lang="en-US" b="1">
                <a:solidFill>
                  <a:srgbClr val="000000"/>
                </a:solidFill>
                <a:latin typeface="Aptos"/>
              </a:rPr>
              <a:t>17kW to around 130kW </a:t>
            </a:r>
            <a:r>
              <a:rPr lang="en-US">
                <a:solidFill>
                  <a:srgbClr val="000000"/>
                </a:solidFill>
                <a:latin typeface="Aptos"/>
              </a:rPr>
              <a:t>in the same 2 years.</a:t>
            </a:r>
          </a:p>
        </p:txBody>
      </p:sp>
      <p:sp>
        <p:nvSpPr>
          <p:cNvPr id="4" name="Slide Number Placeholder 3">
            <a:extLst>
              <a:ext uri="{FF2B5EF4-FFF2-40B4-BE49-F238E27FC236}">
                <a16:creationId xmlns:a16="http://schemas.microsoft.com/office/drawing/2014/main" id="{4CB65F10-0D24-DC8C-CCAD-D0855D972B8F}"/>
              </a:ext>
            </a:extLst>
          </p:cNvPr>
          <p:cNvSpPr txBox="1">
            <a:spLocks noGrp="1"/>
          </p:cNvSpPr>
          <p:nvPr>
            <p:ph type="sldNum" sz="quarter" idx="8"/>
          </p:nvPr>
        </p:nvSpPr>
        <p:spPr>
          <a:xfrm>
            <a:off x="0" y="0"/>
            <a:ext cx="0" cy="0"/>
          </a:xfrm>
          <a:prstGeom prst="rect">
            <a:avLst/>
          </a:prstGeom>
          <a:noFill/>
          <a:ln>
            <a:noFill/>
          </a:ln>
        </p:spPr>
        <p:txBody>
          <a:bodyPr vert="horz" wrap="square" lIns="91440" tIns="45720" rIns="91440" bIns="45720" anchor="t" anchorCtr="0" compatLnSpc="1">
            <a:noAutofit/>
          </a:bodyPr>
          <a:lstStyle/>
          <a:p>
            <a:pPr lvl="0"/>
            <a:fld id="{4316121A-CFAD-7748-85E8-A66F1EC4390F}" type="slidenum">
              <a:t>30</a:t>
            </a:fld>
            <a:endParaRPr lang="en-US">
              <a:solidFill>
                <a:srgbClr val="000000"/>
              </a:solidFill>
              <a:latin typeface="Aptos"/>
            </a:endParaRPr>
          </a:p>
        </p:txBody>
      </p:sp>
    </p:spTree>
    <p:extLst>
      <p:ext uri="{BB962C8B-B14F-4D97-AF65-F5344CB8AC3E}">
        <p14:creationId xmlns:p14="http://schemas.microsoft.com/office/powerpoint/2010/main" val="24666020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216BDD-78F3-1CFB-93BD-BA4030E96269}"/>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A41F875E-156C-AD42-A927-BD467527FB0D}"/>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pPr lvl="0"/>
            <a:r>
              <a:rPr lang="en-US">
                <a:solidFill>
                  <a:srgbClr val="000000"/>
                </a:solidFill>
                <a:latin typeface="Aptos"/>
              </a:rPr>
              <a:t>For </a:t>
            </a:r>
            <a:r>
              <a:rPr lang="en-US" b="1">
                <a:solidFill>
                  <a:srgbClr val="000000"/>
                </a:solidFill>
                <a:latin typeface="Aptos"/>
              </a:rPr>
              <a:t>AI training</a:t>
            </a:r>
            <a:r>
              <a:rPr lang="en-US">
                <a:solidFill>
                  <a:srgbClr val="000000"/>
                </a:solidFill>
                <a:latin typeface="Aptos"/>
              </a:rPr>
              <a:t>, it is increasingly important to be able to provide the ability to </a:t>
            </a:r>
            <a:r>
              <a:rPr lang="en-US" b="1">
                <a:solidFill>
                  <a:srgbClr val="000000"/>
                </a:solidFill>
                <a:latin typeface="Aptos"/>
              </a:rPr>
              <a:t>scale up the IT clusters within a single building</a:t>
            </a:r>
            <a:r>
              <a:rPr lang="en-US">
                <a:solidFill>
                  <a:srgbClr val="000000"/>
                </a:solidFill>
                <a:latin typeface="Aptos"/>
              </a:rPr>
              <a:t>, or at least within the same campus.</a:t>
            </a:r>
          </a:p>
          <a:p>
            <a:pPr lvl="0"/>
            <a:endParaRPr lang="en-US">
              <a:solidFill>
                <a:srgbClr val="000000"/>
              </a:solidFill>
              <a:latin typeface="Aptos"/>
            </a:endParaRPr>
          </a:p>
          <a:p>
            <a:pPr lvl="0"/>
            <a:r>
              <a:rPr lang="en-US" b="1">
                <a:solidFill>
                  <a:srgbClr val="000000"/>
                </a:solidFill>
                <a:latin typeface="Aptos"/>
              </a:rPr>
              <a:t>Elon Musk </a:t>
            </a:r>
            <a:r>
              <a:rPr lang="en-US">
                <a:solidFill>
                  <a:srgbClr val="000000"/>
                </a:solidFill>
                <a:latin typeface="Aptos"/>
              </a:rPr>
              <a:t>recently claimed that his AI company will start to deploy </a:t>
            </a:r>
            <a:r>
              <a:rPr lang="en-US" b="1">
                <a:solidFill>
                  <a:srgbClr val="000000"/>
                </a:solidFill>
                <a:latin typeface="Aptos"/>
              </a:rPr>
              <a:t>300,000 Blackwell B200 GPUs </a:t>
            </a:r>
            <a:r>
              <a:rPr lang="en-US">
                <a:solidFill>
                  <a:srgbClr val="000000"/>
                </a:solidFill>
                <a:latin typeface="Aptos"/>
              </a:rPr>
              <a:t>in a single Data Center next year. This represents a whopping </a:t>
            </a:r>
            <a:r>
              <a:rPr lang="en-US" b="1">
                <a:solidFill>
                  <a:srgbClr val="000000"/>
                </a:solidFill>
                <a:latin typeface="Aptos"/>
              </a:rPr>
              <a:t>360MW</a:t>
            </a:r>
          </a:p>
          <a:p>
            <a:pPr lvl="0"/>
            <a:endParaRPr lang="en-US">
              <a:solidFill>
                <a:srgbClr val="000000"/>
              </a:solidFill>
              <a:latin typeface="Aptos"/>
            </a:endParaRPr>
          </a:p>
          <a:p>
            <a:pPr lvl="0"/>
            <a:r>
              <a:rPr lang="en-US">
                <a:solidFill>
                  <a:srgbClr val="000000"/>
                </a:solidFill>
                <a:latin typeface="Aptos"/>
              </a:rPr>
              <a:t>There are very few sites that can accommodate this type of capacity, and even those that can need to consider some important factors to ensure that the development is done with the </a:t>
            </a:r>
            <a:r>
              <a:rPr lang="en-US" b="1">
                <a:solidFill>
                  <a:srgbClr val="000000"/>
                </a:solidFill>
                <a:latin typeface="Aptos"/>
              </a:rPr>
              <a:t>environment and the community </a:t>
            </a:r>
            <a:r>
              <a:rPr lang="en-US">
                <a:solidFill>
                  <a:srgbClr val="000000"/>
                </a:solidFill>
                <a:latin typeface="Aptos"/>
              </a:rPr>
              <a:t>front of mind.</a:t>
            </a:r>
          </a:p>
        </p:txBody>
      </p:sp>
      <p:sp>
        <p:nvSpPr>
          <p:cNvPr id="4" name="Slide Number Placeholder 3">
            <a:extLst>
              <a:ext uri="{FF2B5EF4-FFF2-40B4-BE49-F238E27FC236}">
                <a16:creationId xmlns:a16="http://schemas.microsoft.com/office/drawing/2014/main" id="{7C590362-6BC0-1D46-CC5A-D382E9FA9393}"/>
              </a:ext>
            </a:extLst>
          </p:cNvPr>
          <p:cNvSpPr txBox="1">
            <a:spLocks noGrp="1"/>
          </p:cNvSpPr>
          <p:nvPr>
            <p:ph type="sldNum" sz="quarter" idx="8"/>
          </p:nvPr>
        </p:nvSpPr>
        <p:spPr>
          <a:xfrm>
            <a:off x="0" y="0"/>
            <a:ext cx="0" cy="0"/>
          </a:xfrm>
          <a:prstGeom prst="rect">
            <a:avLst/>
          </a:prstGeom>
          <a:noFill/>
          <a:ln>
            <a:noFill/>
          </a:ln>
        </p:spPr>
        <p:txBody>
          <a:bodyPr vert="horz" wrap="square" lIns="91440" tIns="45720" rIns="91440" bIns="45720" anchor="t" anchorCtr="0" compatLnSpc="1">
            <a:noAutofit/>
          </a:bodyPr>
          <a:lstStyle/>
          <a:p>
            <a:pPr lvl="0"/>
            <a:fld id="{DA8EA542-E662-5E4E-8158-0242182DB8DD}" type="slidenum">
              <a:t>31</a:t>
            </a:fld>
            <a:endParaRPr lang="en-US">
              <a:solidFill>
                <a:srgbClr val="000000"/>
              </a:solidFill>
              <a:latin typeface="Aptos"/>
            </a:endParaRPr>
          </a:p>
        </p:txBody>
      </p:sp>
    </p:spTree>
    <p:extLst>
      <p:ext uri="{BB962C8B-B14F-4D97-AF65-F5344CB8AC3E}">
        <p14:creationId xmlns:p14="http://schemas.microsoft.com/office/powerpoint/2010/main" val="22781946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652036-3100-463C-8E39-7B36529F9D13}"/>
              </a:ext>
            </a:extLst>
          </p:cNvPr>
          <p:cNvSpPr>
            <a:spLocks noGrp="1" noRot="1" noChangeAspect="1"/>
          </p:cNvSpPr>
          <p:nvPr>
            <p:ph type="sldImg"/>
          </p:nvPr>
        </p:nvSpPr>
        <p:spPr>
          <a:xfrm>
            <a:off x="0" y="0"/>
            <a:ext cx="0" cy="0"/>
          </a:xfrm>
          <a:prstGeom prst="rect">
            <a:avLst/>
          </a:prstGeom>
          <a:noFill/>
          <a:ln>
            <a:noFill/>
            <a:prstDash val="solid"/>
          </a:ln>
        </p:spPr>
      </p:sp>
      <p:sp>
        <p:nvSpPr>
          <p:cNvPr id="3" name="Notes Placeholder 2">
            <a:extLst>
              <a:ext uri="{FF2B5EF4-FFF2-40B4-BE49-F238E27FC236}">
                <a16:creationId xmlns:a16="http://schemas.microsoft.com/office/drawing/2014/main" id="{F006872C-BDA3-11B1-144A-3597C856BE9C}"/>
              </a:ext>
            </a:extLst>
          </p:cNvPr>
          <p:cNvSpPr txBox="1">
            <a:spLocks noGrp="1"/>
          </p:cNvSpPr>
          <p:nvPr>
            <p:ph type="body" idx="1"/>
          </p:nvPr>
        </p:nvSpPr>
        <p:spPr>
          <a:xfrm>
            <a:off x="0" y="0"/>
            <a:ext cx="0" cy="0"/>
          </a:xfrm>
          <a:prstGeom prst="rect">
            <a:avLst/>
          </a:prstGeom>
          <a:noFill/>
          <a:ln>
            <a:noFill/>
          </a:ln>
        </p:spPr>
        <p:txBody>
          <a:bodyPr vert="horz" wrap="square" lIns="91440" tIns="45720" rIns="91440" bIns="45720" anchor="t" anchorCtr="0" compatLnSpc="1">
            <a:noAutofit/>
          </a:bodyPr>
          <a:lstStyle/>
          <a:p>
            <a:pPr lvl="0"/>
            <a:endParaRPr lang="en-US" dirty="0">
              <a:solidFill>
                <a:srgbClr val="000000"/>
              </a:solidFill>
              <a:latin typeface="Figtree SemiBold" pitchFamily="2"/>
            </a:endParaRPr>
          </a:p>
        </p:txBody>
      </p:sp>
      <p:sp>
        <p:nvSpPr>
          <p:cNvPr id="4" name="Slide Number Placeholder 3">
            <a:extLst>
              <a:ext uri="{FF2B5EF4-FFF2-40B4-BE49-F238E27FC236}">
                <a16:creationId xmlns:a16="http://schemas.microsoft.com/office/drawing/2014/main" id="{63591BC2-9601-D748-4084-64B3C15878FC}"/>
              </a:ext>
            </a:extLst>
          </p:cNvPr>
          <p:cNvSpPr txBox="1">
            <a:spLocks noGrp="1"/>
          </p:cNvSpPr>
          <p:nvPr>
            <p:ph type="sldNum" sz="quarter" idx="8"/>
          </p:nvPr>
        </p:nvSpPr>
        <p:spPr>
          <a:xfrm>
            <a:off x="0" y="0"/>
            <a:ext cx="0" cy="0"/>
          </a:xfrm>
          <a:prstGeom prst="rect">
            <a:avLst/>
          </a:prstGeom>
          <a:noFill/>
          <a:ln>
            <a:noFill/>
          </a:ln>
        </p:spPr>
        <p:txBody>
          <a:bodyPr vert="horz" wrap="square" lIns="91440" tIns="45720" rIns="91440" bIns="45720" anchor="t" anchorCtr="0" compatLnSpc="1">
            <a:noAutofit/>
          </a:bodyPr>
          <a:lstStyle/>
          <a:p>
            <a:pPr lvl="0"/>
            <a:fld id="{3D00768A-5436-DB40-89E4-7A4C59426D25}" type="slidenum">
              <a:t>34</a:t>
            </a:fld>
            <a:endParaRPr lang="en-US">
              <a:solidFill>
                <a:srgbClr val="000000"/>
              </a:solidFill>
              <a:latin typeface="Aptos"/>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emf"/><Relationship Id="rId1" Type="http://schemas.openxmlformats.org/officeDocument/2006/relationships/slideMaster" Target="../slideMasters/slideMaster3.xml"/><Relationship Id="rId4" Type="http://schemas.openxmlformats.org/officeDocument/2006/relationships/image" Target="../media/image19.emf"/></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Master" Target="../slideMasters/slideMaster3.xml"/><Relationship Id="rId1" Type="http://schemas.openxmlformats.org/officeDocument/2006/relationships/themeOverride" Target="../theme/themeOverride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23.png"/><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81415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397" y="2244726"/>
            <a:ext cx="18290381" cy="4775200"/>
          </a:xfrm>
        </p:spPr>
        <p:txBody>
          <a:bodyPr anchor="b"/>
          <a:lstStyle>
            <a:lvl1pPr algn="ctr">
              <a:defRPr sz="12000"/>
            </a:lvl1pPr>
          </a:lstStyle>
          <a:p>
            <a:r>
              <a:rPr lang="en-GB"/>
              <a:t>Click to edit Master title style</a:t>
            </a:r>
            <a:endParaRPr lang="en-US" dirty="0"/>
          </a:p>
        </p:txBody>
      </p:sp>
      <p:sp>
        <p:nvSpPr>
          <p:cNvPr id="3" name="Subtitle 2"/>
          <p:cNvSpPr>
            <a:spLocks noGrp="1"/>
          </p:cNvSpPr>
          <p:nvPr>
            <p:ph type="subTitle" idx="1"/>
          </p:nvPr>
        </p:nvSpPr>
        <p:spPr>
          <a:xfrm>
            <a:off x="3048397" y="7204076"/>
            <a:ext cx="18290381"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8796598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721699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917" y="3419477"/>
            <a:ext cx="21033938" cy="5705474"/>
          </a:xfrm>
        </p:spPr>
        <p:txBody>
          <a:bodyPr anchor="b"/>
          <a:lstStyle>
            <a:lvl1pPr>
              <a:defRPr sz="12000"/>
            </a:lvl1pPr>
          </a:lstStyle>
          <a:p>
            <a:r>
              <a:rPr lang="en-GB"/>
              <a:t>Click to edit Master title style</a:t>
            </a:r>
            <a:endParaRPr lang="en-US" dirty="0"/>
          </a:p>
        </p:txBody>
      </p:sp>
      <p:sp>
        <p:nvSpPr>
          <p:cNvPr id="3" name="Text Placeholder 2"/>
          <p:cNvSpPr>
            <a:spLocks noGrp="1"/>
          </p:cNvSpPr>
          <p:nvPr>
            <p:ph type="body" idx="1"/>
          </p:nvPr>
        </p:nvSpPr>
        <p:spPr>
          <a:xfrm>
            <a:off x="1663917" y="9178927"/>
            <a:ext cx="21033938" cy="3000374"/>
          </a:xfrm>
        </p:spPr>
        <p:txBody>
          <a:bodyPr/>
          <a:lstStyle>
            <a:lvl1pPr marL="0" indent="0">
              <a:buNone/>
              <a:defRPr sz="4800">
                <a:solidFill>
                  <a:schemeClr val="tx1">
                    <a:tint val="82000"/>
                  </a:schemeClr>
                </a:solidFill>
              </a:defRPr>
            </a:lvl1pPr>
            <a:lvl2pPr marL="914400" indent="0">
              <a:buNone/>
              <a:defRPr sz="4000">
                <a:solidFill>
                  <a:schemeClr val="tx1">
                    <a:tint val="82000"/>
                  </a:schemeClr>
                </a:solidFill>
              </a:defRPr>
            </a:lvl2pPr>
            <a:lvl3pPr marL="1828800" indent="0">
              <a:buNone/>
              <a:defRPr sz="3600">
                <a:solidFill>
                  <a:schemeClr val="tx1">
                    <a:tint val="82000"/>
                  </a:schemeClr>
                </a:solidFill>
              </a:defRPr>
            </a:lvl3pPr>
            <a:lvl4pPr marL="2743200" indent="0">
              <a:buNone/>
              <a:defRPr sz="3200">
                <a:solidFill>
                  <a:schemeClr val="tx1">
                    <a:tint val="82000"/>
                  </a:schemeClr>
                </a:solidFill>
              </a:defRPr>
            </a:lvl4pPr>
            <a:lvl5pPr marL="3657600" indent="0">
              <a:buNone/>
              <a:defRPr sz="3200">
                <a:solidFill>
                  <a:schemeClr val="tx1">
                    <a:tint val="82000"/>
                  </a:schemeClr>
                </a:solidFill>
              </a:defRPr>
            </a:lvl5pPr>
            <a:lvl6pPr marL="4572000" indent="0">
              <a:buNone/>
              <a:defRPr sz="3200">
                <a:solidFill>
                  <a:schemeClr val="tx1">
                    <a:tint val="82000"/>
                  </a:schemeClr>
                </a:solidFill>
              </a:defRPr>
            </a:lvl6pPr>
            <a:lvl7pPr marL="5486400" indent="0">
              <a:buNone/>
              <a:defRPr sz="3200">
                <a:solidFill>
                  <a:schemeClr val="tx1">
                    <a:tint val="82000"/>
                  </a:schemeClr>
                </a:solidFill>
              </a:defRPr>
            </a:lvl7pPr>
            <a:lvl8pPr marL="6400800" indent="0">
              <a:buNone/>
              <a:defRPr sz="3200">
                <a:solidFill>
                  <a:schemeClr val="tx1">
                    <a:tint val="82000"/>
                  </a:schemeClr>
                </a:solidFill>
              </a:defRPr>
            </a:lvl8pPr>
            <a:lvl9pPr marL="7315200" indent="0">
              <a:buNone/>
              <a:defRPr sz="32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71274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676618" y="3651250"/>
            <a:ext cx="10364549" cy="87026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2346008" y="3651250"/>
            <a:ext cx="10364549" cy="87026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354811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795" y="730251"/>
            <a:ext cx="21033938" cy="2651126"/>
          </a:xfrm>
        </p:spPr>
        <p:txBody>
          <a:bodyPr/>
          <a:lstStyle/>
          <a:p>
            <a:r>
              <a:rPr lang="en-GB"/>
              <a:t>Click to edit Master title style</a:t>
            </a:r>
            <a:endParaRPr lang="en-US" dirty="0"/>
          </a:p>
        </p:txBody>
      </p:sp>
      <p:sp>
        <p:nvSpPr>
          <p:cNvPr id="3" name="Text Placeholder 2"/>
          <p:cNvSpPr>
            <a:spLocks noGrp="1"/>
          </p:cNvSpPr>
          <p:nvPr>
            <p:ph type="body" idx="1"/>
          </p:nvPr>
        </p:nvSpPr>
        <p:spPr>
          <a:xfrm>
            <a:off x="1679796" y="3362326"/>
            <a:ext cx="10316917"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GB"/>
              <a:t>Click to edit Master text styles</a:t>
            </a:r>
          </a:p>
        </p:txBody>
      </p:sp>
      <p:sp>
        <p:nvSpPr>
          <p:cNvPr id="4" name="Content Placeholder 3"/>
          <p:cNvSpPr>
            <a:spLocks noGrp="1"/>
          </p:cNvSpPr>
          <p:nvPr>
            <p:ph sz="half" idx="2"/>
          </p:nvPr>
        </p:nvSpPr>
        <p:spPr>
          <a:xfrm>
            <a:off x="1679796" y="5010150"/>
            <a:ext cx="10316917" cy="73691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2346007" y="3362326"/>
            <a:ext cx="1036772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GB"/>
              <a:t>Click to edit Master text styles</a:t>
            </a:r>
          </a:p>
        </p:txBody>
      </p:sp>
      <p:sp>
        <p:nvSpPr>
          <p:cNvPr id="6" name="Content Placeholder 5"/>
          <p:cNvSpPr>
            <a:spLocks noGrp="1"/>
          </p:cNvSpPr>
          <p:nvPr>
            <p:ph sz="quarter" idx="4"/>
          </p:nvPr>
        </p:nvSpPr>
        <p:spPr>
          <a:xfrm>
            <a:off x="12346007" y="5010150"/>
            <a:ext cx="10367726" cy="73691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8653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502715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00113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n-GB"/>
              <a:t>Click to edit Master title style</a:t>
            </a:r>
            <a:endParaRPr lang="en-US" dirty="0"/>
          </a:p>
        </p:txBody>
      </p:sp>
      <p:sp>
        <p:nvSpPr>
          <p:cNvPr id="3" name="Content Placeholder 2"/>
          <p:cNvSpPr>
            <a:spLocks noGrp="1"/>
          </p:cNvSpPr>
          <p:nvPr>
            <p:ph idx="1"/>
          </p:nvPr>
        </p:nvSpPr>
        <p:spPr>
          <a:xfrm>
            <a:off x="10367726" y="1974851"/>
            <a:ext cx="12346007"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03295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0367726" y="1974851"/>
            <a:ext cx="12346007" cy="9747250"/>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GB"/>
              <a:t>Click icon to add picture</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1497717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755609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52072" y="730250"/>
            <a:ext cx="5258485" cy="11623676"/>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676618" y="730250"/>
            <a:ext cx="15470614" cy="11623676"/>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51639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ver">
    <p:spTree>
      <p:nvGrpSpPr>
        <p:cNvPr id="1" name=""/>
        <p:cNvGrpSpPr/>
        <p:nvPr/>
      </p:nvGrpSpPr>
      <p:grpSpPr>
        <a:xfrm>
          <a:off x="0" y="0"/>
          <a:ext cx="0" cy="0"/>
          <a:chOff x="0" y="0"/>
          <a:chExt cx="0" cy="0"/>
        </a:xfrm>
      </p:grpSpPr>
    </p:spTree>
    <p:extLst>
      <p:ext uri="{BB962C8B-B14F-4D97-AF65-F5344CB8AC3E}">
        <p14:creationId xmlns:p14="http://schemas.microsoft.com/office/powerpoint/2010/main" val="18153336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397" y="2244726"/>
            <a:ext cx="18290381" cy="4775200"/>
          </a:xfrm>
        </p:spPr>
        <p:txBody>
          <a:bodyPr anchor="b"/>
          <a:lstStyle>
            <a:lvl1pPr algn="ctr">
              <a:defRPr sz="12000"/>
            </a:lvl1pPr>
          </a:lstStyle>
          <a:p>
            <a:r>
              <a:rPr lang="en-GB"/>
              <a:t>Click to edit Master title style</a:t>
            </a:r>
            <a:endParaRPr lang="en-US" dirty="0"/>
          </a:p>
        </p:txBody>
      </p:sp>
      <p:sp>
        <p:nvSpPr>
          <p:cNvPr id="3" name="Subtitle 2"/>
          <p:cNvSpPr>
            <a:spLocks noGrp="1"/>
          </p:cNvSpPr>
          <p:nvPr>
            <p:ph type="subTitle" idx="1"/>
          </p:nvPr>
        </p:nvSpPr>
        <p:spPr>
          <a:xfrm>
            <a:off x="3048397" y="7204076"/>
            <a:ext cx="18290381"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3881373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24160822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917" y="3419477"/>
            <a:ext cx="21033938" cy="5705474"/>
          </a:xfrm>
        </p:spPr>
        <p:txBody>
          <a:bodyPr anchor="b"/>
          <a:lstStyle>
            <a:lvl1pPr>
              <a:defRPr sz="12000"/>
            </a:lvl1pPr>
          </a:lstStyle>
          <a:p>
            <a:r>
              <a:rPr lang="en-GB"/>
              <a:t>Click to edit Master title style</a:t>
            </a:r>
            <a:endParaRPr lang="en-US" dirty="0"/>
          </a:p>
        </p:txBody>
      </p:sp>
      <p:sp>
        <p:nvSpPr>
          <p:cNvPr id="3" name="Text Placeholder 2"/>
          <p:cNvSpPr>
            <a:spLocks noGrp="1"/>
          </p:cNvSpPr>
          <p:nvPr>
            <p:ph type="body" idx="1"/>
          </p:nvPr>
        </p:nvSpPr>
        <p:spPr>
          <a:xfrm>
            <a:off x="1663917" y="9178927"/>
            <a:ext cx="21033938" cy="3000374"/>
          </a:xfrm>
        </p:spPr>
        <p:txBody>
          <a:bodyPr/>
          <a:lstStyle>
            <a:lvl1pPr marL="0" indent="0">
              <a:buNone/>
              <a:defRPr sz="4800">
                <a:solidFill>
                  <a:schemeClr val="tx1">
                    <a:tint val="82000"/>
                  </a:schemeClr>
                </a:solidFill>
              </a:defRPr>
            </a:lvl1pPr>
            <a:lvl2pPr marL="914400" indent="0">
              <a:buNone/>
              <a:defRPr sz="4000">
                <a:solidFill>
                  <a:schemeClr val="tx1">
                    <a:tint val="82000"/>
                  </a:schemeClr>
                </a:solidFill>
              </a:defRPr>
            </a:lvl2pPr>
            <a:lvl3pPr marL="1828800" indent="0">
              <a:buNone/>
              <a:defRPr sz="3600">
                <a:solidFill>
                  <a:schemeClr val="tx1">
                    <a:tint val="82000"/>
                  </a:schemeClr>
                </a:solidFill>
              </a:defRPr>
            </a:lvl3pPr>
            <a:lvl4pPr marL="2743200" indent="0">
              <a:buNone/>
              <a:defRPr sz="3200">
                <a:solidFill>
                  <a:schemeClr val="tx1">
                    <a:tint val="82000"/>
                  </a:schemeClr>
                </a:solidFill>
              </a:defRPr>
            </a:lvl4pPr>
            <a:lvl5pPr marL="3657600" indent="0">
              <a:buNone/>
              <a:defRPr sz="3200">
                <a:solidFill>
                  <a:schemeClr val="tx1">
                    <a:tint val="82000"/>
                  </a:schemeClr>
                </a:solidFill>
              </a:defRPr>
            </a:lvl5pPr>
            <a:lvl6pPr marL="4572000" indent="0">
              <a:buNone/>
              <a:defRPr sz="3200">
                <a:solidFill>
                  <a:schemeClr val="tx1">
                    <a:tint val="82000"/>
                  </a:schemeClr>
                </a:solidFill>
              </a:defRPr>
            </a:lvl6pPr>
            <a:lvl7pPr marL="5486400" indent="0">
              <a:buNone/>
              <a:defRPr sz="3200">
                <a:solidFill>
                  <a:schemeClr val="tx1">
                    <a:tint val="82000"/>
                  </a:schemeClr>
                </a:solidFill>
              </a:defRPr>
            </a:lvl7pPr>
            <a:lvl8pPr marL="6400800" indent="0">
              <a:buNone/>
              <a:defRPr sz="3200">
                <a:solidFill>
                  <a:schemeClr val="tx1">
                    <a:tint val="82000"/>
                  </a:schemeClr>
                </a:solidFill>
              </a:defRPr>
            </a:lvl8pPr>
            <a:lvl9pPr marL="7315200" indent="0">
              <a:buNone/>
              <a:defRPr sz="32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167638541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676618" y="3651250"/>
            <a:ext cx="10364549" cy="87026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2346008" y="3651250"/>
            <a:ext cx="10364549" cy="87026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30567965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795" y="730251"/>
            <a:ext cx="21033938" cy="2651126"/>
          </a:xfrm>
        </p:spPr>
        <p:txBody>
          <a:bodyPr/>
          <a:lstStyle/>
          <a:p>
            <a:r>
              <a:rPr lang="en-GB"/>
              <a:t>Click to edit Master title style</a:t>
            </a:r>
            <a:endParaRPr lang="en-US" dirty="0"/>
          </a:p>
        </p:txBody>
      </p:sp>
      <p:sp>
        <p:nvSpPr>
          <p:cNvPr id="3" name="Text Placeholder 2"/>
          <p:cNvSpPr>
            <a:spLocks noGrp="1"/>
          </p:cNvSpPr>
          <p:nvPr>
            <p:ph type="body" idx="1"/>
          </p:nvPr>
        </p:nvSpPr>
        <p:spPr>
          <a:xfrm>
            <a:off x="1679796" y="3362326"/>
            <a:ext cx="10316917"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GB"/>
              <a:t>Click to edit Master text styles</a:t>
            </a:r>
          </a:p>
        </p:txBody>
      </p:sp>
      <p:sp>
        <p:nvSpPr>
          <p:cNvPr id="4" name="Content Placeholder 3"/>
          <p:cNvSpPr>
            <a:spLocks noGrp="1"/>
          </p:cNvSpPr>
          <p:nvPr>
            <p:ph sz="half" idx="2"/>
          </p:nvPr>
        </p:nvSpPr>
        <p:spPr>
          <a:xfrm>
            <a:off x="1679796" y="5010150"/>
            <a:ext cx="10316917" cy="73691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2346007" y="3362326"/>
            <a:ext cx="1036772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GB"/>
              <a:t>Click to edit Master text styles</a:t>
            </a:r>
          </a:p>
        </p:txBody>
      </p:sp>
      <p:sp>
        <p:nvSpPr>
          <p:cNvPr id="6" name="Content Placeholder 5"/>
          <p:cNvSpPr>
            <a:spLocks noGrp="1"/>
          </p:cNvSpPr>
          <p:nvPr>
            <p:ph sz="quarter" idx="4"/>
          </p:nvPr>
        </p:nvSpPr>
        <p:spPr>
          <a:xfrm>
            <a:off x="12346007" y="5010150"/>
            <a:ext cx="10367726" cy="73691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21446670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432725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235558264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n-GB"/>
              <a:t>Click to edit Master title style</a:t>
            </a:r>
            <a:endParaRPr lang="en-US" dirty="0"/>
          </a:p>
        </p:txBody>
      </p:sp>
      <p:sp>
        <p:nvSpPr>
          <p:cNvPr id="3" name="Content Placeholder 2"/>
          <p:cNvSpPr>
            <a:spLocks noGrp="1"/>
          </p:cNvSpPr>
          <p:nvPr>
            <p:ph idx="1"/>
          </p:nvPr>
        </p:nvSpPr>
        <p:spPr>
          <a:xfrm>
            <a:off x="10367726" y="1974851"/>
            <a:ext cx="12346007"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289006588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0367726" y="1974851"/>
            <a:ext cx="12346007" cy="9747250"/>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GB"/>
              <a:t>Click icon to add picture</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37683424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195902423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52072" y="730250"/>
            <a:ext cx="5258485" cy="11623676"/>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676618" y="730250"/>
            <a:ext cx="15470614" cy="11623676"/>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383757708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Dark Green Divi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C96FAA8-6DF1-6BAB-C635-04A098D85892}"/>
              </a:ext>
            </a:extLst>
          </p:cNvPr>
          <p:cNvSpPr/>
          <p:nvPr userDrawn="1"/>
        </p:nvSpPr>
        <p:spPr>
          <a:xfrm>
            <a:off x="0" y="0"/>
            <a:ext cx="17954005" cy="13716000"/>
          </a:xfrm>
          <a:prstGeom prst="rect">
            <a:avLst/>
          </a:prstGeom>
          <a:solidFill>
            <a:srgbClr val="0A36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sz="7200"/>
          </a:p>
        </p:txBody>
      </p:sp>
      <p:sp>
        <p:nvSpPr>
          <p:cNvPr id="2" name="Title 1">
            <a:extLst>
              <a:ext uri="{FF2B5EF4-FFF2-40B4-BE49-F238E27FC236}">
                <a16:creationId xmlns:a16="http://schemas.microsoft.com/office/drawing/2014/main" id="{43116243-3424-5E20-F93E-7E5E0C7A448B}"/>
              </a:ext>
            </a:extLst>
          </p:cNvPr>
          <p:cNvSpPr>
            <a:spLocks noGrp="1"/>
          </p:cNvSpPr>
          <p:nvPr>
            <p:ph type="ctrTitle"/>
          </p:nvPr>
        </p:nvSpPr>
        <p:spPr>
          <a:xfrm>
            <a:off x="1660850" y="5196007"/>
            <a:ext cx="12080385" cy="3323986"/>
          </a:xfrm>
          <a:prstGeom prst="rect">
            <a:avLst/>
          </a:prstGeom>
        </p:spPr>
        <p:txBody>
          <a:bodyPr wrap="square" lIns="0" tIns="0" rIns="0" bIns="0" anchor="b">
            <a:spAutoFit/>
          </a:bodyPr>
          <a:lstStyle>
            <a:lvl1pPr algn="l">
              <a:defRPr sz="12000" b="1" i="0">
                <a:solidFill>
                  <a:srgbClr val="F4F4FF"/>
                </a:solidFill>
                <a:latin typeface="Figtree SemiBold" pitchFamily="2" charset="0"/>
              </a:defRPr>
            </a:lvl1pPr>
          </a:lstStyle>
          <a:p>
            <a:r>
              <a:rPr lang="en-GB" dirty="0"/>
              <a:t>Click to edit Master title style</a:t>
            </a:r>
            <a:endParaRPr lang="en-PT" dirty="0"/>
          </a:p>
        </p:txBody>
      </p:sp>
      <p:sp>
        <p:nvSpPr>
          <p:cNvPr id="3" name="Subtitle 2">
            <a:extLst>
              <a:ext uri="{FF2B5EF4-FFF2-40B4-BE49-F238E27FC236}">
                <a16:creationId xmlns:a16="http://schemas.microsoft.com/office/drawing/2014/main" id="{B203E3AD-9795-2274-E234-C26E11AAB1B1}"/>
              </a:ext>
            </a:extLst>
          </p:cNvPr>
          <p:cNvSpPr>
            <a:spLocks noGrp="1"/>
          </p:cNvSpPr>
          <p:nvPr>
            <p:ph type="subTitle" idx="1"/>
          </p:nvPr>
        </p:nvSpPr>
        <p:spPr>
          <a:xfrm>
            <a:off x="1660851" y="9306143"/>
            <a:ext cx="10911159" cy="664798"/>
          </a:xfrm>
          <a:prstGeom prst="rect">
            <a:avLst/>
          </a:prstGeom>
        </p:spPr>
        <p:txBody>
          <a:bodyPr lIns="0" tIns="0" rIns="0" bIns="0">
            <a:spAutoFit/>
          </a:bodyPr>
          <a:lstStyle>
            <a:lvl1pPr marL="0" indent="0" algn="l">
              <a:buNone/>
              <a:defRPr sz="4800">
                <a:solidFill>
                  <a:srgbClr val="F4F4FF"/>
                </a:solidFill>
                <a:latin typeface="Figtree" pitchFamily="2"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dirty="0"/>
              <a:t>Click to edit Master subtitle style</a:t>
            </a:r>
            <a:endParaRPr lang="en-PT" dirty="0"/>
          </a:p>
        </p:txBody>
      </p:sp>
      <p:sp>
        <p:nvSpPr>
          <p:cNvPr id="6" name="Slide Number Placeholder 5">
            <a:extLst>
              <a:ext uri="{FF2B5EF4-FFF2-40B4-BE49-F238E27FC236}">
                <a16:creationId xmlns:a16="http://schemas.microsoft.com/office/drawing/2014/main" id="{BCEC7000-F164-26AD-B7F8-A71CE4DAE7F4}"/>
              </a:ext>
            </a:extLst>
          </p:cNvPr>
          <p:cNvSpPr>
            <a:spLocks noGrp="1"/>
          </p:cNvSpPr>
          <p:nvPr>
            <p:ph type="sldNum" sz="quarter" idx="12"/>
          </p:nvPr>
        </p:nvSpPr>
        <p:spPr>
          <a:xfrm>
            <a:off x="22463661" y="13190413"/>
            <a:ext cx="246896" cy="246222"/>
          </a:xfrm>
          <a:prstGeom prst="rect">
            <a:avLst/>
          </a:prstGeom>
        </p:spPr>
        <p:txBody>
          <a:bodyPr/>
          <a:lstStyle/>
          <a:p>
            <a:fld id="{4AA77E54-165B-A847-AA47-6003AD81C543}" type="slidenum">
              <a:rPr lang="en-PT" smtClean="0"/>
              <a:t>‹#›</a:t>
            </a:fld>
            <a:endParaRPr lang="en-PT"/>
          </a:p>
        </p:txBody>
      </p:sp>
      <p:sp>
        <p:nvSpPr>
          <p:cNvPr id="11" name="Picture Placeholder 10">
            <a:extLst>
              <a:ext uri="{FF2B5EF4-FFF2-40B4-BE49-F238E27FC236}">
                <a16:creationId xmlns:a16="http://schemas.microsoft.com/office/drawing/2014/main" id="{1905F2B8-EB63-6033-05B3-F5F1EF89D730}"/>
              </a:ext>
            </a:extLst>
          </p:cNvPr>
          <p:cNvSpPr>
            <a:spLocks noGrp="1"/>
          </p:cNvSpPr>
          <p:nvPr>
            <p:ph type="pic" sz="quarter" idx="13"/>
          </p:nvPr>
        </p:nvSpPr>
        <p:spPr>
          <a:xfrm>
            <a:off x="17953788" y="0"/>
            <a:ext cx="6433388" cy="13716000"/>
          </a:xfrm>
          <a:prstGeom prst="rect">
            <a:avLst/>
          </a:prstGeom>
        </p:spPr>
        <p:txBody>
          <a:bodyPr/>
          <a:lstStyle/>
          <a:p>
            <a:endParaRPr lang="en-PT" dirty="0"/>
          </a:p>
        </p:txBody>
      </p:sp>
      <p:pic>
        <p:nvPicPr>
          <p:cNvPr id="8" name="Picture 7">
            <a:extLst>
              <a:ext uri="{FF2B5EF4-FFF2-40B4-BE49-F238E27FC236}">
                <a16:creationId xmlns:a16="http://schemas.microsoft.com/office/drawing/2014/main" id="{C85217BD-266B-8054-CFA4-5D7C5A22BDC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60850" y="3286779"/>
            <a:ext cx="3218319" cy="1060014"/>
          </a:xfrm>
          <a:prstGeom prst="rect">
            <a:avLst/>
          </a:prstGeom>
        </p:spPr>
      </p:pic>
      <p:sp>
        <p:nvSpPr>
          <p:cNvPr id="5" name="Footer Placeholder 4">
            <a:extLst>
              <a:ext uri="{FF2B5EF4-FFF2-40B4-BE49-F238E27FC236}">
                <a16:creationId xmlns:a16="http://schemas.microsoft.com/office/drawing/2014/main" id="{42473865-2201-005D-EAC4-C2E273D0E8AB}"/>
              </a:ext>
            </a:extLst>
          </p:cNvPr>
          <p:cNvSpPr>
            <a:spLocks noGrp="1"/>
          </p:cNvSpPr>
          <p:nvPr>
            <p:ph type="ftr" sz="quarter" idx="3"/>
          </p:nvPr>
        </p:nvSpPr>
        <p:spPr>
          <a:xfrm>
            <a:off x="3315597" y="13272299"/>
            <a:ext cx="2231671" cy="184666"/>
          </a:xfrm>
          <a:prstGeom prst="rect">
            <a:avLst/>
          </a:prstGeom>
        </p:spPr>
        <p:txBody>
          <a:bodyPr vert="horz" wrap="none" lIns="0" tIns="0" rIns="0" bIns="0" rtlCol="0" anchor="ctr">
            <a:spAutoFit/>
          </a:bodyPr>
          <a:lstStyle>
            <a:lvl1pPr algn="l">
              <a:defRPr sz="1200">
                <a:solidFill>
                  <a:schemeClr val="bg1"/>
                </a:solidFill>
              </a:defRPr>
            </a:lvl1pPr>
          </a:lstStyle>
          <a:p>
            <a:r>
              <a:rPr lang="en-US">
                <a:latin typeface="Figtree" pitchFamily="2"/>
                <a:ea typeface="Figtree Regular" pitchFamily="34"/>
                <a:cs typeface="Figtree Regular" pitchFamily="34"/>
              </a:rPr>
              <a:t>| Strictly private and confidential</a:t>
            </a:r>
            <a:endParaRPr lang="en-US" dirty="0">
              <a:latin typeface="Figtree" pitchFamily="2"/>
            </a:endParaRPr>
          </a:p>
        </p:txBody>
      </p:sp>
      <p:pic>
        <p:nvPicPr>
          <p:cNvPr id="12" name="Graphic 11">
            <a:extLst>
              <a:ext uri="{FF2B5EF4-FFF2-40B4-BE49-F238E27FC236}">
                <a16:creationId xmlns:a16="http://schemas.microsoft.com/office/drawing/2014/main" id="{50C9713D-7A0E-55AB-BEDD-2CA3F4E74A5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698795" y="13119257"/>
            <a:ext cx="2001663" cy="303652"/>
          </a:xfrm>
          <a:prstGeom prst="rect">
            <a:avLst/>
          </a:prstGeom>
        </p:spPr>
      </p:pic>
    </p:spTree>
    <p:extLst>
      <p:ext uri="{BB962C8B-B14F-4D97-AF65-F5344CB8AC3E}">
        <p14:creationId xmlns:p14="http://schemas.microsoft.com/office/powerpoint/2010/main" val="26069621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Table Layou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D776A7F9-BC5F-D222-540A-7CD421497B6F}"/>
              </a:ext>
            </a:extLst>
          </p:cNvPr>
          <p:cNvSpPr/>
          <p:nvPr userDrawn="1">
            <p:custDataLst>
              <p:tags r:id="rId1"/>
            </p:custDataLst>
          </p:nvPr>
        </p:nvSpPr>
        <p:spPr>
          <a:xfrm>
            <a:off x="0" y="0"/>
            <a:ext cx="31266" cy="25400"/>
          </a:xfrm>
          <a:prstGeom prst="octagon">
            <a:avLst/>
          </a:prstGeom>
          <a:noFill/>
          <a:ln w="25400" cap="flat">
            <a:noFill/>
            <a:prstDash val="solid"/>
            <a:round/>
          </a:ln>
          <a:effectLst/>
          <a:sp3d/>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cap="flat">
                <a:solidFill>
                  <a:schemeClr val="accent1"/>
                </a:solidFill>
                <a:prstDash val="solid"/>
                <a:round/>
              </a14:hiddenLine>
            </a:ext>
          </a:extLst>
        </p:spPr>
        <p:style>
          <a:lnRef idx="0">
            <a:scrgbClr r="0" g="0" b="0"/>
          </a:lnRef>
          <a:fillRef idx="0">
            <a:scrgbClr r="0" g="0" b="0"/>
          </a:fillRef>
          <a:effectRef idx="0">
            <a:scrgbClr r="0" g="0" b="0"/>
          </a:effectRef>
          <a:fontRef idx="none"/>
        </p:style>
        <p:txBody>
          <a:bodyPr rot="0" spcFirstLastPara="1" vertOverflow="overflow" horzOverflow="overflow" vert="horz" wrap="square" lIns="97532" tIns="97532" rIns="97532" bIns="97532" numCol="1" spcCol="38100" rtlCol="0" anchor="ctr">
            <a:spAutoFit/>
          </a:bodyPr>
          <a:lstStyle/>
          <a:p>
            <a:pPr marL="0" marR="0" indent="0" algn="l" defTabSz="2600960" rtl="0" fontAlgn="auto" latinLnBrk="0" hangingPunct="0">
              <a:lnSpc>
                <a:spcPct val="100000"/>
              </a:lnSpc>
              <a:spcBef>
                <a:spcPts val="0"/>
              </a:spcBef>
              <a:spcAft>
                <a:spcPts val="0"/>
              </a:spcAft>
              <a:buClrTx/>
              <a:buSzTx/>
              <a:buFontTx/>
              <a:buNone/>
              <a:tabLst/>
            </a:pPr>
            <a:endParaRPr kumimoji="0" lang="en-US" sz="4800" b="0" i="0" u="none" strike="noStrike" cap="none" spc="0" normalizeH="0" baseline="0">
              <a:ln>
                <a:noFill/>
              </a:ln>
              <a:solidFill>
                <a:srgbClr val="000000"/>
              </a:solidFill>
              <a:effectLst/>
              <a:uFillTx/>
              <a:latin typeface="+mn-lt"/>
              <a:ea typeface="+mn-ea"/>
              <a:cs typeface="+mn-cs"/>
              <a:sym typeface="Helvetica"/>
            </a:endParaRPr>
          </a:p>
        </p:txBody>
      </p:sp>
    </p:spTree>
    <p:extLst>
      <p:ext uri="{BB962C8B-B14F-4D97-AF65-F5344CB8AC3E}">
        <p14:creationId xmlns:p14="http://schemas.microsoft.com/office/powerpoint/2010/main" val="275100510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DEFAULT">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9050227"/>
      </p:ext>
    </p:extLst>
  </p:cSld>
  <p:clrMapOvr>
    <a:masterClrMapping/>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Executive Summar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023948" y="736599"/>
            <a:ext cx="22268928" cy="878189"/>
          </a:xfrm>
          <a:prstGeom prst="rect">
            <a:avLst/>
          </a:prstGeom>
        </p:spPr>
        <p:txBody>
          <a:bodyPr vert="horz" wrap="square" lIns="0" tIns="50800" rIns="88900" bIns="50800" rtlCol="0" anchor="t">
            <a:spAutoFit/>
          </a:bodyPr>
          <a:lstStyle>
            <a:lvl1pPr>
              <a:defRPr lang="en-US" sz="5600" b="1" i="0" dirty="0">
                <a:solidFill>
                  <a:schemeClr val="accent6">
                    <a:lumMod val="75000"/>
                  </a:schemeClr>
                </a:solidFill>
              </a:defRPr>
            </a:lvl1pPr>
          </a:lstStyle>
          <a:p>
            <a:pPr lvl="0"/>
            <a:r>
              <a:rPr lang="en-US"/>
              <a:t>Executive Summary</a:t>
            </a:r>
          </a:p>
        </p:txBody>
      </p:sp>
      <p:sp>
        <p:nvSpPr>
          <p:cNvPr id="6" name="Slide Number Placeholder 5"/>
          <p:cNvSpPr>
            <a:spLocks noGrp="1"/>
          </p:cNvSpPr>
          <p:nvPr>
            <p:ph type="sldNum" sz="quarter" idx="12"/>
          </p:nvPr>
        </p:nvSpPr>
        <p:spPr>
          <a:xfrm>
            <a:off x="22401427" y="12617451"/>
            <a:ext cx="871912" cy="730250"/>
          </a:xfrm>
          <a:prstGeom prst="rect">
            <a:avLst/>
          </a:prstGeom>
        </p:spPr>
        <p:txBody>
          <a:bodyPr anchor="ctr"/>
          <a:lstStyle>
            <a:lvl1pPr algn="r">
              <a:defRPr sz="2000">
                <a:solidFill>
                  <a:srgbClr val="272726"/>
                </a:solidFill>
                <a:latin typeface="Ubuntu" panose="020B0504030602030204" pitchFamily="34" charset="0"/>
              </a:defRPr>
            </a:lvl1pPr>
          </a:lstStyle>
          <a:p>
            <a:fld id="{5F99CA44-E461-4342-8946-62027848508A}" type="slidenum">
              <a:rPr lang="en-PT" smtClean="0"/>
              <a:pPr/>
              <a:t>‹#›</a:t>
            </a:fld>
            <a:endParaRPr lang="en-PT"/>
          </a:p>
        </p:txBody>
      </p:sp>
      <p:sp>
        <p:nvSpPr>
          <p:cNvPr id="7" name="Text Placeholder 2">
            <a:extLst>
              <a:ext uri="{FF2B5EF4-FFF2-40B4-BE49-F238E27FC236}">
                <a16:creationId xmlns:a16="http://schemas.microsoft.com/office/drawing/2014/main" id="{799E6E5C-959B-0563-604C-41387C657EA5}"/>
              </a:ext>
            </a:extLst>
          </p:cNvPr>
          <p:cNvSpPr>
            <a:spLocks noGrp="1"/>
          </p:cNvSpPr>
          <p:nvPr>
            <p:ph type="body" idx="1" hasCustomPrompt="1"/>
          </p:nvPr>
        </p:nvSpPr>
        <p:spPr>
          <a:xfrm>
            <a:off x="1023950" y="2968627"/>
            <a:ext cx="22249388" cy="9432922"/>
          </a:xfrm>
          <a:prstGeom prst="rect">
            <a:avLst/>
          </a:prstGeom>
        </p:spPr>
        <p:txBody>
          <a:bodyPr lIns="0" tIns="0" rIns="0" bIns="0">
            <a:noAutofit/>
          </a:bodyPr>
          <a:lstStyle>
            <a:lvl1pPr marL="342900" marR="0" indent="-342900" algn="l" defTabSz="1828800" rtl="0" eaLnBrk="1" fontAlgn="auto" latinLnBrk="0" hangingPunct="1">
              <a:lnSpc>
                <a:spcPct val="150000"/>
              </a:lnSpc>
              <a:spcBef>
                <a:spcPts val="2000"/>
              </a:spcBef>
              <a:spcAft>
                <a:spcPts val="0"/>
              </a:spcAft>
              <a:buClrTx/>
              <a:buSzTx/>
              <a:buFontTx/>
              <a:buBlip>
                <a:blip r:embed="rId2"/>
              </a:buBlip>
              <a:tabLst/>
              <a:defRPr sz="2400" b="0" i="0">
                <a:solidFill>
                  <a:srgbClr val="272726"/>
                </a:solidFill>
                <a:latin typeface="Ubuntu Light" panose="020B0304030602030204" pitchFamily="34" charset="0"/>
              </a:defRPr>
            </a:lvl1pPr>
            <a:lvl2pPr marL="914400" indent="0">
              <a:lnSpc>
                <a:spcPct val="150000"/>
              </a:lnSpc>
              <a:buFontTx/>
              <a:buBlip>
                <a:blip r:embed="rId2"/>
              </a:buBlip>
              <a:defRPr sz="2400" b="0" i="0">
                <a:solidFill>
                  <a:srgbClr val="272726"/>
                </a:solidFill>
                <a:latin typeface="Ubuntu Light" panose="020B0304030602030204" pitchFamily="34" charset="0"/>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GB"/>
              <a:t>[Insert]</a:t>
            </a:r>
          </a:p>
          <a:p>
            <a:pPr marL="914400" marR="0" lvl="1" indent="-342900" algn="l" defTabSz="1828800" rtl="0" eaLnBrk="1" fontAlgn="auto" latinLnBrk="0" hangingPunct="1">
              <a:lnSpc>
                <a:spcPct val="150000"/>
              </a:lnSpc>
              <a:spcBef>
                <a:spcPts val="2000"/>
              </a:spcBef>
              <a:spcAft>
                <a:spcPts val="0"/>
              </a:spcAft>
              <a:buClrTx/>
              <a:buSzTx/>
              <a:buFontTx/>
              <a:buBlip>
                <a:blip r:embed="rId2"/>
              </a:buBlip>
              <a:tabLst/>
              <a:defRPr/>
            </a:pPr>
            <a:r>
              <a:rPr lang="en-GB"/>
              <a:t>[Insert]</a:t>
            </a:r>
          </a:p>
          <a:p>
            <a:pPr lvl="0"/>
            <a:endParaRPr lang="en-GB"/>
          </a:p>
          <a:p>
            <a:pPr marL="457200" marR="0" lvl="0" indent="-457200" algn="l" defTabSz="1828800" rtl="0" eaLnBrk="1" fontAlgn="auto" latinLnBrk="0" hangingPunct="1">
              <a:lnSpc>
                <a:spcPct val="150000"/>
              </a:lnSpc>
              <a:spcBef>
                <a:spcPts val="2000"/>
              </a:spcBef>
              <a:spcAft>
                <a:spcPts val="0"/>
              </a:spcAft>
              <a:buClrTx/>
              <a:buSzTx/>
              <a:buFontTx/>
              <a:buBlip>
                <a:blip r:embed="rId3"/>
              </a:buBlip>
              <a:tabLst/>
              <a:defRPr/>
            </a:pPr>
            <a:endParaRPr lang="en-GB"/>
          </a:p>
          <a:p>
            <a:pPr lvl="0"/>
            <a:endParaRPr lang="en-GB"/>
          </a:p>
        </p:txBody>
      </p:sp>
      <p:pic>
        <p:nvPicPr>
          <p:cNvPr id="3" name="Picture 2">
            <a:extLst>
              <a:ext uri="{FF2B5EF4-FFF2-40B4-BE49-F238E27FC236}">
                <a16:creationId xmlns:a16="http://schemas.microsoft.com/office/drawing/2014/main" id="{822541EA-1A6A-E8C3-6DE3-1A3DD092EE15}"/>
              </a:ext>
            </a:extLst>
          </p:cNvPr>
          <p:cNvPicPr>
            <a:picLocks noChangeAspect="1"/>
          </p:cNvPicPr>
          <p:nvPr userDrawn="1"/>
        </p:nvPicPr>
        <p:blipFill>
          <a:blip r:embed="rId4"/>
          <a:stretch>
            <a:fillRect/>
          </a:stretch>
        </p:blipFill>
        <p:spPr>
          <a:xfrm>
            <a:off x="1125563" y="12877800"/>
            <a:ext cx="2246040" cy="241500"/>
          </a:xfrm>
          <a:prstGeom prst="rect">
            <a:avLst/>
          </a:prstGeom>
        </p:spPr>
      </p:pic>
      <p:cxnSp>
        <p:nvCxnSpPr>
          <p:cNvPr id="27" name="Straight Connector 26">
            <a:extLst>
              <a:ext uri="{FF2B5EF4-FFF2-40B4-BE49-F238E27FC236}">
                <a16:creationId xmlns:a16="http://schemas.microsoft.com/office/drawing/2014/main" id="{920B8403-C632-40A0-2BE2-DFA43C7DA9EC}"/>
              </a:ext>
            </a:extLst>
          </p:cNvPr>
          <p:cNvCxnSpPr>
            <a:cxnSpLocks/>
          </p:cNvCxnSpPr>
          <p:nvPr userDrawn="1"/>
        </p:nvCxnSpPr>
        <p:spPr>
          <a:xfrm>
            <a:off x="3590353" y="12735444"/>
            <a:ext cx="0" cy="530768"/>
          </a:xfrm>
          <a:prstGeom prst="line">
            <a:avLst/>
          </a:prstGeom>
          <a:ln w="31750">
            <a:solidFill>
              <a:schemeClr val="accent6"/>
            </a:solidFill>
          </a:ln>
        </p:spPr>
        <p:style>
          <a:lnRef idx="3">
            <a:schemeClr val="dk1"/>
          </a:lnRef>
          <a:fillRef idx="0">
            <a:schemeClr val="dk1"/>
          </a:fillRef>
          <a:effectRef idx="2">
            <a:schemeClr val="dk1"/>
          </a:effectRef>
          <a:fontRef idx="minor">
            <a:schemeClr val="tx1"/>
          </a:fontRef>
        </p:style>
      </p:cxnSp>
      <p:sp>
        <p:nvSpPr>
          <p:cNvPr id="4" name="Text Placeholder 2">
            <a:extLst>
              <a:ext uri="{FF2B5EF4-FFF2-40B4-BE49-F238E27FC236}">
                <a16:creationId xmlns:a16="http://schemas.microsoft.com/office/drawing/2014/main" id="{FD0E173A-AAE7-656B-3F2A-E5057B56B1E7}"/>
              </a:ext>
            </a:extLst>
          </p:cNvPr>
          <p:cNvSpPr>
            <a:spLocks noGrp="1"/>
          </p:cNvSpPr>
          <p:nvPr>
            <p:ph type="body" idx="13" hasCustomPrompt="1"/>
          </p:nvPr>
        </p:nvSpPr>
        <p:spPr>
          <a:xfrm>
            <a:off x="1023948" y="1717381"/>
            <a:ext cx="22268928" cy="1152522"/>
          </a:xfrm>
          <a:prstGeom prst="rect">
            <a:avLst/>
          </a:prstGeom>
        </p:spPr>
        <p:txBody>
          <a:bodyPr lIns="0" tIns="0" rIns="0" bIns="0">
            <a:noAutofit/>
          </a:bodyPr>
          <a:lstStyle>
            <a:lvl1pPr marL="0" indent="0">
              <a:lnSpc>
                <a:spcPct val="100000"/>
              </a:lnSpc>
              <a:spcBef>
                <a:spcPts val="0"/>
              </a:spcBef>
              <a:buNone/>
              <a:defRPr sz="3200" b="0" i="0">
                <a:solidFill>
                  <a:schemeClr val="bg1">
                    <a:lumMod val="65000"/>
                  </a:schemeClr>
                </a:solidFill>
                <a:latin typeface="Ubuntu Light" panose="020B0304030602030204" pitchFamily="34"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title style</a:t>
            </a:r>
          </a:p>
        </p:txBody>
      </p:sp>
      <p:sp>
        <p:nvSpPr>
          <p:cNvPr id="5" name="TextBox 4">
            <a:extLst>
              <a:ext uri="{FF2B5EF4-FFF2-40B4-BE49-F238E27FC236}">
                <a16:creationId xmlns:a16="http://schemas.microsoft.com/office/drawing/2014/main" id="{48BA9BDD-0365-296F-89C1-A77F7EFE0E66}"/>
              </a:ext>
            </a:extLst>
          </p:cNvPr>
          <p:cNvSpPr txBox="1"/>
          <p:nvPr userDrawn="1"/>
        </p:nvSpPr>
        <p:spPr>
          <a:xfrm>
            <a:off x="3626809" y="12785384"/>
            <a:ext cx="3951104"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r>
              <a:rPr lang="en-GB" sz="1600">
                <a:solidFill>
                  <a:srgbClr val="272726"/>
                </a:solidFill>
              </a:rPr>
              <a:t>Strictly private and confidential</a:t>
            </a:r>
          </a:p>
        </p:txBody>
      </p:sp>
    </p:spTree>
    <p:extLst>
      <p:ext uri="{BB962C8B-B14F-4D97-AF65-F5344CB8AC3E}">
        <p14:creationId xmlns:p14="http://schemas.microsoft.com/office/powerpoint/2010/main" val="3588244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Table Layout">
    <p:spTree>
      <p:nvGrpSpPr>
        <p:cNvPr id="1" name=""/>
        <p:cNvGrpSpPr/>
        <p:nvPr/>
      </p:nvGrpSpPr>
      <p:grpSpPr>
        <a:xfrm>
          <a:off x="0" y="0"/>
          <a:ext cx="0" cy="0"/>
          <a:chOff x="0" y="0"/>
          <a:chExt cx="0" cy="0"/>
        </a:xfrm>
      </p:grpSpPr>
      <p:sp>
        <p:nvSpPr>
          <p:cNvPr id="7" name="Do not remove" hidden="1">
            <a:extLst>
              <a:ext uri="{FF2B5EF4-FFF2-40B4-BE49-F238E27FC236}">
                <a16:creationId xmlns:a16="http://schemas.microsoft.com/office/drawing/2014/main" id="{D776A7F9-BC5F-D222-540A-7CD421497B6F}"/>
              </a:ext>
            </a:extLst>
          </p:cNvPr>
          <p:cNvSpPr/>
          <p:nvPr userDrawn="1">
            <p:custDataLst>
              <p:tags r:id="rId1"/>
            </p:custDataLst>
          </p:nvPr>
        </p:nvSpPr>
        <p:spPr>
          <a:xfrm>
            <a:off x="0" y="0"/>
            <a:ext cx="31266" cy="25400"/>
          </a:xfrm>
          <a:prstGeom prst="octagon">
            <a:avLst/>
          </a:prstGeom>
          <a:noFill/>
          <a:ln w="25400" cap="flat">
            <a:noFill/>
            <a:prstDash val="solid"/>
            <a:round/>
          </a:ln>
          <a:effectLst/>
          <a:sp3d/>
          <a:extLst>
            <a:ext uri="{909E8E84-426E-40DD-AFC4-6F175D3DCCD1}">
              <a14:hiddenFill xmlns:a14="http://schemas.microsoft.com/office/drawing/2010/main">
                <a:solidFill>
                  <a:srgbClr val="000000"/>
                </a:solidFill>
              </a14:hiddenFill>
            </a:ext>
            <a:ext uri="{91240B29-F687-4F45-9708-019B960494DF}">
              <a14:hiddenLine xmlns:a14="http://schemas.microsoft.com/office/drawing/2010/main" w="25400" cap="flat">
                <a:solidFill>
                  <a:schemeClr val="accent1"/>
                </a:solidFill>
                <a:prstDash val="solid"/>
                <a:round/>
              </a14:hiddenLine>
            </a:ext>
          </a:extLst>
        </p:spPr>
        <p:style>
          <a:lnRef idx="0">
            <a:scrgbClr r="0" g="0" b="0"/>
          </a:lnRef>
          <a:fillRef idx="0">
            <a:scrgbClr r="0" g="0" b="0"/>
          </a:fillRef>
          <a:effectRef idx="0">
            <a:scrgbClr r="0" g="0" b="0"/>
          </a:effectRef>
          <a:fontRef idx="none"/>
        </p:style>
        <p:txBody>
          <a:bodyPr rot="0" spcFirstLastPara="1" vertOverflow="overflow" horzOverflow="overflow" vert="horz" wrap="square" lIns="97532" tIns="97532" rIns="97532" bIns="97532" numCol="1" spcCol="38100" rtlCol="0" anchor="ctr">
            <a:spAutoFit/>
          </a:bodyPr>
          <a:lstStyle/>
          <a:p>
            <a:pPr marL="0" marR="0" indent="0" algn="l" defTabSz="2600960" rtl="0" fontAlgn="auto" latinLnBrk="0" hangingPunct="0">
              <a:lnSpc>
                <a:spcPct val="100000"/>
              </a:lnSpc>
              <a:spcBef>
                <a:spcPts val="0"/>
              </a:spcBef>
              <a:spcAft>
                <a:spcPts val="0"/>
              </a:spcAft>
              <a:buClrTx/>
              <a:buSzTx/>
              <a:buFontTx/>
              <a:buNone/>
              <a:tabLst/>
            </a:pPr>
            <a:endParaRPr kumimoji="0" lang="en-US" sz="4800" b="0" i="0" u="none" strike="noStrike" cap="none" spc="0" normalizeH="0" baseline="0">
              <a:ln>
                <a:noFill/>
              </a:ln>
              <a:solidFill>
                <a:srgbClr val="000000"/>
              </a:solidFill>
              <a:effectLst/>
              <a:uFillTx/>
              <a:latin typeface="+mn-lt"/>
              <a:ea typeface="+mn-ea"/>
              <a:cs typeface="+mn-cs"/>
              <a:sym typeface="Helvetica"/>
            </a:endParaRPr>
          </a:p>
        </p:txBody>
      </p:sp>
    </p:spTree>
    <p:extLst>
      <p:ext uri="{BB962C8B-B14F-4D97-AF65-F5344CB8AC3E}">
        <p14:creationId xmlns:p14="http://schemas.microsoft.com/office/powerpoint/2010/main" val="225976637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Light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16243-3424-5E20-F93E-7E5E0C7A448B}"/>
              </a:ext>
            </a:extLst>
          </p:cNvPr>
          <p:cNvSpPr>
            <a:spLocks noGrp="1"/>
          </p:cNvSpPr>
          <p:nvPr>
            <p:ph type="ctrTitle"/>
          </p:nvPr>
        </p:nvSpPr>
        <p:spPr>
          <a:xfrm>
            <a:off x="1660850" y="5196007"/>
            <a:ext cx="12080385" cy="3323986"/>
          </a:xfrm>
          <a:prstGeom prst="rect">
            <a:avLst/>
          </a:prstGeom>
        </p:spPr>
        <p:txBody>
          <a:bodyPr wrap="square" lIns="0" tIns="0" rIns="0" bIns="0" anchor="b">
            <a:spAutoFit/>
          </a:bodyPr>
          <a:lstStyle>
            <a:lvl1pPr algn="l">
              <a:defRPr sz="12000" b="1" i="0">
                <a:solidFill>
                  <a:schemeClr val="tx1"/>
                </a:solidFill>
                <a:latin typeface="Figtree SemiBold" pitchFamily="2" charset="0"/>
              </a:defRPr>
            </a:lvl1pPr>
          </a:lstStyle>
          <a:p>
            <a:r>
              <a:rPr lang="en-GB"/>
              <a:t>Click to edit Master title style</a:t>
            </a:r>
            <a:endParaRPr lang="en-PT"/>
          </a:p>
        </p:txBody>
      </p:sp>
      <p:sp>
        <p:nvSpPr>
          <p:cNvPr id="3" name="Subtitle 2">
            <a:extLst>
              <a:ext uri="{FF2B5EF4-FFF2-40B4-BE49-F238E27FC236}">
                <a16:creationId xmlns:a16="http://schemas.microsoft.com/office/drawing/2014/main" id="{B203E3AD-9795-2274-E234-C26E11AAB1B1}"/>
              </a:ext>
            </a:extLst>
          </p:cNvPr>
          <p:cNvSpPr>
            <a:spLocks noGrp="1"/>
          </p:cNvSpPr>
          <p:nvPr>
            <p:ph type="subTitle" idx="1"/>
          </p:nvPr>
        </p:nvSpPr>
        <p:spPr>
          <a:xfrm>
            <a:off x="1660851" y="9306143"/>
            <a:ext cx="10911159" cy="664798"/>
          </a:xfrm>
          <a:prstGeom prst="rect">
            <a:avLst/>
          </a:prstGeom>
        </p:spPr>
        <p:txBody>
          <a:bodyPr lIns="0" tIns="0" rIns="0" bIns="0">
            <a:spAutoFit/>
          </a:bodyPr>
          <a:lstStyle>
            <a:lvl1pPr marL="0" indent="0" algn="l">
              <a:buNone/>
              <a:defRPr sz="4800">
                <a:solidFill>
                  <a:schemeClr val="tx1"/>
                </a:solidFill>
                <a:latin typeface="Figtree" pitchFamily="2"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PT"/>
          </a:p>
        </p:txBody>
      </p:sp>
      <p:sp>
        <p:nvSpPr>
          <p:cNvPr id="6" name="Slide Number Placeholder 5">
            <a:extLst>
              <a:ext uri="{FF2B5EF4-FFF2-40B4-BE49-F238E27FC236}">
                <a16:creationId xmlns:a16="http://schemas.microsoft.com/office/drawing/2014/main" id="{BCEC7000-F164-26AD-B7F8-A71CE4DAE7F4}"/>
              </a:ext>
            </a:extLst>
          </p:cNvPr>
          <p:cNvSpPr>
            <a:spLocks noGrp="1"/>
          </p:cNvSpPr>
          <p:nvPr>
            <p:ph type="sldNum" sz="quarter" idx="12"/>
          </p:nvPr>
        </p:nvSpPr>
        <p:spPr>
          <a:xfrm>
            <a:off x="22463661" y="13190413"/>
            <a:ext cx="246896" cy="246222"/>
          </a:xfrm>
          <a:prstGeom prst="rect">
            <a:avLst/>
          </a:prstGeom>
        </p:spPr>
        <p:txBody>
          <a:bodyPr/>
          <a:lstStyle/>
          <a:p>
            <a:fld id="{4AA77E54-165B-A847-AA47-6003AD81C543}" type="slidenum">
              <a:rPr lang="en-PT" smtClean="0"/>
              <a:t>‹#›</a:t>
            </a:fld>
            <a:endParaRPr lang="en-PT"/>
          </a:p>
        </p:txBody>
      </p:sp>
      <p:sp>
        <p:nvSpPr>
          <p:cNvPr id="11" name="Picture Placeholder 10">
            <a:extLst>
              <a:ext uri="{FF2B5EF4-FFF2-40B4-BE49-F238E27FC236}">
                <a16:creationId xmlns:a16="http://schemas.microsoft.com/office/drawing/2014/main" id="{1905F2B8-EB63-6033-05B3-F5F1EF89D730}"/>
              </a:ext>
            </a:extLst>
          </p:cNvPr>
          <p:cNvSpPr>
            <a:spLocks noGrp="1"/>
          </p:cNvSpPr>
          <p:nvPr>
            <p:ph type="pic" sz="quarter" idx="13"/>
          </p:nvPr>
        </p:nvSpPr>
        <p:spPr>
          <a:xfrm>
            <a:off x="17953788" y="0"/>
            <a:ext cx="6433388" cy="13716000"/>
          </a:xfrm>
          <a:prstGeom prst="rect">
            <a:avLst/>
          </a:prstGeom>
        </p:spPr>
        <p:txBody>
          <a:bodyPr/>
          <a:lstStyle/>
          <a:p>
            <a:endParaRPr lang="en-PT"/>
          </a:p>
        </p:txBody>
      </p:sp>
      <p:sp>
        <p:nvSpPr>
          <p:cNvPr id="5" name="Footer Placeholder 4">
            <a:extLst>
              <a:ext uri="{FF2B5EF4-FFF2-40B4-BE49-F238E27FC236}">
                <a16:creationId xmlns:a16="http://schemas.microsoft.com/office/drawing/2014/main" id="{4CF03A65-11C9-119B-8886-D65E621B6607}"/>
              </a:ext>
            </a:extLst>
          </p:cNvPr>
          <p:cNvSpPr>
            <a:spLocks noGrp="1"/>
          </p:cNvSpPr>
          <p:nvPr>
            <p:ph type="ftr" sz="quarter" idx="3"/>
          </p:nvPr>
        </p:nvSpPr>
        <p:spPr>
          <a:xfrm>
            <a:off x="3315599" y="13190413"/>
            <a:ext cx="2994800" cy="246222"/>
          </a:xfrm>
          <a:prstGeom prst="rect">
            <a:avLst/>
          </a:prstGeom>
        </p:spPr>
        <p:txBody>
          <a:bodyPr vert="horz" wrap="none" lIns="0" tIns="0" rIns="0" bIns="0" rtlCol="0" anchor="ctr">
            <a:spAutoFit/>
          </a:bodyPr>
          <a:lstStyle>
            <a:lvl1pPr algn="l">
              <a:defRPr sz="1600">
                <a:solidFill>
                  <a:schemeClr val="tx1">
                    <a:tint val="82000"/>
                  </a:schemeClr>
                </a:solidFill>
              </a:defRPr>
            </a:lvl1pPr>
          </a:lstStyle>
          <a:p>
            <a:r>
              <a:rPr lang="en-US">
                <a:solidFill>
                  <a:srgbClr val="7F7F7F"/>
                </a:solidFill>
                <a:latin typeface="Figtree" pitchFamily="2"/>
                <a:ea typeface="Figtree Regular" pitchFamily="34"/>
                <a:cs typeface="Figtree Regular" pitchFamily="34"/>
              </a:rPr>
              <a:t>| Strictly private and confidential</a:t>
            </a:r>
            <a:endParaRPr lang="en-US">
              <a:solidFill>
                <a:srgbClr val="7F7F7F"/>
              </a:solidFill>
              <a:latin typeface="Figtree" pitchFamily="2"/>
            </a:endParaRPr>
          </a:p>
        </p:txBody>
      </p:sp>
    </p:spTree>
    <p:extLst>
      <p:ext uri="{BB962C8B-B14F-4D97-AF65-F5344CB8AC3E}">
        <p14:creationId xmlns:p14="http://schemas.microsoft.com/office/powerpoint/2010/main" val="4563286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2_Table Layout">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8AF32B2-DBC1-6EC9-64A8-7E82912AD84C}"/>
              </a:ext>
            </a:extLst>
          </p:cNvPr>
          <p:cNvSpPr>
            <a:spLocks noGrp="1"/>
          </p:cNvSpPr>
          <p:nvPr>
            <p:ph type="title" hasCustomPrompt="1"/>
          </p:nvPr>
        </p:nvSpPr>
        <p:spPr>
          <a:xfrm>
            <a:off x="1023948" y="736599"/>
            <a:ext cx="22268928" cy="878189"/>
          </a:xfrm>
          <a:prstGeom prst="rect">
            <a:avLst/>
          </a:prstGeom>
        </p:spPr>
        <p:txBody>
          <a:bodyPr vert="horz" lIns="0" tIns="50800" rIns="88900" bIns="50800" rtlCol="0" anchor="t">
            <a:spAutoFit/>
          </a:bodyPr>
          <a:lstStyle>
            <a:lvl1pPr>
              <a:defRPr lang="en-US" sz="5600" b="1" i="0">
                <a:solidFill>
                  <a:srgbClr val="12BD64"/>
                </a:solidFill>
                <a:latin typeface="Figtree" pitchFamily="2" charset="0"/>
              </a:defRPr>
            </a:lvl1pPr>
          </a:lstStyle>
          <a:p>
            <a:pPr lvl="0"/>
            <a:r>
              <a:rPr lang="en-US"/>
              <a:t>Title | Subtitle</a:t>
            </a:r>
          </a:p>
        </p:txBody>
      </p:sp>
      <p:sp>
        <p:nvSpPr>
          <p:cNvPr id="13" name="Text Placeholder 2">
            <a:extLst>
              <a:ext uri="{FF2B5EF4-FFF2-40B4-BE49-F238E27FC236}">
                <a16:creationId xmlns:a16="http://schemas.microsoft.com/office/drawing/2014/main" id="{C86B6272-C041-7879-95A5-FA182E049EC8}"/>
              </a:ext>
            </a:extLst>
          </p:cNvPr>
          <p:cNvSpPr>
            <a:spLocks noGrp="1"/>
          </p:cNvSpPr>
          <p:nvPr>
            <p:ph type="body" idx="13" hasCustomPrompt="1"/>
          </p:nvPr>
        </p:nvSpPr>
        <p:spPr>
          <a:xfrm>
            <a:off x="1031765" y="1727200"/>
            <a:ext cx="22261114" cy="1143000"/>
          </a:xfrm>
          <a:prstGeom prst="rect">
            <a:avLst/>
          </a:prstGeom>
        </p:spPr>
        <p:txBody>
          <a:bodyPr lIns="0" tIns="0" rIns="0" bIns="0">
            <a:noAutofit/>
          </a:bodyPr>
          <a:lstStyle>
            <a:lvl1pPr>
              <a:defRPr lang="en-US" sz="3200" b="0" i="0" dirty="0">
                <a:solidFill>
                  <a:schemeClr val="bg1">
                    <a:lumMod val="65000"/>
                  </a:schemeClr>
                </a:solidFill>
                <a:latin typeface="Figtree" pitchFamily="2" charset="0"/>
              </a:defRPr>
            </a:lvl1pPr>
          </a:lstStyle>
          <a:p>
            <a:pPr marL="0" lvl="0" indent="0">
              <a:lnSpc>
                <a:spcPct val="100000"/>
              </a:lnSpc>
              <a:spcBef>
                <a:spcPts val="0"/>
              </a:spcBef>
              <a:buNone/>
            </a:pPr>
            <a:r>
              <a:rPr lang="en-US"/>
              <a:t>Click to edit Master title style</a:t>
            </a:r>
          </a:p>
        </p:txBody>
      </p:sp>
      <p:sp>
        <p:nvSpPr>
          <p:cNvPr id="4" name="Table Placeholder 3">
            <a:extLst>
              <a:ext uri="{FF2B5EF4-FFF2-40B4-BE49-F238E27FC236}">
                <a16:creationId xmlns:a16="http://schemas.microsoft.com/office/drawing/2014/main" id="{E1C3B5B1-77B4-1896-8B41-173EBD035CAF}"/>
              </a:ext>
            </a:extLst>
          </p:cNvPr>
          <p:cNvSpPr>
            <a:spLocks noGrp="1"/>
          </p:cNvSpPr>
          <p:nvPr>
            <p:ph type="tbl" sz="quarter" idx="14"/>
          </p:nvPr>
        </p:nvSpPr>
        <p:spPr>
          <a:xfrm>
            <a:off x="1004410" y="2968626"/>
            <a:ext cx="22288457" cy="9432924"/>
          </a:xfrm>
          <a:prstGeom prst="rect">
            <a:avLst/>
          </a:prstGeom>
        </p:spPr>
        <p:txBody>
          <a:bodyPr/>
          <a:lstStyle>
            <a:lvl1pPr>
              <a:defRPr sz="2400">
                <a:latin typeface="Figtree" pitchFamily="2" charset="0"/>
              </a:defRPr>
            </a:lvl1pPr>
          </a:lstStyle>
          <a:p>
            <a:endParaRPr lang="en-GB"/>
          </a:p>
        </p:txBody>
      </p:sp>
      <p:sp>
        <p:nvSpPr>
          <p:cNvPr id="2" name="Slide Number Placeholder 5">
            <a:extLst>
              <a:ext uri="{FF2B5EF4-FFF2-40B4-BE49-F238E27FC236}">
                <a16:creationId xmlns:a16="http://schemas.microsoft.com/office/drawing/2014/main" id="{63AEAAA7-69BD-FACE-961A-902D6B266077}"/>
              </a:ext>
            </a:extLst>
          </p:cNvPr>
          <p:cNvSpPr>
            <a:spLocks noGrp="1"/>
          </p:cNvSpPr>
          <p:nvPr>
            <p:ph type="sldNum" sz="quarter" idx="12"/>
          </p:nvPr>
        </p:nvSpPr>
        <p:spPr>
          <a:xfrm>
            <a:off x="22401427" y="12617451"/>
            <a:ext cx="871912" cy="730250"/>
          </a:xfrm>
          <a:prstGeom prst="rect">
            <a:avLst/>
          </a:prstGeom>
        </p:spPr>
        <p:txBody>
          <a:bodyPr anchor="ctr"/>
          <a:lstStyle>
            <a:lvl1pPr algn="r">
              <a:defRPr sz="2000">
                <a:solidFill>
                  <a:srgbClr val="272726"/>
                </a:solidFill>
                <a:latin typeface="Figtree" pitchFamily="2" charset="0"/>
              </a:defRPr>
            </a:lvl1pPr>
          </a:lstStyle>
          <a:p>
            <a:fld id="{5F99CA44-E461-4342-8946-62027848508A}" type="slidenum">
              <a:rPr lang="en-PT" smtClean="0"/>
              <a:pPr/>
              <a:t>‹#›</a:t>
            </a:fld>
            <a:endParaRPr lang="en-PT"/>
          </a:p>
        </p:txBody>
      </p:sp>
      <p:cxnSp>
        <p:nvCxnSpPr>
          <p:cNvPr id="3" name="Straight Connector 2">
            <a:extLst>
              <a:ext uri="{FF2B5EF4-FFF2-40B4-BE49-F238E27FC236}">
                <a16:creationId xmlns:a16="http://schemas.microsoft.com/office/drawing/2014/main" id="{12373338-ECF3-C336-AC6B-E7237BC7E209}"/>
              </a:ext>
            </a:extLst>
          </p:cNvPr>
          <p:cNvCxnSpPr>
            <a:cxnSpLocks/>
          </p:cNvCxnSpPr>
          <p:nvPr userDrawn="1"/>
        </p:nvCxnSpPr>
        <p:spPr>
          <a:xfrm>
            <a:off x="3590353" y="12735444"/>
            <a:ext cx="0" cy="530768"/>
          </a:xfrm>
          <a:prstGeom prst="line">
            <a:avLst/>
          </a:prstGeom>
          <a:ln w="31750">
            <a:solidFill>
              <a:srgbClr val="12BD64"/>
            </a:solidFill>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CE18BD03-2298-5CF2-3F33-28C1038BE264}"/>
              </a:ext>
            </a:extLst>
          </p:cNvPr>
          <p:cNvSpPr txBox="1"/>
          <p:nvPr userDrawn="1"/>
        </p:nvSpPr>
        <p:spPr>
          <a:xfrm>
            <a:off x="0" y="13236632"/>
            <a:ext cx="3590346"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lgn="ctr"/>
            <a:r>
              <a:rPr lang="en-GB" sz="1200">
                <a:solidFill>
                  <a:srgbClr val="272726"/>
                </a:solidFill>
                <a:latin typeface="Figtree" pitchFamily="2" charset="0"/>
              </a:rPr>
              <a:t>Strictly private and confidential</a:t>
            </a:r>
          </a:p>
        </p:txBody>
      </p:sp>
      <p:pic>
        <p:nvPicPr>
          <p:cNvPr id="10" name="Picture 2">
            <a:extLst>
              <a:ext uri="{FF2B5EF4-FFF2-40B4-BE49-F238E27FC236}">
                <a16:creationId xmlns:a16="http://schemas.microsoft.com/office/drawing/2014/main" id="{A3D82FE0-EFEC-3F9F-78FA-6F755A1C3222}"/>
              </a:ext>
            </a:extLst>
          </p:cNvPr>
          <p:cNvPicPr>
            <a:picLocks noChangeAspect="1" noChangeArrowheads="1"/>
          </p:cNvPicPr>
          <p:nvPr userDrawn="1"/>
        </p:nvPicPr>
        <p:blipFill>
          <a:blip r:embed="rId2"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bwMode="auto">
          <a:xfrm>
            <a:off x="1023949" y="12758197"/>
            <a:ext cx="1571764" cy="522186"/>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2">
            <a:extLst>
              <a:ext uri="{FF2B5EF4-FFF2-40B4-BE49-F238E27FC236}">
                <a16:creationId xmlns:a16="http://schemas.microsoft.com/office/drawing/2014/main" id="{C9D6E84E-6DE1-2920-5325-EE9B053429F9}"/>
              </a:ext>
            </a:extLst>
          </p:cNvPr>
          <p:cNvSpPr>
            <a:spLocks noGrp="1"/>
          </p:cNvSpPr>
          <p:nvPr>
            <p:ph type="body" idx="10"/>
          </p:nvPr>
        </p:nvSpPr>
        <p:spPr>
          <a:xfrm>
            <a:off x="3841762" y="12820828"/>
            <a:ext cx="18559657" cy="360000"/>
          </a:xfrm>
          <a:prstGeom prst="rect">
            <a:avLst/>
          </a:prstGeom>
        </p:spPr>
        <p:txBody>
          <a:bodyPr lIns="0" tIns="0" rIns="0" bIns="0" anchor="ctr">
            <a:noAutofit/>
          </a:bodyPr>
          <a:lstStyle>
            <a:lvl1pPr marL="0" indent="0">
              <a:lnSpc>
                <a:spcPct val="150000"/>
              </a:lnSpc>
              <a:buNone/>
              <a:defRPr sz="1600" b="0" i="0">
                <a:solidFill>
                  <a:schemeClr val="bg1">
                    <a:lumMod val="50000"/>
                  </a:schemeClr>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8052321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Chapter">
    <p:bg>
      <p:bgRef idx="1001">
        <a:schemeClr val="bg1"/>
      </p:bgRef>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8AF32B2-DBC1-6EC9-64A8-7E82912AD84C}"/>
              </a:ext>
            </a:extLst>
          </p:cNvPr>
          <p:cNvSpPr>
            <a:spLocks noGrp="1"/>
          </p:cNvSpPr>
          <p:nvPr>
            <p:ph type="title" hasCustomPrompt="1"/>
          </p:nvPr>
        </p:nvSpPr>
        <p:spPr>
          <a:xfrm>
            <a:off x="1023948" y="736599"/>
            <a:ext cx="22268928" cy="878189"/>
          </a:xfrm>
          <a:prstGeom prst="rect">
            <a:avLst/>
          </a:prstGeom>
        </p:spPr>
        <p:txBody>
          <a:bodyPr vert="horz" lIns="0" tIns="50800" rIns="88900" bIns="50800" rtlCol="0" anchor="t">
            <a:spAutoFit/>
          </a:bodyPr>
          <a:lstStyle>
            <a:lvl1pPr>
              <a:defRPr lang="en-US" sz="5600" b="1" i="0">
                <a:solidFill>
                  <a:srgbClr val="12BD64"/>
                </a:solidFill>
                <a:latin typeface="Figtree" pitchFamily="2" charset="0"/>
              </a:defRPr>
            </a:lvl1pPr>
          </a:lstStyle>
          <a:p>
            <a:pPr lvl="0"/>
            <a:r>
              <a:rPr lang="en-US"/>
              <a:t>Title | Subtitle</a:t>
            </a:r>
          </a:p>
        </p:txBody>
      </p:sp>
      <p:sp>
        <p:nvSpPr>
          <p:cNvPr id="13" name="Text Placeholder 2">
            <a:extLst>
              <a:ext uri="{FF2B5EF4-FFF2-40B4-BE49-F238E27FC236}">
                <a16:creationId xmlns:a16="http://schemas.microsoft.com/office/drawing/2014/main" id="{C86B6272-C041-7879-95A5-FA182E049EC8}"/>
              </a:ext>
            </a:extLst>
          </p:cNvPr>
          <p:cNvSpPr>
            <a:spLocks noGrp="1"/>
          </p:cNvSpPr>
          <p:nvPr>
            <p:ph type="body" idx="13" hasCustomPrompt="1"/>
          </p:nvPr>
        </p:nvSpPr>
        <p:spPr>
          <a:xfrm>
            <a:off x="1031765" y="1727200"/>
            <a:ext cx="22261114" cy="1143000"/>
          </a:xfrm>
          <a:prstGeom prst="rect">
            <a:avLst/>
          </a:prstGeom>
        </p:spPr>
        <p:txBody>
          <a:bodyPr lIns="0" tIns="0" rIns="0" bIns="0">
            <a:noAutofit/>
          </a:bodyPr>
          <a:lstStyle>
            <a:lvl1pPr>
              <a:defRPr lang="en-US" sz="3200" b="0" i="0" dirty="0">
                <a:solidFill>
                  <a:schemeClr val="bg1">
                    <a:lumMod val="65000"/>
                  </a:schemeClr>
                </a:solidFill>
                <a:latin typeface="Figtree" pitchFamily="2" charset="0"/>
              </a:defRPr>
            </a:lvl1pPr>
          </a:lstStyle>
          <a:p>
            <a:pPr marL="0" lvl="0" indent="0">
              <a:lnSpc>
                <a:spcPct val="100000"/>
              </a:lnSpc>
              <a:spcBef>
                <a:spcPts val="0"/>
              </a:spcBef>
              <a:buNone/>
            </a:pPr>
            <a:r>
              <a:rPr lang="en-US"/>
              <a:t>Click to edit Master title style</a:t>
            </a:r>
          </a:p>
        </p:txBody>
      </p:sp>
      <p:sp>
        <p:nvSpPr>
          <p:cNvPr id="2" name="Text Placeholder 2">
            <a:extLst>
              <a:ext uri="{FF2B5EF4-FFF2-40B4-BE49-F238E27FC236}">
                <a16:creationId xmlns:a16="http://schemas.microsoft.com/office/drawing/2014/main" id="{518A67EA-4791-2973-4C66-F9F1B8A4847A}"/>
              </a:ext>
            </a:extLst>
          </p:cNvPr>
          <p:cNvSpPr>
            <a:spLocks noGrp="1"/>
          </p:cNvSpPr>
          <p:nvPr>
            <p:ph type="body" idx="1"/>
          </p:nvPr>
        </p:nvSpPr>
        <p:spPr>
          <a:xfrm>
            <a:off x="1031762" y="2968627"/>
            <a:ext cx="22261114" cy="9426574"/>
          </a:xfrm>
          <a:prstGeom prst="rect">
            <a:avLst/>
          </a:prstGeom>
        </p:spPr>
        <p:txBody>
          <a:bodyPr lIns="0" tIns="0" rIns="0" bIns="0">
            <a:noAutofit/>
          </a:bodyPr>
          <a:lstStyle>
            <a:lvl1pPr marL="0" indent="0">
              <a:lnSpc>
                <a:spcPct val="150000"/>
              </a:lnSpc>
              <a:buNone/>
              <a:defRPr sz="2400" b="0" i="0">
                <a:solidFill>
                  <a:srgbClr val="31322F"/>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
        <p:nvSpPr>
          <p:cNvPr id="3" name="Slide Number Placeholder 5">
            <a:extLst>
              <a:ext uri="{FF2B5EF4-FFF2-40B4-BE49-F238E27FC236}">
                <a16:creationId xmlns:a16="http://schemas.microsoft.com/office/drawing/2014/main" id="{53D48EC9-04D3-2291-BAF2-A97EB690F422}"/>
              </a:ext>
            </a:extLst>
          </p:cNvPr>
          <p:cNvSpPr>
            <a:spLocks noGrp="1"/>
          </p:cNvSpPr>
          <p:nvPr>
            <p:ph type="sldNum" sz="quarter" idx="12"/>
          </p:nvPr>
        </p:nvSpPr>
        <p:spPr>
          <a:xfrm>
            <a:off x="22401427" y="12617451"/>
            <a:ext cx="871912" cy="730250"/>
          </a:xfrm>
          <a:prstGeom prst="rect">
            <a:avLst/>
          </a:prstGeom>
        </p:spPr>
        <p:txBody>
          <a:bodyPr anchor="ctr"/>
          <a:lstStyle>
            <a:lvl1pPr algn="r">
              <a:defRPr sz="2000">
                <a:solidFill>
                  <a:srgbClr val="272726"/>
                </a:solidFill>
                <a:latin typeface="Figtree" pitchFamily="2" charset="0"/>
              </a:defRPr>
            </a:lvl1pPr>
          </a:lstStyle>
          <a:p>
            <a:fld id="{5F99CA44-E461-4342-8946-62027848508A}" type="slidenum">
              <a:rPr lang="en-PT" smtClean="0"/>
              <a:pPr/>
              <a:t>‹#›</a:t>
            </a:fld>
            <a:endParaRPr lang="en-PT"/>
          </a:p>
        </p:txBody>
      </p:sp>
      <p:cxnSp>
        <p:nvCxnSpPr>
          <p:cNvPr id="4" name="Straight Connector 3">
            <a:extLst>
              <a:ext uri="{FF2B5EF4-FFF2-40B4-BE49-F238E27FC236}">
                <a16:creationId xmlns:a16="http://schemas.microsoft.com/office/drawing/2014/main" id="{7F8BD189-BBFA-7BF3-CD5E-4D4C020883E5}"/>
              </a:ext>
            </a:extLst>
          </p:cNvPr>
          <p:cNvCxnSpPr>
            <a:cxnSpLocks/>
          </p:cNvCxnSpPr>
          <p:nvPr userDrawn="1"/>
        </p:nvCxnSpPr>
        <p:spPr>
          <a:xfrm>
            <a:off x="3590353" y="12735444"/>
            <a:ext cx="0" cy="530768"/>
          </a:xfrm>
          <a:prstGeom prst="line">
            <a:avLst/>
          </a:prstGeom>
          <a:ln w="31750">
            <a:solidFill>
              <a:srgbClr val="12BD64"/>
            </a:solidFill>
          </a:ln>
        </p:spPr>
        <p:style>
          <a:lnRef idx="3">
            <a:schemeClr val="dk1"/>
          </a:lnRef>
          <a:fillRef idx="0">
            <a:schemeClr val="dk1"/>
          </a:fillRef>
          <a:effectRef idx="2">
            <a:schemeClr val="dk1"/>
          </a:effectRef>
          <a:fontRef idx="minor">
            <a:schemeClr val="tx1"/>
          </a:fontRef>
        </p:style>
      </p:cxnSp>
      <p:sp>
        <p:nvSpPr>
          <p:cNvPr id="9" name="TextBox 8">
            <a:extLst>
              <a:ext uri="{FF2B5EF4-FFF2-40B4-BE49-F238E27FC236}">
                <a16:creationId xmlns:a16="http://schemas.microsoft.com/office/drawing/2014/main" id="{07F1790B-BD89-94DB-4E2C-DFFDD7A3B92C}"/>
              </a:ext>
            </a:extLst>
          </p:cNvPr>
          <p:cNvSpPr txBox="1"/>
          <p:nvPr userDrawn="1"/>
        </p:nvSpPr>
        <p:spPr>
          <a:xfrm>
            <a:off x="0" y="13236632"/>
            <a:ext cx="3590346" cy="430888"/>
          </a:xfrm>
          <a:prstGeom prst="rect">
            <a:avLst/>
          </a:prstGeom>
        </p:spPr>
        <p:txBody>
          <a:bodyPr lIns="177800" tIns="101600" rIns="177800" bIns="101600"/>
          <a:lstStyle>
            <a:defPPr>
              <a:defRPr lang="en-US"/>
            </a:defPPr>
            <a:lvl1pPr>
              <a:defRPr sz="800" b="0" i="0">
                <a:solidFill>
                  <a:schemeClr val="bg1"/>
                </a:solidFill>
                <a:latin typeface="Ubuntu Light" panose="020B0304030602030204" pitchFamily="34" charset="0"/>
              </a:defRPr>
            </a:lvl1pPr>
          </a:lstStyle>
          <a:p>
            <a:pPr lvl="0" algn="ctr"/>
            <a:r>
              <a:rPr lang="en-GB" sz="1200">
                <a:solidFill>
                  <a:srgbClr val="272726"/>
                </a:solidFill>
                <a:latin typeface="Figtree" pitchFamily="2" charset="0"/>
              </a:rPr>
              <a:t>Strictly private and confidential</a:t>
            </a:r>
          </a:p>
        </p:txBody>
      </p:sp>
      <p:pic>
        <p:nvPicPr>
          <p:cNvPr id="10" name="Picture 2">
            <a:extLst>
              <a:ext uri="{FF2B5EF4-FFF2-40B4-BE49-F238E27FC236}">
                <a16:creationId xmlns:a16="http://schemas.microsoft.com/office/drawing/2014/main" id="{FF455D8E-4AF3-89DF-B48D-EC9535E1D47D}"/>
              </a:ext>
            </a:extLst>
          </p:cNvPr>
          <p:cNvPicPr>
            <a:picLocks noChangeAspect="1" noChangeArrowheads="1"/>
          </p:cNvPicPr>
          <p:nvPr userDrawn="1"/>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23949" y="12758196"/>
            <a:ext cx="1772538" cy="478416"/>
          </a:xfrm>
          <a:prstGeom prst="rect">
            <a:avLst/>
          </a:prstGeom>
          <a:noFill/>
          <a:extLst>
            <a:ext uri="{909E8E84-426E-40DD-AFC4-6F175D3DCCD1}">
              <a14:hiddenFill xmlns:a14="http://schemas.microsoft.com/office/drawing/2010/main">
                <a:solidFill>
                  <a:srgbClr val="FFFFFF"/>
                </a:solidFill>
              </a14:hiddenFill>
            </a:ext>
          </a:extLst>
        </p:spPr>
      </p:pic>
      <p:sp>
        <p:nvSpPr>
          <p:cNvPr id="11" name="Text Placeholder 2">
            <a:extLst>
              <a:ext uri="{FF2B5EF4-FFF2-40B4-BE49-F238E27FC236}">
                <a16:creationId xmlns:a16="http://schemas.microsoft.com/office/drawing/2014/main" id="{DADF9DE2-2D8C-507F-12A5-82CFBFFF6603}"/>
              </a:ext>
            </a:extLst>
          </p:cNvPr>
          <p:cNvSpPr>
            <a:spLocks noGrp="1"/>
          </p:cNvSpPr>
          <p:nvPr>
            <p:ph type="body" idx="10"/>
          </p:nvPr>
        </p:nvSpPr>
        <p:spPr>
          <a:xfrm>
            <a:off x="3841762" y="12820828"/>
            <a:ext cx="18559657" cy="360000"/>
          </a:xfrm>
          <a:prstGeom prst="rect">
            <a:avLst/>
          </a:prstGeom>
        </p:spPr>
        <p:txBody>
          <a:bodyPr lIns="0" tIns="0" rIns="0" bIns="0" anchor="ctr">
            <a:noAutofit/>
          </a:bodyPr>
          <a:lstStyle>
            <a:lvl1pPr marL="0" indent="0">
              <a:lnSpc>
                <a:spcPct val="150000"/>
              </a:lnSpc>
              <a:buNone/>
              <a:defRPr sz="1600" b="0" i="0">
                <a:solidFill>
                  <a:schemeClr val="bg1">
                    <a:lumMod val="50000"/>
                  </a:schemeClr>
                </a:solidFill>
                <a:latin typeface="Figtree" pitchFamily="2" charset="0"/>
              </a:defRPr>
            </a:lvl1pPr>
            <a:lvl2pPr marL="914400" indent="0">
              <a:buNone/>
              <a:defRPr sz="4000">
                <a:solidFill>
                  <a:schemeClr val="tx1">
                    <a:tint val="75000"/>
                  </a:schemeClr>
                </a:solidFill>
              </a:defRPr>
            </a:lvl2pPr>
            <a:lvl3pPr marL="1828800" indent="0">
              <a:buNone/>
              <a:defRPr sz="3600">
                <a:solidFill>
                  <a:schemeClr val="tx1">
                    <a:tint val="75000"/>
                  </a:schemeClr>
                </a:solidFill>
              </a:defRPr>
            </a:lvl3pPr>
            <a:lvl4pPr marL="2743200" indent="0">
              <a:buNone/>
              <a:defRPr sz="3200">
                <a:solidFill>
                  <a:schemeClr val="tx1">
                    <a:tint val="75000"/>
                  </a:schemeClr>
                </a:solidFill>
              </a:defRPr>
            </a:lvl4pPr>
            <a:lvl5pPr marL="3657600" indent="0">
              <a:buNone/>
              <a:defRPr sz="3200">
                <a:solidFill>
                  <a:schemeClr val="tx1">
                    <a:tint val="75000"/>
                  </a:schemeClr>
                </a:solidFill>
              </a:defRPr>
            </a:lvl5pPr>
            <a:lvl6pPr marL="4572000" indent="0">
              <a:buNone/>
              <a:defRPr sz="3200">
                <a:solidFill>
                  <a:schemeClr val="tx1">
                    <a:tint val="75000"/>
                  </a:schemeClr>
                </a:solidFill>
              </a:defRPr>
            </a:lvl6pPr>
            <a:lvl7pPr marL="5486400" indent="0">
              <a:buNone/>
              <a:defRPr sz="3200">
                <a:solidFill>
                  <a:schemeClr val="tx1">
                    <a:tint val="75000"/>
                  </a:schemeClr>
                </a:solidFill>
              </a:defRPr>
            </a:lvl7pPr>
            <a:lvl8pPr marL="6400800" indent="0">
              <a:buNone/>
              <a:defRPr sz="3200">
                <a:solidFill>
                  <a:schemeClr val="tx1">
                    <a:tint val="75000"/>
                  </a:schemeClr>
                </a:solidFill>
              </a:defRPr>
            </a:lvl8pPr>
            <a:lvl9pPr marL="7315200" indent="0">
              <a:buNone/>
              <a:defRPr sz="32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718379440"/>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397" y="2244726"/>
            <a:ext cx="18290381" cy="4775200"/>
          </a:xfrm>
        </p:spPr>
        <p:txBody>
          <a:bodyPr anchor="b"/>
          <a:lstStyle>
            <a:lvl1pPr algn="ctr">
              <a:defRPr sz="12000"/>
            </a:lvl1pPr>
          </a:lstStyle>
          <a:p>
            <a:r>
              <a:rPr lang="en-GB"/>
              <a:t>Click to edit Master title style</a:t>
            </a:r>
            <a:endParaRPr lang="en-US" dirty="0"/>
          </a:p>
        </p:txBody>
      </p:sp>
      <p:sp>
        <p:nvSpPr>
          <p:cNvPr id="3" name="Subtitle 2"/>
          <p:cNvSpPr>
            <a:spLocks noGrp="1"/>
          </p:cNvSpPr>
          <p:nvPr>
            <p:ph type="subTitle" idx="1"/>
          </p:nvPr>
        </p:nvSpPr>
        <p:spPr>
          <a:xfrm>
            <a:off x="3048397" y="7204076"/>
            <a:ext cx="18290381"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r>
              <a:rPr lang="en-US">
                <a:solidFill>
                  <a:srgbClr val="7F7F7F"/>
                </a:solidFill>
                <a:latin typeface="Figtree" pitchFamily="2"/>
                <a:ea typeface="Figtree Regular" pitchFamily="34"/>
                <a:cs typeface="Figtree Regular" pitchFamily="34"/>
              </a:rPr>
              <a:t>| Strictly private and confidential</a:t>
            </a:r>
            <a:endParaRPr lang="en-US" dirty="0">
              <a:solidFill>
                <a:srgbClr val="7F7F7F"/>
              </a:solidFill>
              <a:latin typeface="Figtree" pitchFamily="2"/>
            </a:endParaRPr>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36404568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r>
              <a:rPr lang="en-US">
                <a:solidFill>
                  <a:srgbClr val="7F7F7F"/>
                </a:solidFill>
                <a:latin typeface="Figtree" pitchFamily="2"/>
                <a:ea typeface="Figtree Regular" pitchFamily="34"/>
                <a:cs typeface="Figtree Regular" pitchFamily="34"/>
              </a:rPr>
              <a:t>| Strictly private and confidential</a:t>
            </a:r>
            <a:endParaRPr lang="en-US" dirty="0">
              <a:solidFill>
                <a:srgbClr val="7F7F7F"/>
              </a:solidFill>
              <a:latin typeface="Figtree" pitchFamily="2"/>
            </a:endParaRPr>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18854208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917" y="3419477"/>
            <a:ext cx="21033938" cy="5705474"/>
          </a:xfrm>
        </p:spPr>
        <p:txBody>
          <a:bodyPr anchor="b"/>
          <a:lstStyle>
            <a:lvl1pPr>
              <a:defRPr sz="12000"/>
            </a:lvl1pPr>
          </a:lstStyle>
          <a:p>
            <a:r>
              <a:rPr lang="en-GB"/>
              <a:t>Click to edit Master title style</a:t>
            </a:r>
            <a:endParaRPr lang="en-US" dirty="0"/>
          </a:p>
        </p:txBody>
      </p:sp>
      <p:sp>
        <p:nvSpPr>
          <p:cNvPr id="3" name="Text Placeholder 2"/>
          <p:cNvSpPr>
            <a:spLocks noGrp="1"/>
          </p:cNvSpPr>
          <p:nvPr>
            <p:ph type="body" idx="1"/>
          </p:nvPr>
        </p:nvSpPr>
        <p:spPr>
          <a:xfrm>
            <a:off x="1663917" y="9178927"/>
            <a:ext cx="21033938" cy="3000374"/>
          </a:xfrm>
        </p:spPr>
        <p:txBody>
          <a:bodyPr/>
          <a:lstStyle>
            <a:lvl1pPr marL="0" indent="0">
              <a:buNone/>
              <a:defRPr sz="4800">
                <a:solidFill>
                  <a:schemeClr val="tx1">
                    <a:tint val="82000"/>
                  </a:schemeClr>
                </a:solidFill>
              </a:defRPr>
            </a:lvl1pPr>
            <a:lvl2pPr marL="914400" indent="0">
              <a:buNone/>
              <a:defRPr sz="4000">
                <a:solidFill>
                  <a:schemeClr val="tx1">
                    <a:tint val="82000"/>
                  </a:schemeClr>
                </a:solidFill>
              </a:defRPr>
            </a:lvl2pPr>
            <a:lvl3pPr marL="1828800" indent="0">
              <a:buNone/>
              <a:defRPr sz="3600">
                <a:solidFill>
                  <a:schemeClr val="tx1">
                    <a:tint val="82000"/>
                  </a:schemeClr>
                </a:solidFill>
              </a:defRPr>
            </a:lvl3pPr>
            <a:lvl4pPr marL="2743200" indent="0">
              <a:buNone/>
              <a:defRPr sz="3200">
                <a:solidFill>
                  <a:schemeClr val="tx1">
                    <a:tint val="82000"/>
                  </a:schemeClr>
                </a:solidFill>
              </a:defRPr>
            </a:lvl4pPr>
            <a:lvl5pPr marL="3657600" indent="0">
              <a:buNone/>
              <a:defRPr sz="3200">
                <a:solidFill>
                  <a:schemeClr val="tx1">
                    <a:tint val="82000"/>
                  </a:schemeClr>
                </a:solidFill>
              </a:defRPr>
            </a:lvl5pPr>
            <a:lvl6pPr marL="4572000" indent="0">
              <a:buNone/>
              <a:defRPr sz="3200">
                <a:solidFill>
                  <a:schemeClr val="tx1">
                    <a:tint val="82000"/>
                  </a:schemeClr>
                </a:solidFill>
              </a:defRPr>
            </a:lvl6pPr>
            <a:lvl7pPr marL="5486400" indent="0">
              <a:buNone/>
              <a:defRPr sz="3200">
                <a:solidFill>
                  <a:schemeClr val="tx1">
                    <a:tint val="82000"/>
                  </a:schemeClr>
                </a:solidFill>
              </a:defRPr>
            </a:lvl7pPr>
            <a:lvl8pPr marL="6400800" indent="0">
              <a:buNone/>
              <a:defRPr sz="3200">
                <a:solidFill>
                  <a:schemeClr val="tx1">
                    <a:tint val="82000"/>
                  </a:schemeClr>
                </a:solidFill>
              </a:defRPr>
            </a:lvl8pPr>
            <a:lvl9pPr marL="7315200" indent="0">
              <a:buNone/>
              <a:defRPr sz="32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r>
              <a:rPr lang="en-US">
                <a:solidFill>
                  <a:srgbClr val="7F7F7F"/>
                </a:solidFill>
                <a:latin typeface="Figtree" pitchFamily="2"/>
                <a:ea typeface="Figtree Regular" pitchFamily="34"/>
                <a:cs typeface="Figtree Regular" pitchFamily="34"/>
              </a:rPr>
              <a:t>| Strictly private and confidential</a:t>
            </a:r>
            <a:endParaRPr lang="en-US" dirty="0">
              <a:solidFill>
                <a:srgbClr val="7F7F7F"/>
              </a:solidFill>
              <a:latin typeface="Figtree" pitchFamily="2"/>
            </a:endParaRPr>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347345237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676618" y="3651250"/>
            <a:ext cx="10364549" cy="87026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2346008" y="3651250"/>
            <a:ext cx="10364549" cy="87026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6" name="Footer Placeholder 5"/>
          <p:cNvSpPr>
            <a:spLocks noGrp="1"/>
          </p:cNvSpPr>
          <p:nvPr>
            <p:ph type="ftr" sz="quarter" idx="11"/>
          </p:nvPr>
        </p:nvSpPr>
        <p:spPr/>
        <p:txBody>
          <a:bodyPr/>
          <a:lstStyle/>
          <a:p>
            <a:r>
              <a:rPr lang="en-US">
                <a:solidFill>
                  <a:srgbClr val="7F7F7F"/>
                </a:solidFill>
                <a:latin typeface="Figtree" pitchFamily="2"/>
                <a:ea typeface="Figtree Regular" pitchFamily="34"/>
                <a:cs typeface="Figtree Regular" pitchFamily="34"/>
              </a:rPr>
              <a:t>| Strictly private and confidential</a:t>
            </a:r>
            <a:endParaRPr lang="en-US" dirty="0">
              <a:solidFill>
                <a:srgbClr val="7F7F7F"/>
              </a:solidFill>
              <a:latin typeface="Figtree" pitchFamily="2"/>
            </a:endParaRPr>
          </a:p>
        </p:txBody>
      </p:sp>
      <p:sp>
        <p:nvSpPr>
          <p:cNvPr id="7" name="Slide Number Placeholder 6"/>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5405688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795" y="730251"/>
            <a:ext cx="21033938" cy="2651126"/>
          </a:xfrm>
        </p:spPr>
        <p:txBody>
          <a:bodyPr/>
          <a:lstStyle/>
          <a:p>
            <a:r>
              <a:rPr lang="en-GB"/>
              <a:t>Click to edit Master title style</a:t>
            </a:r>
            <a:endParaRPr lang="en-US" dirty="0"/>
          </a:p>
        </p:txBody>
      </p:sp>
      <p:sp>
        <p:nvSpPr>
          <p:cNvPr id="3" name="Text Placeholder 2"/>
          <p:cNvSpPr>
            <a:spLocks noGrp="1"/>
          </p:cNvSpPr>
          <p:nvPr>
            <p:ph type="body" idx="1"/>
          </p:nvPr>
        </p:nvSpPr>
        <p:spPr>
          <a:xfrm>
            <a:off x="1679796" y="3362326"/>
            <a:ext cx="10316917"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GB"/>
              <a:t>Click to edit Master text styles</a:t>
            </a:r>
          </a:p>
        </p:txBody>
      </p:sp>
      <p:sp>
        <p:nvSpPr>
          <p:cNvPr id="4" name="Content Placeholder 3"/>
          <p:cNvSpPr>
            <a:spLocks noGrp="1"/>
          </p:cNvSpPr>
          <p:nvPr>
            <p:ph sz="half" idx="2"/>
          </p:nvPr>
        </p:nvSpPr>
        <p:spPr>
          <a:xfrm>
            <a:off x="1679796" y="5010150"/>
            <a:ext cx="10316917" cy="73691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2346007" y="3362326"/>
            <a:ext cx="1036772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GB"/>
              <a:t>Click to edit Master text styles</a:t>
            </a:r>
          </a:p>
        </p:txBody>
      </p:sp>
      <p:sp>
        <p:nvSpPr>
          <p:cNvPr id="6" name="Content Placeholder 5"/>
          <p:cNvSpPr>
            <a:spLocks noGrp="1"/>
          </p:cNvSpPr>
          <p:nvPr>
            <p:ph sz="quarter" idx="4"/>
          </p:nvPr>
        </p:nvSpPr>
        <p:spPr>
          <a:xfrm>
            <a:off x="12346007" y="5010150"/>
            <a:ext cx="10367726" cy="73691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8" name="Footer Placeholder 7"/>
          <p:cNvSpPr>
            <a:spLocks noGrp="1"/>
          </p:cNvSpPr>
          <p:nvPr>
            <p:ph type="ftr" sz="quarter" idx="11"/>
          </p:nvPr>
        </p:nvSpPr>
        <p:spPr/>
        <p:txBody>
          <a:bodyPr/>
          <a:lstStyle/>
          <a:p>
            <a:r>
              <a:rPr lang="en-US">
                <a:solidFill>
                  <a:srgbClr val="7F7F7F"/>
                </a:solidFill>
                <a:latin typeface="Figtree" pitchFamily="2"/>
                <a:ea typeface="Figtree Regular" pitchFamily="34"/>
                <a:cs typeface="Figtree Regular" pitchFamily="34"/>
              </a:rPr>
              <a:t>| Strictly private and confidential</a:t>
            </a:r>
            <a:endParaRPr lang="en-US" dirty="0">
              <a:solidFill>
                <a:srgbClr val="7F7F7F"/>
              </a:solidFill>
              <a:latin typeface="Figtree" pitchFamily="2"/>
            </a:endParaRPr>
          </a:p>
        </p:txBody>
      </p:sp>
      <p:sp>
        <p:nvSpPr>
          <p:cNvPr id="9" name="Slide Number Placeholder 8"/>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378467371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4" name="Footer Placeholder 3"/>
          <p:cNvSpPr>
            <a:spLocks noGrp="1"/>
          </p:cNvSpPr>
          <p:nvPr>
            <p:ph type="ftr" sz="quarter" idx="11"/>
          </p:nvPr>
        </p:nvSpPr>
        <p:spPr/>
        <p:txBody>
          <a:bodyPr/>
          <a:lstStyle/>
          <a:p>
            <a:r>
              <a:rPr lang="en-US">
                <a:solidFill>
                  <a:srgbClr val="7F7F7F"/>
                </a:solidFill>
                <a:latin typeface="Figtree" pitchFamily="2"/>
                <a:ea typeface="Figtree Regular" pitchFamily="34"/>
                <a:cs typeface="Figtree Regular" pitchFamily="34"/>
              </a:rPr>
              <a:t>| Strictly private and confidential</a:t>
            </a:r>
            <a:endParaRPr lang="en-US" dirty="0">
              <a:solidFill>
                <a:srgbClr val="7F7F7F"/>
              </a:solidFill>
              <a:latin typeface="Figtree" pitchFamily="2"/>
            </a:endParaRPr>
          </a:p>
        </p:txBody>
      </p:sp>
      <p:sp>
        <p:nvSpPr>
          <p:cNvPr id="5" name="Slide Number Placeholder 4"/>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16224123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3" name="Footer Placeholder 2"/>
          <p:cNvSpPr>
            <a:spLocks noGrp="1"/>
          </p:cNvSpPr>
          <p:nvPr>
            <p:ph type="ftr" sz="quarter" idx="11"/>
          </p:nvPr>
        </p:nvSpPr>
        <p:spPr/>
        <p:txBody>
          <a:bodyPr/>
          <a:lstStyle/>
          <a:p>
            <a:r>
              <a:rPr lang="en-US">
                <a:solidFill>
                  <a:srgbClr val="7F7F7F"/>
                </a:solidFill>
                <a:latin typeface="Figtree" pitchFamily="2"/>
                <a:ea typeface="Figtree Regular" pitchFamily="34"/>
                <a:cs typeface="Figtree Regular" pitchFamily="34"/>
              </a:rPr>
              <a:t>| Strictly private and confidential</a:t>
            </a:r>
            <a:endParaRPr lang="en-US" dirty="0">
              <a:solidFill>
                <a:srgbClr val="7F7F7F"/>
              </a:solidFill>
              <a:latin typeface="Figtree" pitchFamily="2"/>
            </a:endParaRPr>
          </a:p>
        </p:txBody>
      </p:sp>
      <p:sp>
        <p:nvSpPr>
          <p:cNvPr id="4" name="Slide Number Placeholder 3"/>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339693344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n-GB"/>
              <a:t>Click to edit Master title style</a:t>
            </a:r>
            <a:endParaRPr lang="en-US" dirty="0"/>
          </a:p>
        </p:txBody>
      </p:sp>
      <p:sp>
        <p:nvSpPr>
          <p:cNvPr id="3" name="Content Placeholder 2"/>
          <p:cNvSpPr>
            <a:spLocks noGrp="1"/>
          </p:cNvSpPr>
          <p:nvPr>
            <p:ph idx="1"/>
          </p:nvPr>
        </p:nvSpPr>
        <p:spPr>
          <a:xfrm>
            <a:off x="10367726" y="1974851"/>
            <a:ext cx="12346007"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6" name="Footer Placeholder 5"/>
          <p:cNvSpPr>
            <a:spLocks noGrp="1"/>
          </p:cNvSpPr>
          <p:nvPr>
            <p:ph type="ftr" sz="quarter" idx="11"/>
          </p:nvPr>
        </p:nvSpPr>
        <p:spPr/>
        <p:txBody>
          <a:bodyPr/>
          <a:lstStyle/>
          <a:p>
            <a:r>
              <a:rPr lang="en-US">
                <a:solidFill>
                  <a:srgbClr val="7F7F7F"/>
                </a:solidFill>
                <a:latin typeface="Figtree" pitchFamily="2"/>
                <a:ea typeface="Figtree Regular" pitchFamily="34"/>
                <a:cs typeface="Figtree Regular" pitchFamily="34"/>
              </a:rPr>
              <a:t>| Strictly private and confidential</a:t>
            </a:r>
            <a:endParaRPr lang="en-US" dirty="0">
              <a:solidFill>
                <a:srgbClr val="7F7F7F"/>
              </a:solidFill>
              <a:latin typeface="Figtree" pitchFamily="2"/>
            </a:endParaRPr>
          </a:p>
        </p:txBody>
      </p:sp>
      <p:sp>
        <p:nvSpPr>
          <p:cNvPr id="7" name="Slide Number Placeholder 6"/>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24342020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0367726" y="1974851"/>
            <a:ext cx="12346007" cy="9747250"/>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GB"/>
              <a:t>Click icon to add picture</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6" name="Footer Placeholder 5"/>
          <p:cNvSpPr>
            <a:spLocks noGrp="1"/>
          </p:cNvSpPr>
          <p:nvPr>
            <p:ph type="ftr" sz="quarter" idx="11"/>
          </p:nvPr>
        </p:nvSpPr>
        <p:spPr/>
        <p:txBody>
          <a:bodyPr/>
          <a:lstStyle/>
          <a:p>
            <a:r>
              <a:rPr lang="en-US">
                <a:solidFill>
                  <a:srgbClr val="7F7F7F"/>
                </a:solidFill>
                <a:latin typeface="Figtree" pitchFamily="2"/>
                <a:ea typeface="Figtree Regular" pitchFamily="34"/>
                <a:cs typeface="Figtree Regular" pitchFamily="34"/>
              </a:rPr>
              <a:t>| Strictly private and confidential</a:t>
            </a:r>
            <a:endParaRPr lang="en-US" dirty="0">
              <a:solidFill>
                <a:srgbClr val="7F7F7F"/>
              </a:solidFill>
              <a:latin typeface="Figtree" pitchFamily="2"/>
            </a:endParaRPr>
          </a:p>
        </p:txBody>
      </p:sp>
      <p:sp>
        <p:nvSpPr>
          <p:cNvPr id="7" name="Slide Number Placeholder 6"/>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15697139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r>
              <a:rPr lang="en-US">
                <a:solidFill>
                  <a:srgbClr val="7F7F7F"/>
                </a:solidFill>
                <a:latin typeface="Figtree" pitchFamily="2"/>
                <a:ea typeface="Figtree Regular" pitchFamily="34"/>
                <a:cs typeface="Figtree Regular" pitchFamily="34"/>
              </a:rPr>
              <a:t>| Strictly private and confidential</a:t>
            </a:r>
            <a:endParaRPr lang="en-US" dirty="0">
              <a:solidFill>
                <a:srgbClr val="7F7F7F"/>
              </a:solidFill>
              <a:latin typeface="Figtree" pitchFamily="2"/>
            </a:endParaRPr>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188108958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52072" y="730250"/>
            <a:ext cx="5258485" cy="11623676"/>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676618" y="730250"/>
            <a:ext cx="15470614" cy="11623676"/>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r>
              <a:rPr lang="en-US">
                <a:solidFill>
                  <a:srgbClr val="7F7F7F"/>
                </a:solidFill>
                <a:latin typeface="Figtree" pitchFamily="2"/>
                <a:ea typeface="Figtree Regular" pitchFamily="34"/>
                <a:cs typeface="Figtree Regular" pitchFamily="34"/>
              </a:rPr>
              <a:t>| Strictly private and confidential</a:t>
            </a:r>
            <a:endParaRPr lang="en-US" dirty="0">
              <a:solidFill>
                <a:srgbClr val="7F7F7F"/>
              </a:solidFill>
              <a:latin typeface="Figtree" pitchFamily="2"/>
            </a:endParaRPr>
          </a:p>
        </p:txBody>
      </p:sp>
      <p:sp>
        <p:nvSpPr>
          <p:cNvPr id="6" name="Slide Number Placeholder 5"/>
          <p:cNvSpPr>
            <a:spLocks noGrp="1"/>
          </p:cNvSpPr>
          <p:nvPr>
            <p:ph type="sldNum" sz="quarter" idx="12"/>
          </p:nvPr>
        </p:nvSpPr>
        <p:spPr/>
        <p:txBody>
          <a:bodyPr/>
          <a:lstStyle/>
          <a:p>
            <a:fld id="{4AA77E54-165B-A847-AA47-6003AD81C543}" type="slidenum">
              <a:rPr lang="en-PT" smtClean="0"/>
              <a:pPr/>
              <a:t>‹#›</a:t>
            </a:fld>
            <a:endParaRPr lang="en-PT" dirty="0"/>
          </a:p>
        </p:txBody>
      </p:sp>
    </p:spTree>
    <p:extLst>
      <p:ext uri="{BB962C8B-B14F-4D97-AF65-F5344CB8AC3E}">
        <p14:creationId xmlns:p14="http://schemas.microsoft.com/office/powerpoint/2010/main" val="36213693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Image and Content">
    <p:spTree>
      <p:nvGrpSpPr>
        <p:cNvPr id="1" name=""/>
        <p:cNvGrpSpPr/>
        <p:nvPr/>
      </p:nvGrpSpPr>
      <p:grpSpPr>
        <a:xfrm>
          <a:off x="0" y="0"/>
          <a:ext cx="0" cy="0"/>
          <a:chOff x="0" y="0"/>
          <a:chExt cx="0" cy="0"/>
        </a:xfrm>
      </p:grpSpPr>
      <p:sp>
        <p:nvSpPr>
          <p:cNvPr id="26" name="Picture Placeholder 22">
            <a:extLst>
              <a:ext uri="{FF2B5EF4-FFF2-40B4-BE49-F238E27FC236}">
                <a16:creationId xmlns:a16="http://schemas.microsoft.com/office/drawing/2014/main" id="{AA0FB064-C030-A3BF-4543-A08DFB4BE960}"/>
              </a:ext>
            </a:extLst>
          </p:cNvPr>
          <p:cNvSpPr>
            <a:spLocks noGrp="1"/>
          </p:cNvSpPr>
          <p:nvPr>
            <p:ph type="pic" sz="quarter" idx="10"/>
          </p:nvPr>
        </p:nvSpPr>
        <p:spPr>
          <a:xfrm>
            <a:off x="0" y="0"/>
            <a:ext cx="12193588" cy="13716000"/>
          </a:xfrm>
          <a:prstGeom prst="rect">
            <a:avLst/>
          </a:prstGeom>
        </p:spPr>
        <p:txBody>
          <a:bodyPr/>
          <a:lstStyle/>
          <a:p>
            <a:endParaRPr lang="en-PT"/>
          </a:p>
        </p:txBody>
      </p:sp>
      <p:sp>
        <p:nvSpPr>
          <p:cNvPr id="27" name="Title 1">
            <a:extLst>
              <a:ext uri="{FF2B5EF4-FFF2-40B4-BE49-F238E27FC236}">
                <a16:creationId xmlns:a16="http://schemas.microsoft.com/office/drawing/2014/main" id="{5D9CD3E6-E27D-9C52-C6A1-F1EF7742840B}"/>
              </a:ext>
            </a:extLst>
          </p:cNvPr>
          <p:cNvSpPr>
            <a:spLocks noGrp="1"/>
          </p:cNvSpPr>
          <p:nvPr>
            <p:ph type="title"/>
          </p:nvPr>
        </p:nvSpPr>
        <p:spPr>
          <a:xfrm>
            <a:off x="13623990" y="3576128"/>
            <a:ext cx="9086567" cy="2529924"/>
          </a:xfrm>
          <a:prstGeom prst="rect">
            <a:avLst/>
          </a:prstGeom>
        </p:spPr>
        <p:txBody>
          <a:bodyPr lIns="0" tIns="0" rIns="0" bIns="0">
            <a:spAutoFit/>
          </a:bodyPr>
          <a:lstStyle>
            <a:lvl1pPr>
              <a:defRPr b="1" i="0">
                <a:latin typeface="Figtree SemiBold" pitchFamily="2" charset="0"/>
              </a:defRPr>
            </a:lvl1pPr>
          </a:lstStyle>
          <a:p>
            <a:r>
              <a:rPr lang="en-GB" dirty="0"/>
              <a:t>Click to edit Master title style</a:t>
            </a:r>
            <a:endParaRPr lang="en-PT" dirty="0"/>
          </a:p>
        </p:txBody>
      </p:sp>
      <p:sp>
        <p:nvSpPr>
          <p:cNvPr id="28" name="Content Placeholder 2">
            <a:extLst>
              <a:ext uri="{FF2B5EF4-FFF2-40B4-BE49-F238E27FC236}">
                <a16:creationId xmlns:a16="http://schemas.microsoft.com/office/drawing/2014/main" id="{D460883F-A407-DCAC-B90B-12D78AF82B3C}"/>
              </a:ext>
            </a:extLst>
          </p:cNvPr>
          <p:cNvSpPr>
            <a:spLocks noGrp="1"/>
          </p:cNvSpPr>
          <p:nvPr>
            <p:ph idx="1"/>
          </p:nvPr>
        </p:nvSpPr>
        <p:spPr>
          <a:xfrm>
            <a:off x="13623990" y="6497128"/>
            <a:ext cx="9086567" cy="4372480"/>
          </a:xfrm>
          <a:prstGeom prst="rect">
            <a:avLst/>
          </a:prstGeom>
        </p:spPr>
        <p:txBody>
          <a:bodyPr lIns="0" tIns="0" rIns="0" bIns="0">
            <a:spAutoFit/>
          </a:bodyPr>
          <a:lstStyle>
            <a:lvl1pPr>
              <a:defRPr>
                <a:latin typeface="Figtree" pitchFamily="2" charset="0"/>
              </a:defRPr>
            </a:lvl1pPr>
            <a:lvl2pPr>
              <a:defRPr>
                <a:latin typeface="Figtree" pitchFamily="2" charset="0"/>
              </a:defRPr>
            </a:lvl2pPr>
            <a:lvl3pPr>
              <a:defRPr>
                <a:latin typeface="Figtree" pitchFamily="2" charset="0"/>
              </a:defRPr>
            </a:lvl3pPr>
            <a:lvl4pPr>
              <a:defRPr>
                <a:latin typeface="Figtree" pitchFamily="2" charset="0"/>
              </a:defRPr>
            </a:lvl4pPr>
            <a:lvl5pPr>
              <a:defRPr>
                <a:latin typeface="Figtree" pitchFamily="2" charset="0"/>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T" dirty="0"/>
          </a:p>
        </p:txBody>
      </p:sp>
      <p:sp>
        <p:nvSpPr>
          <p:cNvPr id="29" name="Footer Placeholder 4">
            <a:extLst>
              <a:ext uri="{FF2B5EF4-FFF2-40B4-BE49-F238E27FC236}">
                <a16:creationId xmlns:a16="http://schemas.microsoft.com/office/drawing/2014/main" id="{F046ECD7-A639-95C8-2918-BFF0D2DD2249}"/>
              </a:ext>
            </a:extLst>
          </p:cNvPr>
          <p:cNvSpPr>
            <a:spLocks noGrp="1"/>
          </p:cNvSpPr>
          <p:nvPr>
            <p:ph type="ftr" sz="quarter" idx="11"/>
          </p:nvPr>
        </p:nvSpPr>
        <p:spPr>
          <a:xfrm>
            <a:off x="3315599" y="13190413"/>
            <a:ext cx="2994800" cy="246222"/>
          </a:xfrm>
          <a:prstGeom prst="rect">
            <a:avLst/>
          </a:prstGeom>
        </p:spPr>
        <p:txBody>
          <a:bodyPr/>
          <a:lstStyle/>
          <a:p>
            <a:r>
              <a:rPr lang="en-US">
                <a:solidFill>
                  <a:srgbClr val="7F7F7F"/>
                </a:solidFill>
                <a:latin typeface="Figtree" pitchFamily="2"/>
                <a:ea typeface="Figtree Regular" pitchFamily="34"/>
                <a:cs typeface="Figtree Regular" pitchFamily="34"/>
              </a:rPr>
              <a:t>| Strictly private and confidential</a:t>
            </a:r>
            <a:endParaRPr lang="en-US" dirty="0">
              <a:solidFill>
                <a:srgbClr val="7F7F7F"/>
              </a:solidFill>
              <a:latin typeface="Figtree" pitchFamily="2"/>
            </a:endParaRPr>
          </a:p>
        </p:txBody>
      </p:sp>
    </p:spTree>
    <p:extLst>
      <p:ext uri="{BB962C8B-B14F-4D97-AF65-F5344CB8AC3E}">
        <p14:creationId xmlns:p14="http://schemas.microsoft.com/office/powerpoint/2010/main" val="416155272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048397" y="2244726"/>
            <a:ext cx="18290381" cy="4775200"/>
          </a:xfrm>
        </p:spPr>
        <p:txBody>
          <a:bodyPr anchor="b"/>
          <a:lstStyle>
            <a:lvl1pPr algn="ctr">
              <a:defRPr sz="12000"/>
            </a:lvl1pPr>
          </a:lstStyle>
          <a:p>
            <a:r>
              <a:rPr lang="en-GB"/>
              <a:t>Click to edit Master title style</a:t>
            </a:r>
            <a:endParaRPr lang="en-US" dirty="0"/>
          </a:p>
        </p:txBody>
      </p:sp>
      <p:sp>
        <p:nvSpPr>
          <p:cNvPr id="3" name="Subtitle 2"/>
          <p:cNvSpPr>
            <a:spLocks noGrp="1"/>
          </p:cNvSpPr>
          <p:nvPr>
            <p:ph type="subTitle" idx="1"/>
          </p:nvPr>
        </p:nvSpPr>
        <p:spPr>
          <a:xfrm>
            <a:off x="3048397" y="7204076"/>
            <a:ext cx="18290381" cy="3311524"/>
          </a:xfrm>
        </p:spPr>
        <p:txBody>
          <a:bodyPr/>
          <a:lstStyle>
            <a:lvl1pPr marL="0" indent="0" algn="ctr">
              <a:buNone/>
              <a:defRPr sz="4800"/>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6891750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809243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63917" y="3419477"/>
            <a:ext cx="21033938" cy="5705474"/>
          </a:xfrm>
        </p:spPr>
        <p:txBody>
          <a:bodyPr anchor="b"/>
          <a:lstStyle>
            <a:lvl1pPr>
              <a:defRPr sz="12000"/>
            </a:lvl1pPr>
          </a:lstStyle>
          <a:p>
            <a:r>
              <a:rPr lang="en-GB"/>
              <a:t>Click to edit Master title style</a:t>
            </a:r>
            <a:endParaRPr lang="en-US" dirty="0"/>
          </a:p>
        </p:txBody>
      </p:sp>
      <p:sp>
        <p:nvSpPr>
          <p:cNvPr id="3" name="Text Placeholder 2"/>
          <p:cNvSpPr>
            <a:spLocks noGrp="1"/>
          </p:cNvSpPr>
          <p:nvPr>
            <p:ph type="body" idx="1"/>
          </p:nvPr>
        </p:nvSpPr>
        <p:spPr>
          <a:xfrm>
            <a:off x="1663917" y="9178927"/>
            <a:ext cx="21033938" cy="3000374"/>
          </a:xfrm>
        </p:spPr>
        <p:txBody>
          <a:bodyPr/>
          <a:lstStyle>
            <a:lvl1pPr marL="0" indent="0">
              <a:buNone/>
              <a:defRPr sz="4800">
                <a:solidFill>
                  <a:schemeClr val="tx1">
                    <a:tint val="82000"/>
                  </a:schemeClr>
                </a:solidFill>
              </a:defRPr>
            </a:lvl1pPr>
            <a:lvl2pPr marL="914400" indent="0">
              <a:buNone/>
              <a:defRPr sz="4000">
                <a:solidFill>
                  <a:schemeClr val="tx1">
                    <a:tint val="82000"/>
                  </a:schemeClr>
                </a:solidFill>
              </a:defRPr>
            </a:lvl2pPr>
            <a:lvl3pPr marL="1828800" indent="0">
              <a:buNone/>
              <a:defRPr sz="3600">
                <a:solidFill>
                  <a:schemeClr val="tx1">
                    <a:tint val="82000"/>
                  </a:schemeClr>
                </a:solidFill>
              </a:defRPr>
            </a:lvl3pPr>
            <a:lvl4pPr marL="2743200" indent="0">
              <a:buNone/>
              <a:defRPr sz="3200">
                <a:solidFill>
                  <a:schemeClr val="tx1">
                    <a:tint val="82000"/>
                  </a:schemeClr>
                </a:solidFill>
              </a:defRPr>
            </a:lvl4pPr>
            <a:lvl5pPr marL="3657600" indent="0">
              <a:buNone/>
              <a:defRPr sz="3200">
                <a:solidFill>
                  <a:schemeClr val="tx1">
                    <a:tint val="82000"/>
                  </a:schemeClr>
                </a:solidFill>
              </a:defRPr>
            </a:lvl5pPr>
            <a:lvl6pPr marL="4572000" indent="0">
              <a:buNone/>
              <a:defRPr sz="3200">
                <a:solidFill>
                  <a:schemeClr val="tx1">
                    <a:tint val="82000"/>
                  </a:schemeClr>
                </a:solidFill>
              </a:defRPr>
            </a:lvl6pPr>
            <a:lvl7pPr marL="5486400" indent="0">
              <a:buNone/>
              <a:defRPr sz="3200">
                <a:solidFill>
                  <a:schemeClr val="tx1">
                    <a:tint val="82000"/>
                  </a:schemeClr>
                </a:solidFill>
              </a:defRPr>
            </a:lvl7pPr>
            <a:lvl8pPr marL="6400800" indent="0">
              <a:buNone/>
              <a:defRPr sz="3200">
                <a:solidFill>
                  <a:schemeClr val="tx1">
                    <a:tint val="82000"/>
                  </a:schemeClr>
                </a:solidFill>
              </a:defRPr>
            </a:lvl8pPr>
            <a:lvl9pPr marL="7315200" indent="0">
              <a:buNone/>
              <a:defRPr sz="32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2858378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676618" y="3651250"/>
            <a:ext cx="10364549" cy="87026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12346008" y="3651250"/>
            <a:ext cx="10364549" cy="87026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7355971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679795" y="730251"/>
            <a:ext cx="21033938" cy="2651126"/>
          </a:xfrm>
        </p:spPr>
        <p:txBody>
          <a:bodyPr/>
          <a:lstStyle/>
          <a:p>
            <a:r>
              <a:rPr lang="en-GB"/>
              <a:t>Click to edit Master title style</a:t>
            </a:r>
            <a:endParaRPr lang="en-US" dirty="0"/>
          </a:p>
        </p:txBody>
      </p:sp>
      <p:sp>
        <p:nvSpPr>
          <p:cNvPr id="3" name="Text Placeholder 2"/>
          <p:cNvSpPr>
            <a:spLocks noGrp="1"/>
          </p:cNvSpPr>
          <p:nvPr>
            <p:ph type="body" idx="1"/>
          </p:nvPr>
        </p:nvSpPr>
        <p:spPr>
          <a:xfrm>
            <a:off x="1679796" y="3362326"/>
            <a:ext cx="10316917"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GB"/>
              <a:t>Click to edit Master text styles</a:t>
            </a:r>
          </a:p>
        </p:txBody>
      </p:sp>
      <p:sp>
        <p:nvSpPr>
          <p:cNvPr id="4" name="Content Placeholder 3"/>
          <p:cNvSpPr>
            <a:spLocks noGrp="1"/>
          </p:cNvSpPr>
          <p:nvPr>
            <p:ph sz="half" idx="2"/>
          </p:nvPr>
        </p:nvSpPr>
        <p:spPr>
          <a:xfrm>
            <a:off x="1679796" y="5010150"/>
            <a:ext cx="10316917" cy="73691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12346007" y="3362326"/>
            <a:ext cx="10367726" cy="1647824"/>
          </a:xfrm>
        </p:spPr>
        <p:txBody>
          <a:bodyPr anchor="b"/>
          <a:lstStyle>
            <a:lvl1pPr marL="0" indent="0">
              <a:buNone/>
              <a:defRPr sz="4800" b="1"/>
            </a:lvl1pPr>
            <a:lvl2pPr marL="914400" indent="0">
              <a:buNone/>
              <a:defRPr sz="4000" b="1"/>
            </a:lvl2pPr>
            <a:lvl3pPr marL="1828800" indent="0">
              <a:buNone/>
              <a:defRPr sz="3600" b="1"/>
            </a:lvl3pPr>
            <a:lvl4pPr marL="2743200" indent="0">
              <a:buNone/>
              <a:defRPr sz="3200" b="1"/>
            </a:lvl4pPr>
            <a:lvl5pPr marL="3657600" indent="0">
              <a:buNone/>
              <a:defRPr sz="3200" b="1"/>
            </a:lvl5pPr>
            <a:lvl6pPr marL="4572000" indent="0">
              <a:buNone/>
              <a:defRPr sz="3200" b="1"/>
            </a:lvl6pPr>
            <a:lvl7pPr marL="5486400" indent="0">
              <a:buNone/>
              <a:defRPr sz="3200" b="1"/>
            </a:lvl7pPr>
            <a:lvl8pPr marL="6400800" indent="0">
              <a:buNone/>
              <a:defRPr sz="3200" b="1"/>
            </a:lvl8pPr>
            <a:lvl9pPr marL="7315200" indent="0">
              <a:buNone/>
              <a:defRPr sz="3200" b="1"/>
            </a:lvl9pPr>
          </a:lstStyle>
          <a:p>
            <a:pPr lvl="0"/>
            <a:r>
              <a:rPr lang="en-GB"/>
              <a:t>Click to edit Master text styles</a:t>
            </a:r>
          </a:p>
        </p:txBody>
      </p:sp>
      <p:sp>
        <p:nvSpPr>
          <p:cNvPr id="6" name="Content Placeholder 5"/>
          <p:cNvSpPr>
            <a:spLocks noGrp="1"/>
          </p:cNvSpPr>
          <p:nvPr>
            <p:ph sz="quarter" idx="4"/>
          </p:nvPr>
        </p:nvSpPr>
        <p:spPr>
          <a:xfrm>
            <a:off x="12346007" y="5010150"/>
            <a:ext cx="10367726" cy="73691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8257832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609609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0418980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n-GB"/>
              <a:t>Click to edit Master title style</a:t>
            </a:r>
            <a:endParaRPr lang="en-US" dirty="0"/>
          </a:p>
        </p:txBody>
      </p:sp>
      <p:sp>
        <p:nvSpPr>
          <p:cNvPr id="3" name="Content Placeholder 2"/>
          <p:cNvSpPr>
            <a:spLocks noGrp="1"/>
          </p:cNvSpPr>
          <p:nvPr>
            <p:ph idx="1"/>
          </p:nvPr>
        </p:nvSpPr>
        <p:spPr>
          <a:xfrm>
            <a:off x="10367726" y="1974851"/>
            <a:ext cx="12346007" cy="9747250"/>
          </a:xfrm>
        </p:spPr>
        <p:txBody>
          <a:bodyPr/>
          <a:lstStyle>
            <a:lvl1pPr>
              <a:defRPr sz="6400"/>
            </a:lvl1pPr>
            <a:lvl2pPr>
              <a:defRPr sz="5600"/>
            </a:lvl2pPr>
            <a:lvl3pPr>
              <a:defRPr sz="4800"/>
            </a:lvl3pPr>
            <a:lvl4pPr>
              <a:defRPr sz="4000"/>
            </a:lvl4pPr>
            <a:lvl5pPr>
              <a:defRPr sz="4000"/>
            </a:lvl5pPr>
            <a:lvl6pPr>
              <a:defRPr sz="4000"/>
            </a:lvl6pPr>
            <a:lvl7pPr>
              <a:defRPr sz="4000"/>
            </a:lvl7pPr>
            <a:lvl8pPr>
              <a:defRPr sz="4000"/>
            </a:lvl8pPr>
            <a:lvl9pPr>
              <a:defRPr sz="4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14537176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796" y="914400"/>
            <a:ext cx="7865498" cy="3200400"/>
          </a:xfrm>
        </p:spPr>
        <p:txBody>
          <a:bodyPr anchor="b"/>
          <a:lstStyle>
            <a:lvl1pPr>
              <a:defRPr sz="64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0367726" y="1974851"/>
            <a:ext cx="12346007" cy="9747250"/>
          </a:xfrm>
        </p:spPr>
        <p:txBody>
          <a:bodyPr anchor="t"/>
          <a:lstStyle>
            <a:lvl1pPr marL="0" indent="0">
              <a:buNone/>
              <a:defRPr sz="6400"/>
            </a:lvl1pPr>
            <a:lvl2pPr marL="914400" indent="0">
              <a:buNone/>
              <a:defRPr sz="5600"/>
            </a:lvl2pPr>
            <a:lvl3pPr marL="1828800" indent="0">
              <a:buNone/>
              <a:defRPr sz="4800"/>
            </a:lvl3pPr>
            <a:lvl4pPr marL="2743200" indent="0">
              <a:buNone/>
              <a:defRPr sz="4000"/>
            </a:lvl4pPr>
            <a:lvl5pPr marL="3657600" indent="0">
              <a:buNone/>
              <a:defRPr sz="4000"/>
            </a:lvl5pPr>
            <a:lvl6pPr marL="4572000" indent="0">
              <a:buNone/>
              <a:defRPr sz="4000"/>
            </a:lvl6pPr>
            <a:lvl7pPr marL="5486400" indent="0">
              <a:buNone/>
              <a:defRPr sz="4000"/>
            </a:lvl7pPr>
            <a:lvl8pPr marL="6400800" indent="0">
              <a:buNone/>
              <a:defRPr sz="4000"/>
            </a:lvl8pPr>
            <a:lvl9pPr marL="7315200" indent="0">
              <a:buNone/>
              <a:defRPr sz="4000"/>
            </a:lvl9pPr>
          </a:lstStyle>
          <a:p>
            <a:r>
              <a:rPr lang="en-GB"/>
              <a:t>Click icon to add picture</a:t>
            </a:r>
            <a:endParaRPr lang="en-US" dirty="0"/>
          </a:p>
        </p:txBody>
      </p:sp>
      <p:sp>
        <p:nvSpPr>
          <p:cNvPr id="4" name="Text Placeholder 3"/>
          <p:cNvSpPr>
            <a:spLocks noGrp="1"/>
          </p:cNvSpPr>
          <p:nvPr>
            <p:ph type="body" sz="half" idx="2"/>
          </p:nvPr>
        </p:nvSpPr>
        <p:spPr>
          <a:xfrm>
            <a:off x="1679796" y="4114800"/>
            <a:ext cx="7865498" cy="7623176"/>
          </a:xfrm>
        </p:spPr>
        <p:txBody>
          <a:bodyPr/>
          <a:lstStyle>
            <a:lvl1pPr marL="0" indent="0">
              <a:buNone/>
              <a:defRPr sz="3200"/>
            </a:lvl1pPr>
            <a:lvl2pPr marL="914400" indent="0">
              <a:buNone/>
              <a:defRPr sz="2800"/>
            </a:lvl2pPr>
            <a:lvl3pPr marL="1828800" indent="0">
              <a:buNone/>
              <a:defRPr sz="2400"/>
            </a:lvl3pPr>
            <a:lvl4pPr marL="2743200" indent="0">
              <a:buNone/>
              <a:defRPr sz="2000"/>
            </a:lvl4pPr>
            <a:lvl5pPr marL="3657600" indent="0">
              <a:buNone/>
              <a:defRPr sz="2000"/>
            </a:lvl5pPr>
            <a:lvl6pPr marL="4572000" indent="0">
              <a:buNone/>
              <a:defRPr sz="2000"/>
            </a:lvl6pPr>
            <a:lvl7pPr marL="5486400" indent="0">
              <a:buNone/>
              <a:defRPr sz="2000"/>
            </a:lvl7pPr>
            <a:lvl8pPr marL="6400800" indent="0">
              <a:buNone/>
              <a:defRPr sz="2000"/>
            </a:lvl8pPr>
            <a:lvl9pPr marL="7315200" indent="0">
              <a:buNone/>
              <a:defRPr sz="2000"/>
            </a:lvl9pPr>
          </a:lstStyle>
          <a:p>
            <a:pPr lvl="0"/>
            <a:r>
              <a:rPr lang="en-GB"/>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8459590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505731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7452072" y="730250"/>
            <a:ext cx="5258485" cy="11623676"/>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676618" y="730250"/>
            <a:ext cx="15470614" cy="11623676"/>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10/15/2026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6840914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Bullets+Icon">
    <p:bg>
      <p:bgPr>
        <a:solidFill>
          <a:srgbClr val="FFFFFF"/>
        </a:solidFill>
        <a:effectLst/>
      </p:bgPr>
    </p:bg>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D92B0922-296F-565E-2C40-42184ACDE2F8}"/>
              </a:ext>
            </a:extLst>
          </p:cNvPr>
          <p:cNvSpPr>
            <a:spLocks noGrp="1"/>
          </p:cNvSpPr>
          <p:nvPr>
            <p:ph type="body" sz="quarter" idx="13" hasCustomPrompt="1"/>
          </p:nvPr>
        </p:nvSpPr>
        <p:spPr>
          <a:xfrm>
            <a:off x="2473200" y="8614105"/>
            <a:ext cx="2777498" cy="600164"/>
          </a:xfrm>
          <a:prstGeom prst="rect">
            <a:avLst/>
          </a:prstGeom>
        </p:spPr>
        <p:txBody>
          <a:bodyPr lIns="0" tIns="0" rIns="0">
            <a:spAutoFit/>
          </a:bodyPr>
          <a:lstStyle>
            <a:lvl1pPr marL="0" indent="0">
              <a:buNone/>
              <a:defRPr sz="4000" b="1" i="0">
                <a:latin typeface="Figtree SemiBold" pitchFamily="2" charset="0"/>
              </a:defRPr>
            </a:lvl1pPr>
          </a:lstStyle>
          <a:p>
            <a:pPr lvl="0"/>
            <a:r>
              <a:rPr lang="en-GB" dirty="0"/>
              <a:t>Placeholder</a:t>
            </a:r>
            <a:endParaRPr lang="en-PT" dirty="0"/>
          </a:p>
        </p:txBody>
      </p:sp>
      <p:sp>
        <p:nvSpPr>
          <p:cNvPr id="32" name="Text Placeholder 27">
            <a:extLst>
              <a:ext uri="{FF2B5EF4-FFF2-40B4-BE49-F238E27FC236}">
                <a16:creationId xmlns:a16="http://schemas.microsoft.com/office/drawing/2014/main" id="{A54ABA8D-573D-699F-A9B7-759A231517E2}"/>
              </a:ext>
            </a:extLst>
          </p:cNvPr>
          <p:cNvSpPr>
            <a:spLocks noGrp="1"/>
          </p:cNvSpPr>
          <p:nvPr>
            <p:ph type="body" sz="quarter" idx="14" hasCustomPrompt="1"/>
          </p:nvPr>
        </p:nvSpPr>
        <p:spPr>
          <a:xfrm>
            <a:off x="8024841" y="8597373"/>
            <a:ext cx="2777498" cy="600164"/>
          </a:xfrm>
          <a:prstGeom prst="rect">
            <a:avLst/>
          </a:prstGeom>
        </p:spPr>
        <p:txBody>
          <a:bodyPr lIns="0" tIns="0" rIns="0">
            <a:spAutoFit/>
          </a:bodyPr>
          <a:lstStyle>
            <a:lvl1pPr marL="0" indent="0">
              <a:buNone/>
              <a:defRPr sz="4000" b="1" i="0">
                <a:latin typeface="Figtree SemiBold" pitchFamily="2" charset="0"/>
              </a:defRPr>
            </a:lvl1pPr>
          </a:lstStyle>
          <a:p>
            <a:pPr lvl="0"/>
            <a:r>
              <a:rPr lang="en-GB" dirty="0"/>
              <a:t>Placeholder</a:t>
            </a:r>
            <a:endParaRPr lang="en-PT" dirty="0"/>
          </a:p>
        </p:txBody>
      </p:sp>
      <p:sp>
        <p:nvSpPr>
          <p:cNvPr id="33" name="Text Placeholder 27">
            <a:extLst>
              <a:ext uri="{FF2B5EF4-FFF2-40B4-BE49-F238E27FC236}">
                <a16:creationId xmlns:a16="http://schemas.microsoft.com/office/drawing/2014/main" id="{D98477C6-4215-DD22-5B61-FD83423ED34A}"/>
              </a:ext>
            </a:extLst>
          </p:cNvPr>
          <p:cNvSpPr>
            <a:spLocks noGrp="1"/>
          </p:cNvSpPr>
          <p:nvPr>
            <p:ph type="body" sz="quarter" idx="15" hasCustomPrompt="1"/>
          </p:nvPr>
        </p:nvSpPr>
        <p:spPr>
          <a:xfrm>
            <a:off x="13576481" y="8589053"/>
            <a:ext cx="2777498" cy="600164"/>
          </a:xfrm>
          <a:prstGeom prst="rect">
            <a:avLst/>
          </a:prstGeom>
        </p:spPr>
        <p:txBody>
          <a:bodyPr lIns="0" tIns="0" rIns="0">
            <a:spAutoFit/>
          </a:bodyPr>
          <a:lstStyle>
            <a:lvl1pPr marL="0" indent="0">
              <a:buNone/>
              <a:defRPr sz="4000" b="1" i="0">
                <a:latin typeface="Figtree SemiBold" pitchFamily="2" charset="0"/>
              </a:defRPr>
            </a:lvl1pPr>
          </a:lstStyle>
          <a:p>
            <a:pPr lvl="0"/>
            <a:r>
              <a:rPr lang="en-GB" dirty="0"/>
              <a:t>Placeholder</a:t>
            </a:r>
            <a:endParaRPr lang="en-PT" dirty="0"/>
          </a:p>
        </p:txBody>
      </p:sp>
      <p:sp>
        <p:nvSpPr>
          <p:cNvPr id="34" name="Text Placeholder 27">
            <a:extLst>
              <a:ext uri="{FF2B5EF4-FFF2-40B4-BE49-F238E27FC236}">
                <a16:creationId xmlns:a16="http://schemas.microsoft.com/office/drawing/2014/main" id="{3E4D8812-DA23-E6A1-90DD-90CBEF2AA977}"/>
              </a:ext>
            </a:extLst>
          </p:cNvPr>
          <p:cNvSpPr>
            <a:spLocks noGrp="1"/>
          </p:cNvSpPr>
          <p:nvPr>
            <p:ph type="body" sz="quarter" idx="16" hasCustomPrompt="1"/>
          </p:nvPr>
        </p:nvSpPr>
        <p:spPr>
          <a:xfrm>
            <a:off x="19136479" y="8599167"/>
            <a:ext cx="2777498" cy="600164"/>
          </a:xfrm>
          <a:prstGeom prst="rect">
            <a:avLst/>
          </a:prstGeom>
        </p:spPr>
        <p:txBody>
          <a:bodyPr lIns="0" tIns="0" rIns="0">
            <a:spAutoFit/>
          </a:bodyPr>
          <a:lstStyle>
            <a:lvl1pPr marL="0" indent="0">
              <a:buNone/>
              <a:defRPr sz="4000" b="1" i="0">
                <a:latin typeface="Figtree SemiBold" pitchFamily="2" charset="0"/>
              </a:defRPr>
            </a:lvl1pPr>
          </a:lstStyle>
          <a:p>
            <a:pPr lvl="0"/>
            <a:r>
              <a:rPr lang="en-GB" dirty="0"/>
              <a:t>Placeholder</a:t>
            </a:r>
            <a:endParaRPr lang="en-PT" dirty="0"/>
          </a:p>
        </p:txBody>
      </p:sp>
      <p:sp>
        <p:nvSpPr>
          <p:cNvPr id="35" name="Text Placeholder 27">
            <a:extLst>
              <a:ext uri="{FF2B5EF4-FFF2-40B4-BE49-F238E27FC236}">
                <a16:creationId xmlns:a16="http://schemas.microsoft.com/office/drawing/2014/main" id="{E723A449-B7A4-9B61-2719-35A40E037EC0}"/>
              </a:ext>
            </a:extLst>
          </p:cNvPr>
          <p:cNvSpPr>
            <a:spLocks noGrp="1"/>
          </p:cNvSpPr>
          <p:nvPr>
            <p:ph type="body" sz="quarter" idx="17" hasCustomPrompt="1"/>
          </p:nvPr>
        </p:nvSpPr>
        <p:spPr>
          <a:xfrm>
            <a:off x="1469678" y="9751958"/>
            <a:ext cx="4784545" cy="1569660"/>
          </a:xfrm>
          <a:prstGeom prst="rect">
            <a:avLst/>
          </a:prstGeom>
        </p:spPr>
        <p:txBody>
          <a:bodyPr lIns="0" tIns="0" rIns="0">
            <a:spAutoFit/>
          </a:bodyPr>
          <a:lstStyle>
            <a:lvl1pPr marL="0" indent="0" algn="ctr">
              <a:lnSpc>
                <a:spcPct val="100000"/>
              </a:lnSpc>
              <a:buNone/>
              <a:defRPr sz="2400">
                <a:latin typeface="Figtree" pitchFamily="2" charset="0"/>
              </a:defRPr>
            </a:lvl1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Sed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magna </a:t>
            </a:r>
            <a:r>
              <a:rPr lang="en-GB" dirty="0" err="1"/>
              <a:t>aliqua</a:t>
            </a:r>
            <a:r>
              <a:rPr lang="en-GB" dirty="0"/>
              <a:t>.</a:t>
            </a:r>
            <a:endParaRPr lang="en-PT" dirty="0"/>
          </a:p>
        </p:txBody>
      </p:sp>
      <p:sp>
        <p:nvSpPr>
          <p:cNvPr id="36" name="Text Placeholder 27">
            <a:extLst>
              <a:ext uri="{FF2B5EF4-FFF2-40B4-BE49-F238E27FC236}">
                <a16:creationId xmlns:a16="http://schemas.microsoft.com/office/drawing/2014/main" id="{6599A578-D1F7-FA04-2B7E-B353BA78F203}"/>
              </a:ext>
            </a:extLst>
          </p:cNvPr>
          <p:cNvSpPr>
            <a:spLocks noGrp="1"/>
          </p:cNvSpPr>
          <p:nvPr>
            <p:ph type="body" sz="quarter" idx="18" hasCustomPrompt="1"/>
          </p:nvPr>
        </p:nvSpPr>
        <p:spPr>
          <a:xfrm>
            <a:off x="7021319" y="9735226"/>
            <a:ext cx="4784545" cy="1569660"/>
          </a:xfrm>
          <a:prstGeom prst="rect">
            <a:avLst/>
          </a:prstGeom>
        </p:spPr>
        <p:txBody>
          <a:bodyPr lIns="0" tIns="0" rIns="0">
            <a:spAutoFit/>
          </a:bodyPr>
          <a:lstStyle>
            <a:lvl1pPr marL="0" indent="0" algn="ctr">
              <a:lnSpc>
                <a:spcPct val="100000"/>
              </a:lnSpc>
              <a:buNone/>
              <a:defRPr sz="2400">
                <a:latin typeface="Figtree" pitchFamily="2" charset="0"/>
              </a:defRPr>
            </a:lvl1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Sed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magna </a:t>
            </a:r>
            <a:r>
              <a:rPr lang="en-GB" dirty="0" err="1"/>
              <a:t>aliqua</a:t>
            </a:r>
            <a:r>
              <a:rPr lang="en-GB" dirty="0"/>
              <a:t>.</a:t>
            </a:r>
            <a:endParaRPr lang="en-PT" dirty="0"/>
          </a:p>
        </p:txBody>
      </p:sp>
      <p:sp>
        <p:nvSpPr>
          <p:cNvPr id="37" name="Text Placeholder 27">
            <a:extLst>
              <a:ext uri="{FF2B5EF4-FFF2-40B4-BE49-F238E27FC236}">
                <a16:creationId xmlns:a16="http://schemas.microsoft.com/office/drawing/2014/main" id="{F49C0DA2-7FBA-D0D3-8576-01BCA61A7124}"/>
              </a:ext>
            </a:extLst>
          </p:cNvPr>
          <p:cNvSpPr>
            <a:spLocks noGrp="1"/>
          </p:cNvSpPr>
          <p:nvPr>
            <p:ph type="body" sz="quarter" idx="19" hasCustomPrompt="1"/>
          </p:nvPr>
        </p:nvSpPr>
        <p:spPr>
          <a:xfrm>
            <a:off x="12572960" y="9726906"/>
            <a:ext cx="4784545" cy="1569660"/>
          </a:xfrm>
          <a:prstGeom prst="rect">
            <a:avLst/>
          </a:prstGeom>
        </p:spPr>
        <p:txBody>
          <a:bodyPr lIns="0" tIns="0" rIns="0">
            <a:spAutoFit/>
          </a:bodyPr>
          <a:lstStyle>
            <a:lvl1pPr marL="0" indent="0" algn="ctr">
              <a:lnSpc>
                <a:spcPct val="100000"/>
              </a:lnSpc>
              <a:buNone/>
              <a:defRPr sz="2400">
                <a:latin typeface="Figtree" pitchFamily="2" charset="0"/>
              </a:defRPr>
            </a:lvl1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Sed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magna </a:t>
            </a:r>
            <a:r>
              <a:rPr lang="en-GB" dirty="0" err="1"/>
              <a:t>aliqua</a:t>
            </a:r>
            <a:r>
              <a:rPr lang="en-GB" dirty="0"/>
              <a:t>.</a:t>
            </a:r>
            <a:endParaRPr lang="en-PT" dirty="0"/>
          </a:p>
        </p:txBody>
      </p:sp>
      <p:sp>
        <p:nvSpPr>
          <p:cNvPr id="38" name="Text Placeholder 27">
            <a:extLst>
              <a:ext uri="{FF2B5EF4-FFF2-40B4-BE49-F238E27FC236}">
                <a16:creationId xmlns:a16="http://schemas.microsoft.com/office/drawing/2014/main" id="{9D506041-9A49-A4B0-F6BF-F15FD669A8A1}"/>
              </a:ext>
            </a:extLst>
          </p:cNvPr>
          <p:cNvSpPr>
            <a:spLocks noGrp="1"/>
          </p:cNvSpPr>
          <p:nvPr>
            <p:ph type="body" sz="quarter" idx="20" hasCustomPrompt="1"/>
          </p:nvPr>
        </p:nvSpPr>
        <p:spPr>
          <a:xfrm>
            <a:off x="18132958" y="9737020"/>
            <a:ext cx="4784545" cy="1569660"/>
          </a:xfrm>
          <a:prstGeom prst="rect">
            <a:avLst/>
          </a:prstGeom>
        </p:spPr>
        <p:txBody>
          <a:bodyPr lIns="0" tIns="0" rIns="0">
            <a:spAutoFit/>
          </a:bodyPr>
          <a:lstStyle>
            <a:lvl1pPr marL="0" indent="0" algn="ctr">
              <a:lnSpc>
                <a:spcPct val="100000"/>
              </a:lnSpc>
              <a:buNone/>
              <a:defRPr sz="2400">
                <a:latin typeface="Figtree" pitchFamily="2" charset="0"/>
              </a:defRPr>
            </a:lvl1pPr>
          </a:lstStyle>
          <a:p>
            <a:pPr lvl="0"/>
            <a:r>
              <a:rPr lang="en-GB" dirty="0"/>
              <a:t>Lorem ipsum </a:t>
            </a:r>
            <a:r>
              <a:rPr lang="en-GB" dirty="0" err="1"/>
              <a:t>dolor</a:t>
            </a:r>
            <a:r>
              <a:rPr lang="en-GB" dirty="0"/>
              <a:t> sit </a:t>
            </a:r>
            <a:r>
              <a:rPr lang="en-GB" dirty="0" err="1"/>
              <a:t>amet</a:t>
            </a:r>
            <a:r>
              <a:rPr lang="en-GB" dirty="0"/>
              <a:t>, </a:t>
            </a:r>
            <a:r>
              <a:rPr lang="en-GB" dirty="0" err="1"/>
              <a:t>consectetur</a:t>
            </a:r>
            <a:r>
              <a:rPr lang="en-GB" dirty="0"/>
              <a:t> </a:t>
            </a:r>
            <a:r>
              <a:rPr lang="en-GB" dirty="0" err="1"/>
              <a:t>adipiscing</a:t>
            </a:r>
            <a:r>
              <a:rPr lang="en-GB" dirty="0"/>
              <a:t> </a:t>
            </a:r>
            <a:r>
              <a:rPr lang="en-GB" dirty="0" err="1"/>
              <a:t>elit</a:t>
            </a:r>
            <a:r>
              <a:rPr lang="en-GB" dirty="0"/>
              <a:t>. Sed do </a:t>
            </a:r>
            <a:r>
              <a:rPr lang="en-GB" dirty="0" err="1"/>
              <a:t>eiusmod</a:t>
            </a:r>
            <a:r>
              <a:rPr lang="en-GB" dirty="0"/>
              <a:t> </a:t>
            </a:r>
            <a:r>
              <a:rPr lang="en-GB" dirty="0" err="1"/>
              <a:t>tempor</a:t>
            </a:r>
            <a:r>
              <a:rPr lang="en-GB" dirty="0"/>
              <a:t> </a:t>
            </a:r>
            <a:r>
              <a:rPr lang="en-GB" dirty="0" err="1"/>
              <a:t>incididunt</a:t>
            </a:r>
            <a:r>
              <a:rPr lang="en-GB" dirty="0"/>
              <a:t> </a:t>
            </a:r>
            <a:r>
              <a:rPr lang="en-GB" dirty="0" err="1"/>
              <a:t>ut</a:t>
            </a:r>
            <a:r>
              <a:rPr lang="en-GB" dirty="0"/>
              <a:t> labore et dolore magna </a:t>
            </a:r>
            <a:r>
              <a:rPr lang="en-GB" dirty="0" err="1"/>
              <a:t>aliqua</a:t>
            </a:r>
            <a:r>
              <a:rPr lang="en-GB" dirty="0"/>
              <a:t>.</a:t>
            </a:r>
            <a:endParaRPr lang="en-PT" dirty="0"/>
          </a:p>
        </p:txBody>
      </p:sp>
      <p:sp>
        <p:nvSpPr>
          <p:cNvPr id="39" name="Title 1">
            <a:extLst>
              <a:ext uri="{FF2B5EF4-FFF2-40B4-BE49-F238E27FC236}">
                <a16:creationId xmlns:a16="http://schemas.microsoft.com/office/drawing/2014/main" id="{38A0740D-A5FC-46F1-F7C6-590049B6D5DF}"/>
              </a:ext>
            </a:extLst>
          </p:cNvPr>
          <p:cNvSpPr>
            <a:spLocks noGrp="1"/>
          </p:cNvSpPr>
          <p:nvPr>
            <p:ph type="title"/>
          </p:nvPr>
        </p:nvSpPr>
        <p:spPr>
          <a:xfrm>
            <a:off x="1676618" y="2075575"/>
            <a:ext cx="10516969" cy="2437590"/>
          </a:xfrm>
          <a:prstGeom prst="rect">
            <a:avLst/>
          </a:prstGeom>
        </p:spPr>
        <p:txBody>
          <a:bodyPr lIns="0" tIns="0" rIns="0" bIns="0">
            <a:spAutoFit/>
          </a:bodyPr>
          <a:lstStyle>
            <a:lvl1pPr>
              <a:defRPr b="1" i="0">
                <a:latin typeface="Figtree SemiBold" pitchFamily="2" charset="0"/>
              </a:defRPr>
            </a:lvl1pPr>
          </a:lstStyle>
          <a:p>
            <a:r>
              <a:rPr lang="en-GB" dirty="0"/>
              <a:t>Click to edit Master title style</a:t>
            </a:r>
            <a:endParaRPr lang="en-PT" dirty="0"/>
          </a:p>
        </p:txBody>
      </p:sp>
      <p:sp>
        <p:nvSpPr>
          <p:cNvPr id="42" name="Footer Placeholder 4">
            <a:extLst>
              <a:ext uri="{FF2B5EF4-FFF2-40B4-BE49-F238E27FC236}">
                <a16:creationId xmlns:a16="http://schemas.microsoft.com/office/drawing/2014/main" id="{3D55ECDA-B60A-F6CB-2691-370DB3B724EC}"/>
              </a:ext>
            </a:extLst>
          </p:cNvPr>
          <p:cNvSpPr>
            <a:spLocks noGrp="1"/>
          </p:cNvSpPr>
          <p:nvPr>
            <p:ph type="ftr" sz="quarter" idx="3"/>
          </p:nvPr>
        </p:nvSpPr>
        <p:spPr>
          <a:xfrm>
            <a:off x="3315599" y="13190413"/>
            <a:ext cx="2994800" cy="246222"/>
          </a:xfrm>
          <a:prstGeom prst="rect">
            <a:avLst/>
          </a:prstGeom>
        </p:spPr>
        <p:txBody>
          <a:bodyPr vert="horz" wrap="none" lIns="0" tIns="0" rIns="0" bIns="0" rtlCol="0" anchor="ctr">
            <a:spAutoFit/>
          </a:bodyPr>
          <a:lstStyle>
            <a:lvl1pPr algn="l">
              <a:defRPr sz="1600">
                <a:solidFill>
                  <a:schemeClr val="tx1">
                    <a:tint val="82000"/>
                  </a:schemeClr>
                </a:solidFill>
              </a:defRPr>
            </a:lvl1pPr>
          </a:lstStyle>
          <a:p>
            <a:r>
              <a:rPr lang="en-US" noProof="0">
                <a:solidFill>
                  <a:srgbClr val="7F7F7F"/>
                </a:solidFill>
                <a:latin typeface="Figtree" pitchFamily="2"/>
                <a:ea typeface="Figtree Regular" pitchFamily="34"/>
                <a:cs typeface="Figtree Regular" pitchFamily="34"/>
              </a:rPr>
              <a:t>| Strictly private and confidential</a:t>
            </a:r>
            <a:endParaRPr lang="en-US" noProof="0" dirty="0">
              <a:solidFill>
                <a:srgbClr val="7F7F7F"/>
              </a:solidFill>
              <a:latin typeface="Figtree" pitchFamily="2"/>
            </a:endParaRPr>
          </a:p>
        </p:txBody>
      </p:sp>
      <p:sp>
        <p:nvSpPr>
          <p:cNvPr id="43" name="Slide Number Placeholder 5">
            <a:extLst>
              <a:ext uri="{FF2B5EF4-FFF2-40B4-BE49-F238E27FC236}">
                <a16:creationId xmlns:a16="http://schemas.microsoft.com/office/drawing/2014/main" id="{F5AB3DCC-9147-7E45-7AEA-631B2C13B9DD}"/>
              </a:ext>
            </a:extLst>
          </p:cNvPr>
          <p:cNvSpPr>
            <a:spLocks noGrp="1"/>
          </p:cNvSpPr>
          <p:nvPr>
            <p:ph type="sldNum" sz="quarter" idx="4"/>
          </p:nvPr>
        </p:nvSpPr>
        <p:spPr>
          <a:xfrm>
            <a:off x="22500563" y="13190413"/>
            <a:ext cx="209994" cy="246221"/>
          </a:xfrm>
          <a:prstGeom prst="rect">
            <a:avLst/>
          </a:prstGeom>
        </p:spPr>
        <p:txBody>
          <a:bodyPr vert="horz" wrap="none" lIns="0" tIns="0" rIns="0" bIns="0" rtlCol="0" anchor="ctr">
            <a:spAutoFit/>
          </a:bodyPr>
          <a:lstStyle>
            <a:lvl1pPr algn="r">
              <a:defRPr sz="1600">
                <a:solidFill>
                  <a:schemeClr val="tx1">
                    <a:tint val="82000"/>
                  </a:schemeClr>
                </a:solidFill>
              </a:defRPr>
            </a:lvl1pPr>
          </a:lstStyle>
          <a:p>
            <a:fld id="{4AA77E54-165B-A847-AA47-6003AD81C543}" type="slidenum">
              <a:rPr lang="en-PT" smtClean="0"/>
              <a:pPr/>
              <a:t>‹#›</a:t>
            </a:fld>
            <a:endParaRPr lang="en-PT" dirty="0"/>
          </a:p>
        </p:txBody>
      </p:sp>
      <p:pic>
        <p:nvPicPr>
          <p:cNvPr id="2" name="Picture 24">
            <a:extLst>
              <a:ext uri="{FF2B5EF4-FFF2-40B4-BE49-F238E27FC236}">
                <a16:creationId xmlns:a16="http://schemas.microsoft.com/office/drawing/2014/main" id="{F7B8DA35-F790-6474-34F2-877C7F3C0495}"/>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76620" y="13119257"/>
            <a:ext cx="1961930" cy="301611"/>
          </a:xfrm>
          <a:prstGeom prst="rect">
            <a:avLst/>
          </a:prstGeom>
          <a:noFill/>
          <a:ln cap="flat">
            <a:noFill/>
          </a:ln>
        </p:spPr>
      </p:pic>
    </p:spTree>
    <p:extLst>
      <p:ext uri="{BB962C8B-B14F-4D97-AF65-F5344CB8AC3E}">
        <p14:creationId xmlns:p14="http://schemas.microsoft.com/office/powerpoint/2010/main" val="367784564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ark Green Divi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C96FAA8-6DF1-6BAB-C635-04A098D85892}"/>
              </a:ext>
            </a:extLst>
          </p:cNvPr>
          <p:cNvSpPr/>
          <p:nvPr userDrawn="1"/>
        </p:nvSpPr>
        <p:spPr>
          <a:xfrm>
            <a:off x="0" y="0"/>
            <a:ext cx="17954005" cy="13716000"/>
          </a:xfrm>
          <a:prstGeom prst="rect">
            <a:avLst/>
          </a:prstGeom>
          <a:solidFill>
            <a:srgbClr val="0A36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sz="7200"/>
          </a:p>
        </p:txBody>
      </p:sp>
      <p:sp>
        <p:nvSpPr>
          <p:cNvPr id="2" name="Title 1">
            <a:extLst>
              <a:ext uri="{FF2B5EF4-FFF2-40B4-BE49-F238E27FC236}">
                <a16:creationId xmlns:a16="http://schemas.microsoft.com/office/drawing/2014/main" id="{43116243-3424-5E20-F93E-7E5E0C7A448B}"/>
              </a:ext>
            </a:extLst>
          </p:cNvPr>
          <p:cNvSpPr>
            <a:spLocks noGrp="1"/>
          </p:cNvSpPr>
          <p:nvPr>
            <p:ph type="ctrTitle"/>
          </p:nvPr>
        </p:nvSpPr>
        <p:spPr>
          <a:xfrm>
            <a:off x="1660850" y="5196007"/>
            <a:ext cx="12080385" cy="3323986"/>
          </a:xfrm>
          <a:prstGeom prst="rect">
            <a:avLst/>
          </a:prstGeom>
        </p:spPr>
        <p:txBody>
          <a:bodyPr wrap="square" lIns="0" tIns="0" rIns="0" bIns="0" anchor="b">
            <a:spAutoFit/>
          </a:bodyPr>
          <a:lstStyle>
            <a:lvl1pPr algn="l">
              <a:defRPr sz="12000" b="1" i="0">
                <a:solidFill>
                  <a:srgbClr val="F4F4FF"/>
                </a:solidFill>
                <a:latin typeface="Figtree SemiBold" pitchFamily="2" charset="0"/>
              </a:defRPr>
            </a:lvl1pPr>
          </a:lstStyle>
          <a:p>
            <a:r>
              <a:rPr lang="en-GB"/>
              <a:t>Click to edit Master title style</a:t>
            </a:r>
            <a:endParaRPr lang="en-PT"/>
          </a:p>
        </p:txBody>
      </p:sp>
      <p:sp>
        <p:nvSpPr>
          <p:cNvPr id="3" name="Subtitle 2">
            <a:extLst>
              <a:ext uri="{FF2B5EF4-FFF2-40B4-BE49-F238E27FC236}">
                <a16:creationId xmlns:a16="http://schemas.microsoft.com/office/drawing/2014/main" id="{B203E3AD-9795-2274-E234-C26E11AAB1B1}"/>
              </a:ext>
            </a:extLst>
          </p:cNvPr>
          <p:cNvSpPr>
            <a:spLocks noGrp="1"/>
          </p:cNvSpPr>
          <p:nvPr>
            <p:ph type="subTitle" idx="1"/>
          </p:nvPr>
        </p:nvSpPr>
        <p:spPr>
          <a:xfrm>
            <a:off x="1660851" y="9306143"/>
            <a:ext cx="10911159" cy="664798"/>
          </a:xfrm>
          <a:prstGeom prst="rect">
            <a:avLst/>
          </a:prstGeom>
        </p:spPr>
        <p:txBody>
          <a:bodyPr lIns="0" tIns="0" rIns="0" bIns="0">
            <a:spAutoFit/>
          </a:bodyPr>
          <a:lstStyle>
            <a:lvl1pPr marL="0" indent="0" algn="l">
              <a:buNone/>
              <a:defRPr sz="4800">
                <a:solidFill>
                  <a:srgbClr val="F4F4FF"/>
                </a:solidFill>
                <a:latin typeface="Figtree" pitchFamily="2"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PT"/>
          </a:p>
        </p:txBody>
      </p:sp>
      <p:sp>
        <p:nvSpPr>
          <p:cNvPr id="6" name="Slide Number Placeholder 5">
            <a:extLst>
              <a:ext uri="{FF2B5EF4-FFF2-40B4-BE49-F238E27FC236}">
                <a16:creationId xmlns:a16="http://schemas.microsoft.com/office/drawing/2014/main" id="{BCEC7000-F164-26AD-B7F8-A71CE4DAE7F4}"/>
              </a:ext>
            </a:extLst>
          </p:cNvPr>
          <p:cNvSpPr>
            <a:spLocks noGrp="1"/>
          </p:cNvSpPr>
          <p:nvPr>
            <p:ph type="sldNum" sz="quarter" idx="12"/>
          </p:nvPr>
        </p:nvSpPr>
        <p:spPr>
          <a:xfrm>
            <a:off x="22463661" y="13190413"/>
            <a:ext cx="246896" cy="246222"/>
          </a:xfrm>
          <a:prstGeom prst="rect">
            <a:avLst/>
          </a:prstGeom>
        </p:spPr>
        <p:txBody>
          <a:bodyPr/>
          <a:lstStyle/>
          <a:p>
            <a:fld id="{4AA77E54-165B-A847-AA47-6003AD81C543}" type="slidenum">
              <a:rPr lang="en-PT" smtClean="0"/>
              <a:t>‹#›</a:t>
            </a:fld>
            <a:endParaRPr lang="en-PT"/>
          </a:p>
        </p:txBody>
      </p:sp>
      <p:sp>
        <p:nvSpPr>
          <p:cNvPr id="11" name="Picture Placeholder 10">
            <a:extLst>
              <a:ext uri="{FF2B5EF4-FFF2-40B4-BE49-F238E27FC236}">
                <a16:creationId xmlns:a16="http://schemas.microsoft.com/office/drawing/2014/main" id="{1905F2B8-EB63-6033-05B3-F5F1EF89D730}"/>
              </a:ext>
            </a:extLst>
          </p:cNvPr>
          <p:cNvSpPr>
            <a:spLocks noGrp="1"/>
          </p:cNvSpPr>
          <p:nvPr>
            <p:ph type="pic" sz="quarter" idx="13"/>
          </p:nvPr>
        </p:nvSpPr>
        <p:spPr>
          <a:xfrm>
            <a:off x="17953788" y="0"/>
            <a:ext cx="6433388" cy="13716000"/>
          </a:xfrm>
          <a:prstGeom prst="rect">
            <a:avLst/>
          </a:prstGeom>
        </p:spPr>
        <p:txBody>
          <a:bodyPr/>
          <a:lstStyle/>
          <a:p>
            <a:endParaRPr lang="en-PT"/>
          </a:p>
        </p:txBody>
      </p:sp>
      <p:pic>
        <p:nvPicPr>
          <p:cNvPr id="8" name="Picture 7">
            <a:extLst>
              <a:ext uri="{FF2B5EF4-FFF2-40B4-BE49-F238E27FC236}">
                <a16:creationId xmlns:a16="http://schemas.microsoft.com/office/drawing/2014/main" id="{C85217BD-266B-8054-CFA4-5D7C5A22BDC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60850" y="3286779"/>
            <a:ext cx="3218319" cy="1060014"/>
          </a:xfrm>
          <a:prstGeom prst="rect">
            <a:avLst/>
          </a:prstGeom>
        </p:spPr>
      </p:pic>
      <p:sp>
        <p:nvSpPr>
          <p:cNvPr id="5" name="Footer Placeholder 4">
            <a:extLst>
              <a:ext uri="{FF2B5EF4-FFF2-40B4-BE49-F238E27FC236}">
                <a16:creationId xmlns:a16="http://schemas.microsoft.com/office/drawing/2014/main" id="{42473865-2201-005D-EAC4-C2E273D0E8AB}"/>
              </a:ext>
            </a:extLst>
          </p:cNvPr>
          <p:cNvSpPr>
            <a:spLocks noGrp="1"/>
          </p:cNvSpPr>
          <p:nvPr>
            <p:ph type="ftr" sz="quarter" idx="3"/>
          </p:nvPr>
        </p:nvSpPr>
        <p:spPr>
          <a:xfrm>
            <a:off x="3315597" y="13272299"/>
            <a:ext cx="2231671" cy="184666"/>
          </a:xfrm>
          <a:prstGeom prst="rect">
            <a:avLst/>
          </a:prstGeom>
        </p:spPr>
        <p:txBody>
          <a:bodyPr vert="horz" wrap="none" lIns="0" tIns="0" rIns="0" bIns="0" rtlCol="0" anchor="ctr">
            <a:spAutoFit/>
          </a:bodyPr>
          <a:lstStyle>
            <a:lvl1pPr algn="l">
              <a:defRPr sz="1200">
                <a:solidFill>
                  <a:schemeClr val="bg1"/>
                </a:solidFill>
              </a:defRPr>
            </a:lvl1pPr>
          </a:lstStyle>
          <a:p>
            <a:r>
              <a:rPr lang="en-US">
                <a:latin typeface="Figtree" pitchFamily="2"/>
                <a:ea typeface="Figtree Regular" pitchFamily="34"/>
                <a:cs typeface="Figtree Regular" pitchFamily="34"/>
              </a:rPr>
              <a:t>| Strictly private and confidential</a:t>
            </a:r>
            <a:endParaRPr lang="en-US">
              <a:latin typeface="Figtree" pitchFamily="2"/>
            </a:endParaRPr>
          </a:p>
        </p:txBody>
      </p:sp>
      <p:pic>
        <p:nvPicPr>
          <p:cNvPr id="9" name="Graphic 8">
            <a:extLst>
              <a:ext uri="{FF2B5EF4-FFF2-40B4-BE49-F238E27FC236}">
                <a16:creationId xmlns:a16="http://schemas.microsoft.com/office/drawing/2014/main" id="{3BB3EC58-2441-214A-25C9-FCD91B978F1E}"/>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670225" y="13257284"/>
            <a:ext cx="1415242" cy="214692"/>
          </a:xfrm>
          <a:prstGeom prst="rect">
            <a:avLst/>
          </a:prstGeom>
        </p:spPr>
      </p:pic>
    </p:spTree>
    <p:extLst>
      <p:ext uri="{BB962C8B-B14F-4D97-AF65-F5344CB8AC3E}">
        <p14:creationId xmlns:p14="http://schemas.microsoft.com/office/powerpoint/2010/main" val="268836773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Light Divi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16243-3424-5E20-F93E-7E5E0C7A448B}"/>
              </a:ext>
            </a:extLst>
          </p:cNvPr>
          <p:cNvSpPr>
            <a:spLocks noGrp="1"/>
          </p:cNvSpPr>
          <p:nvPr>
            <p:ph type="ctrTitle"/>
          </p:nvPr>
        </p:nvSpPr>
        <p:spPr>
          <a:xfrm>
            <a:off x="1660850" y="5196007"/>
            <a:ext cx="12080385" cy="3323986"/>
          </a:xfrm>
          <a:prstGeom prst="rect">
            <a:avLst/>
          </a:prstGeom>
        </p:spPr>
        <p:txBody>
          <a:bodyPr wrap="square" lIns="0" tIns="0" rIns="0" bIns="0" anchor="b">
            <a:spAutoFit/>
          </a:bodyPr>
          <a:lstStyle>
            <a:lvl1pPr algn="l">
              <a:defRPr sz="12000" b="1" i="0">
                <a:solidFill>
                  <a:schemeClr val="tx1"/>
                </a:solidFill>
                <a:latin typeface="Figtree SemiBold" pitchFamily="2" charset="0"/>
              </a:defRPr>
            </a:lvl1pPr>
          </a:lstStyle>
          <a:p>
            <a:r>
              <a:rPr lang="en-GB"/>
              <a:t>Click to edit Master title style</a:t>
            </a:r>
            <a:endParaRPr lang="en-PT"/>
          </a:p>
        </p:txBody>
      </p:sp>
      <p:sp>
        <p:nvSpPr>
          <p:cNvPr id="3" name="Subtitle 2">
            <a:extLst>
              <a:ext uri="{FF2B5EF4-FFF2-40B4-BE49-F238E27FC236}">
                <a16:creationId xmlns:a16="http://schemas.microsoft.com/office/drawing/2014/main" id="{B203E3AD-9795-2274-E234-C26E11AAB1B1}"/>
              </a:ext>
            </a:extLst>
          </p:cNvPr>
          <p:cNvSpPr>
            <a:spLocks noGrp="1"/>
          </p:cNvSpPr>
          <p:nvPr>
            <p:ph type="subTitle" idx="1"/>
          </p:nvPr>
        </p:nvSpPr>
        <p:spPr>
          <a:xfrm>
            <a:off x="1660851" y="9306143"/>
            <a:ext cx="10911159" cy="664798"/>
          </a:xfrm>
          <a:prstGeom prst="rect">
            <a:avLst/>
          </a:prstGeom>
        </p:spPr>
        <p:txBody>
          <a:bodyPr lIns="0" tIns="0" rIns="0" bIns="0">
            <a:spAutoFit/>
          </a:bodyPr>
          <a:lstStyle>
            <a:lvl1pPr marL="0" indent="0" algn="l">
              <a:buNone/>
              <a:defRPr sz="4800">
                <a:solidFill>
                  <a:schemeClr val="tx1"/>
                </a:solidFill>
                <a:latin typeface="Figtree" pitchFamily="2"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PT"/>
          </a:p>
        </p:txBody>
      </p:sp>
      <p:sp>
        <p:nvSpPr>
          <p:cNvPr id="6" name="Slide Number Placeholder 5">
            <a:extLst>
              <a:ext uri="{FF2B5EF4-FFF2-40B4-BE49-F238E27FC236}">
                <a16:creationId xmlns:a16="http://schemas.microsoft.com/office/drawing/2014/main" id="{BCEC7000-F164-26AD-B7F8-A71CE4DAE7F4}"/>
              </a:ext>
            </a:extLst>
          </p:cNvPr>
          <p:cNvSpPr>
            <a:spLocks noGrp="1"/>
          </p:cNvSpPr>
          <p:nvPr>
            <p:ph type="sldNum" sz="quarter" idx="12"/>
          </p:nvPr>
        </p:nvSpPr>
        <p:spPr>
          <a:xfrm>
            <a:off x="22463661" y="13190413"/>
            <a:ext cx="246896" cy="246222"/>
          </a:xfrm>
          <a:prstGeom prst="rect">
            <a:avLst/>
          </a:prstGeom>
        </p:spPr>
        <p:txBody>
          <a:bodyPr/>
          <a:lstStyle/>
          <a:p>
            <a:fld id="{4AA77E54-165B-A847-AA47-6003AD81C543}" type="slidenum">
              <a:rPr lang="en-PT" smtClean="0"/>
              <a:t>‹#›</a:t>
            </a:fld>
            <a:endParaRPr lang="en-PT"/>
          </a:p>
        </p:txBody>
      </p:sp>
      <p:sp>
        <p:nvSpPr>
          <p:cNvPr id="11" name="Picture Placeholder 10">
            <a:extLst>
              <a:ext uri="{FF2B5EF4-FFF2-40B4-BE49-F238E27FC236}">
                <a16:creationId xmlns:a16="http://schemas.microsoft.com/office/drawing/2014/main" id="{1905F2B8-EB63-6033-05B3-F5F1EF89D730}"/>
              </a:ext>
            </a:extLst>
          </p:cNvPr>
          <p:cNvSpPr>
            <a:spLocks noGrp="1"/>
          </p:cNvSpPr>
          <p:nvPr>
            <p:ph type="pic" sz="quarter" idx="13"/>
          </p:nvPr>
        </p:nvSpPr>
        <p:spPr>
          <a:xfrm>
            <a:off x="17953788" y="0"/>
            <a:ext cx="6433388" cy="13716000"/>
          </a:xfrm>
          <a:prstGeom prst="rect">
            <a:avLst/>
          </a:prstGeom>
        </p:spPr>
        <p:txBody>
          <a:bodyPr/>
          <a:lstStyle/>
          <a:p>
            <a:endParaRPr lang="en-PT"/>
          </a:p>
        </p:txBody>
      </p:sp>
      <p:sp>
        <p:nvSpPr>
          <p:cNvPr id="5" name="Footer Placeholder 4">
            <a:extLst>
              <a:ext uri="{FF2B5EF4-FFF2-40B4-BE49-F238E27FC236}">
                <a16:creationId xmlns:a16="http://schemas.microsoft.com/office/drawing/2014/main" id="{4CF03A65-11C9-119B-8886-D65E621B6607}"/>
              </a:ext>
            </a:extLst>
          </p:cNvPr>
          <p:cNvSpPr>
            <a:spLocks noGrp="1"/>
          </p:cNvSpPr>
          <p:nvPr>
            <p:ph type="ftr" sz="quarter" idx="3"/>
          </p:nvPr>
        </p:nvSpPr>
        <p:spPr>
          <a:xfrm>
            <a:off x="3315599" y="13190413"/>
            <a:ext cx="2994800" cy="246222"/>
          </a:xfrm>
          <a:prstGeom prst="rect">
            <a:avLst/>
          </a:prstGeom>
        </p:spPr>
        <p:txBody>
          <a:bodyPr vert="horz" wrap="none" lIns="0" tIns="0" rIns="0" bIns="0" rtlCol="0" anchor="ctr">
            <a:spAutoFit/>
          </a:bodyPr>
          <a:lstStyle>
            <a:lvl1pPr algn="l">
              <a:defRPr sz="1600">
                <a:solidFill>
                  <a:schemeClr val="tx1">
                    <a:tint val="82000"/>
                  </a:schemeClr>
                </a:solidFill>
              </a:defRPr>
            </a:lvl1pPr>
          </a:lstStyle>
          <a:p>
            <a:r>
              <a:rPr lang="en-US">
                <a:solidFill>
                  <a:srgbClr val="7F7F7F"/>
                </a:solidFill>
                <a:latin typeface="Figtree" pitchFamily="2"/>
                <a:ea typeface="Figtree Regular" pitchFamily="34"/>
                <a:cs typeface="Figtree Regular" pitchFamily="34"/>
              </a:rPr>
              <a:t>| Strictly private and confidential</a:t>
            </a:r>
            <a:endParaRPr lang="en-US">
              <a:solidFill>
                <a:srgbClr val="7F7F7F"/>
              </a:solidFill>
              <a:latin typeface="Figtree" pitchFamily="2"/>
            </a:endParaRPr>
          </a:p>
        </p:txBody>
      </p:sp>
    </p:spTree>
    <p:extLst>
      <p:ext uri="{BB962C8B-B14F-4D97-AF65-F5344CB8AC3E}">
        <p14:creationId xmlns:p14="http://schemas.microsoft.com/office/powerpoint/2010/main" val="22862908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Green Divi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C96FAA8-6DF1-6BAB-C635-04A098D85892}"/>
              </a:ext>
            </a:extLst>
          </p:cNvPr>
          <p:cNvSpPr/>
          <p:nvPr userDrawn="1"/>
        </p:nvSpPr>
        <p:spPr>
          <a:xfrm>
            <a:off x="0" y="0"/>
            <a:ext cx="17954005" cy="13716000"/>
          </a:xfrm>
          <a:prstGeom prst="rect">
            <a:avLst/>
          </a:prstGeom>
          <a:solidFill>
            <a:srgbClr val="00C1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sz="7200"/>
          </a:p>
        </p:txBody>
      </p:sp>
      <p:sp>
        <p:nvSpPr>
          <p:cNvPr id="2" name="Title 1">
            <a:extLst>
              <a:ext uri="{FF2B5EF4-FFF2-40B4-BE49-F238E27FC236}">
                <a16:creationId xmlns:a16="http://schemas.microsoft.com/office/drawing/2014/main" id="{43116243-3424-5E20-F93E-7E5E0C7A448B}"/>
              </a:ext>
            </a:extLst>
          </p:cNvPr>
          <p:cNvSpPr>
            <a:spLocks noGrp="1"/>
          </p:cNvSpPr>
          <p:nvPr>
            <p:ph type="ctrTitle"/>
          </p:nvPr>
        </p:nvSpPr>
        <p:spPr>
          <a:xfrm>
            <a:off x="1660850" y="5196007"/>
            <a:ext cx="12080385" cy="3323986"/>
          </a:xfrm>
          <a:prstGeom prst="rect">
            <a:avLst/>
          </a:prstGeom>
        </p:spPr>
        <p:txBody>
          <a:bodyPr wrap="square" lIns="0" tIns="0" rIns="0" bIns="0" anchor="b">
            <a:spAutoFit/>
          </a:bodyPr>
          <a:lstStyle>
            <a:lvl1pPr algn="l">
              <a:defRPr sz="12000" b="1" i="0">
                <a:solidFill>
                  <a:srgbClr val="F4F4FF"/>
                </a:solidFill>
                <a:latin typeface="Figtree SemiBold" pitchFamily="2" charset="0"/>
              </a:defRPr>
            </a:lvl1pPr>
          </a:lstStyle>
          <a:p>
            <a:r>
              <a:rPr lang="en-GB"/>
              <a:t>Click to edit Master title style</a:t>
            </a:r>
            <a:endParaRPr lang="en-PT"/>
          </a:p>
        </p:txBody>
      </p:sp>
      <p:sp>
        <p:nvSpPr>
          <p:cNvPr id="3" name="Subtitle 2">
            <a:extLst>
              <a:ext uri="{FF2B5EF4-FFF2-40B4-BE49-F238E27FC236}">
                <a16:creationId xmlns:a16="http://schemas.microsoft.com/office/drawing/2014/main" id="{B203E3AD-9795-2274-E234-C26E11AAB1B1}"/>
              </a:ext>
            </a:extLst>
          </p:cNvPr>
          <p:cNvSpPr>
            <a:spLocks noGrp="1"/>
          </p:cNvSpPr>
          <p:nvPr>
            <p:ph type="subTitle" idx="1"/>
          </p:nvPr>
        </p:nvSpPr>
        <p:spPr>
          <a:xfrm>
            <a:off x="1660851" y="9306143"/>
            <a:ext cx="10911159" cy="664798"/>
          </a:xfrm>
          <a:prstGeom prst="rect">
            <a:avLst/>
          </a:prstGeom>
        </p:spPr>
        <p:txBody>
          <a:bodyPr lIns="0" tIns="0" rIns="0" bIns="0">
            <a:spAutoFit/>
          </a:bodyPr>
          <a:lstStyle>
            <a:lvl1pPr marL="0" indent="0" algn="l">
              <a:buNone/>
              <a:defRPr sz="4800" b="0" i="0">
                <a:solidFill>
                  <a:srgbClr val="F4F4FF"/>
                </a:solidFill>
                <a:latin typeface="Figtree" pitchFamily="2" charset="0"/>
              </a:defRPr>
            </a:lvl1pPr>
            <a:lvl2pPr marL="914400" indent="0" algn="ctr">
              <a:buNone/>
              <a:defRPr sz="4000"/>
            </a:lvl2pPr>
            <a:lvl3pPr marL="1828800" indent="0" algn="ctr">
              <a:buNone/>
              <a:defRPr sz="3600"/>
            </a:lvl3pPr>
            <a:lvl4pPr marL="2743200" indent="0" algn="ctr">
              <a:buNone/>
              <a:defRPr sz="3200"/>
            </a:lvl4pPr>
            <a:lvl5pPr marL="3657600" indent="0" algn="ctr">
              <a:buNone/>
              <a:defRPr sz="3200"/>
            </a:lvl5pPr>
            <a:lvl6pPr marL="4572000" indent="0" algn="ctr">
              <a:buNone/>
              <a:defRPr sz="3200"/>
            </a:lvl6pPr>
            <a:lvl7pPr marL="5486400" indent="0" algn="ctr">
              <a:buNone/>
              <a:defRPr sz="3200"/>
            </a:lvl7pPr>
            <a:lvl8pPr marL="6400800" indent="0" algn="ctr">
              <a:buNone/>
              <a:defRPr sz="3200"/>
            </a:lvl8pPr>
            <a:lvl9pPr marL="7315200" indent="0" algn="ctr">
              <a:buNone/>
              <a:defRPr sz="3200"/>
            </a:lvl9pPr>
          </a:lstStyle>
          <a:p>
            <a:r>
              <a:rPr lang="en-GB"/>
              <a:t>Click to edit Master subtitle style</a:t>
            </a:r>
            <a:endParaRPr lang="en-PT"/>
          </a:p>
        </p:txBody>
      </p:sp>
      <p:sp>
        <p:nvSpPr>
          <p:cNvPr id="6" name="Slide Number Placeholder 5">
            <a:extLst>
              <a:ext uri="{FF2B5EF4-FFF2-40B4-BE49-F238E27FC236}">
                <a16:creationId xmlns:a16="http://schemas.microsoft.com/office/drawing/2014/main" id="{BCEC7000-F164-26AD-B7F8-A71CE4DAE7F4}"/>
              </a:ext>
            </a:extLst>
          </p:cNvPr>
          <p:cNvSpPr>
            <a:spLocks noGrp="1"/>
          </p:cNvSpPr>
          <p:nvPr>
            <p:ph type="sldNum" sz="quarter" idx="12"/>
          </p:nvPr>
        </p:nvSpPr>
        <p:spPr>
          <a:xfrm>
            <a:off x="22463661" y="13190413"/>
            <a:ext cx="246896" cy="246222"/>
          </a:xfrm>
          <a:prstGeom prst="rect">
            <a:avLst/>
          </a:prstGeom>
        </p:spPr>
        <p:txBody>
          <a:bodyPr/>
          <a:lstStyle/>
          <a:p>
            <a:fld id="{4AA77E54-165B-A847-AA47-6003AD81C543}" type="slidenum">
              <a:rPr lang="en-PT" smtClean="0"/>
              <a:t>‹#›</a:t>
            </a:fld>
            <a:endParaRPr lang="en-PT"/>
          </a:p>
        </p:txBody>
      </p:sp>
      <p:sp>
        <p:nvSpPr>
          <p:cNvPr id="11" name="Picture Placeholder 10">
            <a:extLst>
              <a:ext uri="{FF2B5EF4-FFF2-40B4-BE49-F238E27FC236}">
                <a16:creationId xmlns:a16="http://schemas.microsoft.com/office/drawing/2014/main" id="{1905F2B8-EB63-6033-05B3-F5F1EF89D730}"/>
              </a:ext>
            </a:extLst>
          </p:cNvPr>
          <p:cNvSpPr>
            <a:spLocks noGrp="1"/>
          </p:cNvSpPr>
          <p:nvPr>
            <p:ph type="pic" sz="quarter" idx="13"/>
          </p:nvPr>
        </p:nvSpPr>
        <p:spPr>
          <a:xfrm>
            <a:off x="17953788" y="49448"/>
            <a:ext cx="6433388" cy="13716000"/>
          </a:xfrm>
          <a:prstGeom prst="rect">
            <a:avLst/>
          </a:prstGeom>
        </p:spPr>
        <p:txBody>
          <a:bodyPr/>
          <a:lstStyle/>
          <a:p>
            <a:endParaRPr lang="en-PT"/>
          </a:p>
        </p:txBody>
      </p:sp>
      <p:pic>
        <p:nvPicPr>
          <p:cNvPr id="4" name="Picture 3">
            <a:extLst>
              <a:ext uri="{FF2B5EF4-FFF2-40B4-BE49-F238E27FC236}">
                <a16:creationId xmlns:a16="http://schemas.microsoft.com/office/drawing/2014/main" id="{8F409580-271D-08ED-C5BB-4F715828DD8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660850" y="3259653"/>
            <a:ext cx="3218319" cy="1060014"/>
          </a:xfrm>
          <a:prstGeom prst="rect">
            <a:avLst/>
          </a:prstGeom>
        </p:spPr>
      </p:pic>
      <p:pic>
        <p:nvPicPr>
          <p:cNvPr id="9" name="Graphic 8">
            <a:extLst>
              <a:ext uri="{FF2B5EF4-FFF2-40B4-BE49-F238E27FC236}">
                <a16:creationId xmlns:a16="http://schemas.microsoft.com/office/drawing/2014/main" id="{918BF2F1-419D-1BA8-6441-7BA6A1953FE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670225" y="13257284"/>
            <a:ext cx="1415242" cy="214692"/>
          </a:xfrm>
          <a:prstGeom prst="rect">
            <a:avLst/>
          </a:prstGeom>
        </p:spPr>
      </p:pic>
      <p:sp>
        <p:nvSpPr>
          <p:cNvPr id="10" name="Footer Placeholder 4">
            <a:extLst>
              <a:ext uri="{FF2B5EF4-FFF2-40B4-BE49-F238E27FC236}">
                <a16:creationId xmlns:a16="http://schemas.microsoft.com/office/drawing/2014/main" id="{5AF5811D-FD1B-2ABE-B111-EC99041F3BEA}"/>
              </a:ext>
            </a:extLst>
          </p:cNvPr>
          <p:cNvSpPr>
            <a:spLocks noGrp="1"/>
          </p:cNvSpPr>
          <p:nvPr>
            <p:ph type="ftr" sz="quarter" idx="3"/>
          </p:nvPr>
        </p:nvSpPr>
        <p:spPr>
          <a:xfrm>
            <a:off x="3315599" y="13190413"/>
            <a:ext cx="2994800" cy="246222"/>
          </a:xfrm>
          <a:prstGeom prst="rect">
            <a:avLst/>
          </a:prstGeom>
        </p:spPr>
        <p:txBody>
          <a:bodyPr vert="horz" wrap="none" lIns="0" tIns="0" rIns="0" bIns="0" rtlCol="0" anchor="ctr">
            <a:spAutoFit/>
          </a:bodyPr>
          <a:lstStyle>
            <a:lvl1pPr algn="l">
              <a:defRPr sz="1600">
                <a:solidFill>
                  <a:schemeClr val="tx1">
                    <a:tint val="82000"/>
                  </a:schemeClr>
                </a:solidFill>
              </a:defRPr>
            </a:lvl1pPr>
          </a:lstStyle>
          <a:p>
            <a:r>
              <a:rPr lang="en-US">
                <a:solidFill>
                  <a:srgbClr val="7F7F7F"/>
                </a:solidFill>
                <a:latin typeface="Figtree" pitchFamily="2"/>
                <a:ea typeface="Figtree Regular" pitchFamily="34"/>
                <a:cs typeface="Figtree Regular" pitchFamily="34"/>
              </a:rPr>
              <a:t>| Strictly private and confidential</a:t>
            </a:r>
            <a:endParaRPr lang="en-US">
              <a:solidFill>
                <a:srgbClr val="7F7F7F"/>
              </a:solidFill>
              <a:latin typeface="Figtree" pitchFamily="2"/>
            </a:endParaRPr>
          </a:p>
        </p:txBody>
      </p:sp>
    </p:spTree>
    <p:extLst>
      <p:ext uri="{BB962C8B-B14F-4D97-AF65-F5344CB8AC3E}">
        <p14:creationId xmlns:p14="http://schemas.microsoft.com/office/powerpoint/2010/main" val="218833600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cSld name="DEFAULT">
    <p:bg>
      <p:bgPr>
        <a:solidFill>
          <a:srgbClr val="FFFFFF"/>
        </a:solidFill>
        <a:effectLst/>
      </p:bgPr>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1F0727AA-3B46-B75F-23D4-018B3CA66F9F}"/>
              </a:ext>
            </a:extLst>
          </p:cNvPr>
          <p:cNvSpPr>
            <a:spLocks noGrp="1"/>
          </p:cNvSpPr>
          <p:nvPr>
            <p:ph type="ftr" sz="quarter" idx="3"/>
          </p:nvPr>
        </p:nvSpPr>
        <p:spPr>
          <a:xfrm>
            <a:off x="3315599" y="13190413"/>
            <a:ext cx="2994800" cy="246222"/>
          </a:xfrm>
          <a:prstGeom prst="rect">
            <a:avLst/>
          </a:prstGeom>
        </p:spPr>
        <p:txBody>
          <a:bodyPr vert="horz" wrap="none" lIns="0" tIns="0" rIns="0" bIns="0" rtlCol="0" anchor="ctr">
            <a:spAutoFit/>
          </a:bodyPr>
          <a:lstStyle>
            <a:lvl1pPr algn="l">
              <a:defRPr sz="1600">
                <a:solidFill>
                  <a:schemeClr val="tx1">
                    <a:tint val="82000"/>
                  </a:schemeClr>
                </a:solidFill>
              </a:defRPr>
            </a:lvl1pPr>
          </a:lstStyle>
          <a:p>
            <a:r>
              <a:rPr lang="en-US">
                <a:solidFill>
                  <a:srgbClr val="7F7F7F"/>
                </a:solidFill>
                <a:latin typeface="Figtree" pitchFamily="2"/>
                <a:ea typeface="Figtree Regular" pitchFamily="34"/>
                <a:cs typeface="Figtree Regular" pitchFamily="34"/>
              </a:rPr>
              <a:t>| Strictly private and confidential</a:t>
            </a:r>
            <a:endParaRPr lang="en-US">
              <a:solidFill>
                <a:srgbClr val="7F7F7F"/>
              </a:solidFill>
              <a:latin typeface="Figtree" pitchFamily="2"/>
            </a:endParaRPr>
          </a:p>
        </p:txBody>
      </p:sp>
    </p:spTree>
    <p:extLst>
      <p:ext uri="{BB962C8B-B14F-4D97-AF65-F5344CB8AC3E}">
        <p14:creationId xmlns:p14="http://schemas.microsoft.com/office/powerpoint/2010/main" val="1819258026"/>
      </p:ext>
    </p:extLst>
  </p:cSld>
  <p:clrMapOvr>
    <a:masterClrMapping/>
  </p:clrMapOvr>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type="obj">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email">
            <a:extLst>
              <a:ext uri="{28A0092B-C50C-407E-A947-70E740481C1C}">
                <a14:useLocalDpi xmlns:a14="http://schemas.microsoft.com/office/drawing/2010/main"/>
              </a:ext>
            </a:extLst>
          </a:blip>
          <a:stretch>
            <a:fillRect/>
          </a:stretch>
        </p:blipFill>
        <p:spPr>
          <a:xfrm>
            <a:off x="1676618" y="13206186"/>
            <a:ext cx="1396546" cy="214664"/>
          </a:xfrm>
          <a:prstGeom prst="rect">
            <a:avLst/>
          </a:prstGeom>
        </p:spPr>
      </p:pic>
      <p:pic>
        <p:nvPicPr>
          <p:cNvPr id="17" name="bg object 17"/>
          <p:cNvPicPr/>
          <p:nvPr/>
        </p:nvPicPr>
        <p:blipFill>
          <a:blip r:embed="rId3" cstate="email">
            <a:extLst>
              <a:ext uri="{28A0092B-C50C-407E-A947-70E740481C1C}">
                <a14:useLocalDpi xmlns:a14="http://schemas.microsoft.com/office/drawing/2010/main"/>
              </a:ext>
            </a:extLst>
          </a:blip>
          <a:stretch>
            <a:fillRect/>
          </a:stretch>
        </p:blipFill>
        <p:spPr>
          <a:xfrm>
            <a:off x="17953788" y="1"/>
            <a:ext cx="6433388" cy="13715998"/>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10/15/2026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45646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11.svg"/><Relationship Id="rId3" Type="http://schemas.openxmlformats.org/officeDocument/2006/relationships/image" Target="../media/image1.png"/><Relationship Id="rId7" Type="http://schemas.openxmlformats.org/officeDocument/2006/relationships/image" Target="../media/image5.svg"/><Relationship Id="rId12" Type="http://schemas.openxmlformats.org/officeDocument/2006/relationships/image" Target="../media/image10.svg"/><Relationship Id="rId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image" Target="../media/image4.svg"/><Relationship Id="rId11" Type="http://schemas.openxmlformats.org/officeDocument/2006/relationships/image" Target="../media/image9.svg"/><Relationship Id="rId5" Type="http://schemas.openxmlformats.org/officeDocument/2006/relationships/image" Target="../media/image3.svg"/><Relationship Id="rId15" Type="http://schemas.openxmlformats.org/officeDocument/2006/relationships/image" Target="../media/image13.sv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sv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theme" Target="../theme/theme2.xml"/><Relationship Id="rId18" Type="http://schemas.openxmlformats.org/officeDocument/2006/relationships/image" Target="../media/image5.svg"/><Relationship Id="rId26" Type="http://schemas.openxmlformats.org/officeDocument/2006/relationships/image" Target="../media/image13.svg"/><Relationship Id="rId3" Type="http://schemas.openxmlformats.org/officeDocument/2006/relationships/slideLayout" Target="../slideLayouts/slideLayout4.xml"/><Relationship Id="rId21" Type="http://schemas.openxmlformats.org/officeDocument/2006/relationships/image" Target="../media/image8.svg"/><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image" Target="../media/image4.svg"/><Relationship Id="rId25" Type="http://schemas.openxmlformats.org/officeDocument/2006/relationships/image" Target="../media/image12.svg"/><Relationship Id="rId2" Type="http://schemas.openxmlformats.org/officeDocument/2006/relationships/slideLayout" Target="../slideLayouts/slideLayout3.xml"/><Relationship Id="rId16" Type="http://schemas.openxmlformats.org/officeDocument/2006/relationships/image" Target="../media/image3.svg"/><Relationship Id="rId20" Type="http://schemas.openxmlformats.org/officeDocument/2006/relationships/image" Target="../media/image7.svg"/><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image" Target="../media/image11.svg"/><Relationship Id="rId5" Type="http://schemas.openxmlformats.org/officeDocument/2006/relationships/slideLayout" Target="../slideLayouts/slideLayout6.xml"/><Relationship Id="rId15" Type="http://schemas.openxmlformats.org/officeDocument/2006/relationships/image" Target="../media/image2.png"/><Relationship Id="rId23" Type="http://schemas.openxmlformats.org/officeDocument/2006/relationships/image" Target="../media/image10.svg"/><Relationship Id="rId10" Type="http://schemas.openxmlformats.org/officeDocument/2006/relationships/slideLayout" Target="../slideLayouts/slideLayout11.xml"/><Relationship Id="rId19" Type="http://schemas.openxmlformats.org/officeDocument/2006/relationships/image" Target="../media/image6.svg"/><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image" Target="../media/image1.png"/><Relationship Id="rId22" Type="http://schemas.openxmlformats.org/officeDocument/2006/relationships/image" Target="../media/image9.sv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18" Type="http://schemas.openxmlformats.org/officeDocument/2006/relationships/slideLayout" Target="../slideLayouts/slideLayout31.xml"/><Relationship Id="rId3" Type="http://schemas.openxmlformats.org/officeDocument/2006/relationships/slideLayout" Target="../slideLayouts/slideLayout16.xml"/><Relationship Id="rId21" Type="http://schemas.openxmlformats.org/officeDocument/2006/relationships/image" Target="../media/image14.png"/><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theme" Target="../theme/theme3.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theme" Target="../theme/theme4.xml"/><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2" Type="http://schemas.openxmlformats.org/officeDocument/2006/relationships/slideLayout" Target="../slideLayouts/slideLayout34.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image" Target="../media/image14.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13" Type="http://schemas.openxmlformats.org/officeDocument/2006/relationships/theme" Target="../theme/theme5.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slideLayout" Target="../slideLayouts/slideLayout56.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_rels/slideMaster6.xml.rels><?xml version="1.0" encoding="UTF-8" standalone="yes"?>
<Relationships xmlns="http://schemas.openxmlformats.org/package/2006/relationships"><Relationship Id="rId3" Type="http://schemas.openxmlformats.org/officeDocument/2006/relationships/slideLayout" Target="../slideLayouts/slideLayout59.xml"/><Relationship Id="rId7" Type="http://schemas.openxmlformats.org/officeDocument/2006/relationships/image" Target="../media/image22.png"/><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theme" Target="../theme/theme6.xml"/><Relationship Id="rId5" Type="http://schemas.openxmlformats.org/officeDocument/2006/relationships/slideLayout" Target="../slideLayouts/slideLayout61.xml"/><Relationship Id="rId4" Type="http://schemas.openxmlformats.org/officeDocument/2006/relationships/slideLayout" Target="../slideLayouts/slideLayout6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A3638"/>
        </a:solidFill>
        <a:effectLst/>
      </p:bgPr>
    </p:bg>
    <p:spTree>
      <p:nvGrpSpPr>
        <p:cNvPr id="1" name=""/>
        <p:cNvGrpSpPr/>
        <p:nvPr/>
      </p:nvGrpSpPr>
      <p:grpSpPr>
        <a:xfrm>
          <a:off x="0" y="0"/>
          <a:ext cx="0" cy="0"/>
          <a:chOff x="0" y="0"/>
          <a:chExt cx="0" cy="0"/>
        </a:xfrm>
      </p:grpSpPr>
      <p:pic>
        <p:nvPicPr>
          <p:cNvPr id="22" name="Image 0" descr=" ">
            <a:extLst>
              <a:ext uri="{FF2B5EF4-FFF2-40B4-BE49-F238E27FC236}">
                <a16:creationId xmlns:a16="http://schemas.microsoft.com/office/drawing/2014/main" id="{0DB94373-FFBE-214B-C27D-E0B703BAF148}"/>
              </a:ext>
            </a:extLst>
          </p:cNvPr>
          <p:cNvPicPr>
            <a:picLocks noChangeAspect="1"/>
          </p:cNvPicPr>
          <p:nvPr userDrawn="1"/>
        </p:nvPicPr>
        <p:blipFill>
          <a:blip r:embed="rId3"/>
          <a:stretch>
            <a:fillRect/>
          </a:stretch>
        </p:blipFill>
        <p:spPr>
          <a:xfrm>
            <a:off x="-30510" y="182660"/>
            <a:ext cx="24444190" cy="13746348"/>
          </a:xfrm>
          <a:prstGeom prst="rect">
            <a:avLst/>
          </a:prstGeom>
        </p:spPr>
      </p:pic>
      <p:grpSp>
        <p:nvGrpSpPr>
          <p:cNvPr id="23" name="Group 22">
            <a:extLst>
              <a:ext uri="{FF2B5EF4-FFF2-40B4-BE49-F238E27FC236}">
                <a16:creationId xmlns:a16="http://schemas.microsoft.com/office/drawing/2014/main" id="{E992A4DB-7DF1-D210-0D42-0D5026D67432}"/>
              </a:ext>
            </a:extLst>
          </p:cNvPr>
          <p:cNvGrpSpPr/>
          <p:nvPr userDrawn="1"/>
        </p:nvGrpSpPr>
        <p:grpSpPr>
          <a:xfrm>
            <a:off x="8928460" y="4893105"/>
            <a:ext cx="6526250" cy="2162730"/>
            <a:chOff x="8648640" y="5677688"/>
            <a:chExt cx="7088627" cy="2349401"/>
          </a:xfrm>
        </p:grpSpPr>
        <p:sp>
          <p:nvSpPr>
            <p:cNvPr id="24" name="Shape 0">
              <a:extLst>
                <a:ext uri="{FF2B5EF4-FFF2-40B4-BE49-F238E27FC236}">
                  <a16:creationId xmlns:a16="http://schemas.microsoft.com/office/drawing/2014/main" id="{743CBBF1-5C45-E49C-D4DE-F17B1DE705A3}"/>
                </a:ext>
              </a:extLst>
            </p:cNvPr>
            <p:cNvSpPr/>
            <p:nvPr userDrawn="1"/>
          </p:nvSpPr>
          <p:spPr>
            <a:xfrm>
              <a:off x="8648640" y="5677688"/>
              <a:ext cx="7088627" cy="2349400"/>
            </a:xfrm>
            <a:prstGeom prst="rect">
              <a:avLst/>
            </a:prstGeom>
            <a:noFill/>
            <a:ln/>
          </p:spPr>
          <p:txBody>
            <a:bodyPr/>
            <a:lstStyle/>
            <a:p>
              <a:endParaRPr lang="en-PT" sz="7200"/>
            </a:p>
          </p:txBody>
        </p:sp>
        <p:pic>
          <p:nvPicPr>
            <p:cNvPr id="25" name="Image 1" descr=" ">
              <a:extLst>
                <a:ext uri="{FF2B5EF4-FFF2-40B4-BE49-F238E27FC236}">
                  <a16:creationId xmlns:a16="http://schemas.microsoft.com/office/drawing/2014/main" id="{D74383B9-F9B1-20AD-EB61-7591370E6006}"/>
                </a:ext>
              </a:extLst>
            </p:cNvPr>
            <p:cNvPicPr>
              <a:picLocks noChangeAspect="1"/>
            </p:cNvPicPr>
            <p:nvPr userDrawn="1"/>
          </p:nvPicPr>
          <p:blipFill>
            <a:blip r:embed="rId4"/>
            <a:stretch>
              <a:fillRect/>
            </a:stretch>
          </p:blipFill>
          <p:spPr>
            <a:xfrm>
              <a:off x="8648640" y="5677688"/>
              <a:ext cx="7088627" cy="2349401"/>
            </a:xfrm>
            <a:prstGeom prst="rect">
              <a:avLst/>
            </a:prstGeom>
          </p:spPr>
        </p:pic>
        <p:pic>
          <p:nvPicPr>
            <p:cNvPr id="26" name="Image 2" descr=" ">
              <a:extLst>
                <a:ext uri="{FF2B5EF4-FFF2-40B4-BE49-F238E27FC236}">
                  <a16:creationId xmlns:a16="http://schemas.microsoft.com/office/drawing/2014/main" id="{08A72748-B1FB-0F0C-74B2-CF167445284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9410202" y="6038416"/>
              <a:ext cx="722477" cy="1519219"/>
            </a:xfrm>
            <a:prstGeom prst="rect">
              <a:avLst/>
            </a:prstGeom>
          </p:spPr>
        </p:pic>
        <p:pic>
          <p:nvPicPr>
            <p:cNvPr id="27" name="Image 3" descr=" ">
              <a:extLst>
                <a:ext uri="{FF2B5EF4-FFF2-40B4-BE49-F238E27FC236}">
                  <a16:creationId xmlns:a16="http://schemas.microsoft.com/office/drawing/2014/main" id="{F51A7D39-552E-7102-376F-5C22199DD27D}"/>
                </a:ext>
              </a:extLst>
            </p:cNvPr>
            <p:cNvPicPr>
              <a:picLocks noChangeAspect="1"/>
            </p:cNvPicPr>
            <p:nvPr userDrawn="1"/>
          </p:nvPicPr>
          <p:blipFill>
            <a:blip>
              <a:extLst>
                <a:ext uri="{96DAC541-7B7A-43D3-8B79-37D633B846F1}">
                  <asvg:svgBlip xmlns:asvg="http://schemas.microsoft.com/office/drawing/2016/SVG/main" r:embed="rId6"/>
                </a:ext>
              </a:extLst>
            </a:blip>
            <a:stretch>
              <a:fillRect/>
            </a:stretch>
          </p:blipFill>
          <p:spPr>
            <a:xfrm>
              <a:off x="12899231" y="7123671"/>
              <a:ext cx="848439" cy="630628"/>
            </a:xfrm>
            <a:prstGeom prst="rect">
              <a:avLst/>
            </a:prstGeom>
          </p:spPr>
        </p:pic>
        <p:pic>
          <p:nvPicPr>
            <p:cNvPr id="28" name="Image 4" descr=" ">
              <a:extLst>
                <a:ext uri="{FF2B5EF4-FFF2-40B4-BE49-F238E27FC236}">
                  <a16:creationId xmlns:a16="http://schemas.microsoft.com/office/drawing/2014/main" id="{F541179C-B252-0797-4A44-39B0C8E78571}"/>
                </a:ext>
              </a:extLst>
            </p:cNvPr>
            <p:cNvPicPr>
              <a:picLocks noChangeAspect="1"/>
            </p:cNvPicPr>
            <p:nvPr userDrawn="1"/>
          </p:nvPicPr>
          <p:blipFill>
            <a:blip>
              <a:extLst>
                <a:ext uri="{96DAC541-7B7A-43D3-8B79-37D633B846F1}">
                  <asvg:svgBlip xmlns:asvg="http://schemas.microsoft.com/office/drawing/2016/SVG/main" r:embed="rId7"/>
                </a:ext>
              </a:extLst>
            </a:blip>
            <a:stretch>
              <a:fillRect/>
            </a:stretch>
          </p:blipFill>
          <p:spPr>
            <a:xfrm>
              <a:off x="13929176" y="7124595"/>
              <a:ext cx="555508" cy="850540"/>
            </a:xfrm>
            <a:prstGeom prst="rect">
              <a:avLst/>
            </a:prstGeom>
          </p:spPr>
        </p:pic>
        <p:pic>
          <p:nvPicPr>
            <p:cNvPr id="29" name="Image 5" descr=" ">
              <a:extLst>
                <a:ext uri="{FF2B5EF4-FFF2-40B4-BE49-F238E27FC236}">
                  <a16:creationId xmlns:a16="http://schemas.microsoft.com/office/drawing/2014/main" id="{196C91D4-4D70-B9BB-C111-5CA66D66148F}"/>
                </a:ext>
              </a:extLst>
            </p:cNvPr>
            <p:cNvPicPr>
              <a:picLocks noChangeAspect="1"/>
            </p:cNvPicPr>
            <p:nvPr userDrawn="1"/>
          </p:nvPicPr>
          <p:blipFill>
            <a:blip>
              <a:extLst>
                <a:ext uri="{96DAC541-7B7A-43D3-8B79-37D633B846F1}">
                  <asvg:svgBlip xmlns:asvg="http://schemas.microsoft.com/office/drawing/2016/SVG/main" r:embed="rId8"/>
                </a:ext>
              </a:extLst>
            </a:blip>
            <a:stretch>
              <a:fillRect/>
            </a:stretch>
          </p:blipFill>
          <p:spPr>
            <a:xfrm>
              <a:off x="11477881" y="5831427"/>
              <a:ext cx="564712" cy="858385"/>
            </a:xfrm>
            <a:prstGeom prst="rect">
              <a:avLst/>
            </a:prstGeom>
          </p:spPr>
        </p:pic>
        <p:pic>
          <p:nvPicPr>
            <p:cNvPr id="30" name="Image 6" descr=" ">
              <a:extLst>
                <a:ext uri="{FF2B5EF4-FFF2-40B4-BE49-F238E27FC236}">
                  <a16:creationId xmlns:a16="http://schemas.microsoft.com/office/drawing/2014/main" id="{153E6BC3-797D-A2F0-3910-EE12F60E072E}"/>
                </a:ext>
              </a:extLst>
            </p:cNvPr>
            <p:cNvPicPr>
              <a:picLocks noChangeAspect="1"/>
            </p:cNvPicPr>
            <p:nvPr userDrawn="1"/>
          </p:nvPicPr>
          <p:blipFill>
            <a:blip>
              <a:extLst>
                <a:ext uri="{96DAC541-7B7A-43D3-8B79-37D633B846F1}">
                  <asvg:svgBlip xmlns:asvg="http://schemas.microsoft.com/office/drawing/2016/SVG/main" r:embed="rId9"/>
                </a:ext>
              </a:extLst>
            </a:blip>
            <a:stretch>
              <a:fillRect/>
            </a:stretch>
          </p:blipFill>
          <p:spPr>
            <a:xfrm>
              <a:off x="11477881" y="6915479"/>
              <a:ext cx="655198" cy="857362"/>
            </a:xfrm>
            <a:prstGeom prst="rect">
              <a:avLst/>
            </a:prstGeom>
          </p:spPr>
        </p:pic>
        <p:pic>
          <p:nvPicPr>
            <p:cNvPr id="31" name="Image 7" descr=" ">
              <a:extLst>
                <a:ext uri="{FF2B5EF4-FFF2-40B4-BE49-F238E27FC236}">
                  <a16:creationId xmlns:a16="http://schemas.microsoft.com/office/drawing/2014/main" id="{D8A45F69-5F51-F894-3AFA-703C09242628}"/>
                </a:ext>
              </a:extLst>
            </p:cNvPr>
            <p:cNvPicPr>
              <a:picLocks noChangeAspect="1"/>
            </p:cNvPicPr>
            <p:nvPr userDrawn="1"/>
          </p:nvPicPr>
          <p:blipFill>
            <a:blip>
              <a:extLst>
                <a:ext uri="{96DAC541-7B7A-43D3-8B79-37D633B846F1}">
                  <asvg:svgBlip xmlns:asvg="http://schemas.microsoft.com/office/drawing/2016/SVG/main" r:embed="rId10"/>
                </a:ext>
              </a:extLst>
            </a:blip>
            <a:stretch>
              <a:fillRect/>
            </a:stretch>
          </p:blipFill>
          <p:spPr>
            <a:xfrm>
              <a:off x="12625465" y="6037783"/>
              <a:ext cx="498835" cy="646081"/>
            </a:xfrm>
            <a:prstGeom prst="rect">
              <a:avLst/>
            </a:prstGeom>
          </p:spPr>
        </p:pic>
        <p:pic>
          <p:nvPicPr>
            <p:cNvPr id="32" name="Image 8" descr=" ">
              <a:extLst>
                <a:ext uri="{FF2B5EF4-FFF2-40B4-BE49-F238E27FC236}">
                  <a16:creationId xmlns:a16="http://schemas.microsoft.com/office/drawing/2014/main" id="{EDACB8FB-5A7A-FEEC-472D-08464875BFE9}"/>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2218791" y="7120923"/>
              <a:ext cx="498959" cy="646584"/>
            </a:xfrm>
            <a:prstGeom prst="rect">
              <a:avLst/>
            </a:prstGeom>
          </p:spPr>
        </p:pic>
        <p:pic>
          <p:nvPicPr>
            <p:cNvPr id="33" name="Image 9" descr=" ">
              <a:extLst>
                <a:ext uri="{FF2B5EF4-FFF2-40B4-BE49-F238E27FC236}">
                  <a16:creationId xmlns:a16="http://schemas.microsoft.com/office/drawing/2014/main" id="{7D683264-60D0-F1FE-97F8-D111A5F5C3C2}"/>
                </a:ext>
              </a:extLst>
            </p:cNvPr>
            <p:cNvPicPr>
              <a:picLocks noChangeAspect="1"/>
            </p:cNvPicPr>
            <p:nvPr userDrawn="1"/>
          </p:nvPicPr>
          <p:blipFill>
            <a:blip>
              <a:extLst>
                <a:ext uri="{96DAC541-7B7A-43D3-8B79-37D633B846F1}">
                  <asvg:svgBlip xmlns:asvg="http://schemas.microsoft.com/office/drawing/2016/SVG/main" r:embed="rId12"/>
                </a:ext>
              </a:extLst>
            </a:blip>
            <a:stretch>
              <a:fillRect/>
            </a:stretch>
          </p:blipFill>
          <p:spPr>
            <a:xfrm>
              <a:off x="14630381" y="7136203"/>
              <a:ext cx="513112" cy="632160"/>
            </a:xfrm>
            <a:prstGeom prst="rect">
              <a:avLst/>
            </a:prstGeom>
          </p:spPr>
        </p:pic>
        <p:pic>
          <p:nvPicPr>
            <p:cNvPr id="34" name="Image 10" descr=" ">
              <a:extLst>
                <a:ext uri="{FF2B5EF4-FFF2-40B4-BE49-F238E27FC236}">
                  <a16:creationId xmlns:a16="http://schemas.microsoft.com/office/drawing/2014/main" id="{A84EC64D-17CA-4036-143B-79515017D7BE}"/>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3777948" y="5866259"/>
              <a:ext cx="382462" cy="819404"/>
            </a:xfrm>
            <a:prstGeom prst="rect">
              <a:avLst/>
            </a:prstGeom>
          </p:spPr>
        </p:pic>
        <p:pic>
          <p:nvPicPr>
            <p:cNvPr id="35" name="Image 11" descr=" ">
              <a:extLst>
                <a:ext uri="{FF2B5EF4-FFF2-40B4-BE49-F238E27FC236}">
                  <a16:creationId xmlns:a16="http://schemas.microsoft.com/office/drawing/2014/main" id="{61D6F536-A4C0-E265-6207-E08D15C7FF56}"/>
                </a:ext>
              </a:extLst>
            </p:cNvPr>
            <p:cNvPicPr>
              <a:picLocks noChangeAspect="1"/>
            </p:cNvPicPr>
            <p:nvPr userDrawn="1"/>
          </p:nvPicPr>
          <p:blipFill>
            <a:blip>
              <a:extLst>
                <a:ext uri="{96DAC541-7B7A-43D3-8B79-37D633B846F1}">
                  <asvg:svgBlip xmlns:asvg="http://schemas.microsoft.com/office/drawing/2016/SVG/main" r:embed="rId14"/>
                </a:ext>
              </a:extLst>
            </a:blip>
            <a:stretch>
              <a:fillRect/>
            </a:stretch>
          </p:blipFill>
          <p:spPr>
            <a:xfrm>
              <a:off x="12165020" y="5865943"/>
              <a:ext cx="382759" cy="819572"/>
            </a:xfrm>
            <a:prstGeom prst="rect">
              <a:avLst/>
            </a:prstGeom>
          </p:spPr>
        </p:pic>
        <p:pic>
          <p:nvPicPr>
            <p:cNvPr id="36" name="Image 12" descr=" ">
              <a:extLst>
                <a:ext uri="{FF2B5EF4-FFF2-40B4-BE49-F238E27FC236}">
                  <a16:creationId xmlns:a16="http://schemas.microsoft.com/office/drawing/2014/main" id="{1227A3F5-AB38-6A52-92C0-CC67896AB4EA}"/>
                </a:ext>
              </a:extLst>
            </p:cNvPr>
            <p:cNvPicPr>
              <a:picLocks noChangeAspect="1"/>
            </p:cNvPicPr>
            <p:nvPr userDrawn="1"/>
          </p:nvPicPr>
          <p:blipFill>
            <a:blip>
              <a:extLst>
                <a:ext uri="{96DAC541-7B7A-43D3-8B79-37D633B846F1}">
                  <asvg:svgBlip xmlns:asvg="http://schemas.microsoft.com/office/drawing/2016/SVG/main" r:embed="rId15"/>
                </a:ext>
              </a:extLst>
            </a:blip>
            <a:stretch>
              <a:fillRect/>
            </a:stretch>
          </p:blipFill>
          <p:spPr>
            <a:xfrm>
              <a:off x="13304045" y="6040692"/>
              <a:ext cx="373692" cy="630696"/>
            </a:xfrm>
            <a:prstGeom prst="rect">
              <a:avLst/>
            </a:prstGeom>
          </p:spPr>
        </p:pic>
      </p:grpSp>
    </p:spTree>
    <p:extLst>
      <p:ext uri="{BB962C8B-B14F-4D97-AF65-F5344CB8AC3E}">
        <p14:creationId xmlns:p14="http://schemas.microsoft.com/office/powerpoint/2010/main" val="2648509429"/>
      </p:ext>
    </p:extLst>
  </p:cSld>
  <p:clrMap bg1="lt1" tx1="dk1" bg2="lt2" tx2="dk2" accent1="accent1" accent2="accent2" accent3="accent3" accent4="accent4" accent5="accent5" accent6="accent6" hlink="hlink" folHlink="folHlink"/>
  <p:sldLayoutIdLst>
    <p:sldLayoutId id="2147483680" r:id="rId1"/>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PT"/>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619" y="730251"/>
            <a:ext cx="21033938" cy="265112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676619" y="3651250"/>
            <a:ext cx="21033938" cy="870267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676618" y="12712701"/>
            <a:ext cx="5487114"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C764DE79-268F-4C1A-8933-263129D2AF90}" type="datetimeFigureOut">
              <a:rPr lang="en-US" smtClean="0"/>
              <a:t>10/15/2026</a:t>
            </a:fld>
            <a:endParaRPr lang="en-US" dirty="0"/>
          </a:p>
        </p:txBody>
      </p:sp>
      <p:sp>
        <p:nvSpPr>
          <p:cNvPr id="5" name="Footer Placeholder 4"/>
          <p:cNvSpPr>
            <a:spLocks noGrp="1"/>
          </p:cNvSpPr>
          <p:nvPr>
            <p:ph type="ftr" sz="quarter" idx="3"/>
          </p:nvPr>
        </p:nvSpPr>
        <p:spPr>
          <a:xfrm>
            <a:off x="8078252" y="12712701"/>
            <a:ext cx="8230672"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17223443" y="12712701"/>
            <a:ext cx="5487114" cy="730250"/>
          </a:xfrm>
          <a:prstGeom prst="rect">
            <a:avLst/>
          </a:prstGeom>
        </p:spPr>
        <p:txBody>
          <a:bodyPr vert="horz" lIns="91440" tIns="45720" rIns="91440" bIns="45720" rtlCol="0" anchor="ctr"/>
          <a:lstStyle>
            <a:lvl1pPr algn="r">
              <a:defRPr sz="2400">
                <a:solidFill>
                  <a:schemeClr val="tx1">
                    <a:tint val="82000"/>
                  </a:schemeClr>
                </a:solidFill>
              </a:defRPr>
            </a:lvl1pPr>
          </a:lstStyle>
          <a:p>
            <a:fld id="{48F63A3B-78C7-47BE-AE5E-E10140E04643}" type="slidenum">
              <a:rPr lang="en-US" dirty="0"/>
              <a:t>‹#›</a:t>
            </a:fld>
            <a:endParaRPr lang="en-US" dirty="0"/>
          </a:p>
        </p:txBody>
      </p:sp>
      <p:pic>
        <p:nvPicPr>
          <p:cNvPr id="7" name="Image 0" descr=" ">
            <a:extLst>
              <a:ext uri="{FF2B5EF4-FFF2-40B4-BE49-F238E27FC236}">
                <a16:creationId xmlns:a16="http://schemas.microsoft.com/office/drawing/2014/main" id="{9150FE2F-450A-9A85-A612-7DD5D2312C6A}"/>
              </a:ext>
            </a:extLst>
          </p:cNvPr>
          <p:cNvPicPr>
            <a:picLocks noChangeAspect="1"/>
          </p:cNvPicPr>
          <p:nvPr userDrawn="1"/>
        </p:nvPicPr>
        <p:blipFill>
          <a:blip r:embed="rId14"/>
          <a:stretch>
            <a:fillRect/>
          </a:stretch>
        </p:blipFill>
        <p:spPr>
          <a:xfrm>
            <a:off x="-30510" y="182660"/>
            <a:ext cx="24444190" cy="13746348"/>
          </a:xfrm>
          <a:prstGeom prst="rect">
            <a:avLst/>
          </a:prstGeom>
        </p:spPr>
      </p:pic>
      <p:grpSp>
        <p:nvGrpSpPr>
          <p:cNvPr id="8" name="Group 7">
            <a:extLst>
              <a:ext uri="{FF2B5EF4-FFF2-40B4-BE49-F238E27FC236}">
                <a16:creationId xmlns:a16="http://schemas.microsoft.com/office/drawing/2014/main" id="{185A25ED-B6A5-DBF5-0D6F-B58B844EF79F}"/>
              </a:ext>
            </a:extLst>
          </p:cNvPr>
          <p:cNvGrpSpPr/>
          <p:nvPr userDrawn="1"/>
        </p:nvGrpSpPr>
        <p:grpSpPr>
          <a:xfrm>
            <a:off x="8928460" y="4893105"/>
            <a:ext cx="6526250" cy="2162730"/>
            <a:chOff x="8648640" y="5677688"/>
            <a:chExt cx="7088627" cy="2349401"/>
          </a:xfrm>
        </p:grpSpPr>
        <p:sp>
          <p:nvSpPr>
            <p:cNvPr id="9" name="Shape 0">
              <a:extLst>
                <a:ext uri="{FF2B5EF4-FFF2-40B4-BE49-F238E27FC236}">
                  <a16:creationId xmlns:a16="http://schemas.microsoft.com/office/drawing/2014/main" id="{0835FDFF-C4C5-3156-6EB6-B7E6887338F6}"/>
                </a:ext>
              </a:extLst>
            </p:cNvPr>
            <p:cNvSpPr/>
            <p:nvPr userDrawn="1"/>
          </p:nvSpPr>
          <p:spPr>
            <a:xfrm>
              <a:off x="8648640" y="5677688"/>
              <a:ext cx="7088627" cy="2349400"/>
            </a:xfrm>
            <a:prstGeom prst="rect">
              <a:avLst/>
            </a:prstGeom>
            <a:noFill/>
            <a:ln/>
          </p:spPr>
          <p:txBody>
            <a:bodyPr/>
            <a:lstStyle/>
            <a:p>
              <a:endParaRPr lang="en-PT" sz="7200"/>
            </a:p>
          </p:txBody>
        </p:sp>
        <p:pic>
          <p:nvPicPr>
            <p:cNvPr id="10" name="Image 1" descr=" ">
              <a:extLst>
                <a:ext uri="{FF2B5EF4-FFF2-40B4-BE49-F238E27FC236}">
                  <a16:creationId xmlns:a16="http://schemas.microsoft.com/office/drawing/2014/main" id="{9A124137-BB17-8104-3190-C80497881E4B}"/>
                </a:ext>
              </a:extLst>
            </p:cNvPr>
            <p:cNvPicPr>
              <a:picLocks noChangeAspect="1"/>
            </p:cNvPicPr>
            <p:nvPr userDrawn="1"/>
          </p:nvPicPr>
          <p:blipFill>
            <a:blip r:embed="rId15"/>
            <a:stretch>
              <a:fillRect/>
            </a:stretch>
          </p:blipFill>
          <p:spPr>
            <a:xfrm>
              <a:off x="8648640" y="5677688"/>
              <a:ext cx="7088627" cy="2349401"/>
            </a:xfrm>
            <a:prstGeom prst="rect">
              <a:avLst/>
            </a:prstGeom>
          </p:spPr>
        </p:pic>
        <p:pic>
          <p:nvPicPr>
            <p:cNvPr id="11" name="Image 2" descr=" ">
              <a:extLst>
                <a:ext uri="{FF2B5EF4-FFF2-40B4-BE49-F238E27FC236}">
                  <a16:creationId xmlns:a16="http://schemas.microsoft.com/office/drawing/2014/main" id="{35F849A9-BDF5-F403-8EE1-A9C1C0D3CB14}"/>
                </a:ext>
              </a:extLst>
            </p:cNvPr>
            <p:cNvPicPr>
              <a:picLocks noChangeAspect="1"/>
            </p:cNvPicPr>
            <p:nvPr userDrawn="1"/>
          </p:nvPicPr>
          <p:blipFill>
            <a:blip>
              <a:extLst>
                <a:ext uri="{96DAC541-7B7A-43D3-8B79-37D633B846F1}">
                  <asvg:svgBlip xmlns:asvg="http://schemas.microsoft.com/office/drawing/2016/SVG/main" r:embed="rId16"/>
                </a:ext>
              </a:extLst>
            </a:blip>
            <a:stretch>
              <a:fillRect/>
            </a:stretch>
          </p:blipFill>
          <p:spPr>
            <a:xfrm>
              <a:off x="9410202" y="6038416"/>
              <a:ext cx="722477" cy="1519219"/>
            </a:xfrm>
            <a:prstGeom prst="rect">
              <a:avLst/>
            </a:prstGeom>
          </p:spPr>
        </p:pic>
        <p:pic>
          <p:nvPicPr>
            <p:cNvPr id="12" name="Image 3" descr=" ">
              <a:extLst>
                <a:ext uri="{FF2B5EF4-FFF2-40B4-BE49-F238E27FC236}">
                  <a16:creationId xmlns:a16="http://schemas.microsoft.com/office/drawing/2014/main" id="{F661E0D1-639C-364B-D606-DB225D9EDE22}"/>
                </a:ext>
              </a:extLst>
            </p:cNvPr>
            <p:cNvPicPr>
              <a:picLocks noChangeAspect="1"/>
            </p:cNvPicPr>
            <p:nvPr userDrawn="1"/>
          </p:nvPicPr>
          <p:blipFill>
            <a:blip>
              <a:extLst>
                <a:ext uri="{96DAC541-7B7A-43D3-8B79-37D633B846F1}">
                  <asvg:svgBlip xmlns:asvg="http://schemas.microsoft.com/office/drawing/2016/SVG/main" r:embed="rId17"/>
                </a:ext>
              </a:extLst>
            </a:blip>
            <a:stretch>
              <a:fillRect/>
            </a:stretch>
          </p:blipFill>
          <p:spPr>
            <a:xfrm>
              <a:off x="12899231" y="7123671"/>
              <a:ext cx="848439" cy="630628"/>
            </a:xfrm>
            <a:prstGeom prst="rect">
              <a:avLst/>
            </a:prstGeom>
          </p:spPr>
        </p:pic>
        <p:pic>
          <p:nvPicPr>
            <p:cNvPr id="13" name="Image 4" descr=" ">
              <a:extLst>
                <a:ext uri="{FF2B5EF4-FFF2-40B4-BE49-F238E27FC236}">
                  <a16:creationId xmlns:a16="http://schemas.microsoft.com/office/drawing/2014/main" id="{C05BB8C6-FD15-A6C3-1663-A9CF5163D401}"/>
                </a:ext>
              </a:extLst>
            </p:cNvPr>
            <p:cNvPicPr>
              <a:picLocks noChangeAspect="1"/>
            </p:cNvPicPr>
            <p:nvPr userDrawn="1"/>
          </p:nvPicPr>
          <p:blipFill>
            <a:blip>
              <a:extLst>
                <a:ext uri="{96DAC541-7B7A-43D3-8B79-37D633B846F1}">
                  <asvg:svgBlip xmlns:asvg="http://schemas.microsoft.com/office/drawing/2016/SVG/main" r:embed="rId18"/>
                </a:ext>
              </a:extLst>
            </a:blip>
            <a:stretch>
              <a:fillRect/>
            </a:stretch>
          </p:blipFill>
          <p:spPr>
            <a:xfrm>
              <a:off x="13929176" y="7124595"/>
              <a:ext cx="555508" cy="850540"/>
            </a:xfrm>
            <a:prstGeom prst="rect">
              <a:avLst/>
            </a:prstGeom>
          </p:spPr>
        </p:pic>
        <p:pic>
          <p:nvPicPr>
            <p:cNvPr id="14" name="Image 5" descr=" ">
              <a:extLst>
                <a:ext uri="{FF2B5EF4-FFF2-40B4-BE49-F238E27FC236}">
                  <a16:creationId xmlns:a16="http://schemas.microsoft.com/office/drawing/2014/main" id="{A7E418FA-8F81-47E8-E87F-C97D3D7815A6}"/>
                </a:ext>
              </a:extLst>
            </p:cNvPr>
            <p:cNvPicPr>
              <a:picLocks noChangeAspect="1"/>
            </p:cNvPicPr>
            <p:nvPr userDrawn="1"/>
          </p:nvPicPr>
          <p:blipFill>
            <a:blip>
              <a:extLst>
                <a:ext uri="{96DAC541-7B7A-43D3-8B79-37D633B846F1}">
                  <asvg:svgBlip xmlns:asvg="http://schemas.microsoft.com/office/drawing/2016/SVG/main" r:embed="rId19"/>
                </a:ext>
              </a:extLst>
            </a:blip>
            <a:stretch>
              <a:fillRect/>
            </a:stretch>
          </p:blipFill>
          <p:spPr>
            <a:xfrm>
              <a:off x="11477881" y="5831427"/>
              <a:ext cx="564712" cy="858385"/>
            </a:xfrm>
            <a:prstGeom prst="rect">
              <a:avLst/>
            </a:prstGeom>
          </p:spPr>
        </p:pic>
        <p:pic>
          <p:nvPicPr>
            <p:cNvPr id="15" name="Image 6" descr=" ">
              <a:extLst>
                <a:ext uri="{FF2B5EF4-FFF2-40B4-BE49-F238E27FC236}">
                  <a16:creationId xmlns:a16="http://schemas.microsoft.com/office/drawing/2014/main" id="{FF7BE3F5-4977-2798-7A0F-D59ED0E1A5A5}"/>
                </a:ext>
              </a:extLst>
            </p:cNvPr>
            <p:cNvPicPr>
              <a:picLocks noChangeAspect="1"/>
            </p:cNvPicPr>
            <p:nvPr userDrawn="1"/>
          </p:nvPicPr>
          <p:blipFill>
            <a:blip>
              <a:extLst>
                <a:ext uri="{96DAC541-7B7A-43D3-8B79-37D633B846F1}">
                  <asvg:svgBlip xmlns:asvg="http://schemas.microsoft.com/office/drawing/2016/SVG/main" r:embed="rId20"/>
                </a:ext>
              </a:extLst>
            </a:blip>
            <a:stretch>
              <a:fillRect/>
            </a:stretch>
          </p:blipFill>
          <p:spPr>
            <a:xfrm>
              <a:off x="11477881" y="6915479"/>
              <a:ext cx="655198" cy="857362"/>
            </a:xfrm>
            <a:prstGeom prst="rect">
              <a:avLst/>
            </a:prstGeom>
          </p:spPr>
        </p:pic>
        <p:pic>
          <p:nvPicPr>
            <p:cNvPr id="16" name="Image 7" descr=" ">
              <a:extLst>
                <a:ext uri="{FF2B5EF4-FFF2-40B4-BE49-F238E27FC236}">
                  <a16:creationId xmlns:a16="http://schemas.microsoft.com/office/drawing/2014/main" id="{A118CED6-1014-8145-6699-13DF4FAF7E89}"/>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12625465" y="6037783"/>
              <a:ext cx="498835" cy="646081"/>
            </a:xfrm>
            <a:prstGeom prst="rect">
              <a:avLst/>
            </a:prstGeom>
          </p:spPr>
        </p:pic>
        <p:pic>
          <p:nvPicPr>
            <p:cNvPr id="17" name="Image 8" descr=" ">
              <a:extLst>
                <a:ext uri="{FF2B5EF4-FFF2-40B4-BE49-F238E27FC236}">
                  <a16:creationId xmlns:a16="http://schemas.microsoft.com/office/drawing/2014/main" id="{51429785-0010-370D-0C0C-38ABE82F0B34}"/>
                </a:ext>
              </a:extLst>
            </p:cNvPr>
            <p:cNvPicPr>
              <a:picLocks noChangeAspect="1"/>
            </p:cNvPicPr>
            <p:nvPr userDrawn="1"/>
          </p:nvPicPr>
          <p:blipFill>
            <a:blip>
              <a:extLst>
                <a:ext uri="{96DAC541-7B7A-43D3-8B79-37D633B846F1}">
                  <asvg:svgBlip xmlns:asvg="http://schemas.microsoft.com/office/drawing/2016/SVG/main" r:embed="rId22"/>
                </a:ext>
              </a:extLst>
            </a:blip>
            <a:stretch>
              <a:fillRect/>
            </a:stretch>
          </p:blipFill>
          <p:spPr>
            <a:xfrm>
              <a:off x="12218791" y="7120923"/>
              <a:ext cx="498959" cy="646584"/>
            </a:xfrm>
            <a:prstGeom prst="rect">
              <a:avLst/>
            </a:prstGeom>
          </p:spPr>
        </p:pic>
        <p:pic>
          <p:nvPicPr>
            <p:cNvPr id="18" name="Image 9" descr=" ">
              <a:extLst>
                <a:ext uri="{FF2B5EF4-FFF2-40B4-BE49-F238E27FC236}">
                  <a16:creationId xmlns:a16="http://schemas.microsoft.com/office/drawing/2014/main" id="{3018E893-526A-5755-4D25-D9EDB8F0B2CD}"/>
                </a:ext>
              </a:extLst>
            </p:cNvPr>
            <p:cNvPicPr>
              <a:picLocks noChangeAspect="1"/>
            </p:cNvPicPr>
            <p:nvPr userDrawn="1"/>
          </p:nvPicPr>
          <p:blipFill>
            <a:blip>
              <a:extLst>
                <a:ext uri="{96DAC541-7B7A-43D3-8B79-37D633B846F1}">
                  <asvg:svgBlip xmlns:asvg="http://schemas.microsoft.com/office/drawing/2016/SVG/main" r:embed="rId23"/>
                </a:ext>
              </a:extLst>
            </a:blip>
            <a:stretch>
              <a:fillRect/>
            </a:stretch>
          </p:blipFill>
          <p:spPr>
            <a:xfrm>
              <a:off x="14630381" y="7136203"/>
              <a:ext cx="513112" cy="632160"/>
            </a:xfrm>
            <a:prstGeom prst="rect">
              <a:avLst/>
            </a:prstGeom>
          </p:spPr>
        </p:pic>
        <p:pic>
          <p:nvPicPr>
            <p:cNvPr id="19" name="Image 10" descr=" ">
              <a:extLst>
                <a:ext uri="{FF2B5EF4-FFF2-40B4-BE49-F238E27FC236}">
                  <a16:creationId xmlns:a16="http://schemas.microsoft.com/office/drawing/2014/main" id="{36501C49-BF32-BAA3-121E-687AFFF9606C}"/>
                </a:ext>
              </a:extLst>
            </p:cNvPr>
            <p:cNvPicPr>
              <a:picLocks noChangeAspect="1"/>
            </p:cNvPicPr>
            <p:nvPr userDrawn="1"/>
          </p:nvPicPr>
          <p:blipFill>
            <a:blip>
              <a:extLst>
                <a:ext uri="{96DAC541-7B7A-43D3-8B79-37D633B846F1}">
                  <asvg:svgBlip xmlns:asvg="http://schemas.microsoft.com/office/drawing/2016/SVG/main" r:embed="rId24"/>
                </a:ext>
              </a:extLst>
            </a:blip>
            <a:stretch>
              <a:fillRect/>
            </a:stretch>
          </p:blipFill>
          <p:spPr>
            <a:xfrm>
              <a:off x="13777948" y="5866259"/>
              <a:ext cx="382462" cy="819404"/>
            </a:xfrm>
            <a:prstGeom prst="rect">
              <a:avLst/>
            </a:prstGeom>
          </p:spPr>
        </p:pic>
        <p:pic>
          <p:nvPicPr>
            <p:cNvPr id="20" name="Image 11" descr=" ">
              <a:extLst>
                <a:ext uri="{FF2B5EF4-FFF2-40B4-BE49-F238E27FC236}">
                  <a16:creationId xmlns:a16="http://schemas.microsoft.com/office/drawing/2014/main" id="{86F7B5F2-6B4F-B619-CD1E-9FE03B62FE04}"/>
                </a:ext>
              </a:extLst>
            </p:cNvPr>
            <p:cNvPicPr>
              <a:picLocks noChangeAspect="1"/>
            </p:cNvPicPr>
            <p:nvPr userDrawn="1"/>
          </p:nvPicPr>
          <p:blipFill>
            <a:blip>
              <a:extLst>
                <a:ext uri="{96DAC541-7B7A-43D3-8B79-37D633B846F1}">
                  <asvg:svgBlip xmlns:asvg="http://schemas.microsoft.com/office/drawing/2016/SVG/main" r:embed="rId25"/>
                </a:ext>
              </a:extLst>
            </a:blip>
            <a:stretch>
              <a:fillRect/>
            </a:stretch>
          </p:blipFill>
          <p:spPr>
            <a:xfrm>
              <a:off x="12165020" y="5865943"/>
              <a:ext cx="382759" cy="819572"/>
            </a:xfrm>
            <a:prstGeom prst="rect">
              <a:avLst/>
            </a:prstGeom>
          </p:spPr>
        </p:pic>
        <p:pic>
          <p:nvPicPr>
            <p:cNvPr id="21" name="Image 12" descr=" ">
              <a:extLst>
                <a:ext uri="{FF2B5EF4-FFF2-40B4-BE49-F238E27FC236}">
                  <a16:creationId xmlns:a16="http://schemas.microsoft.com/office/drawing/2014/main" id="{A957146A-F7A1-1ECE-5F1B-5CB89DC87670}"/>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13304045" y="6040692"/>
              <a:ext cx="373692" cy="630696"/>
            </a:xfrm>
            <a:prstGeom prst="rect">
              <a:avLst/>
            </a:prstGeom>
          </p:spPr>
        </p:pic>
      </p:grpSp>
    </p:spTree>
    <p:extLst>
      <p:ext uri="{BB962C8B-B14F-4D97-AF65-F5344CB8AC3E}">
        <p14:creationId xmlns:p14="http://schemas.microsoft.com/office/powerpoint/2010/main" val="2852958"/>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619" y="730251"/>
            <a:ext cx="21033938" cy="265112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676619" y="3651250"/>
            <a:ext cx="21033938" cy="870267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676618" y="12712701"/>
            <a:ext cx="5487114"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C764DE79-268F-4C1A-8933-263129D2AF90}" type="datetimeFigureOut">
              <a:rPr lang="en-US" smtClean="0"/>
              <a:t>10/15/2026</a:t>
            </a:fld>
            <a:endParaRPr lang="en-US" dirty="0"/>
          </a:p>
        </p:txBody>
      </p:sp>
      <p:sp>
        <p:nvSpPr>
          <p:cNvPr id="5" name="Footer Placeholder 4"/>
          <p:cNvSpPr>
            <a:spLocks noGrp="1"/>
          </p:cNvSpPr>
          <p:nvPr>
            <p:ph type="ftr" sz="quarter" idx="3"/>
          </p:nvPr>
        </p:nvSpPr>
        <p:spPr>
          <a:xfrm>
            <a:off x="8078252" y="12712701"/>
            <a:ext cx="8230672"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17223443" y="12712701"/>
            <a:ext cx="5487114" cy="730250"/>
          </a:xfrm>
          <a:prstGeom prst="rect">
            <a:avLst/>
          </a:prstGeom>
        </p:spPr>
        <p:txBody>
          <a:bodyPr vert="horz" lIns="91440" tIns="45720" rIns="91440" bIns="45720" rtlCol="0" anchor="ctr"/>
          <a:lstStyle>
            <a:lvl1pPr algn="r">
              <a:defRPr sz="2400">
                <a:solidFill>
                  <a:schemeClr val="tx1">
                    <a:tint val="82000"/>
                  </a:schemeClr>
                </a:solidFill>
              </a:defRPr>
            </a:lvl1pPr>
          </a:lstStyle>
          <a:p>
            <a:fld id="{48F63A3B-78C7-47BE-AE5E-E10140E04643}" type="slidenum">
              <a:rPr lang="en-US" dirty="0"/>
              <a:t>‹#›</a:t>
            </a:fld>
            <a:endParaRPr lang="en-US" dirty="0"/>
          </a:p>
        </p:txBody>
      </p:sp>
      <p:pic>
        <p:nvPicPr>
          <p:cNvPr id="8" name="Picture 24">
            <a:extLst>
              <a:ext uri="{FF2B5EF4-FFF2-40B4-BE49-F238E27FC236}">
                <a16:creationId xmlns:a16="http://schemas.microsoft.com/office/drawing/2014/main" id="{A4442BE5-F9DE-B35A-C08B-72DEEF2BC864}"/>
              </a:ext>
            </a:extLst>
          </p:cNvPr>
          <p:cNvPicPr>
            <a:picLocks noChangeAspect="1"/>
          </p:cNvPicPr>
          <p:nvPr userDrawn="1"/>
        </p:nvPicPr>
        <p:blipFill>
          <a:blip r:embed="rId21" cstate="email">
            <a:extLst>
              <a:ext uri="{28A0092B-C50C-407E-A947-70E740481C1C}">
                <a14:useLocalDpi xmlns:a14="http://schemas.microsoft.com/office/drawing/2010/main"/>
              </a:ext>
            </a:extLst>
          </a:blip>
          <a:stretch>
            <a:fillRect/>
          </a:stretch>
        </p:blipFill>
        <p:spPr>
          <a:xfrm>
            <a:off x="1676620" y="13119257"/>
            <a:ext cx="1961930" cy="301611"/>
          </a:xfrm>
          <a:prstGeom prst="rect">
            <a:avLst/>
          </a:prstGeom>
          <a:noFill/>
          <a:ln cap="flat">
            <a:noFill/>
          </a:ln>
        </p:spPr>
      </p:pic>
    </p:spTree>
    <p:extLst>
      <p:ext uri="{BB962C8B-B14F-4D97-AF65-F5344CB8AC3E}">
        <p14:creationId xmlns:p14="http://schemas.microsoft.com/office/powerpoint/2010/main" val="485036082"/>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50" r:id="rId13"/>
    <p:sldLayoutId id="2147483751" r:id="rId14"/>
    <p:sldLayoutId id="2147483752" r:id="rId15"/>
    <p:sldLayoutId id="2147483753" r:id="rId16"/>
    <p:sldLayoutId id="2147483754" r:id="rId17"/>
    <p:sldLayoutId id="2147483755" r:id="rId18"/>
    <p:sldLayoutId id="2147483756" r:id="rId19"/>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619" y="730251"/>
            <a:ext cx="21033938" cy="265112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676619" y="3651250"/>
            <a:ext cx="21033938" cy="870267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676618" y="12712701"/>
            <a:ext cx="5487114"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C764DE79-268F-4C1A-8933-263129D2AF90}" type="datetimeFigureOut">
              <a:rPr lang="en-US" smtClean="0"/>
              <a:t>10/15/2026</a:t>
            </a:fld>
            <a:endParaRPr lang="en-US" dirty="0"/>
          </a:p>
        </p:txBody>
      </p:sp>
      <p:sp>
        <p:nvSpPr>
          <p:cNvPr id="5" name="Footer Placeholder 4"/>
          <p:cNvSpPr>
            <a:spLocks noGrp="1"/>
          </p:cNvSpPr>
          <p:nvPr>
            <p:ph type="ftr" sz="quarter" idx="3"/>
          </p:nvPr>
        </p:nvSpPr>
        <p:spPr>
          <a:xfrm>
            <a:off x="8078252" y="12712701"/>
            <a:ext cx="8230672"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17223443" y="12712701"/>
            <a:ext cx="5487114" cy="730250"/>
          </a:xfrm>
          <a:prstGeom prst="rect">
            <a:avLst/>
          </a:prstGeom>
        </p:spPr>
        <p:txBody>
          <a:bodyPr vert="horz" lIns="91440" tIns="45720" rIns="91440" bIns="45720" rtlCol="0" anchor="ctr"/>
          <a:lstStyle>
            <a:lvl1pPr algn="r">
              <a:defRPr sz="2400">
                <a:solidFill>
                  <a:schemeClr val="tx1">
                    <a:tint val="82000"/>
                  </a:schemeClr>
                </a:solidFill>
              </a:defRPr>
            </a:lvl1pPr>
          </a:lstStyle>
          <a:p>
            <a:fld id="{48F63A3B-78C7-47BE-AE5E-E10140E04643}" type="slidenum">
              <a:rPr lang="en-US" dirty="0"/>
              <a:t>‹#›</a:t>
            </a:fld>
            <a:endParaRPr lang="en-US" dirty="0"/>
          </a:p>
        </p:txBody>
      </p:sp>
      <p:pic>
        <p:nvPicPr>
          <p:cNvPr id="7" name="Picture 24">
            <a:extLst>
              <a:ext uri="{FF2B5EF4-FFF2-40B4-BE49-F238E27FC236}">
                <a16:creationId xmlns:a16="http://schemas.microsoft.com/office/drawing/2014/main" id="{5A458E2E-C8C5-F13D-A468-F164942DDB66}"/>
              </a:ext>
            </a:extLst>
          </p:cNvPr>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1676620" y="13119257"/>
            <a:ext cx="1961930" cy="301611"/>
          </a:xfrm>
          <a:prstGeom prst="rect">
            <a:avLst/>
          </a:prstGeom>
          <a:noFill/>
          <a:ln cap="flat">
            <a:noFill/>
          </a:ln>
        </p:spPr>
      </p:pic>
    </p:spTree>
    <p:extLst>
      <p:ext uri="{BB962C8B-B14F-4D97-AF65-F5344CB8AC3E}">
        <p14:creationId xmlns:p14="http://schemas.microsoft.com/office/powerpoint/2010/main" val="324883788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736" r:id="rId12"/>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676619" y="730251"/>
            <a:ext cx="21033938" cy="2651126"/>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676619" y="3651250"/>
            <a:ext cx="21033938" cy="8702676"/>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1676618" y="12712701"/>
            <a:ext cx="5487114" cy="730250"/>
          </a:xfrm>
          <a:prstGeom prst="rect">
            <a:avLst/>
          </a:prstGeom>
        </p:spPr>
        <p:txBody>
          <a:bodyPr vert="horz" lIns="91440" tIns="45720" rIns="91440" bIns="45720" rtlCol="0" anchor="ctr"/>
          <a:lstStyle>
            <a:lvl1pPr algn="l">
              <a:defRPr sz="2400">
                <a:solidFill>
                  <a:schemeClr val="tx1">
                    <a:tint val="82000"/>
                  </a:schemeClr>
                </a:solidFill>
              </a:defRPr>
            </a:lvl1pPr>
          </a:lstStyle>
          <a:p>
            <a:fld id="{C764DE79-268F-4C1A-8933-263129D2AF90}" type="datetimeFigureOut">
              <a:rPr lang="en-US" smtClean="0"/>
              <a:t>10/15/2026</a:t>
            </a:fld>
            <a:endParaRPr lang="en-US" dirty="0"/>
          </a:p>
        </p:txBody>
      </p:sp>
      <p:sp>
        <p:nvSpPr>
          <p:cNvPr id="5" name="Footer Placeholder 4"/>
          <p:cNvSpPr>
            <a:spLocks noGrp="1"/>
          </p:cNvSpPr>
          <p:nvPr>
            <p:ph type="ftr" sz="quarter" idx="3"/>
          </p:nvPr>
        </p:nvSpPr>
        <p:spPr>
          <a:xfrm>
            <a:off x="8078252" y="12712701"/>
            <a:ext cx="8230672" cy="730250"/>
          </a:xfrm>
          <a:prstGeom prst="rect">
            <a:avLst/>
          </a:prstGeom>
        </p:spPr>
        <p:txBody>
          <a:bodyPr vert="horz" lIns="91440" tIns="45720" rIns="91440" bIns="45720" rtlCol="0" anchor="ctr"/>
          <a:lstStyle>
            <a:lvl1pPr algn="ctr">
              <a:defRPr sz="24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17223443" y="12712701"/>
            <a:ext cx="5487114" cy="730250"/>
          </a:xfrm>
          <a:prstGeom prst="rect">
            <a:avLst/>
          </a:prstGeom>
        </p:spPr>
        <p:txBody>
          <a:bodyPr vert="horz" lIns="91440" tIns="45720" rIns="91440" bIns="45720" rtlCol="0" anchor="ctr"/>
          <a:lstStyle>
            <a:lvl1pPr algn="r">
              <a:defRPr sz="24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487623046"/>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8" name="Slide Number Placeholder 5">
            <a:extLst>
              <a:ext uri="{FF2B5EF4-FFF2-40B4-BE49-F238E27FC236}">
                <a16:creationId xmlns:a16="http://schemas.microsoft.com/office/drawing/2014/main" id="{D91990A4-9DDF-CACD-FBBF-528BA846C9D7}"/>
              </a:ext>
            </a:extLst>
          </p:cNvPr>
          <p:cNvSpPr>
            <a:spLocks noGrp="1"/>
          </p:cNvSpPr>
          <p:nvPr>
            <p:ph type="sldNum" sz="quarter" idx="4"/>
          </p:nvPr>
        </p:nvSpPr>
        <p:spPr>
          <a:xfrm>
            <a:off x="22463661" y="13190413"/>
            <a:ext cx="246896" cy="246222"/>
          </a:xfrm>
          <a:prstGeom prst="rect">
            <a:avLst/>
          </a:prstGeom>
        </p:spPr>
        <p:txBody>
          <a:bodyPr vert="horz" wrap="none" lIns="0" tIns="0" rIns="0" bIns="0" rtlCol="0" anchor="ctr">
            <a:spAutoFit/>
          </a:bodyPr>
          <a:lstStyle>
            <a:lvl1pPr algn="r">
              <a:defRPr sz="1600">
                <a:solidFill>
                  <a:schemeClr val="tx1">
                    <a:tint val="82000"/>
                  </a:schemeClr>
                </a:solidFill>
              </a:defRPr>
            </a:lvl1pPr>
          </a:lstStyle>
          <a:p>
            <a:fld id="{4AA77E54-165B-A847-AA47-6003AD81C543}" type="slidenum">
              <a:rPr lang="en-PT" smtClean="0"/>
              <a:pPr/>
              <a:t>‹#›</a:t>
            </a:fld>
            <a:endParaRPr lang="en-PT"/>
          </a:p>
        </p:txBody>
      </p:sp>
      <p:pic>
        <p:nvPicPr>
          <p:cNvPr id="19" name="Picture 24">
            <a:extLst>
              <a:ext uri="{FF2B5EF4-FFF2-40B4-BE49-F238E27FC236}">
                <a16:creationId xmlns:a16="http://schemas.microsoft.com/office/drawing/2014/main" id="{290126AE-B33A-05A2-20EF-AF2351D33956}"/>
              </a:ext>
            </a:extLst>
          </p:cNvPr>
          <p:cNvPicPr>
            <a:picLocks noChangeAspect="1"/>
          </p:cNvPicPr>
          <p:nvPr userDrawn="1"/>
        </p:nvPicPr>
        <p:blipFill>
          <a:blip r:embed="rId7" cstate="email">
            <a:extLst>
              <a:ext uri="{28A0092B-C50C-407E-A947-70E740481C1C}">
                <a14:useLocalDpi xmlns:a14="http://schemas.microsoft.com/office/drawing/2010/main"/>
              </a:ext>
            </a:extLst>
          </a:blip>
          <a:stretch>
            <a:fillRect/>
          </a:stretch>
        </p:blipFill>
        <p:spPr>
          <a:xfrm>
            <a:off x="1676620" y="13206176"/>
            <a:ext cx="1396538" cy="214692"/>
          </a:xfrm>
          <a:prstGeom prst="rect">
            <a:avLst/>
          </a:prstGeom>
          <a:noFill/>
          <a:ln cap="flat">
            <a:noFill/>
          </a:ln>
        </p:spPr>
      </p:pic>
    </p:spTree>
    <p:extLst>
      <p:ext uri="{BB962C8B-B14F-4D97-AF65-F5344CB8AC3E}">
        <p14:creationId xmlns:p14="http://schemas.microsoft.com/office/powerpoint/2010/main" val="3531946917"/>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Lst>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PT"/>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44.xml"/><Relationship Id="rId6" Type="http://schemas.openxmlformats.org/officeDocument/2006/relationships/image" Target="../media/image31.png"/><Relationship Id="rId5" Type="http://schemas.openxmlformats.org/officeDocument/2006/relationships/image" Target="../media/image30.emf"/><Relationship Id="rId4" Type="http://schemas.openxmlformats.org/officeDocument/2006/relationships/image" Target="../media/image29.emf"/></Relationships>
</file>

<file path=ppt/slides/_rels/slide4.xml.rels><?xml version="1.0" encoding="UTF-8" standalone="yes"?>
<Relationships xmlns="http://schemas.openxmlformats.org/package/2006/relationships"><Relationship Id="rId3" Type="http://schemas.openxmlformats.org/officeDocument/2006/relationships/image" Target="../media/image33.emf"/><Relationship Id="rId7" Type="http://schemas.openxmlformats.org/officeDocument/2006/relationships/image" Target="../media/image37.png"/><Relationship Id="rId2" Type="http://schemas.openxmlformats.org/officeDocument/2006/relationships/image" Target="../media/image32.emf"/><Relationship Id="rId1" Type="http://schemas.openxmlformats.org/officeDocument/2006/relationships/slideLayout" Target="../slideLayouts/slideLayout56.xml"/><Relationship Id="rId6" Type="http://schemas.openxmlformats.org/officeDocument/2006/relationships/image" Target="../media/image36.emf"/><Relationship Id="rId5" Type="http://schemas.openxmlformats.org/officeDocument/2006/relationships/image" Target="../media/image35.emf"/><Relationship Id="rId4" Type="http://schemas.openxmlformats.org/officeDocument/2006/relationships/image" Target="../media/image3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jpeg"/><Relationship Id="rId1" Type="http://schemas.openxmlformats.org/officeDocument/2006/relationships/slideLayout" Target="../slideLayouts/slideLayout44.xml"/></Relationships>
</file>

<file path=ppt/slides/_rels/slide7.xml.rels><?xml version="1.0" encoding="UTF-8" standalone="yes"?>
<Relationships xmlns="http://schemas.openxmlformats.org/package/2006/relationships"><Relationship Id="rId8" Type="http://schemas.openxmlformats.org/officeDocument/2006/relationships/image" Target="../media/image46.jpeg"/><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jpeg"/><Relationship Id="rId1" Type="http://schemas.openxmlformats.org/officeDocument/2006/relationships/slideLayout" Target="../slideLayouts/slideLayout44.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 Id="rId9" Type="http://schemas.openxmlformats.org/officeDocument/2006/relationships/image" Target="../media/image47.png"/></Relationships>
</file>

<file path=ppt/slides/_rels/slide8.xml.rels><?xml version="1.0" encoding="UTF-8" standalone="yes"?>
<Relationships xmlns="http://schemas.openxmlformats.org/package/2006/relationships"><Relationship Id="rId8" Type="http://schemas.openxmlformats.org/officeDocument/2006/relationships/image" Target="../media/image53.png"/><Relationship Id="rId13" Type="http://schemas.openxmlformats.org/officeDocument/2006/relationships/image" Target="../media/image57.jpeg"/><Relationship Id="rId18" Type="http://schemas.openxmlformats.org/officeDocument/2006/relationships/image" Target="../media/image62.png"/><Relationship Id="rId26" Type="http://schemas.openxmlformats.org/officeDocument/2006/relationships/image" Target="../media/image70.png"/><Relationship Id="rId3" Type="http://schemas.openxmlformats.org/officeDocument/2006/relationships/image" Target="../media/image49.png"/><Relationship Id="rId21" Type="http://schemas.openxmlformats.org/officeDocument/2006/relationships/image" Target="../media/image65.png"/><Relationship Id="rId7" Type="http://schemas.openxmlformats.org/officeDocument/2006/relationships/image" Target="../media/image52.png"/><Relationship Id="rId12" Type="http://schemas.openxmlformats.org/officeDocument/2006/relationships/hyperlink" Target="http://www.google.co.uk/url?sa=i&amp;rct=j&amp;q=&amp;esrc=s&amp;source=images&amp;cd=&amp;cad=rja&amp;uact=8&amp;ved=2ahUKEwiStKGw7qraAhWKWhQKHYaGDwoQjRx6BAgAEAU&amp;url=http://www.montmelo.cat/pl280/actualitat/hemeroteca-de-noticies/id1980/aigues-ter-llobregat-atll-en-huelga.htm&amp;psig=AOvVaw2AyHXFw54tTOMAgdc-aTWp&amp;ust=1523283227198651" TargetMode="External"/><Relationship Id="rId17" Type="http://schemas.openxmlformats.org/officeDocument/2006/relationships/image" Target="../media/image61.png"/><Relationship Id="rId25" Type="http://schemas.openxmlformats.org/officeDocument/2006/relationships/image" Target="../media/image69.png"/><Relationship Id="rId2" Type="http://schemas.openxmlformats.org/officeDocument/2006/relationships/image" Target="../media/image48.png"/><Relationship Id="rId16" Type="http://schemas.openxmlformats.org/officeDocument/2006/relationships/image" Target="../media/image60.png"/><Relationship Id="rId20" Type="http://schemas.openxmlformats.org/officeDocument/2006/relationships/image" Target="../media/image64.png"/><Relationship Id="rId1" Type="http://schemas.openxmlformats.org/officeDocument/2006/relationships/slideLayout" Target="../slideLayouts/slideLayout44.xml"/><Relationship Id="rId6" Type="http://schemas.openxmlformats.org/officeDocument/2006/relationships/image" Target="../media/image51.jpeg"/><Relationship Id="rId11" Type="http://schemas.openxmlformats.org/officeDocument/2006/relationships/image" Target="../media/image56.jpeg"/><Relationship Id="rId24" Type="http://schemas.openxmlformats.org/officeDocument/2006/relationships/image" Target="../media/image68.png"/><Relationship Id="rId5" Type="http://schemas.openxmlformats.org/officeDocument/2006/relationships/image" Target="../media/image50.png"/><Relationship Id="rId15" Type="http://schemas.openxmlformats.org/officeDocument/2006/relationships/image" Target="../media/image59.png"/><Relationship Id="rId23" Type="http://schemas.openxmlformats.org/officeDocument/2006/relationships/image" Target="../media/image67.png"/><Relationship Id="rId10" Type="http://schemas.openxmlformats.org/officeDocument/2006/relationships/image" Target="../media/image55.jpeg"/><Relationship Id="rId19" Type="http://schemas.openxmlformats.org/officeDocument/2006/relationships/image" Target="../media/image63.png"/><Relationship Id="rId4" Type="http://schemas.openxmlformats.org/officeDocument/2006/relationships/image" Target="../media/image42.png"/><Relationship Id="rId9" Type="http://schemas.openxmlformats.org/officeDocument/2006/relationships/image" Target="../media/image54.png"/><Relationship Id="rId14" Type="http://schemas.openxmlformats.org/officeDocument/2006/relationships/image" Target="../media/image58.png"/><Relationship Id="rId22" Type="http://schemas.openxmlformats.org/officeDocument/2006/relationships/image" Target="../media/image66.png"/><Relationship Id="rId27" Type="http://schemas.openxmlformats.org/officeDocument/2006/relationships/image" Target="../media/image47.png"/></Relationships>
</file>

<file path=ppt/slides/_rels/slide9.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13" Type="http://schemas.openxmlformats.org/officeDocument/2006/relationships/image" Target="../media/image80.png"/><Relationship Id="rId18" Type="http://schemas.openxmlformats.org/officeDocument/2006/relationships/image" Target="../media/image85.png"/><Relationship Id="rId26" Type="http://schemas.openxmlformats.org/officeDocument/2006/relationships/image" Target="../media/image93.png"/><Relationship Id="rId21" Type="http://schemas.openxmlformats.org/officeDocument/2006/relationships/image" Target="../media/image88.png"/><Relationship Id="rId34" Type="http://schemas.openxmlformats.org/officeDocument/2006/relationships/image" Target="../media/image101.png"/><Relationship Id="rId7" Type="http://schemas.openxmlformats.org/officeDocument/2006/relationships/image" Target="../media/image75.jpeg"/><Relationship Id="rId12" Type="http://schemas.openxmlformats.org/officeDocument/2006/relationships/image" Target="../media/image39.png"/><Relationship Id="rId17" Type="http://schemas.openxmlformats.org/officeDocument/2006/relationships/image" Target="../media/image84.jpeg"/><Relationship Id="rId25" Type="http://schemas.openxmlformats.org/officeDocument/2006/relationships/image" Target="../media/image92.png"/><Relationship Id="rId33" Type="http://schemas.openxmlformats.org/officeDocument/2006/relationships/image" Target="../media/image100.png"/><Relationship Id="rId38" Type="http://schemas.openxmlformats.org/officeDocument/2006/relationships/image" Target="../media/image105.jpeg"/><Relationship Id="rId2" Type="http://schemas.openxmlformats.org/officeDocument/2006/relationships/notesSlide" Target="../notesSlides/notesSlide1.xml"/><Relationship Id="rId16" Type="http://schemas.openxmlformats.org/officeDocument/2006/relationships/image" Target="../media/image83.jpeg"/><Relationship Id="rId20" Type="http://schemas.openxmlformats.org/officeDocument/2006/relationships/image" Target="../media/image87.png"/><Relationship Id="rId29" Type="http://schemas.openxmlformats.org/officeDocument/2006/relationships/image" Target="../media/image96.png"/><Relationship Id="rId1" Type="http://schemas.openxmlformats.org/officeDocument/2006/relationships/slideLayout" Target="../slideLayouts/slideLayout30.xml"/><Relationship Id="rId6" Type="http://schemas.openxmlformats.org/officeDocument/2006/relationships/image" Target="../media/image74.jpeg"/><Relationship Id="rId11" Type="http://schemas.openxmlformats.org/officeDocument/2006/relationships/image" Target="../media/image79.jpeg"/><Relationship Id="rId24" Type="http://schemas.openxmlformats.org/officeDocument/2006/relationships/image" Target="../media/image91.png"/><Relationship Id="rId32" Type="http://schemas.openxmlformats.org/officeDocument/2006/relationships/image" Target="../media/image99.jpeg"/><Relationship Id="rId37" Type="http://schemas.openxmlformats.org/officeDocument/2006/relationships/image" Target="../media/image104.png"/><Relationship Id="rId5" Type="http://schemas.openxmlformats.org/officeDocument/2006/relationships/image" Target="../media/image73.jpeg"/><Relationship Id="rId15" Type="http://schemas.openxmlformats.org/officeDocument/2006/relationships/image" Target="../media/image82.jpeg"/><Relationship Id="rId23" Type="http://schemas.openxmlformats.org/officeDocument/2006/relationships/image" Target="../media/image90.jpeg"/><Relationship Id="rId28" Type="http://schemas.openxmlformats.org/officeDocument/2006/relationships/image" Target="../media/image95.png"/><Relationship Id="rId36" Type="http://schemas.openxmlformats.org/officeDocument/2006/relationships/image" Target="../media/image103.png"/><Relationship Id="rId10" Type="http://schemas.openxmlformats.org/officeDocument/2006/relationships/image" Target="../media/image78.png"/><Relationship Id="rId19" Type="http://schemas.openxmlformats.org/officeDocument/2006/relationships/image" Target="../media/image86.jpeg"/><Relationship Id="rId31" Type="http://schemas.openxmlformats.org/officeDocument/2006/relationships/image" Target="../media/image98.png"/><Relationship Id="rId4" Type="http://schemas.openxmlformats.org/officeDocument/2006/relationships/image" Target="../media/image72.svg"/><Relationship Id="rId9" Type="http://schemas.openxmlformats.org/officeDocument/2006/relationships/image" Target="../media/image77.png"/><Relationship Id="rId14" Type="http://schemas.openxmlformats.org/officeDocument/2006/relationships/image" Target="../media/image81.png"/><Relationship Id="rId22" Type="http://schemas.openxmlformats.org/officeDocument/2006/relationships/image" Target="../media/image89.png"/><Relationship Id="rId27" Type="http://schemas.openxmlformats.org/officeDocument/2006/relationships/image" Target="../media/image94.png"/><Relationship Id="rId30" Type="http://schemas.openxmlformats.org/officeDocument/2006/relationships/image" Target="../media/image97.png"/><Relationship Id="rId35" Type="http://schemas.openxmlformats.org/officeDocument/2006/relationships/image" Target="../media/image102.png"/><Relationship Id="rId8" Type="http://schemas.openxmlformats.org/officeDocument/2006/relationships/image" Target="../media/image76.png"/><Relationship Id="rId3" Type="http://schemas.openxmlformats.org/officeDocument/2006/relationships/image" Target="../media/image71.jpeg"/></Relationships>
</file>

<file path=ppt/slides/_rels/slide11.xml.rels><?xml version="1.0" encoding="UTF-8" standalone="yes"?>
<Relationships xmlns="http://schemas.openxmlformats.org/package/2006/relationships"><Relationship Id="rId13" Type="http://schemas.microsoft.com/office/2007/relationships/hdphoto" Target="../media/hdphoto4.wdp"/><Relationship Id="rId18" Type="http://schemas.openxmlformats.org/officeDocument/2006/relationships/image" Target="../media/image116.png"/><Relationship Id="rId26" Type="http://schemas.openxmlformats.org/officeDocument/2006/relationships/image" Target="../media/image123.png"/><Relationship Id="rId39" Type="http://schemas.openxmlformats.org/officeDocument/2006/relationships/image" Target="../media/image136.png"/><Relationship Id="rId21" Type="http://schemas.openxmlformats.org/officeDocument/2006/relationships/image" Target="../media/image118.png"/><Relationship Id="rId34" Type="http://schemas.openxmlformats.org/officeDocument/2006/relationships/image" Target="../media/image131.png"/><Relationship Id="rId42" Type="http://schemas.openxmlformats.org/officeDocument/2006/relationships/image" Target="../media/image139.png"/><Relationship Id="rId47" Type="http://schemas.openxmlformats.org/officeDocument/2006/relationships/image" Target="../media/image144.png"/><Relationship Id="rId50" Type="http://schemas.openxmlformats.org/officeDocument/2006/relationships/image" Target="../media/image147.png"/><Relationship Id="rId7" Type="http://schemas.openxmlformats.org/officeDocument/2006/relationships/image" Target="../media/image110.png"/><Relationship Id="rId2" Type="http://schemas.openxmlformats.org/officeDocument/2006/relationships/image" Target="../media/image106.png"/><Relationship Id="rId16" Type="http://schemas.openxmlformats.org/officeDocument/2006/relationships/image" Target="../media/image115.png"/><Relationship Id="rId29" Type="http://schemas.openxmlformats.org/officeDocument/2006/relationships/image" Target="../media/image126.png"/><Relationship Id="rId11" Type="http://schemas.microsoft.com/office/2007/relationships/hdphoto" Target="../media/hdphoto3.wdp"/><Relationship Id="rId24" Type="http://schemas.openxmlformats.org/officeDocument/2006/relationships/image" Target="../media/image121.png"/><Relationship Id="rId32" Type="http://schemas.openxmlformats.org/officeDocument/2006/relationships/image" Target="../media/image129.png"/><Relationship Id="rId37" Type="http://schemas.openxmlformats.org/officeDocument/2006/relationships/image" Target="../media/image134.png"/><Relationship Id="rId40" Type="http://schemas.openxmlformats.org/officeDocument/2006/relationships/image" Target="../media/image137.png"/><Relationship Id="rId45" Type="http://schemas.openxmlformats.org/officeDocument/2006/relationships/image" Target="../media/image142.png"/><Relationship Id="rId53" Type="http://schemas.openxmlformats.org/officeDocument/2006/relationships/image" Target="../media/image150.png"/><Relationship Id="rId5" Type="http://schemas.openxmlformats.org/officeDocument/2006/relationships/image" Target="../media/image109.png"/><Relationship Id="rId10" Type="http://schemas.openxmlformats.org/officeDocument/2006/relationships/image" Target="../media/image112.png"/><Relationship Id="rId19" Type="http://schemas.microsoft.com/office/2007/relationships/hdphoto" Target="../media/hdphoto7.wdp"/><Relationship Id="rId31" Type="http://schemas.openxmlformats.org/officeDocument/2006/relationships/image" Target="../media/image128.png"/><Relationship Id="rId44" Type="http://schemas.openxmlformats.org/officeDocument/2006/relationships/image" Target="../media/image141.png"/><Relationship Id="rId52" Type="http://schemas.openxmlformats.org/officeDocument/2006/relationships/image" Target="../media/image149.png"/><Relationship Id="rId4" Type="http://schemas.openxmlformats.org/officeDocument/2006/relationships/image" Target="../media/image108.png"/><Relationship Id="rId9" Type="http://schemas.microsoft.com/office/2007/relationships/hdphoto" Target="../media/hdphoto2.wdp"/><Relationship Id="rId14" Type="http://schemas.openxmlformats.org/officeDocument/2006/relationships/image" Target="../media/image114.png"/><Relationship Id="rId22" Type="http://schemas.openxmlformats.org/officeDocument/2006/relationships/image" Target="../media/image119.jpeg"/><Relationship Id="rId27" Type="http://schemas.openxmlformats.org/officeDocument/2006/relationships/image" Target="../media/image124.png"/><Relationship Id="rId30" Type="http://schemas.openxmlformats.org/officeDocument/2006/relationships/image" Target="../media/image127.png"/><Relationship Id="rId35" Type="http://schemas.openxmlformats.org/officeDocument/2006/relationships/image" Target="../media/image132.png"/><Relationship Id="rId43" Type="http://schemas.openxmlformats.org/officeDocument/2006/relationships/image" Target="../media/image140.png"/><Relationship Id="rId48" Type="http://schemas.openxmlformats.org/officeDocument/2006/relationships/image" Target="../media/image145.png"/><Relationship Id="rId8" Type="http://schemas.openxmlformats.org/officeDocument/2006/relationships/image" Target="../media/image111.png"/><Relationship Id="rId51" Type="http://schemas.openxmlformats.org/officeDocument/2006/relationships/image" Target="../media/image148.png"/><Relationship Id="rId3" Type="http://schemas.openxmlformats.org/officeDocument/2006/relationships/image" Target="../media/image107.png"/><Relationship Id="rId12" Type="http://schemas.openxmlformats.org/officeDocument/2006/relationships/image" Target="../media/image113.png"/><Relationship Id="rId17" Type="http://schemas.microsoft.com/office/2007/relationships/hdphoto" Target="../media/hdphoto6.wdp"/><Relationship Id="rId25" Type="http://schemas.openxmlformats.org/officeDocument/2006/relationships/image" Target="../media/image122.png"/><Relationship Id="rId33" Type="http://schemas.openxmlformats.org/officeDocument/2006/relationships/image" Target="../media/image130.png"/><Relationship Id="rId38" Type="http://schemas.openxmlformats.org/officeDocument/2006/relationships/image" Target="../media/image135.png"/><Relationship Id="rId46" Type="http://schemas.openxmlformats.org/officeDocument/2006/relationships/image" Target="../media/image143.png"/><Relationship Id="rId20" Type="http://schemas.openxmlformats.org/officeDocument/2006/relationships/image" Target="../media/image117.png"/><Relationship Id="rId41" Type="http://schemas.openxmlformats.org/officeDocument/2006/relationships/image" Target="../media/image138.png"/><Relationship Id="rId1" Type="http://schemas.openxmlformats.org/officeDocument/2006/relationships/slideLayout" Target="../slideLayouts/slideLayout44.xml"/><Relationship Id="rId6" Type="http://schemas.microsoft.com/office/2007/relationships/hdphoto" Target="../media/hdphoto1.wdp"/><Relationship Id="rId15" Type="http://schemas.microsoft.com/office/2007/relationships/hdphoto" Target="../media/hdphoto5.wdp"/><Relationship Id="rId23" Type="http://schemas.openxmlformats.org/officeDocument/2006/relationships/image" Target="../media/image120.png"/><Relationship Id="rId28" Type="http://schemas.openxmlformats.org/officeDocument/2006/relationships/image" Target="../media/image125.png"/><Relationship Id="rId36" Type="http://schemas.openxmlformats.org/officeDocument/2006/relationships/image" Target="../media/image133.png"/><Relationship Id="rId49" Type="http://schemas.openxmlformats.org/officeDocument/2006/relationships/image" Target="../media/image146.png"/></Relationships>
</file>

<file path=ppt/slides/_rels/slide1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4.xml.rels><?xml version="1.0" encoding="UTF-8" standalone="yes"?>
<Relationships xmlns="http://schemas.openxmlformats.org/package/2006/relationships"><Relationship Id="rId2" Type="http://schemas.openxmlformats.org/officeDocument/2006/relationships/image" Target="../media/image151.emf"/><Relationship Id="rId1" Type="http://schemas.openxmlformats.org/officeDocument/2006/relationships/slideLayout" Target="../slideLayouts/slideLayout44.xml"/></Relationships>
</file>

<file path=ppt/slides/_rels/slide15.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152.png"/><Relationship Id="rId1" Type="http://schemas.openxmlformats.org/officeDocument/2006/relationships/slideLayout" Target="../slideLayouts/slideLayout44.xml"/></Relationships>
</file>

<file path=ppt/slides/_rels/slide16.xml.rels><?xml version="1.0" encoding="UTF-8" standalone="yes"?>
<Relationships xmlns="http://schemas.openxmlformats.org/package/2006/relationships"><Relationship Id="rId3" Type="http://schemas.openxmlformats.org/officeDocument/2006/relationships/image" Target="../media/image154.png"/><Relationship Id="rId7" Type="http://schemas.openxmlformats.org/officeDocument/2006/relationships/image" Target="../media/image158.svg"/><Relationship Id="rId2" Type="http://schemas.openxmlformats.org/officeDocument/2006/relationships/notesSlide" Target="../notesSlides/notesSlide2.xml"/><Relationship Id="rId1" Type="http://schemas.openxmlformats.org/officeDocument/2006/relationships/slideLayout" Target="../slideLayouts/slideLayout32.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s>
</file>

<file path=ppt/slides/_rels/slide17.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44.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7" Type="http://schemas.openxmlformats.org/officeDocument/2006/relationships/image" Target="../media/image163.svg"/><Relationship Id="rId2" Type="http://schemas.openxmlformats.org/officeDocument/2006/relationships/chart" Target="../charts/chart1.xml"/><Relationship Id="rId1" Type="http://schemas.openxmlformats.org/officeDocument/2006/relationships/slideLayout" Target="../slideLayouts/slideLayout44.xml"/><Relationship Id="rId6" Type="http://schemas.openxmlformats.org/officeDocument/2006/relationships/image" Target="../media/image162.svg"/><Relationship Id="rId5" Type="http://schemas.openxmlformats.org/officeDocument/2006/relationships/image" Target="../media/image160.svg"/><Relationship Id="rId4" Type="http://schemas.openxmlformats.org/officeDocument/2006/relationships/image" Target="../media/image161.svg"/></Relationships>
</file>

<file path=ppt/slides/_rels/slide19.xml.rels><?xml version="1.0" encoding="UTF-8" standalone="yes"?>
<Relationships xmlns="http://schemas.openxmlformats.org/package/2006/relationships"><Relationship Id="rId3" Type="http://schemas.openxmlformats.org/officeDocument/2006/relationships/image" Target="../media/image165.emf"/><Relationship Id="rId2" Type="http://schemas.openxmlformats.org/officeDocument/2006/relationships/image" Target="../media/image164.emf"/><Relationship Id="rId1" Type="http://schemas.openxmlformats.org/officeDocument/2006/relationships/slideLayout" Target="../slideLayouts/slideLayout44.xml"/><Relationship Id="rId6" Type="http://schemas.openxmlformats.org/officeDocument/2006/relationships/image" Target="../media/image168.png"/><Relationship Id="rId5" Type="http://schemas.openxmlformats.org/officeDocument/2006/relationships/image" Target="../media/image167.emf"/><Relationship Id="rId4" Type="http://schemas.openxmlformats.org/officeDocument/2006/relationships/image" Target="../media/image166.emf"/></Relationships>
</file>

<file path=ppt/slides/_rels/slide20.xml.rels><?xml version="1.0" encoding="UTF-8" standalone="yes"?>
<Relationships xmlns="http://schemas.openxmlformats.org/package/2006/relationships"><Relationship Id="rId3" Type="http://schemas.openxmlformats.org/officeDocument/2006/relationships/image" Target="../media/image170.emf"/><Relationship Id="rId2" Type="http://schemas.openxmlformats.org/officeDocument/2006/relationships/image" Target="../media/image169.emf"/><Relationship Id="rId1" Type="http://schemas.openxmlformats.org/officeDocument/2006/relationships/slideLayout" Target="../slideLayouts/slideLayout44.xml"/><Relationship Id="rId5" Type="http://schemas.openxmlformats.org/officeDocument/2006/relationships/image" Target="../media/image172.png"/><Relationship Id="rId4" Type="http://schemas.openxmlformats.org/officeDocument/2006/relationships/image" Target="../media/image171.emf"/></Relationships>
</file>

<file path=ppt/slides/_rels/slide21.xml.rels><?xml version="1.0" encoding="UTF-8" standalone="yes"?>
<Relationships xmlns="http://schemas.openxmlformats.org/package/2006/relationships"><Relationship Id="rId2" Type="http://schemas.openxmlformats.org/officeDocument/2006/relationships/image" Target="../media/image173.png"/><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8" Type="http://schemas.openxmlformats.org/officeDocument/2006/relationships/image" Target="../media/image180.png"/><Relationship Id="rId3" Type="http://schemas.openxmlformats.org/officeDocument/2006/relationships/image" Target="../media/image175.emf"/><Relationship Id="rId7" Type="http://schemas.openxmlformats.org/officeDocument/2006/relationships/image" Target="../media/image179.png"/><Relationship Id="rId2" Type="http://schemas.openxmlformats.org/officeDocument/2006/relationships/image" Target="../media/image174.emf"/><Relationship Id="rId1" Type="http://schemas.openxmlformats.org/officeDocument/2006/relationships/slideLayout" Target="../slideLayouts/slideLayout44.xml"/><Relationship Id="rId6" Type="http://schemas.openxmlformats.org/officeDocument/2006/relationships/image" Target="../media/image178.emf"/><Relationship Id="rId5" Type="http://schemas.openxmlformats.org/officeDocument/2006/relationships/image" Target="../media/image177.emf"/><Relationship Id="rId10" Type="http://schemas.openxmlformats.org/officeDocument/2006/relationships/image" Target="../media/image182.png"/><Relationship Id="rId4" Type="http://schemas.openxmlformats.org/officeDocument/2006/relationships/image" Target="../media/image176.emf"/><Relationship Id="rId9" Type="http://schemas.openxmlformats.org/officeDocument/2006/relationships/image" Target="../media/image181.svg"/></Relationships>
</file>

<file path=ppt/slides/_rels/slide23.xml.rels><?xml version="1.0" encoding="UTF-8" standalone="yes"?>
<Relationships xmlns="http://schemas.openxmlformats.org/package/2006/relationships"><Relationship Id="rId2" Type="http://schemas.openxmlformats.org/officeDocument/2006/relationships/image" Target="../media/image183.jpeg"/><Relationship Id="rId1" Type="http://schemas.openxmlformats.org/officeDocument/2006/relationships/slideLayout" Target="../slideLayouts/slideLayout25.xml"/></Relationships>
</file>

<file path=ppt/slides/_rels/slide24.xml.rels><?xml version="1.0" encoding="UTF-8" standalone="yes"?>
<Relationships xmlns="http://schemas.openxmlformats.org/package/2006/relationships"><Relationship Id="rId8" Type="http://schemas.openxmlformats.org/officeDocument/2006/relationships/image" Target="../media/image189.jpeg"/><Relationship Id="rId3" Type="http://schemas.openxmlformats.org/officeDocument/2006/relationships/image" Target="../media/image184.jpeg"/><Relationship Id="rId7" Type="http://schemas.openxmlformats.org/officeDocument/2006/relationships/image" Target="../media/image188.jpeg"/><Relationship Id="rId2" Type="http://schemas.openxmlformats.org/officeDocument/2006/relationships/notesSlide" Target="../notesSlides/notesSlide3.xml"/><Relationship Id="rId1" Type="http://schemas.openxmlformats.org/officeDocument/2006/relationships/slideLayout" Target="../slideLayouts/slideLayout26.xml"/><Relationship Id="rId6" Type="http://schemas.openxmlformats.org/officeDocument/2006/relationships/image" Target="../media/image187.jpeg"/><Relationship Id="rId5" Type="http://schemas.openxmlformats.org/officeDocument/2006/relationships/image" Target="../media/image186.jpeg"/><Relationship Id="rId4" Type="http://schemas.openxmlformats.org/officeDocument/2006/relationships/image" Target="../media/image185.emf"/><Relationship Id="rId9" Type="http://schemas.openxmlformats.org/officeDocument/2006/relationships/image" Target="../media/image190.jpeg"/></Relationships>
</file>

<file path=ppt/slides/_rels/slide25.xml.rels><?xml version="1.0" encoding="UTF-8" standalone="yes"?>
<Relationships xmlns="http://schemas.openxmlformats.org/package/2006/relationships"><Relationship Id="rId8" Type="http://schemas.openxmlformats.org/officeDocument/2006/relationships/image" Target="../media/image195.svg"/><Relationship Id="rId3" Type="http://schemas.openxmlformats.org/officeDocument/2006/relationships/hyperlink" Target="http://www.startcampus.pt/" TargetMode="External"/><Relationship Id="rId7" Type="http://schemas.openxmlformats.org/officeDocument/2006/relationships/image" Target="../media/image194.jpeg"/><Relationship Id="rId12" Type="http://schemas.openxmlformats.org/officeDocument/2006/relationships/image" Target="../media/image199.png"/><Relationship Id="rId2" Type="http://schemas.openxmlformats.org/officeDocument/2006/relationships/notesSlide" Target="../notesSlides/notesSlide4.xml"/><Relationship Id="rId1" Type="http://schemas.openxmlformats.org/officeDocument/2006/relationships/slideLayout" Target="../slideLayouts/slideLayout58.xml"/><Relationship Id="rId6" Type="http://schemas.openxmlformats.org/officeDocument/2006/relationships/image" Target="../media/image193.png"/><Relationship Id="rId11" Type="http://schemas.openxmlformats.org/officeDocument/2006/relationships/image" Target="../media/image198.png"/><Relationship Id="rId5" Type="http://schemas.openxmlformats.org/officeDocument/2006/relationships/image" Target="../media/image192.png"/><Relationship Id="rId10" Type="http://schemas.openxmlformats.org/officeDocument/2006/relationships/image" Target="../media/image197.png"/><Relationship Id="rId4" Type="http://schemas.openxmlformats.org/officeDocument/2006/relationships/image" Target="../media/image191.png"/><Relationship Id="rId9" Type="http://schemas.openxmlformats.org/officeDocument/2006/relationships/image" Target="../media/image196.png"/></Relationships>
</file>

<file path=ppt/slides/_rels/slide26.xml.rels><?xml version="1.0" encoding="UTF-8" standalone="yes"?>
<Relationships xmlns="http://schemas.openxmlformats.org/package/2006/relationships"><Relationship Id="rId8" Type="http://schemas.openxmlformats.org/officeDocument/2006/relationships/image" Target="../media/image205.emf"/><Relationship Id="rId3" Type="http://schemas.openxmlformats.org/officeDocument/2006/relationships/image" Target="../media/image200.png"/><Relationship Id="rId7" Type="http://schemas.openxmlformats.org/officeDocument/2006/relationships/image" Target="../media/image204.emf"/><Relationship Id="rId2" Type="http://schemas.openxmlformats.org/officeDocument/2006/relationships/notesSlide" Target="../notesSlides/notesSlide5.xml"/><Relationship Id="rId1" Type="http://schemas.openxmlformats.org/officeDocument/2006/relationships/slideLayout" Target="../slideLayouts/slideLayout26.xml"/><Relationship Id="rId6" Type="http://schemas.openxmlformats.org/officeDocument/2006/relationships/image" Target="../media/image203.emf"/><Relationship Id="rId5" Type="http://schemas.openxmlformats.org/officeDocument/2006/relationships/image" Target="../media/image202.emf"/><Relationship Id="rId4" Type="http://schemas.openxmlformats.org/officeDocument/2006/relationships/image" Target="../media/image201.emf"/><Relationship Id="rId9" Type="http://schemas.openxmlformats.org/officeDocument/2006/relationships/image" Target="../media/image206.png"/></Relationships>
</file>

<file path=ppt/slides/_rels/slide27.xml.rels><?xml version="1.0" encoding="UTF-8" standalone="yes"?>
<Relationships xmlns="http://schemas.openxmlformats.org/package/2006/relationships"><Relationship Id="rId3" Type="http://schemas.openxmlformats.org/officeDocument/2006/relationships/image" Target="../media/image207.jpeg"/><Relationship Id="rId2" Type="http://schemas.openxmlformats.org/officeDocument/2006/relationships/notesSlide" Target="../notesSlides/notesSlide6.xml"/><Relationship Id="rId1" Type="http://schemas.openxmlformats.org/officeDocument/2006/relationships/slideLayout" Target="../slideLayouts/slideLayout26.xml"/><Relationship Id="rId5" Type="http://schemas.openxmlformats.org/officeDocument/2006/relationships/image" Target="../media/image209.svg"/><Relationship Id="rId4" Type="http://schemas.openxmlformats.org/officeDocument/2006/relationships/image" Target="../media/image208.jpeg"/></Relationships>
</file>

<file path=ppt/slides/_rels/slide28.xml.rels><?xml version="1.0" encoding="UTF-8" standalone="yes"?>
<Relationships xmlns="http://schemas.openxmlformats.org/package/2006/relationships"><Relationship Id="rId3" Type="http://schemas.openxmlformats.org/officeDocument/2006/relationships/image" Target="../media/image210.emf"/><Relationship Id="rId2" Type="http://schemas.openxmlformats.org/officeDocument/2006/relationships/notesSlide" Target="../notesSlides/notesSlide7.xml"/><Relationship Id="rId1" Type="http://schemas.openxmlformats.org/officeDocument/2006/relationships/slideLayout" Target="../slideLayouts/slideLayout26.xml"/><Relationship Id="rId4" Type="http://schemas.openxmlformats.org/officeDocument/2006/relationships/image" Target="../media/image211.png"/></Relationships>
</file>

<file path=ppt/slides/_rels/slide29.xml.rels><?xml version="1.0" encoding="UTF-8" standalone="yes"?>
<Relationships xmlns="http://schemas.openxmlformats.org/package/2006/relationships"><Relationship Id="rId2" Type="http://schemas.openxmlformats.org/officeDocument/2006/relationships/image" Target="../media/image183.jpeg"/><Relationship Id="rId1" Type="http://schemas.openxmlformats.org/officeDocument/2006/relationships/slideLayout" Target="../slideLayouts/slideLayout25.xml"/></Relationships>
</file>

<file path=ppt/slides/_rels/slide30.xml.rels><?xml version="1.0" encoding="UTF-8" standalone="yes"?>
<Relationships xmlns="http://schemas.openxmlformats.org/package/2006/relationships"><Relationship Id="rId8" Type="http://schemas.openxmlformats.org/officeDocument/2006/relationships/image" Target="../media/image215.jpeg"/><Relationship Id="rId3" Type="http://schemas.openxmlformats.org/officeDocument/2006/relationships/chart" Target="../charts/chart3.xml"/><Relationship Id="rId7" Type="http://schemas.microsoft.com/office/2007/relationships/hdphoto" Target="../media/hdphoto8.wdp"/><Relationship Id="rId2" Type="http://schemas.openxmlformats.org/officeDocument/2006/relationships/notesSlide" Target="../notesSlides/notesSlide8.xml"/><Relationship Id="rId1" Type="http://schemas.openxmlformats.org/officeDocument/2006/relationships/slideLayout" Target="../slideLayouts/slideLayout27.xml"/><Relationship Id="rId6" Type="http://schemas.openxmlformats.org/officeDocument/2006/relationships/image" Target="../media/image214.png"/><Relationship Id="rId5" Type="http://schemas.openxmlformats.org/officeDocument/2006/relationships/image" Target="../media/image213.png"/><Relationship Id="rId4" Type="http://schemas.openxmlformats.org/officeDocument/2006/relationships/image" Target="../media/image212.jpeg"/><Relationship Id="rId9" Type="http://schemas.openxmlformats.org/officeDocument/2006/relationships/image" Target="../media/image216.png"/></Relationships>
</file>

<file path=ppt/slides/_rels/slide31.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9.xml"/><Relationship Id="rId1" Type="http://schemas.openxmlformats.org/officeDocument/2006/relationships/slideLayout" Target="../slideLayouts/slideLayout27.xml"/><Relationship Id="rId4" Type="http://schemas.openxmlformats.org/officeDocument/2006/relationships/image" Target="../media/image217.svg"/></Relationships>
</file>

<file path=ppt/slides/_rels/slide32.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image" Target="../media/image218.jpeg"/><Relationship Id="rId1" Type="http://schemas.openxmlformats.org/officeDocument/2006/relationships/slideLayout" Target="../slideLayouts/slideLayout28.xml"/><Relationship Id="rId6" Type="http://schemas.microsoft.com/office/2007/relationships/hdphoto" Target="../media/hdphoto10.wdp"/><Relationship Id="rId5" Type="http://schemas.openxmlformats.org/officeDocument/2006/relationships/image" Target="../media/image220.png"/><Relationship Id="rId4" Type="http://schemas.microsoft.com/office/2007/relationships/hdphoto" Target="../media/hdphoto9.wdp"/></Relationships>
</file>

<file path=ppt/slides/_rels/slide33.xml.rels><?xml version="1.0" encoding="UTF-8" standalone="yes"?>
<Relationships xmlns="http://schemas.openxmlformats.org/package/2006/relationships"><Relationship Id="rId3" Type="http://schemas.openxmlformats.org/officeDocument/2006/relationships/image" Target="../media/image222.jpeg"/><Relationship Id="rId2" Type="http://schemas.openxmlformats.org/officeDocument/2006/relationships/image" Target="../media/image221.svg"/><Relationship Id="rId1" Type="http://schemas.openxmlformats.org/officeDocument/2006/relationships/slideLayout" Target="../slideLayouts/slideLayout31.xml"/><Relationship Id="rId6" Type="http://schemas.openxmlformats.org/officeDocument/2006/relationships/image" Target="../media/image225.jpeg"/><Relationship Id="rId5" Type="http://schemas.openxmlformats.org/officeDocument/2006/relationships/image" Target="../media/image224.jpeg"/><Relationship Id="rId4" Type="http://schemas.openxmlformats.org/officeDocument/2006/relationships/image" Target="../media/image223.jpeg"/></Relationships>
</file>

<file path=ppt/slides/_rels/slide34.xml.rels><?xml version="1.0" encoding="UTF-8" standalone="yes"?>
<Relationships xmlns="http://schemas.openxmlformats.org/package/2006/relationships"><Relationship Id="rId3" Type="http://schemas.openxmlformats.org/officeDocument/2006/relationships/image" Target="../media/image226.svg"/><Relationship Id="rId2" Type="http://schemas.openxmlformats.org/officeDocument/2006/relationships/notesSlide" Target="../notesSlides/notesSlide10.xml"/><Relationship Id="rId1" Type="http://schemas.openxmlformats.org/officeDocument/2006/relationships/slideLayout" Target="../slideLayouts/slideLayout27.xml"/><Relationship Id="rId5" Type="http://schemas.openxmlformats.org/officeDocument/2006/relationships/image" Target="../media/image228.png"/><Relationship Id="rId4" Type="http://schemas.openxmlformats.org/officeDocument/2006/relationships/image" Target="../media/image227.jpeg"/></Relationships>
</file>

<file path=ppt/slides/_rels/slide35.xml.rels><?xml version="1.0" encoding="UTF-8" standalone="yes"?>
<Relationships xmlns="http://schemas.openxmlformats.org/package/2006/relationships"><Relationship Id="rId3" Type="http://schemas.openxmlformats.org/officeDocument/2006/relationships/hyperlink" Target="mailto:info@startcampus.pt" TargetMode="External"/><Relationship Id="rId2" Type="http://schemas.openxmlformats.org/officeDocument/2006/relationships/hyperlink" Target="http://www.startcampus.pt/"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3638"/>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CE26DB-38C8-59DF-55F1-F0B243D92DDB}"/>
              </a:ext>
            </a:extLst>
          </p:cNvPr>
          <p:cNvSpPr txBox="1"/>
          <p:nvPr/>
        </p:nvSpPr>
        <p:spPr>
          <a:xfrm>
            <a:off x="8895941" y="7646908"/>
            <a:ext cx="6685280" cy="646331"/>
          </a:xfrm>
          <a:prstGeom prst="rect">
            <a:avLst/>
          </a:prstGeom>
          <a:noFill/>
        </p:spPr>
        <p:txBody>
          <a:bodyPr wrap="square">
            <a:spAutoFit/>
          </a:bodyPr>
          <a:lstStyle/>
          <a:p>
            <a:r>
              <a:rPr lang="tr-TR" dirty="0" err="1">
                <a:solidFill>
                  <a:schemeClr val="bg1"/>
                </a:solidFill>
                <a:latin typeface="Figtree Medium" pitchFamily="2" charset="0"/>
              </a:rPr>
              <a:t>Building</a:t>
            </a:r>
            <a:r>
              <a:rPr lang="tr-TR" dirty="0">
                <a:solidFill>
                  <a:schemeClr val="bg1"/>
                </a:solidFill>
                <a:latin typeface="Figtree Medium" pitchFamily="2" charset="0"/>
              </a:rPr>
              <a:t> </a:t>
            </a:r>
            <a:r>
              <a:rPr lang="tr-TR" dirty="0">
                <a:solidFill>
                  <a:srgbClr val="00C159"/>
                </a:solidFill>
                <a:latin typeface="Figtree Medium" pitchFamily="2" charset="0"/>
              </a:rPr>
              <a:t>AI-</a:t>
            </a:r>
            <a:r>
              <a:rPr lang="tr-TR" dirty="0" err="1">
                <a:solidFill>
                  <a:srgbClr val="00C159"/>
                </a:solidFill>
                <a:latin typeface="Figtree Medium" pitchFamily="2" charset="0"/>
              </a:rPr>
              <a:t>Scale</a:t>
            </a:r>
            <a:r>
              <a:rPr lang="tr-TR" dirty="0">
                <a:solidFill>
                  <a:schemeClr val="bg1"/>
                </a:solidFill>
                <a:latin typeface="Figtree Medium" pitchFamily="2" charset="0"/>
              </a:rPr>
              <a:t> Data </a:t>
            </a:r>
            <a:r>
              <a:rPr lang="tr-TR" dirty="0" err="1">
                <a:solidFill>
                  <a:schemeClr val="bg1"/>
                </a:solidFill>
                <a:latin typeface="Figtree Medium" pitchFamily="2" charset="0"/>
              </a:rPr>
              <a:t>Centers</a:t>
            </a:r>
            <a:endParaRPr lang="en-GB" dirty="0">
              <a:solidFill>
                <a:schemeClr val="bg1"/>
              </a:solidFill>
              <a:latin typeface="Figtree Medium" pitchFamily="2" charset="0"/>
            </a:endParaRPr>
          </a:p>
        </p:txBody>
      </p:sp>
    </p:spTree>
    <p:extLst>
      <p:ext uri="{BB962C8B-B14F-4D97-AF65-F5344CB8AC3E}">
        <p14:creationId xmlns:p14="http://schemas.microsoft.com/office/powerpoint/2010/main" val="9759978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8B418-4102-A8AD-585E-69EC7BD4FEB0}"/>
              </a:ext>
            </a:extLst>
          </p:cNvPr>
          <p:cNvSpPr>
            <a:spLocks noGrp="1"/>
          </p:cNvSpPr>
          <p:nvPr>
            <p:ph type="ctrTitle"/>
          </p:nvPr>
        </p:nvSpPr>
        <p:spPr>
          <a:xfrm>
            <a:off x="1662221" y="4826673"/>
            <a:ext cx="12078812" cy="3693319"/>
          </a:xfrm>
        </p:spPr>
        <p:txBody>
          <a:bodyPr/>
          <a:lstStyle/>
          <a:p>
            <a:pPr>
              <a:lnSpc>
                <a:spcPct val="100000"/>
              </a:lnSpc>
              <a:spcBef>
                <a:spcPts val="0"/>
              </a:spcBef>
              <a:defRPr sz="1800" b="0" i="0" u="none" strike="noStrike" kern="0" cap="none" spc="0" baseline="0">
                <a:solidFill>
                  <a:srgbClr val="000000"/>
                </a:solidFill>
                <a:uFillTx/>
              </a:defRPr>
            </a:pPr>
            <a:r>
              <a:rPr lang="en-US" sz="8000">
                <a:solidFill>
                  <a:srgbClr val="12BD64"/>
                </a:solidFill>
                <a:latin typeface="Figtree SemiBold"/>
                <a:ea typeface="Figtree Bold" pitchFamily="34"/>
                <a:cs typeface="Figtree Bold" pitchFamily="34"/>
              </a:rPr>
              <a:t>Sustainable</a:t>
            </a:r>
            <a:r>
              <a:rPr lang="en-US" sz="8000">
                <a:solidFill>
                  <a:srgbClr val="1C1C1C"/>
                </a:solidFill>
                <a:latin typeface="Figtree SemiBold"/>
                <a:ea typeface="Figtree Bold" pitchFamily="34"/>
                <a:cs typeface="Figtree Bold" pitchFamily="34"/>
              </a:rPr>
              <a:t> </a:t>
            </a:r>
            <a:r>
              <a:rPr lang="en-US" sz="8000">
                <a:solidFill>
                  <a:srgbClr val="FFFFFF"/>
                </a:solidFill>
                <a:latin typeface="Figtree SemiBold"/>
                <a:ea typeface="Figtree Bold" pitchFamily="34"/>
                <a:cs typeface="Figtree Bold" pitchFamily="34"/>
              </a:rPr>
              <a:t>&amp; </a:t>
            </a:r>
            <a:br>
              <a:rPr lang="en-US" sz="8000">
                <a:ea typeface="Figtree Bold" pitchFamily="34"/>
                <a:cs typeface="Figtree Bold" pitchFamily="34"/>
              </a:rPr>
            </a:br>
            <a:r>
              <a:rPr lang="en-US" sz="8000">
                <a:solidFill>
                  <a:srgbClr val="00C159"/>
                </a:solidFill>
                <a:latin typeface="Figtree SemiBold"/>
                <a:ea typeface="Figtree Bold" pitchFamily="34"/>
                <a:cs typeface="Figtree Bold" pitchFamily="34"/>
              </a:rPr>
              <a:t>AI-Scale</a:t>
            </a:r>
            <a:r>
              <a:rPr lang="en-US" sz="8000">
                <a:solidFill>
                  <a:srgbClr val="FFFFFF"/>
                </a:solidFill>
                <a:latin typeface="Figtree SemiBold"/>
                <a:ea typeface="Figtree Bold" pitchFamily="34"/>
                <a:cs typeface="Figtree Bold" pitchFamily="34"/>
              </a:rPr>
              <a:t> Data Center Development</a:t>
            </a:r>
            <a:r>
              <a:rPr lang="en-US" sz="8000">
                <a:solidFill>
                  <a:srgbClr val="1C1C1C"/>
                </a:solidFill>
                <a:latin typeface="Figtree SemiBold"/>
                <a:ea typeface="Figtree Bold" pitchFamily="34"/>
                <a:cs typeface="Figtree Bold" pitchFamily="34"/>
              </a:rPr>
              <a:t> </a:t>
            </a:r>
            <a:r>
              <a:rPr lang="en-US" sz="8000">
                <a:solidFill>
                  <a:srgbClr val="12BD64"/>
                </a:solidFill>
                <a:latin typeface="Figtree SemiBold"/>
                <a:ea typeface="Figtree Bold" pitchFamily="34"/>
                <a:cs typeface="Figtree Bold" pitchFamily="34"/>
              </a:rPr>
              <a:t>in Portugal</a:t>
            </a:r>
            <a:endParaRPr lang="en-PT" sz="8000">
              <a:latin typeface="Figtree SemiBold"/>
            </a:endParaRPr>
          </a:p>
        </p:txBody>
      </p:sp>
      <p:pic>
        <p:nvPicPr>
          <p:cNvPr id="5" name="Picture 4" descr="A green and grey map of the world&#10;&#10;Description automatically generated">
            <a:extLst>
              <a:ext uri="{FF2B5EF4-FFF2-40B4-BE49-F238E27FC236}">
                <a16:creationId xmlns:a16="http://schemas.microsoft.com/office/drawing/2014/main" id="{E7AD67D9-6535-643A-3B6A-768B35C6DD77}"/>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813"/>
          <a:stretch/>
        </p:blipFill>
        <p:spPr>
          <a:xfrm>
            <a:off x="17937047" y="-134755"/>
            <a:ext cx="6448540" cy="13850754"/>
          </a:xfrm>
          <a:prstGeom prst="rect">
            <a:avLst/>
          </a:prstGeom>
        </p:spPr>
      </p:pic>
    </p:spTree>
    <p:extLst>
      <p:ext uri="{BB962C8B-B14F-4D97-AF65-F5344CB8AC3E}">
        <p14:creationId xmlns:p14="http://schemas.microsoft.com/office/powerpoint/2010/main" val="33403666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38235C28-0EEA-9031-9E00-B906C6F3760B}"/>
              </a:ext>
            </a:extLst>
          </p:cNvPr>
          <p:cNvCxnSpPr>
            <a:cxnSpLocks/>
          </p:cNvCxnSpPr>
          <p:nvPr/>
        </p:nvCxnSpPr>
        <p:spPr>
          <a:xfrm>
            <a:off x="0" y="4006514"/>
            <a:ext cx="8310622" cy="0"/>
          </a:xfrm>
          <a:prstGeom prst="line">
            <a:avLst/>
          </a:prstGeom>
          <a:ln w="38100">
            <a:solidFill>
              <a:srgbClr val="12BD64"/>
            </a:solidFill>
            <a:tailEnd type="oval" w="med" len="med"/>
          </a:ln>
        </p:spPr>
        <p:style>
          <a:lnRef idx="1">
            <a:schemeClr val="accent6"/>
          </a:lnRef>
          <a:fillRef idx="0">
            <a:schemeClr val="accent6"/>
          </a:fillRef>
          <a:effectRef idx="0">
            <a:schemeClr val="accent6"/>
          </a:effectRef>
          <a:fontRef idx="minor">
            <a:schemeClr val="tx1"/>
          </a:fontRef>
        </p:style>
      </p:cxnSp>
      <p:sp>
        <p:nvSpPr>
          <p:cNvPr id="7" name="Text Placeholder 27">
            <a:extLst>
              <a:ext uri="{FF2B5EF4-FFF2-40B4-BE49-F238E27FC236}">
                <a16:creationId xmlns:a16="http://schemas.microsoft.com/office/drawing/2014/main" id="{7306F759-6DE8-A813-26A7-B7A3430C9D57}"/>
              </a:ext>
            </a:extLst>
          </p:cNvPr>
          <p:cNvSpPr txBox="1">
            <a:spLocks/>
          </p:cNvSpPr>
          <p:nvPr/>
        </p:nvSpPr>
        <p:spPr>
          <a:xfrm>
            <a:off x="1771564" y="4886083"/>
            <a:ext cx="10831252" cy="5883662"/>
          </a:xfrm>
          <a:prstGeom prst="rect">
            <a:avLst/>
          </a:prstGeom>
          <a:solidFill>
            <a:srgbClr val="FFFFFF"/>
          </a:solidFill>
        </p:spPr>
        <p:txBody>
          <a:bodyPr wrap="square"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2000" b="1" i="0" kern="1200">
                <a:solidFill>
                  <a:schemeClr val="tx1"/>
                </a:solidFill>
                <a:latin typeface="Figtree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685800" indent="-685800">
              <a:lnSpc>
                <a:spcPct val="120000"/>
              </a:lnSpc>
              <a:buSzPct val="95000"/>
              <a:buFont typeface="Arial" panose="020B0604020202020204" pitchFamily="34" charset="0"/>
              <a:buChar char="•"/>
            </a:pPr>
            <a:r>
              <a:rPr lang="tr-TR" sz="4000" dirty="0" err="1"/>
              <a:t>Who</a:t>
            </a:r>
            <a:r>
              <a:rPr lang="tr-TR" sz="4000" dirty="0"/>
              <a:t> is </a:t>
            </a:r>
            <a:r>
              <a:rPr lang="tr-TR" sz="4000" dirty="0">
                <a:solidFill>
                  <a:srgbClr val="00C159"/>
                </a:solidFill>
              </a:rPr>
              <a:t>Start </a:t>
            </a:r>
            <a:r>
              <a:rPr lang="tr-TR" sz="4000" dirty="0" err="1">
                <a:solidFill>
                  <a:srgbClr val="00C159"/>
                </a:solidFill>
              </a:rPr>
              <a:t>Campus</a:t>
            </a:r>
            <a:r>
              <a:rPr lang="tr-TR" sz="4000" dirty="0"/>
              <a:t>? </a:t>
            </a:r>
          </a:p>
          <a:p>
            <a:pPr marL="685800" indent="-685800">
              <a:lnSpc>
                <a:spcPct val="120000"/>
              </a:lnSpc>
              <a:buSzPct val="95000"/>
              <a:buFont typeface="Arial" panose="020B0604020202020204" pitchFamily="34" charset="0"/>
              <a:buChar char="•"/>
            </a:pPr>
            <a:r>
              <a:rPr lang="tr-TR" sz="4000" dirty="0" err="1"/>
              <a:t>Our</a:t>
            </a:r>
            <a:r>
              <a:rPr lang="tr-TR" sz="4000" dirty="0"/>
              <a:t> People</a:t>
            </a:r>
          </a:p>
          <a:p>
            <a:pPr marL="685800" indent="-685800">
              <a:lnSpc>
                <a:spcPct val="120000"/>
              </a:lnSpc>
              <a:buSzPct val="95000"/>
              <a:buFont typeface="Arial" panose="020B0604020202020204" pitchFamily="34" charset="0"/>
              <a:buChar char="•"/>
            </a:pPr>
            <a:r>
              <a:rPr lang="tr-TR" sz="4000" dirty="0" err="1"/>
              <a:t>Why</a:t>
            </a:r>
            <a:r>
              <a:rPr lang="tr-TR" sz="4000" dirty="0"/>
              <a:t> </a:t>
            </a:r>
            <a:r>
              <a:rPr lang="tr-TR" sz="4000" dirty="0" err="1"/>
              <a:t>Portugal</a:t>
            </a:r>
            <a:r>
              <a:rPr lang="tr-TR" sz="4000" dirty="0"/>
              <a:t> ?</a:t>
            </a:r>
          </a:p>
          <a:p>
            <a:pPr marL="685800" indent="-685800">
              <a:lnSpc>
                <a:spcPct val="120000"/>
              </a:lnSpc>
              <a:buSzPct val="95000"/>
              <a:buFont typeface="Arial" panose="020B0604020202020204" pitchFamily="34" charset="0"/>
              <a:buChar char="•"/>
            </a:pPr>
            <a:r>
              <a:rPr lang="tr-TR" sz="4000" dirty="0" err="1"/>
              <a:t>What</a:t>
            </a:r>
            <a:r>
              <a:rPr lang="tr-TR" sz="4000" dirty="0"/>
              <a:t> </a:t>
            </a:r>
            <a:r>
              <a:rPr lang="tr-TR" sz="4000" dirty="0" err="1"/>
              <a:t>are</a:t>
            </a:r>
            <a:r>
              <a:rPr lang="tr-TR" sz="4000" dirty="0"/>
              <a:t> </a:t>
            </a:r>
            <a:r>
              <a:rPr lang="tr-TR" sz="4000" dirty="0" err="1"/>
              <a:t>we</a:t>
            </a:r>
            <a:r>
              <a:rPr lang="tr-TR" sz="4000" dirty="0"/>
              <a:t> </a:t>
            </a:r>
            <a:r>
              <a:rPr lang="tr-TR" sz="4000" dirty="0" err="1"/>
              <a:t>building</a:t>
            </a:r>
            <a:r>
              <a:rPr lang="tr-TR" sz="4000" dirty="0"/>
              <a:t> at </a:t>
            </a:r>
            <a:r>
              <a:rPr lang="tr-TR" sz="4000" dirty="0" err="1"/>
              <a:t>Sines</a:t>
            </a:r>
            <a:r>
              <a:rPr lang="tr-TR" sz="4000" dirty="0"/>
              <a:t>?</a:t>
            </a:r>
          </a:p>
          <a:p>
            <a:pPr marL="685800" indent="-685800">
              <a:lnSpc>
                <a:spcPct val="120000"/>
              </a:lnSpc>
              <a:buSzPct val="95000"/>
              <a:buFont typeface="Arial" panose="020B0604020202020204" pitchFamily="34" charset="0"/>
              <a:buChar char="•"/>
            </a:pPr>
            <a:r>
              <a:rPr lang="tr-TR" sz="4000" dirty="0" err="1"/>
              <a:t>Our</a:t>
            </a:r>
            <a:r>
              <a:rPr lang="tr-TR" sz="4000" dirty="0"/>
              <a:t> </a:t>
            </a:r>
            <a:r>
              <a:rPr lang="tr-TR" sz="4000" dirty="0" err="1"/>
              <a:t>Commitment</a:t>
            </a:r>
            <a:r>
              <a:rPr lang="tr-TR" sz="4000" dirty="0"/>
              <a:t> </a:t>
            </a:r>
            <a:r>
              <a:rPr lang="tr-TR" sz="4000" dirty="0" err="1"/>
              <a:t>to</a:t>
            </a:r>
            <a:r>
              <a:rPr lang="tr-TR" sz="4000" dirty="0"/>
              <a:t> </a:t>
            </a:r>
            <a:r>
              <a:rPr lang="tr-TR" sz="4000" dirty="0" err="1"/>
              <a:t>the</a:t>
            </a:r>
            <a:r>
              <a:rPr lang="tr-TR" sz="4000" dirty="0"/>
              <a:t> Environment</a:t>
            </a:r>
          </a:p>
          <a:p>
            <a:pPr marL="685800" indent="-685800">
              <a:lnSpc>
                <a:spcPct val="120000"/>
              </a:lnSpc>
              <a:buSzPct val="95000"/>
              <a:buFont typeface="Arial" panose="020B0604020202020204" pitchFamily="34" charset="0"/>
              <a:buChar char="•"/>
            </a:pPr>
            <a:r>
              <a:rPr lang="tr-TR" sz="4000" dirty="0" err="1"/>
              <a:t>Our</a:t>
            </a:r>
            <a:r>
              <a:rPr lang="tr-TR" sz="4000" dirty="0"/>
              <a:t> </a:t>
            </a:r>
            <a:r>
              <a:rPr lang="tr-TR" sz="4000" dirty="0" err="1"/>
              <a:t>Commitment</a:t>
            </a:r>
            <a:r>
              <a:rPr lang="tr-TR" sz="4000" dirty="0"/>
              <a:t> </a:t>
            </a:r>
            <a:r>
              <a:rPr lang="tr-TR" sz="4000" dirty="0" err="1"/>
              <a:t>to</a:t>
            </a:r>
            <a:r>
              <a:rPr lang="tr-TR" sz="4000" dirty="0"/>
              <a:t> </a:t>
            </a:r>
            <a:r>
              <a:rPr lang="tr-TR" sz="4000" dirty="0" err="1"/>
              <a:t>the</a:t>
            </a:r>
            <a:r>
              <a:rPr lang="tr-TR" sz="4000" dirty="0"/>
              <a:t> </a:t>
            </a:r>
            <a:r>
              <a:rPr lang="tr-TR" sz="4000" dirty="0" err="1"/>
              <a:t>Industry</a:t>
            </a:r>
            <a:endParaRPr lang="tr-TR" sz="4000" dirty="0"/>
          </a:p>
          <a:p>
            <a:pPr marL="685800" indent="-685800">
              <a:lnSpc>
                <a:spcPct val="120000"/>
              </a:lnSpc>
              <a:buSzPct val="95000"/>
              <a:buFont typeface="Arial" panose="020B0604020202020204" pitchFamily="34" charset="0"/>
              <a:buChar char="•"/>
            </a:pPr>
            <a:r>
              <a:rPr lang="tr-TR" sz="4000" dirty="0" err="1"/>
              <a:t>Contact</a:t>
            </a:r>
            <a:r>
              <a:rPr lang="tr-TR" sz="4000" dirty="0"/>
              <a:t> </a:t>
            </a:r>
            <a:r>
              <a:rPr lang="tr-TR" sz="4000" dirty="0" err="1"/>
              <a:t>Details</a:t>
            </a:r>
            <a:endParaRPr lang="tr-TR" sz="4000" dirty="0"/>
          </a:p>
        </p:txBody>
      </p:sp>
      <p:sp>
        <p:nvSpPr>
          <p:cNvPr id="11" name="Title 1">
            <a:extLst>
              <a:ext uri="{FF2B5EF4-FFF2-40B4-BE49-F238E27FC236}">
                <a16:creationId xmlns:a16="http://schemas.microsoft.com/office/drawing/2014/main" id="{8420D237-64BF-58E2-31C9-955946A70BA1}"/>
              </a:ext>
            </a:extLst>
          </p:cNvPr>
          <p:cNvSpPr>
            <a:spLocks noGrp="1"/>
          </p:cNvSpPr>
          <p:nvPr>
            <p:ph type="title"/>
          </p:nvPr>
        </p:nvSpPr>
        <p:spPr>
          <a:xfrm>
            <a:off x="1677987" y="2075575"/>
            <a:ext cx="10515600" cy="1218795"/>
          </a:xfrm>
        </p:spPr>
        <p:txBody>
          <a:bodyPr/>
          <a:lstStyle/>
          <a:p>
            <a:r>
              <a:rPr lang="en-PT" dirty="0"/>
              <a:t>Table of </a:t>
            </a:r>
            <a:r>
              <a:rPr lang="en-PT" dirty="0">
                <a:solidFill>
                  <a:srgbClr val="00C159"/>
                </a:solidFill>
              </a:rPr>
              <a:t>Contents</a:t>
            </a:r>
          </a:p>
        </p:txBody>
      </p:sp>
      <p:pic>
        <p:nvPicPr>
          <p:cNvPr id="21" name="Picture 20">
            <a:extLst>
              <a:ext uri="{FF2B5EF4-FFF2-40B4-BE49-F238E27FC236}">
                <a16:creationId xmlns:a16="http://schemas.microsoft.com/office/drawing/2014/main" id="{6B6F35FC-9D60-F5F8-7824-A1985FAE1BA6}"/>
              </a:ext>
            </a:extLst>
          </p:cNvPr>
          <p:cNvPicPr>
            <a:picLocks noChangeAspect="1"/>
          </p:cNvPicPr>
          <p:nvPr/>
        </p:nvPicPr>
        <p:blipFill>
          <a:blip r:embed="rId2"/>
          <a:stretch>
            <a:fillRect/>
          </a:stretch>
        </p:blipFill>
        <p:spPr>
          <a:xfrm>
            <a:off x="14689344" y="3634067"/>
            <a:ext cx="4330700" cy="6286500"/>
          </a:xfrm>
          <a:prstGeom prst="rect">
            <a:avLst/>
          </a:prstGeom>
        </p:spPr>
      </p:pic>
      <p:pic>
        <p:nvPicPr>
          <p:cNvPr id="23" name="Picture 22">
            <a:extLst>
              <a:ext uri="{FF2B5EF4-FFF2-40B4-BE49-F238E27FC236}">
                <a16:creationId xmlns:a16="http://schemas.microsoft.com/office/drawing/2014/main" id="{1293A442-4DA6-7EB2-060A-77129823E2E7}"/>
              </a:ext>
            </a:extLst>
          </p:cNvPr>
          <p:cNvPicPr>
            <a:picLocks noChangeAspect="1"/>
          </p:cNvPicPr>
          <p:nvPr/>
        </p:nvPicPr>
        <p:blipFill>
          <a:blip r:embed="rId3"/>
          <a:stretch>
            <a:fillRect/>
          </a:stretch>
        </p:blipFill>
        <p:spPr>
          <a:xfrm>
            <a:off x="18706681" y="6867692"/>
            <a:ext cx="7620000" cy="7632700"/>
          </a:xfrm>
          <a:prstGeom prst="rect">
            <a:avLst/>
          </a:prstGeom>
        </p:spPr>
      </p:pic>
      <p:pic>
        <p:nvPicPr>
          <p:cNvPr id="25" name="Picture 24">
            <a:extLst>
              <a:ext uri="{FF2B5EF4-FFF2-40B4-BE49-F238E27FC236}">
                <a16:creationId xmlns:a16="http://schemas.microsoft.com/office/drawing/2014/main" id="{21B07E50-0C1F-47F9-22F5-2B0B7C779F77}"/>
              </a:ext>
            </a:extLst>
          </p:cNvPr>
          <p:cNvPicPr>
            <a:picLocks noChangeAspect="1"/>
          </p:cNvPicPr>
          <p:nvPr/>
        </p:nvPicPr>
        <p:blipFill>
          <a:blip r:embed="rId4"/>
          <a:stretch>
            <a:fillRect/>
          </a:stretch>
        </p:blipFill>
        <p:spPr>
          <a:xfrm>
            <a:off x="20421182" y="-670761"/>
            <a:ext cx="5105400" cy="5143500"/>
          </a:xfrm>
          <a:prstGeom prst="rect">
            <a:avLst/>
          </a:prstGeom>
        </p:spPr>
      </p:pic>
      <p:pic>
        <p:nvPicPr>
          <p:cNvPr id="27" name="Picture 26">
            <a:extLst>
              <a:ext uri="{FF2B5EF4-FFF2-40B4-BE49-F238E27FC236}">
                <a16:creationId xmlns:a16="http://schemas.microsoft.com/office/drawing/2014/main" id="{F426B748-0B25-D9F2-9319-470B01BC22C6}"/>
              </a:ext>
            </a:extLst>
          </p:cNvPr>
          <p:cNvPicPr>
            <a:picLocks noChangeAspect="1"/>
          </p:cNvPicPr>
          <p:nvPr/>
        </p:nvPicPr>
        <p:blipFill>
          <a:blip r:embed="rId5"/>
          <a:stretch>
            <a:fillRect/>
          </a:stretch>
        </p:blipFill>
        <p:spPr>
          <a:xfrm>
            <a:off x="12041187" y="11662913"/>
            <a:ext cx="2410669" cy="2053087"/>
          </a:xfrm>
          <a:prstGeom prst="rect">
            <a:avLst/>
          </a:prstGeom>
        </p:spPr>
      </p:pic>
      <p:pic>
        <p:nvPicPr>
          <p:cNvPr id="2" name="Picture 1">
            <a:extLst>
              <a:ext uri="{FF2B5EF4-FFF2-40B4-BE49-F238E27FC236}">
                <a16:creationId xmlns:a16="http://schemas.microsoft.com/office/drawing/2014/main" id="{2F86505B-3FE4-73E1-4DE0-AF210561491C}"/>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0" y="-892"/>
            <a:ext cx="24385587" cy="13716892"/>
          </a:xfrm>
          <a:prstGeom prst="rect">
            <a:avLst/>
          </a:prstGeom>
        </p:spPr>
      </p:pic>
    </p:spTree>
    <p:extLst>
      <p:ext uri="{BB962C8B-B14F-4D97-AF65-F5344CB8AC3E}">
        <p14:creationId xmlns:p14="http://schemas.microsoft.com/office/powerpoint/2010/main" val="3372155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5BBCA6B-6FCB-3D11-CB3F-3279325F0C8F}"/>
              </a:ext>
            </a:extLst>
          </p:cNvPr>
          <p:cNvSpPr>
            <a:spLocks noGrp="1"/>
          </p:cNvSpPr>
          <p:nvPr>
            <p:ph type="body" sz="quarter" idx="13"/>
          </p:nvPr>
        </p:nvSpPr>
        <p:spPr>
          <a:xfrm>
            <a:off x="10199973" y="8224547"/>
            <a:ext cx="3959452" cy="1754326"/>
          </a:xfrm>
        </p:spPr>
        <p:txBody>
          <a:bodyPr/>
          <a:lstStyle/>
          <a:p>
            <a:pPr algn="ctr"/>
            <a:r>
              <a:rPr lang="en-GB" dirty="0"/>
              <a:t>100% </a:t>
            </a:r>
            <a:br>
              <a:rPr lang="en-GB" dirty="0"/>
            </a:br>
            <a:r>
              <a:rPr lang="en-GB" dirty="0"/>
              <a:t>Renewable &amp; Low-Cost Power</a:t>
            </a:r>
          </a:p>
        </p:txBody>
      </p:sp>
      <p:sp>
        <p:nvSpPr>
          <p:cNvPr id="3" name="Text Placeholder 2">
            <a:extLst>
              <a:ext uri="{FF2B5EF4-FFF2-40B4-BE49-F238E27FC236}">
                <a16:creationId xmlns:a16="http://schemas.microsoft.com/office/drawing/2014/main" id="{61F6B88B-602F-CF14-A203-E1A27432276C}"/>
              </a:ext>
            </a:extLst>
          </p:cNvPr>
          <p:cNvSpPr>
            <a:spLocks noGrp="1"/>
          </p:cNvSpPr>
          <p:nvPr>
            <p:ph type="body" sz="quarter" idx="14"/>
          </p:nvPr>
        </p:nvSpPr>
        <p:spPr>
          <a:xfrm>
            <a:off x="1260926" y="8224546"/>
            <a:ext cx="3894934" cy="2564804"/>
          </a:xfrm>
        </p:spPr>
        <p:txBody>
          <a:bodyPr/>
          <a:lstStyle/>
          <a:p>
            <a:pPr algn="ctr"/>
            <a:r>
              <a:rPr lang="en-GB" dirty="0"/>
              <a:t>Efficient &amp; Sustainable Cooling</a:t>
            </a:r>
          </a:p>
          <a:p>
            <a:pPr algn="ctr"/>
            <a:endParaRPr lang="en-PT" dirty="0"/>
          </a:p>
        </p:txBody>
      </p:sp>
      <p:sp>
        <p:nvSpPr>
          <p:cNvPr id="4" name="Text Placeholder 3">
            <a:extLst>
              <a:ext uri="{FF2B5EF4-FFF2-40B4-BE49-F238E27FC236}">
                <a16:creationId xmlns:a16="http://schemas.microsoft.com/office/drawing/2014/main" id="{4E7A9FA1-3CC3-222B-E34C-D79E6C75066F}"/>
              </a:ext>
            </a:extLst>
          </p:cNvPr>
          <p:cNvSpPr>
            <a:spLocks noGrp="1"/>
          </p:cNvSpPr>
          <p:nvPr>
            <p:ph type="body" sz="quarter" idx="15"/>
          </p:nvPr>
        </p:nvSpPr>
        <p:spPr>
          <a:xfrm>
            <a:off x="5655804" y="9687586"/>
            <a:ext cx="3445146" cy="1964640"/>
          </a:xfrm>
        </p:spPr>
        <p:txBody>
          <a:bodyPr/>
          <a:lstStyle/>
          <a:p>
            <a:pPr algn="ctr"/>
            <a:r>
              <a:rPr lang="en-GB" dirty="0"/>
              <a:t>Strong Connectivity</a:t>
            </a:r>
          </a:p>
          <a:p>
            <a:pPr algn="ctr"/>
            <a:endParaRPr lang="en-PT" dirty="0"/>
          </a:p>
        </p:txBody>
      </p:sp>
      <p:sp>
        <p:nvSpPr>
          <p:cNvPr id="5" name="Text Placeholder 4">
            <a:extLst>
              <a:ext uri="{FF2B5EF4-FFF2-40B4-BE49-F238E27FC236}">
                <a16:creationId xmlns:a16="http://schemas.microsoft.com/office/drawing/2014/main" id="{C055176E-9110-E6AE-46B6-CD94AED4B4B0}"/>
              </a:ext>
            </a:extLst>
          </p:cNvPr>
          <p:cNvSpPr>
            <a:spLocks noGrp="1"/>
          </p:cNvSpPr>
          <p:nvPr>
            <p:ph type="body" sz="quarter" idx="16"/>
          </p:nvPr>
        </p:nvSpPr>
        <p:spPr>
          <a:xfrm>
            <a:off x="14928430" y="9687586"/>
            <a:ext cx="3560062" cy="1154162"/>
          </a:xfrm>
        </p:spPr>
        <p:txBody>
          <a:bodyPr/>
          <a:lstStyle/>
          <a:p>
            <a:pPr algn="ctr"/>
            <a:r>
              <a:rPr lang="en-GB" dirty="0"/>
              <a:t>Strong </a:t>
            </a:r>
            <a:br>
              <a:rPr lang="en-GB" dirty="0"/>
            </a:br>
            <a:r>
              <a:rPr lang="en-GB" dirty="0"/>
              <a:t>supply chain</a:t>
            </a:r>
          </a:p>
        </p:txBody>
      </p:sp>
      <p:sp>
        <p:nvSpPr>
          <p:cNvPr id="10" name="Title 9">
            <a:extLst>
              <a:ext uri="{FF2B5EF4-FFF2-40B4-BE49-F238E27FC236}">
                <a16:creationId xmlns:a16="http://schemas.microsoft.com/office/drawing/2014/main" id="{F255A7AD-1763-8686-066B-7C450BC45FAC}"/>
              </a:ext>
            </a:extLst>
          </p:cNvPr>
          <p:cNvSpPr>
            <a:spLocks noGrp="1"/>
          </p:cNvSpPr>
          <p:nvPr>
            <p:ph type="title"/>
          </p:nvPr>
        </p:nvSpPr>
        <p:spPr>
          <a:xfrm>
            <a:off x="1677987" y="2075574"/>
            <a:ext cx="13941972" cy="1218796"/>
          </a:xfrm>
        </p:spPr>
        <p:txBody>
          <a:bodyPr/>
          <a:lstStyle/>
          <a:p>
            <a:r>
              <a:rPr lang="en-GB" dirty="0"/>
              <a:t>Who is </a:t>
            </a:r>
            <a:r>
              <a:rPr lang="en-GB" dirty="0">
                <a:solidFill>
                  <a:srgbClr val="00C159"/>
                </a:solidFill>
              </a:rPr>
              <a:t>Start Campus</a:t>
            </a:r>
            <a:r>
              <a:rPr lang="en-GB" dirty="0"/>
              <a:t>?</a:t>
            </a:r>
            <a:endParaRPr lang="en-PT" dirty="0"/>
          </a:p>
        </p:txBody>
      </p:sp>
      <p:sp>
        <p:nvSpPr>
          <p:cNvPr id="13" name="Text Placeholder 4">
            <a:extLst>
              <a:ext uri="{FF2B5EF4-FFF2-40B4-BE49-F238E27FC236}">
                <a16:creationId xmlns:a16="http://schemas.microsoft.com/office/drawing/2014/main" id="{0A31AAC8-38D9-F826-31CF-C81C8E07A1FD}"/>
              </a:ext>
            </a:extLst>
          </p:cNvPr>
          <p:cNvSpPr txBox="1">
            <a:spLocks/>
          </p:cNvSpPr>
          <p:nvPr/>
        </p:nvSpPr>
        <p:spPr>
          <a:xfrm>
            <a:off x="18800295" y="8224546"/>
            <a:ext cx="3873156" cy="1154162"/>
          </a:xfrm>
          <a:prstGeom prst="rect">
            <a:avLst/>
          </a:prstGeom>
        </p:spPr>
        <p:txBody>
          <a:bodyPr wrap="square" lIns="0" tIns="0" rIns="0">
            <a:spAutoFit/>
          </a:bodyPr>
          <a:lstStyle>
            <a:lvl1pPr marL="0" indent="0" algn="l" defTabSz="914400" rtl="0" eaLnBrk="1" latinLnBrk="0" hangingPunct="1">
              <a:lnSpc>
                <a:spcPct val="90000"/>
              </a:lnSpc>
              <a:spcBef>
                <a:spcPts val="1000"/>
              </a:spcBef>
              <a:buFont typeface="Arial" panose="020B0604020202020204" pitchFamily="34" charset="0"/>
              <a:buNone/>
              <a:defRPr sz="2000" b="1" i="0" kern="1200">
                <a:solidFill>
                  <a:schemeClr val="tx1"/>
                </a:solidFill>
                <a:latin typeface="Figtree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sz="4000" dirty="0"/>
              <a:t>Ability to develop at scale</a:t>
            </a:r>
          </a:p>
        </p:txBody>
      </p:sp>
      <p:pic>
        <p:nvPicPr>
          <p:cNvPr id="14" name="Picture 13">
            <a:extLst>
              <a:ext uri="{FF2B5EF4-FFF2-40B4-BE49-F238E27FC236}">
                <a16:creationId xmlns:a16="http://schemas.microsoft.com/office/drawing/2014/main" id="{6E926D29-50C9-51D8-9340-6F4D4AEEC541}"/>
              </a:ext>
            </a:extLst>
          </p:cNvPr>
          <p:cNvPicPr>
            <a:picLocks noChangeAspect="1"/>
          </p:cNvPicPr>
          <p:nvPr/>
        </p:nvPicPr>
        <p:blipFill>
          <a:blip r:embed="rId2"/>
          <a:stretch>
            <a:fillRect/>
          </a:stretch>
        </p:blipFill>
        <p:spPr>
          <a:xfrm>
            <a:off x="19985264" y="5964425"/>
            <a:ext cx="1503218" cy="1426690"/>
          </a:xfrm>
          <a:prstGeom prst="rect">
            <a:avLst/>
          </a:prstGeom>
        </p:spPr>
      </p:pic>
      <p:pic>
        <p:nvPicPr>
          <p:cNvPr id="15" name="Picture 14">
            <a:extLst>
              <a:ext uri="{FF2B5EF4-FFF2-40B4-BE49-F238E27FC236}">
                <a16:creationId xmlns:a16="http://schemas.microsoft.com/office/drawing/2014/main" id="{94915B50-C460-5108-8CB5-A0A991E22E07}"/>
              </a:ext>
            </a:extLst>
          </p:cNvPr>
          <p:cNvPicPr>
            <a:picLocks noChangeAspect="1"/>
          </p:cNvPicPr>
          <p:nvPr/>
        </p:nvPicPr>
        <p:blipFill>
          <a:blip r:embed="rId3"/>
          <a:stretch>
            <a:fillRect/>
          </a:stretch>
        </p:blipFill>
        <p:spPr>
          <a:xfrm>
            <a:off x="16015780" y="7447184"/>
            <a:ext cx="1385362" cy="1421380"/>
          </a:xfrm>
          <a:prstGeom prst="rect">
            <a:avLst/>
          </a:prstGeom>
        </p:spPr>
      </p:pic>
      <p:pic>
        <p:nvPicPr>
          <p:cNvPr id="16" name="Picture 15">
            <a:extLst>
              <a:ext uri="{FF2B5EF4-FFF2-40B4-BE49-F238E27FC236}">
                <a16:creationId xmlns:a16="http://schemas.microsoft.com/office/drawing/2014/main" id="{FCE0DD46-B211-0CD8-0C01-ADF6EFCB5A51}"/>
              </a:ext>
            </a:extLst>
          </p:cNvPr>
          <p:cNvPicPr>
            <a:picLocks noChangeAspect="1"/>
          </p:cNvPicPr>
          <p:nvPr/>
        </p:nvPicPr>
        <p:blipFill>
          <a:blip r:embed="rId4"/>
          <a:stretch>
            <a:fillRect/>
          </a:stretch>
        </p:blipFill>
        <p:spPr>
          <a:xfrm>
            <a:off x="11265231" y="5604689"/>
            <a:ext cx="1828936" cy="1831982"/>
          </a:xfrm>
          <a:prstGeom prst="rect">
            <a:avLst/>
          </a:prstGeom>
        </p:spPr>
      </p:pic>
      <p:pic>
        <p:nvPicPr>
          <p:cNvPr id="17" name="Picture 16">
            <a:extLst>
              <a:ext uri="{FF2B5EF4-FFF2-40B4-BE49-F238E27FC236}">
                <a16:creationId xmlns:a16="http://schemas.microsoft.com/office/drawing/2014/main" id="{DFBCE209-7717-18C9-38C2-D2D82389E2D7}"/>
              </a:ext>
            </a:extLst>
          </p:cNvPr>
          <p:cNvPicPr>
            <a:picLocks noChangeAspect="1"/>
          </p:cNvPicPr>
          <p:nvPr/>
        </p:nvPicPr>
        <p:blipFill>
          <a:blip r:embed="rId5"/>
          <a:stretch>
            <a:fillRect/>
          </a:stretch>
        </p:blipFill>
        <p:spPr>
          <a:xfrm>
            <a:off x="6783735" y="7658032"/>
            <a:ext cx="1319708" cy="1322348"/>
          </a:xfrm>
          <a:prstGeom prst="rect">
            <a:avLst/>
          </a:prstGeom>
        </p:spPr>
      </p:pic>
      <p:pic>
        <p:nvPicPr>
          <p:cNvPr id="18" name="Picture 17">
            <a:extLst>
              <a:ext uri="{FF2B5EF4-FFF2-40B4-BE49-F238E27FC236}">
                <a16:creationId xmlns:a16="http://schemas.microsoft.com/office/drawing/2014/main" id="{0D209047-BD35-8705-333A-986A161C7E86}"/>
              </a:ext>
            </a:extLst>
          </p:cNvPr>
          <p:cNvPicPr>
            <a:picLocks noChangeAspect="1"/>
          </p:cNvPicPr>
          <p:nvPr/>
        </p:nvPicPr>
        <p:blipFill>
          <a:blip r:embed="rId6"/>
          <a:stretch>
            <a:fillRect/>
          </a:stretch>
        </p:blipFill>
        <p:spPr>
          <a:xfrm>
            <a:off x="2448583" y="5945911"/>
            <a:ext cx="1519620" cy="1436730"/>
          </a:xfrm>
          <a:prstGeom prst="rect">
            <a:avLst/>
          </a:prstGeom>
        </p:spPr>
      </p:pic>
      <p:cxnSp>
        <p:nvCxnSpPr>
          <p:cNvPr id="21" name="Straight Connector 20">
            <a:extLst>
              <a:ext uri="{FF2B5EF4-FFF2-40B4-BE49-F238E27FC236}">
                <a16:creationId xmlns:a16="http://schemas.microsoft.com/office/drawing/2014/main" id="{0E73AEB2-1E96-D516-A7C0-65A71C2BC477}"/>
              </a:ext>
            </a:extLst>
          </p:cNvPr>
          <p:cNvCxnSpPr>
            <a:cxnSpLocks/>
          </p:cNvCxnSpPr>
          <p:nvPr/>
        </p:nvCxnSpPr>
        <p:spPr>
          <a:xfrm>
            <a:off x="0" y="4006514"/>
            <a:ext cx="8310622" cy="0"/>
          </a:xfrm>
          <a:prstGeom prst="line">
            <a:avLst/>
          </a:prstGeom>
          <a:ln w="38100">
            <a:solidFill>
              <a:srgbClr val="12BD64"/>
            </a:solidFill>
            <a:tailEnd type="oval" w="med" len="med"/>
          </a:ln>
        </p:spPr>
        <p:style>
          <a:lnRef idx="1">
            <a:schemeClr val="accent6"/>
          </a:lnRef>
          <a:fillRef idx="0">
            <a:schemeClr val="accent6"/>
          </a:fillRef>
          <a:effectRef idx="0">
            <a:schemeClr val="accent6"/>
          </a:effectRef>
          <a:fontRef idx="minor">
            <a:schemeClr val="tx1"/>
          </a:fontRef>
        </p:style>
      </p:cxnSp>
      <p:pic>
        <p:nvPicPr>
          <p:cNvPr id="6" name="Picture 5">
            <a:extLst>
              <a:ext uri="{FF2B5EF4-FFF2-40B4-BE49-F238E27FC236}">
                <a16:creationId xmlns:a16="http://schemas.microsoft.com/office/drawing/2014/main" id="{BE109E28-61DD-8447-2E0A-42E2F44F5D03}"/>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0" y="-892"/>
            <a:ext cx="24387175" cy="13717785"/>
          </a:xfrm>
          <a:prstGeom prst="rect">
            <a:avLst/>
          </a:prstGeom>
        </p:spPr>
      </p:pic>
    </p:spTree>
    <p:extLst>
      <p:ext uri="{BB962C8B-B14F-4D97-AF65-F5344CB8AC3E}">
        <p14:creationId xmlns:p14="http://schemas.microsoft.com/office/powerpoint/2010/main" val="4056087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6" name="Straight Connector 15">
            <a:extLst>
              <a:ext uri="{FF2B5EF4-FFF2-40B4-BE49-F238E27FC236}">
                <a16:creationId xmlns:a16="http://schemas.microsoft.com/office/drawing/2014/main" id="{45D318BB-DD1F-2B2A-345B-E9571B0ED437}"/>
              </a:ext>
            </a:extLst>
          </p:cNvPr>
          <p:cNvCxnSpPr>
            <a:cxnSpLocks/>
          </p:cNvCxnSpPr>
          <p:nvPr/>
        </p:nvCxnSpPr>
        <p:spPr>
          <a:xfrm>
            <a:off x="0" y="7669101"/>
            <a:ext cx="8096250" cy="0"/>
          </a:xfrm>
          <a:prstGeom prst="line">
            <a:avLst/>
          </a:prstGeom>
          <a:ln w="38100">
            <a:solidFill>
              <a:srgbClr val="12BD64"/>
            </a:solidFill>
            <a:tailEnd type="oval" w="med" len="med"/>
          </a:ln>
        </p:spPr>
        <p:style>
          <a:lnRef idx="1">
            <a:schemeClr val="accent6"/>
          </a:lnRef>
          <a:fillRef idx="0">
            <a:schemeClr val="accent6"/>
          </a:fillRef>
          <a:effectRef idx="0">
            <a:schemeClr val="accent6"/>
          </a:effectRef>
          <a:fontRef idx="minor">
            <a:schemeClr val="tx1"/>
          </a:fontRef>
        </p:style>
      </p:cxnSp>
      <p:sp>
        <p:nvSpPr>
          <p:cNvPr id="27" name="Title 9">
            <a:extLst>
              <a:ext uri="{FF2B5EF4-FFF2-40B4-BE49-F238E27FC236}">
                <a16:creationId xmlns:a16="http://schemas.microsoft.com/office/drawing/2014/main" id="{38980756-6A26-EF7C-CC4B-2C19E6E97D90}"/>
              </a:ext>
            </a:extLst>
          </p:cNvPr>
          <p:cNvSpPr>
            <a:spLocks noGrp="1"/>
          </p:cNvSpPr>
          <p:nvPr>
            <p:ph type="title"/>
          </p:nvPr>
        </p:nvSpPr>
        <p:spPr>
          <a:xfrm>
            <a:off x="1677987" y="1622814"/>
            <a:ext cx="7873386" cy="2585323"/>
          </a:xfrm>
        </p:spPr>
        <p:txBody>
          <a:bodyPr/>
          <a:lstStyle/>
          <a:p>
            <a:pPr>
              <a:lnSpc>
                <a:spcPct val="100000"/>
              </a:lnSpc>
            </a:pPr>
            <a:r>
              <a:rPr lang="en-GB" sz="5600">
                <a:solidFill>
                  <a:srgbClr val="00C159"/>
                </a:solidFill>
                <a:latin typeface="Figtree SemiBold"/>
              </a:rPr>
              <a:t>Europe’s largest and most sustainable </a:t>
            </a:r>
            <a:r>
              <a:rPr lang="en-GB" sz="5600">
                <a:latin typeface="Figtree SemiBold"/>
              </a:rPr>
              <a:t>data ecosystem</a:t>
            </a:r>
            <a:endParaRPr lang="en-PT" sz="5600">
              <a:latin typeface="Figtree SemiBold"/>
            </a:endParaRPr>
          </a:p>
        </p:txBody>
      </p:sp>
      <p:sp>
        <p:nvSpPr>
          <p:cNvPr id="41" name="Text Placeholder 4">
            <a:extLst>
              <a:ext uri="{FF2B5EF4-FFF2-40B4-BE49-F238E27FC236}">
                <a16:creationId xmlns:a16="http://schemas.microsoft.com/office/drawing/2014/main" id="{CA0313F6-DD0C-C9F8-9FF2-36904864AED8}"/>
              </a:ext>
            </a:extLst>
          </p:cNvPr>
          <p:cNvSpPr txBox="1">
            <a:spLocks/>
          </p:cNvSpPr>
          <p:nvPr/>
        </p:nvSpPr>
        <p:spPr>
          <a:xfrm>
            <a:off x="12207924" y="3101822"/>
            <a:ext cx="4298636" cy="3600986"/>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13000" b="1" i="0" kern="1200">
                <a:solidFill>
                  <a:srgbClr val="00C159"/>
                </a:solidFill>
                <a:latin typeface="Figtree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spcBef>
                <a:spcPts val="2000"/>
              </a:spcBef>
            </a:pPr>
            <a:r>
              <a:rPr lang="en-PT" sz="26000"/>
              <a:t>1.2</a:t>
            </a:r>
          </a:p>
        </p:txBody>
      </p:sp>
      <p:sp>
        <p:nvSpPr>
          <p:cNvPr id="42" name="Text Placeholder 5">
            <a:extLst>
              <a:ext uri="{FF2B5EF4-FFF2-40B4-BE49-F238E27FC236}">
                <a16:creationId xmlns:a16="http://schemas.microsoft.com/office/drawing/2014/main" id="{AAF343B4-D0B0-8645-D41C-905156991C62}"/>
              </a:ext>
            </a:extLst>
          </p:cNvPr>
          <p:cNvSpPr txBox="1">
            <a:spLocks/>
          </p:cNvSpPr>
          <p:nvPr/>
        </p:nvSpPr>
        <p:spPr>
          <a:xfrm>
            <a:off x="16484787" y="4421859"/>
            <a:ext cx="6062978" cy="1523494"/>
          </a:xfrm>
          <a:prstGeom prst="rect">
            <a:avLst/>
          </a:prstGeom>
        </p:spPr>
        <p:txBody>
          <a:bodyPr wrap="square" lIns="0" tIns="0" rIns="0">
            <a:spAutoFit/>
          </a:bodyPr>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Figtre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spcBef>
                <a:spcPts val="2000"/>
              </a:spcBef>
            </a:pPr>
            <a:r>
              <a:rPr lang="en-US" sz="3200">
                <a:solidFill>
                  <a:srgbClr val="000000"/>
                </a:solidFill>
              </a:rPr>
              <a:t>over 6 buildings, the </a:t>
            </a:r>
            <a:r>
              <a:rPr lang="en-US" sz="3200" b="1">
                <a:solidFill>
                  <a:srgbClr val="000000"/>
                </a:solidFill>
              </a:rPr>
              <a:t>largest </a:t>
            </a:r>
            <a:r>
              <a:rPr lang="en-US" sz="3200">
                <a:solidFill>
                  <a:srgbClr val="000000"/>
                </a:solidFill>
              </a:rPr>
              <a:t>colocation site with </a:t>
            </a:r>
            <a:r>
              <a:rPr lang="en-US" sz="3200" b="1">
                <a:solidFill>
                  <a:srgbClr val="000000"/>
                </a:solidFill>
              </a:rPr>
              <a:t>fully secured grid access in Europe</a:t>
            </a:r>
            <a:endParaRPr lang="en-GB" sz="3200" b="1">
              <a:solidFill>
                <a:srgbClr val="000000"/>
              </a:solidFill>
            </a:endParaRPr>
          </a:p>
        </p:txBody>
      </p:sp>
      <p:sp>
        <p:nvSpPr>
          <p:cNvPr id="45" name="Text Placeholder 4">
            <a:extLst>
              <a:ext uri="{FF2B5EF4-FFF2-40B4-BE49-F238E27FC236}">
                <a16:creationId xmlns:a16="http://schemas.microsoft.com/office/drawing/2014/main" id="{45345B31-B68C-977A-70E5-5FECBDBEEF6D}"/>
              </a:ext>
            </a:extLst>
          </p:cNvPr>
          <p:cNvSpPr txBox="1">
            <a:spLocks/>
          </p:cNvSpPr>
          <p:nvPr/>
        </p:nvSpPr>
        <p:spPr>
          <a:xfrm>
            <a:off x="1110787" y="8764827"/>
            <a:ext cx="2786740" cy="2769989"/>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13000" b="1" i="0" kern="1200">
                <a:solidFill>
                  <a:srgbClr val="00C159"/>
                </a:solidFill>
                <a:latin typeface="Figtree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spcBef>
                <a:spcPts val="2000"/>
              </a:spcBef>
            </a:pPr>
            <a:r>
              <a:rPr lang="en-PT" sz="20000"/>
              <a:t>1.1</a:t>
            </a:r>
          </a:p>
        </p:txBody>
      </p:sp>
      <p:sp>
        <p:nvSpPr>
          <p:cNvPr id="46" name="Text Placeholder 5">
            <a:extLst>
              <a:ext uri="{FF2B5EF4-FFF2-40B4-BE49-F238E27FC236}">
                <a16:creationId xmlns:a16="http://schemas.microsoft.com/office/drawing/2014/main" id="{48A6E860-F5AD-C44C-6717-7EC45FC86C5E}"/>
              </a:ext>
            </a:extLst>
          </p:cNvPr>
          <p:cNvSpPr txBox="1">
            <a:spLocks/>
          </p:cNvSpPr>
          <p:nvPr/>
        </p:nvSpPr>
        <p:spPr>
          <a:xfrm>
            <a:off x="3924383" y="9679225"/>
            <a:ext cx="4377408" cy="1338828"/>
          </a:xfrm>
          <a:prstGeom prst="rect">
            <a:avLst/>
          </a:prstGeom>
        </p:spPr>
        <p:txBody>
          <a:bodyPr wrap="square" lIns="0" tIns="0" rIns="0">
            <a:spAutoFit/>
          </a:bodyPr>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Figtre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800"/>
              <a:t>industry-leading PUE, achieved through highly </a:t>
            </a:r>
            <a:r>
              <a:rPr lang="en-US" sz="2800" b="1"/>
              <a:t>efficient cooling solution </a:t>
            </a:r>
            <a:endParaRPr lang="en-GB" sz="2800" b="1"/>
          </a:p>
        </p:txBody>
      </p:sp>
      <p:sp>
        <p:nvSpPr>
          <p:cNvPr id="48" name="Text Placeholder 4">
            <a:extLst>
              <a:ext uri="{FF2B5EF4-FFF2-40B4-BE49-F238E27FC236}">
                <a16:creationId xmlns:a16="http://schemas.microsoft.com/office/drawing/2014/main" id="{DAA034EB-3AC1-33F0-13E6-AEFD78F7977B}"/>
              </a:ext>
            </a:extLst>
          </p:cNvPr>
          <p:cNvSpPr txBox="1">
            <a:spLocks/>
          </p:cNvSpPr>
          <p:nvPr/>
        </p:nvSpPr>
        <p:spPr>
          <a:xfrm>
            <a:off x="15545049" y="8787129"/>
            <a:ext cx="3113312" cy="2769989"/>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13000" b="1" i="0" kern="1200">
                <a:solidFill>
                  <a:srgbClr val="00C159"/>
                </a:solidFill>
                <a:latin typeface="Figtree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spcBef>
                <a:spcPts val="2000"/>
              </a:spcBef>
            </a:pPr>
            <a:r>
              <a:rPr lang="en-US" sz="20000" dirty="0"/>
              <a:t>7</a:t>
            </a:r>
            <a:r>
              <a:rPr lang="en-PT" sz="20000" dirty="0"/>
              <a:t>0</a:t>
            </a:r>
          </a:p>
        </p:txBody>
      </p:sp>
      <p:sp>
        <p:nvSpPr>
          <p:cNvPr id="49" name="Text Placeholder 5">
            <a:extLst>
              <a:ext uri="{FF2B5EF4-FFF2-40B4-BE49-F238E27FC236}">
                <a16:creationId xmlns:a16="http://schemas.microsoft.com/office/drawing/2014/main" id="{5D42493E-4F28-0D57-E41F-DCF9A98CCF2B}"/>
              </a:ext>
            </a:extLst>
          </p:cNvPr>
          <p:cNvSpPr txBox="1">
            <a:spLocks/>
          </p:cNvSpPr>
          <p:nvPr/>
        </p:nvSpPr>
        <p:spPr>
          <a:xfrm>
            <a:off x="18857095" y="9583504"/>
            <a:ext cx="4668457" cy="1769715"/>
          </a:xfrm>
          <a:prstGeom prst="rect">
            <a:avLst/>
          </a:prstGeom>
        </p:spPr>
        <p:txBody>
          <a:bodyPr wrap="square" lIns="0" tIns="0" rIns="0">
            <a:spAutoFit/>
          </a:bodyPr>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Figtre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800"/>
              <a:t>with </a:t>
            </a:r>
            <a:r>
              <a:rPr lang="en-US" sz="2800" b="1"/>
              <a:t>combined experience </a:t>
            </a:r>
            <a:br>
              <a:rPr lang="en-US" sz="2800" b="1"/>
            </a:br>
            <a:r>
              <a:rPr lang="en-US" sz="2800"/>
              <a:t>in</a:t>
            </a:r>
            <a:r>
              <a:rPr lang="en-US" sz="2800" b="1"/>
              <a:t> developing </a:t>
            </a:r>
            <a:r>
              <a:rPr lang="en-US" sz="2800"/>
              <a:t>and</a:t>
            </a:r>
            <a:r>
              <a:rPr lang="en-US" sz="2800" b="1"/>
              <a:t> </a:t>
            </a:r>
            <a:br>
              <a:rPr lang="en-US" sz="2800" b="1"/>
            </a:br>
            <a:r>
              <a:rPr lang="en-US" sz="2800" b="1"/>
              <a:t>operating&gt;3.8 GW</a:t>
            </a:r>
            <a:r>
              <a:rPr lang="en-US" sz="2800"/>
              <a:t> </a:t>
            </a:r>
            <a:br>
              <a:rPr lang="en-US" sz="2800"/>
            </a:br>
            <a:r>
              <a:rPr lang="en-US" sz="2800"/>
              <a:t>of DC capacity globally</a:t>
            </a:r>
            <a:endParaRPr lang="en-GB" sz="2800"/>
          </a:p>
        </p:txBody>
      </p:sp>
      <p:sp>
        <p:nvSpPr>
          <p:cNvPr id="50" name="Text Placeholder 4">
            <a:extLst>
              <a:ext uri="{FF2B5EF4-FFF2-40B4-BE49-F238E27FC236}">
                <a16:creationId xmlns:a16="http://schemas.microsoft.com/office/drawing/2014/main" id="{6E896C4C-242B-7F8E-ABA2-F7206E61FC28}"/>
              </a:ext>
            </a:extLst>
          </p:cNvPr>
          <p:cNvSpPr txBox="1">
            <a:spLocks/>
          </p:cNvSpPr>
          <p:nvPr/>
        </p:nvSpPr>
        <p:spPr>
          <a:xfrm>
            <a:off x="8413761" y="8764297"/>
            <a:ext cx="1915884" cy="2769989"/>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13000" b="1" i="0" kern="1200">
                <a:solidFill>
                  <a:srgbClr val="00C159"/>
                </a:solidFill>
                <a:latin typeface="Figtree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spcBef>
                <a:spcPts val="2000"/>
              </a:spcBef>
            </a:pPr>
            <a:r>
              <a:rPr lang="en-PT" sz="20000"/>
              <a:t>0</a:t>
            </a:r>
          </a:p>
        </p:txBody>
      </p:sp>
      <p:sp>
        <p:nvSpPr>
          <p:cNvPr id="51" name="Text Placeholder 5">
            <a:extLst>
              <a:ext uri="{FF2B5EF4-FFF2-40B4-BE49-F238E27FC236}">
                <a16:creationId xmlns:a16="http://schemas.microsoft.com/office/drawing/2014/main" id="{96094F9F-418F-AAE5-EE9C-86C352429D14}"/>
              </a:ext>
            </a:extLst>
          </p:cNvPr>
          <p:cNvSpPr txBox="1">
            <a:spLocks/>
          </p:cNvSpPr>
          <p:nvPr/>
        </p:nvSpPr>
        <p:spPr>
          <a:xfrm>
            <a:off x="10339311" y="9637446"/>
            <a:ext cx="4921693" cy="1338828"/>
          </a:xfrm>
          <a:prstGeom prst="rect">
            <a:avLst/>
          </a:prstGeom>
        </p:spPr>
        <p:txBody>
          <a:bodyPr wrap="square" lIns="0" tIns="0" rIns="0">
            <a:spAutoFit/>
          </a:bodyPr>
          <a:lstStyle>
            <a:lvl1pPr marL="0" indent="0" algn="l" defTabSz="914400" rtl="0" eaLnBrk="1" latinLnBrk="0" hangingPunct="1">
              <a:lnSpc>
                <a:spcPct val="100000"/>
              </a:lnSpc>
              <a:spcBef>
                <a:spcPts val="1000"/>
              </a:spcBef>
              <a:buFont typeface="Arial" panose="020B0604020202020204" pitchFamily="34" charset="0"/>
              <a:buNone/>
              <a:defRPr sz="1600" kern="1200">
                <a:solidFill>
                  <a:schemeClr val="tx1"/>
                </a:solidFill>
                <a:latin typeface="Figtree"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800"/>
              <a:t>Using, but not consuming </a:t>
            </a:r>
            <a:r>
              <a:rPr lang="en-US" sz="2800" b="1"/>
              <a:t>ocean water</a:t>
            </a:r>
            <a:r>
              <a:rPr lang="en-US" sz="2800"/>
              <a:t>, setting </a:t>
            </a:r>
            <a:r>
              <a:rPr lang="en-US" sz="2800" b="1"/>
              <a:t>new precedents in the industry</a:t>
            </a:r>
            <a:endParaRPr lang="en-GB" sz="2800"/>
          </a:p>
        </p:txBody>
      </p:sp>
      <p:sp>
        <p:nvSpPr>
          <p:cNvPr id="55" name="TextBox 54">
            <a:extLst>
              <a:ext uri="{FF2B5EF4-FFF2-40B4-BE49-F238E27FC236}">
                <a16:creationId xmlns:a16="http://schemas.microsoft.com/office/drawing/2014/main" id="{FCFD0B40-D57D-8E4D-0A51-98705553B993}"/>
              </a:ext>
            </a:extLst>
          </p:cNvPr>
          <p:cNvSpPr txBox="1"/>
          <p:nvPr/>
        </p:nvSpPr>
        <p:spPr>
          <a:xfrm>
            <a:off x="1626425" y="4715410"/>
            <a:ext cx="8512349" cy="2677656"/>
          </a:xfrm>
          <a:prstGeom prst="rect">
            <a:avLst/>
          </a:prstGeom>
          <a:noFill/>
        </p:spPr>
        <p:txBody>
          <a:bodyPr wrap="square" lIns="91440" tIns="45720" rIns="91440" bIns="45720" anchor="t">
            <a:spAutoFit/>
          </a:bodyPr>
          <a:lstStyle/>
          <a:p>
            <a:pPr>
              <a:spcBef>
                <a:spcPts val="800"/>
              </a:spcBef>
              <a:spcAft>
                <a:spcPts val="800"/>
              </a:spcAft>
            </a:pPr>
            <a:r>
              <a:rPr lang="en-US" sz="2800" b="1">
                <a:latin typeface="Figtree SemiBold"/>
              </a:rPr>
              <a:t>Start Campus </a:t>
            </a:r>
            <a:r>
              <a:rPr lang="en-US" sz="2800">
                <a:latin typeface="Figtree"/>
              </a:rPr>
              <a:t>is pioneering the development of next-generation, AI-scale data centers with a strong focus on sustainability. We prioritize environmental responsibility at every stage, from choosing optimal locations to designing, constructing and managing state-of-the-art facilities.</a:t>
            </a:r>
            <a:endParaRPr lang="en-US" sz="2800">
              <a:latin typeface="Figtree" pitchFamily="2" charset="0"/>
            </a:endParaRPr>
          </a:p>
        </p:txBody>
      </p:sp>
      <p:sp>
        <p:nvSpPr>
          <p:cNvPr id="56" name="Text Placeholder 4">
            <a:extLst>
              <a:ext uri="{FF2B5EF4-FFF2-40B4-BE49-F238E27FC236}">
                <a16:creationId xmlns:a16="http://schemas.microsoft.com/office/drawing/2014/main" id="{83202951-AC43-14E2-975A-0CE3BFB3B952}"/>
              </a:ext>
            </a:extLst>
          </p:cNvPr>
          <p:cNvSpPr txBox="1">
            <a:spLocks/>
          </p:cNvSpPr>
          <p:nvPr/>
        </p:nvSpPr>
        <p:spPr>
          <a:xfrm>
            <a:off x="16426998" y="3446728"/>
            <a:ext cx="2390978" cy="1107996"/>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13000" b="1" i="0" kern="1200">
                <a:solidFill>
                  <a:srgbClr val="00C159"/>
                </a:solidFill>
                <a:latin typeface="Figtree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spcBef>
                <a:spcPts val="2000"/>
              </a:spcBef>
            </a:pPr>
            <a:r>
              <a:rPr lang="en-PT" sz="8000">
                <a:solidFill>
                  <a:srgbClr val="0A3638"/>
                </a:solidFill>
              </a:rPr>
              <a:t>GW</a:t>
            </a:r>
          </a:p>
        </p:txBody>
      </p:sp>
      <p:sp>
        <p:nvSpPr>
          <p:cNvPr id="57" name="Text Placeholder 4">
            <a:extLst>
              <a:ext uri="{FF2B5EF4-FFF2-40B4-BE49-F238E27FC236}">
                <a16:creationId xmlns:a16="http://schemas.microsoft.com/office/drawing/2014/main" id="{8775642A-6378-86AE-C8C7-AC700E9D6D7A}"/>
              </a:ext>
            </a:extLst>
          </p:cNvPr>
          <p:cNvSpPr txBox="1">
            <a:spLocks/>
          </p:cNvSpPr>
          <p:nvPr/>
        </p:nvSpPr>
        <p:spPr>
          <a:xfrm>
            <a:off x="3925116" y="9061603"/>
            <a:ext cx="2390978" cy="553998"/>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13000" b="1" i="0" kern="1200">
                <a:solidFill>
                  <a:srgbClr val="00C159"/>
                </a:solidFill>
                <a:latin typeface="Figtree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spcBef>
                <a:spcPts val="2000"/>
              </a:spcBef>
            </a:pPr>
            <a:r>
              <a:rPr lang="en-PT" sz="4000">
                <a:solidFill>
                  <a:srgbClr val="0A3638"/>
                </a:solidFill>
              </a:rPr>
              <a:t>PUE</a:t>
            </a:r>
          </a:p>
        </p:txBody>
      </p:sp>
      <p:sp>
        <p:nvSpPr>
          <p:cNvPr id="58" name="Text Placeholder 4">
            <a:extLst>
              <a:ext uri="{FF2B5EF4-FFF2-40B4-BE49-F238E27FC236}">
                <a16:creationId xmlns:a16="http://schemas.microsoft.com/office/drawing/2014/main" id="{BA17B47E-C0ED-CD96-F182-458EE3B62A45}"/>
              </a:ext>
            </a:extLst>
          </p:cNvPr>
          <p:cNvSpPr txBox="1">
            <a:spLocks/>
          </p:cNvSpPr>
          <p:nvPr/>
        </p:nvSpPr>
        <p:spPr>
          <a:xfrm>
            <a:off x="18859336" y="9067863"/>
            <a:ext cx="2390978" cy="553998"/>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13000" b="1" i="0" kern="1200">
                <a:solidFill>
                  <a:srgbClr val="00C159"/>
                </a:solidFill>
                <a:latin typeface="Figtree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spcBef>
                <a:spcPts val="2000"/>
              </a:spcBef>
            </a:pPr>
            <a:r>
              <a:rPr lang="en-PT" sz="4000">
                <a:solidFill>
                  <a:srgbClr val="0A3638"/>
                </a:solidFill>
              </a:rPr>
              <a:t>FTE</a:t>
            </a:r>
          </a:p>
        </p:txBody>
      </p:sp>
      <p:sp>
        <p:nvSpPr>
          <p:cNvPr id="59" name="Text Placeholder 4">
            <a:extLst>
              <a:ext uri="{FF2B5EF4-FFF2-40B4-BE49-F238E27FC236}">
                <a16:creationId xmlns:a16="http://schemas.microsoft.com/office/drawing/2014/main" id="{D3F79752-8063-4FF5-D2C5-245ACC5FD9B9}"/>
              </a:ext>
            </a:extLst>
          </p:cNvPr>
          <p:cNvSpPr txBox="1">
            <a:spLocks/>
          </p:cNvSpPr>
          <p:nvPr/>
        </p:nvSpPr>
        <p:spPr>
          <a:xfrm>
            <a:off x="10319334" y="9031280"/>
            <a:ext cx="2390978" cy="553998"/>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13000" b="1" i="0" kern="1200">
                <a:solidFill>
                  <a:srgbClr val="00C159"/>
                </a:solidFill>
                <a:latin typeface="Figtree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spcBef>
                <a:spcPts val="2000"/>
              </a:spcBef>
            </a:pPr>
            <a:r>
              <a:rPr lang="en-PT" sz="4000">
                <a:solidFill>
                  <a:srgbClr val="0A3638"/>
                </a:solidFill>
              </a:rPr>
              <a:t>WUE</a:t>
            </a:r>
          </a:p>
        </p:txBody>
      </p:sp>
      <p:sp>
        <p:nvSpPr>
          <p:cNvPr id="60" name="Text Placeholder 4">
            <a:extLst>
              <a:ext uri="{FF2B5EF4-FFF2-40B4-BE49-F238E27FC236}">
                <a16:creationId xmlns:a16="http://schemas.microsoft.com/office/drawing/2014/main" id="{C50A4032-7749-D3DE-35C9-4958AC5B59EC}"/>
              </a:ext>
            </a:extLst>
          </p:cNvPr>
          <p:cNvSpPr txBox="1">
            <a:spLocks/>
          </p:cNvSpPr>
          <p:nvPr/>
        </p:nvSpPr>
        <p:spPr>
          <a:xfrm>
            <a:off x="15303802" y="10470223"/>
            <a:ext cx="450723" cy="553998"/>
          </a:xfrm>
          <a:prstGeom prst="rect">
            <a:avLst/>
          </a:prstGeom>
        </p:spPr>
        <p:txBody>
          <a:bodyPr wrap="square" lIns="0" tIns="0" rIns="0" bIns="0">
            <a:spAutoFit/>
          </a:bodyPr>
          <a:lstStyle>
            <a:lvl1pPr marL="0" indent="0" algn="l" defTabSz="914400" rtl="0" eaLnBrk="1" latinLnBrk="0" hangingPunct="1">
              <a:lnSpc>
                <a:spcPct val="90000"/>
              </a:lnSpc>
              <a:spcBef>
                <a:spcPts val="1000"/>
              </a:spcBef>
              <a:buFont typeface="Arial" panose="020B0604020202020204" pitchFamily="34" charset="0"/>
              <a:buNone/>
              <a:defRPr sz="13000" b="1" i="0" kern="1200">
                <a:solidFill>
                  <a:srgbClr val="00C159"/>
                </a:solidFill>
                <a:latin typeface="Figtree SemiBold"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defTabSz="1828800">
              <a:spcBef>
                <a:spcPts val="2000"/>
              </a:spcBef>
            </a:pPr>
            <a:r>
              <a:rPr lang="en-PT" sz="4000">
                <a:solidFill>
                  <a:srgbClr val="0A3638"/>
                </a:solidFill>
              </a:rPr>
              <a:t>c.</a:t>
            </a:r>
          </a:p>
        </p:txBody>
      </p:sp>
    </p:spTree>
    <p:extLst>
      <p:ext uri="{BB962C8B-B14F-4D97-AF65-F5344CB8AC3E}">
        <p14:creationId xmlns:p14="http://schemas.microsoft.com/office/powerpoint/2010/main" val="29141299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AE1DD-662D-065B-CE6B-DA722396A5C3}"/>
            </a:ext>
          </a:extLst>
        </p:cNvPr>
        <p:cNvGrpSpPr/>
        <p:nvPr/>
      </p:nvGrpSpPr>
      <p:grpSpPr>
        <a:xfrm>
          <a:off x="0" y="0"/>
          <a:ext cx="0" cy="0"/>
          <a:chOff x="0" y="0"/>
          <a:chExt cx="0" cy="0"/>
        </a:xfrm>
      </p:grpSpPr>
      <p:sp>
        <p:nvSpPr>
          <p:cNvPr id="4" name="Title 9">
            <a:extLst>
              <a:ext uri="{FF2B5EF4-FFF2-40B4-BE49-F238E27FC236}">
                <a16:creationId xmlns:a16="http://schemas.microsoft.com/office/drawing/2014/main" id="{5F564D44-FC78-39BD-1DE0-6DAEDB703971}"/>
              </a:ext>
            </a:extLst>
          </p:cNvPr>
          <p:cNvSpPr>
            <a:spLocks noGrp="1"/>
          </p:cNvSpPr>
          <p:nvPr>
            <p:ph type="title"/>
          </p:nvPr>
        </p:nvSpPr>
        <p:spPr>
          <a:xfrm>
            <a:off x="1677985" y="2377195"/>
            <a:ext cx="15859737" cy="1723549"/>
          </a:xfrm>
        </p:spPr>
        <p:txBody>
          <a:bodyPr/>
          <a:lstStyle/>
          <a:p>
            <a:pPr>
              <a:lnSpc>
                <a:spcPct val="100000"/>
              </a:lnSpc>
            </a:pPr>
            <a:r>
              <a:rPr lang="en-GB" sz="5600" dirty="0"/>
              <a:t>Backed by </a:t>
            </a:r>
            <a:r>
              <a:rPr lang="en-GB" sz="5600" dirty="0">
                <a:solidFill>
                  <a:srgbClr val="00C159"/>
                </a:solidFill>
              </a:rPr>
              <a:t>two world-class investors </a:t>
            </a:r>
            <a:r>
              <a:rPr lang="en-GB" sz="5600" dirty="0"/>
              <a:t>with significant equity invested to date</a:t>
            </a:r>
            <a:endParaRPr lang="en-PT" sz="5600" dirty="0"/>
          </a:p>
        </p:txBody>
      </p:sp>
      <p:sp>
        <p:nvSpPr>
          <p:cNvPr id="5" name="TextBox 4">
            <a:extLst>
              <a:ext uri="{FF2B5EF4-FFF2-40B4-BE49-F238E27FC236}">
                <a16:creationId xmlns:a16="http://schemas.microsoft.com/office/drawing/2014/main" id="{DFA203B5-109A-29C6-4070-3AADDAB5CBC6}"/>
              </a:ext>
            </a:extLst>
          </p:cNvPr>
          <p:cNvSpPr txBox="1"/>
          <p:nvPr/>
        </p:nvSpPr>
        <p:spPr>
          <a:xfrm>
            <a:off x="12057498" y="8727744"/>
            <a:ext cx="8536663" cy="1477328"/>
          </a:xfrm>
          <a:prstGeom prst="rect">
            <a:avLst/>
          </a:prstGeom>
          <a:ln w="12700">
            <a:miter lim="400000"/>
          </a:ln>
        </p:spPr>
        <p:txBody>
          <a:bodyPr wrap="square" lIns="0" tIns="0" rIns="0" bIns="0" rtlCol="0" anchor="ctr">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r>
              <a:rPr lang="en-GB" sz="3200" dirty="0">
                <a:solidFill>
                  <a:schemeClr val="tx1"/>
                </a:solidFill>
                <a:latin typeface="Figtree" pitchFamily="2" charset="0"/>
                <a:cs typeface="Arial" panose="020B0604020202020204" pitchFamily="34" charset="0"/>
              </a:rPr>
              <a:t>European specialist investor with &gt;20 yrs investment track record in energy, environment, water and data infrastructure</a:t>
            </a:r>
            <a:endParaRPr lang="en-US" sz="3200" dirty="0">
              <a:solidFill>
                <a:schemeClr val="tx1"/>
              </a:solidFill>
              <a:latin typeface="Figtree" pitchFamily="2" charset="0"/>
              <a:cs typeface="Arial" panose="020B0604020202020204" pitchFamily="34" charset="0"/>
            </a:endParaRPr>
          </a:p>
        </p:txBody>
      </p:sp>
      <p:pic>
        <p:nvPicPr>
          <p:cNvPr id="6" name="Picture 5" descr="Logo, company name&#10;&#10;Description automatically generated">
            <a:extLst>
              <a:ext uri="{FF2B5EF4-FFF2-40B4-BE49-F238E27FC236}">
                <a16:creationId xmlns:a16="http://schemas.microsoft.com/office/drawing/2014/main" id="{0B1FD289-CCA6-3835-8F59-521F8353D8DE}"/>
              </a:ext>
            </a:extLst>
          </p:cNvPr>
          <p:cNvPicPr>
            <a:picLocks noChangeAspect="1"/>
          </p:cNvPicPr>
          <p:nvPr/>
        </p:nvPicPr>
        <p:blipFill rotWithShape="1">
          <a:blip r:embed="rId2" cstate="email">
            <a:clrChange>
              <a:clrFrom>
                <a:srgbClr val="FFFEFD"/>
              </a:clrFrom>
              <a:clrTo>
                <a:srgbClr val="FFFEFD">
                  <a:alpha val="0"/>
                </a:srgbClr>
              </a:clrTo>
            </a:clrChange>
            <a:alphaModFix/>
            <a:extLst>
              <a:ext uri="{28A0092B-C50C-407E-A947-70E740481C1C}">
                <a14:useLocalDpi xmlns:a14="http://schemas.microsoft.com/office/drawing/2010/main"/>
              </a:ext>
            </a:extLst>
          </a:blip>
          <a:srcRect/>
          <a:stretch/>
        </p:blipFill>
        <p:spPr>
          <a:xfrm>
            <a:off x="1155066" y="6377620"/>
            <a:ext cx="8259608" cy="2008780"/>
          </a:xfrm>
          <a:prstGeom prst="rect">
            <a:avLst/>
          </a:prstGeom>
        </p:spPr>
      </p:pic>
      <p:pic>
        <p:nvPicPr>
          <p:cNvPr id="7" name="Picture 2" descr="Home – Pioneer Point Partners">
            <a:extLst>
              <a:ext uri="{FF2B5EF4-FFF2-40B4-BE49-F238E27FC236}">
                <a16:creationId xmlns:a16="http://schemas.microsoft.com/office/drawing/2014/main" id="{E2745E86-E778-8EE5-C1A4-C7DA55425299}"/>
              </a:ext>
            </a:extLst>
          </p:cNvPr>
          <p:cNvPicPr>
            <a:picLocks noChangeAspect="1" noChangeArrowheads="1"/>
          </p:cNvPicPr>
          <p:nvPr/>
        </p:nvPicPr>
        <p:blipFill>
          <a:blip r:embed="rId3" cstate="print">
            <a:extLst>
              <a:ext uri="{28A0092B-C50C-407E-A947-70E740481C1C}">
                <a14:useLocalDpi xmlns:a14="http://schemas.microsoft.com/office/drawing/2010/main"/>
              </a:ext>
            </a:extLst>
          </a:blip>
          <a:srcRect/>
          <a:stretch>
            <a:fillRect/>
          </a:stretch>
        </p:blipFill>
        <p:spPr bwMode="auto">
          <a:xfrm>
            <a:off x="12086957" y="6642171"/>
            <a:ext cx="5152628" cy="160702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CD9D6F3F-8C77-8AE1-3AB0-75617DFE4E6A}"/>
              </a:ext>
            </a:extLst>
          </p:cNvPr>
          <p:cNvSpPr txBox="1"/>
          <p:nvPr/>
        </p:nvSpPr>
        <p:spPr>
          <a:xfrm>
            <a:off x="1596413" y="8530035"/>
            <a:ext cx="7959262" cy="1477328"/>
          </a:xfrm>
          <a:prstGeom prst="rect">
            <a:avLst/>
          </a:prstGeom>
          <a:ln w="12700">
            <a:miter lim="400000"/>
          </a:ln>
        </p:spPr>
        <p:txBody>
          <a:bodyPr wrap="square" lIns="0" tIns="0" rIns="0" bIns="0" rtlCol="0" anchor="ctr">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r>
              <a:rPr lang="en-US" sz="3200" dirty="0">
                <a:solidFill>
                  <a:schemeClr val="tx1"/>
                </a:solidFill>
                <a:latin typeface="Figtree" pitchFamily="2" charset="0"/>
                <a:cs typeface="Arial" panose="020B0604020202020204" pitchFamily="34" charset="0"/>
              </a:rPr>
              <a:t>Global investment management firm with approximately $38 billion in assets under management and experience</a:t>
            </a:r>
          </a:p>
        </p:txBody>
      </p:sp>
      <p:cxnSp>
        <p:nvCxnSpPr>
          <p:cNvPr id="9" name="Straight Connector 8">
            <a:extLst>
              <a:ext uri="{FF2B5EF4-FFF2-40B4-BE49-F238E27FC236}">
                <a16:creationId xmlns:a16="http://schemas.microsoft.com/office/drawing/2014/main" id="{35C7EAD4-2418-B2A2-9952-66B962151E1D}"/>
              </a:ext>
            </a:extLst>
          </p:cNvPr>
          <p:cNvCxnSpPr>
            <a:cxnSpLocks/>
          </p:cNvCxnSpPr>
          <p:nvPr/>
        </p:nvCxnSpPr>
        <p:spPr>
          <a:xfrm>
            <a:off x="0" y="4616114"/>
            <a:ext cx="8310622" cy="0"/>
          </a:xfrm>
          <a:prstGeom prst="line">
            <a:avLst/>
          </a:prstGeom>
          <a:ln w="38100">
            <a:solidFill>
              <a:srgbClr val="12BD64"/>
            </a:solidFill>
            <a:tailEnd type="oval" w="med" len="med"/>
          </a:ln>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904210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2A51BC-9B7A-6A21-DF6A-2DCF93D0A636}"/>
            </a:ext>
          </a:extLst>
        </p:cNvPr>
        <p:cNvGrpSpPr/>
        <p:nvPr/>
      </p:nvGrpSpPr>
      <p:grpSpPr>
        <a:xfrm>
          <a:off x="0" y="0"/>
          <a:ext cx="0" cy="0"/>
          <a:chOff x="0" y="0"/>
          <a:chExt cx="0" cy="0"/>
        </a:xfrm>
      </p:grpSpPr>
      <p:sp>
        <p:nvSpPr>
          <p:cNvPr id="4" name="Title 9">
            <a:extLst>
              <a:ext uri="{FF2B5EF4-FFF2-40B4-BE49-F238E27FC236}">
                <a16:creationId xmlns:a16="http://schemas.microsoft.com/office/drawing/2014/main" id="{04A79018-491A-9132-65CD-BD333F05BA6A}"/>
              </a:ext>
            </a:extLst>
          </p:cNvPr>
          <p:cNvSpPr>
            <a:spLocks noGrp="1"/>
          </p:cNvSpPr>
          <p:nvPr>
            <p:ph type="title"/>
          </p:nvPr>
        </p:nvSpPr>
        <p:spPr>
          <a:xfrm>
            <a:off x="1677986" y="2764993"/>
            <a:ext cx="10123714" cy="1723549"/>
          </a:xfrm>
        </p:spPr>
        <p:txBody>
          <a:bodyPr/>
          <a:lstStyle/>
          <a:p>
            <a:pPr>
              <a:lnSpc>
                <a:spcPct val="100000"/>
              </a:lnSpc>
            </a:pPr>
            <a:r>
              <a:rPr lang="en-GB" sz="5600" dirty="0">
                <a:solidFill>
                  <a:srgbClr val="00C159"/>
                </a:solidFill>
              </a:rPr>
              <a:t>Backed world-class investors</a:t>
            </a:r>
            <a:r>
              <a:rPr lang="en-GB" sz="5600" dirty="0"/>
              <a:t>, with experience in scale-ups…</a:t>
            </a:r>
            <a:endParaRPr lang="en-PT" sz="5600" dirty="0"/>
          </a:p>
        </p:txBody>
      </p:sp>
      <p:pic>
        <p:nvPicPr>
          <p:cNvPr id="6" name="Picture 5" descr="Logo, company name&#10;&#10;Description automatically generated">
            <a:extLst>
              <a:ext uri="{FF2B5EF4-FFF2-40B4-BE49-F238E27FC236}">
                <a16:creationId xmlns:a16="http://schemas.microsoft.com/office/drawing/2014/main" id="{374E8567-478B-EDBB-0BE8-CAE65655A183}"/>
              </a:ext>
            </a:extLst>
          </p:cNvPr>
          <p:cNvPicPr>
            <a:picLocks noChangeAspect="1"/>
          </p:cNvPicPr>
          <p:nvPr/>
        </p:nvPicPr>
        <p:blipFill rotWithShape="1">
          <a:blip r:embed="rId2" cstate="email">
            <a:clrChange>
              <a:clrFrom>
                <a:srgbClr val="FFFEFD"/>
              </a:clrFrom>
              <a:clrTo>
                <a:srgbClr val="FFFEFD">
                  <a:alpha val="0"/>
                </a:srgbClr>
              </a:clrTo>
            </a:clrChange>
            <a:alphaModFix/>
            <a:extLst>
              <a:ext uri="{28A0092B-C50C-407E-A947-70E740481C1C}">
                <a14:useLocalDpi xmlns:a14="http://schemas.microsoft.com/office/drawing/2010/main"/>
              </a:ext>
            </a:extLst>
          </a:blip>
          <a:srcRect/>
          <a:stretch/>
        </p:blipFill>
        <p:spPr>
          <a:xfrm>
            <a:off x="1463926" y="5684166"/>
            <a:ext cx="4503168" cy="1095194"/>
          </a:xfrm>
          <a:prstGeom prst="rect">
            <a:avLst/>
          </a:prstGeom>
        </p:spPr>
      </p:pic>
      <p:sp>
        <p:nvSpPr>
          <p:cNvPr id="2" name="TextBox 1">
            <a:extLst>
              <a:ext uri="{FF2B5EF4-FFF2-40B4-BE49-F238E27FC236}">
                <a16:creationId xmlns:a16="http://schemas.microsoft.com/office/drawing/2014/main" id="{F984346F-0E1B-C658-6E58-B511F783CF25}"/>
              </a:ext>
            </a:extLst>
          </p:cNvPr>
          <p:cNvSpPr txBox="1"/>
          <p:nvPr/>
        </p:nvSpPr>
        <p:spPr>
          <a:xfrm>
            <a:off x="1730166" y="7199744"/>
            <a:ext cx="9069640" cy="3579954"/>
          </a:xfrm>
          <a:prstGeom prst="rect">
            <a:avLst/>
          </a:prstGeom>
          <a:ln w="12700">
            <a:miter lim="400000"/>
          </a:ln>
        </p:spPr>
        <p:txBody>
          <a:bodyPr wrap="square" lIns="0" tIns="0" rIns="0" bIns="0" rtlCol="0" anchor="ctr">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nSpc>
                <a:spcPct val="120000"/>
              </a:lnSpc>
            </a:pPr>
            <a:r>
              <a:rPr lang="en-US" sz="2800" b="1" dirty="0">
                <a:solidFill>
                  <a:srgbClr val="00C159"/>
                </a:solidFill>
                <a:latin typeface="Figtree SemiBold" pitchFamily="2" charset="0"/>
                <a:cs typeface="Arial" panose="020B0604020202020204" pitchFamily="34" charset="0"/>
              </a:rPr>
              <a:t>Davidson Kempner Capital Management (“DK”) </a:t>
            </a:r>
            <a:r>
              <a:rPr lang="en-US" sz="2800" dirty="0">
                <a:solidFill>
                  <a:schemeClr val="tx1"/>
                </a:solidFill>
                <a:latin typeface="Figtree" pitchFamily="2" charset="0"/>
                <a:cs typeface="Arial" panose="020B0604020202020204" pitchFamily="34" charset="0"/>
              </a:rPr>
              <a:t>is a global investment management firm with 40+ years of experience and c. $37bn in </a:t>
            </a:r>
            <a:r>
              <a:rPr lang="en-US" sz="2800" dirty="0" err="1">
                <a:solidFill>
                  <a:schemeClr val="tx1"/>
                </a:solidFill>
                <a:latin typeface="Figtree" pitchFamily="2" charset="0"/>
                <a:cs typeface="Arial" panose="020B0604020202020204" pitchFamily="34" charset="0"/>
              </a:rPr>
              <a:t>AuM</a:t>
            </a:r>
            <a:r>
              <a:rPr lang="en-US" sz="2800" dirty="0">
                <a:solidFill>
                  <a:schemeClr val="tx1"/>
                </a:solidFill>
                <a:latin typeface="Figtree" pitchFamily="2" charset="0"/>
                <a:cs typeface="Arial" panose="020B0604020202020204" pitchFamily="34" charset="0"/>
              </a:rPr>
              <a:t>. DK has a strong, unique and highly relevant track record in the successful repurposing of large-scale legacy energy infrastructure and in the creation and support of market-leading DC and renewable energy platforms.</a:t>
            </a:r>
          </a:p>
        </p:txBody>
      </p:sp>
      <p:pic>
        <p:nvPicPr>
          <p:cNvPr id="23" name="Picture 14">
            <a:extLst>
              <a:ext uri="{FF2B5EF4-FFF2-40B4-BE49-F238E27FC236}">
                <a16:creationId xmlns:a16="http://schemas.microsoft.com/office/drawing/2014/main" id="{0B4050CC-B246-CA5F-4FEB-00656A59B41D}"/>
              </a:ext>
            </a:extLst>
          </p:cNvPr>
          <p:cNvPicPr>
            <a:picLocks/>
          </p:cNvPicPr>
          <p:nvPr/>
        </p:nvPicPr>
        <p:blipFill>
          <a:blip r:embed="rId3" cstate="email">
            <a:extLst>
              <a:ext uri="{28A0092B-C50C-407E-A947-70E740481C1C}">
                <a14:useLocalDpi xmlns:a14="http://schemas.microsoft.com/office/drawing/2010/main"/>
              </a:ext>
            </a:extLst>
          </a:blip>
          <a:stretch>
            <a:fillRect/>
          </a:stretch>
        </p:blipFill>
        <p:spPr>
          <a:xfrm>
            <a:off x="6265391" y="5933658"/>
            <a:ext cx="551922" cy="551922"/>
          </a:xfrm>
          <a:prstGeom prst="rect">
            <a:avLst/>
          </a:prstGeom>
          <a:noFill/>
          <a:ln cap="flat">
            <a:noFill/>
          </a:ln>
        </p:spPr>
      </p:pic>
      <p:pic>
        <p:nvPicPr>
          <p:cNvPr id="24" name="Picture 15">
            <a:extLst>
              <a:ext uri="{FF2B5EF4-FFF2-40B4-BE49-F238E27FC236}">
                <a16:creationId xmlns:a16="http://schemas.microsoft.com/office/drawing/2014/main" id="{FBB6286A-DC9E-4182-0E50-FCCA7452EE1B}"/>
              </a:ext>
            </a:extLst>
          </p:cNvPr>
          <p:cNvPicPr>
            <a:picLocks/>
          </p:cNvPicPr>
          <p:nvPr/>
        </p:nvPicPr>
        <p:blipFill>
          <a:blip r:embed="rId4" cstate="email">
            <a:extLst>
              <a:ext uri="{28A0092B-C50C-407E-A947-70E740481C1C}">
                <a14:useLocalDpi xmlns:a14="http://schemas.microsoft.com/office/drawing/2010/main"/>
              </a:ext>
            </a:extLst>
          </a:blip>
          <a:stretch>
            <a:fillRect/>
          </a:stretch>
        </p:blipFill>
        <p:spPr>
          <a:xfrm>
            <a:off x="6854760" y="5943597"/>
            <a:ext cx="551922" cy="551922"/>
          </a:xfrm>
          <a:prstGeom prst="rect">
            <a:avLst/>
          </a:prstGeom>
          <a:noFill/>
          <a:ln cap="flat">
            <a:noFill/>
          </a:ln>
        </p:spPr>
      </p:pic>
      <p:sp>
        <p:nvSpPr>
          <p:cNvPr id="25" name="Freeform: Shape 16">
            <a:extLst>
              <a:ext uri="{FF2B5EF4-FFF2-40B4-BE49-F238E27FC236}">
                <a16:creationId xmlns:a16="http://schemas.microsoft.com/office/drawing/2014/main" id="{CAE418ED-374C-C673-5DB5-F562192C65E6}"/>
              </a:ext>
            </a:extLst>
          </p:cNvPr>
          <p:cNvSpPr/>
          <p:nvPr/>
        </p:nvSpPr>
        <p:spPr>
          <a:xfrm>
            <a:off x="13267651" y="1769775"/>
            <a:ext cx="8784000" cy="646552"/>
          </a:xfrm>
          <a:prstGeom prst="roundRect">
            <a:avLst/>
          </a:prstGeom>
          <a:solidFill>
            <a:srgbClr val="00C159"/>
          </a:solidFill>
          <a:ln w="12700">
            <a:noFill/>
            <a:miter lim="400000"/>
          </a:ln>
        </p:spPr>
        <p:txBody>
          <a:bodyPr lIns="0" tIns="0" rIns="0" bIns="0" anchor="ctr">
            <a:no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defTabSz="2600960" eaLnBrk="0" fontAlgn="base" hangingPunct="1">
              <a:spcBef>
                <a:spcPts val="2200"/>
              </a:spcBef>
              <a:spcAft>
                <a:spcPct val="0"/>
              </a:spcAft>
            </a:pPr>
            <a:r>
              <a:rPr lang="en-US" sz="2400" b="1" kern="1200" dirty="0">
                <a:solidFill>
                  <a:srgbClr val="FFFFFF"/>
                </a:solidFill>
                <a:latin typeface="Figtree" pitchFamily="2" charset="0"/>
                <a:cs typeface="Arial" panose="020B0604020202020204" pitchFamily="34" charset="0"/>
              </a:rPr>
              <a:t>Global investment management firm</a:t>
            </a:r>
          </a:p>
        </p:txBody>
      </p:sp>
      <p:sp>
        <p:nvSpPr>
          <p:cNvPr id="26" name="Freeform: Shape 19">
            <a:extLst>
              <a:ext uri="{FF2B5EF4-FFF2-40B4-BE49-F238E27FC236}">
                <a16:creationId xmlns:a16="http://schemas.microsoft.com/office/drawing/2014/main" id="{790AB60A-0ABB-F0B0-AC0D-5FE636C9D11C}"/>
              </a:ext>
            </a:extLst>
          </p:cNvPr>
          <p:cNvSpPr/>
          <p:nvPr/>
        </p:nvSpPr>
        <p:spPr>
          <a:xfrm>
            <a:off x="13288435" y="7937863"/>
            <a:ext cx="8761075" cy="4767483"/>
          </a:xfrm>
          <a:prstGeom prst="roundRect">
            <a:avLst>
              <a:gd name="adj" fmla="val 4372"/>
            </a:avLst>
          </a:prstGeom>
          <a:solidFill>
            <a:schemeClr val="bg1"/>
          </a:solidFill>
          <a:ln w="12700">
            <a:solidFill>
              <a:schemeClr val="bg1">
                <a:lumMod val="85000"/>
              </a:schemeClr>
            </a:solidFill>
          </a:ln>
          <a:effectLst/>
        </p:spPr>
        <p:style>
          <a:lnRef idx="2">
            <a:scrgbClr r="0" g="0" b="0"/>
          </a:lnRef>
          <a:fillRef idx="1">
            <a:scrgbClr r="0" g="0" b="0"/>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0000" tIns="180000" rIns="1656000" bIns="180000" numCol="1" spcCol="1270" anchor="t" anchorCtr="0">
            <a:no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lvl="1" defTabSz="2600960">
              <a:lnSpc>
                <a:spcPct val="110000"/>
              </a:lnSpc>
              <a:buSzPct val="175000"/>
            </a:pPr>
            <a:r>
              <a:rPr lang="en-US" sz="2200" b="1" dirty="0">
                <a:solidFill>
                  <a:srgbClr val="00C159"/>
                </a:solidFill>
                <a:latin typeface="Figtree" pitchFamily="2" charset="0"/>
                <a:cs typeface="Arial" panose="020B0604020202020204" pitchFamily="34" charset="0"/>
              </a:rPr>
              <a:t>Investment Strategy: </a:t>
            </a:r>
            <a:r>
              <a:rPr lang="en-US" sz="2200" dirty="0">
                <a:solidFill>
                  <a:schemeClr val="tx1">
                    <a:lumMod val="75000"/>
                    <a:lumOff val="25000"/>
                  </a:schemeClr>
                </a:solidFill>
                <a:latin typeface="Figtree" pitchFamily="2" charset="0"/>
                <a:cs typeface="Arial" panose="020B0604020202020204" pitchFamily="34" charset="0"/>
              </a:rPr>
              <a:t>a bottom-up, fundamental approach to investing, with a flexible pool of long-term capital</a:t>
            </a:r>
          </a:p>
          <a:p>
            <a:pPr lvl="1" defTabSz="2600960">
              <a:lnSpc>
                <a:spcPct val="110000"/>
              </a:lnSpc>
              <a:spcBef>
                <a:spcPts val="2400"/>
              </a:spcBef>
              <a:buSzPct val="175000"/>
            </a:pPr>
            <a:r>
              <a:rPr lang="en-US" sz="2200" b="1" dirty="0">
                <a:solidFill>
                  <a:srgbClr val="00C159"/>
                </a:solidFill>
                <a:latin typeface="Figtree" pitchFamily="2" charset="0"/>
                <a:cs typeface="Arial" panose="020B0604020202020204" pitchFamily="34" charset="0"/>
              </a:rPr>
              <a:t>Portfolio Examples:</a:t>
            </a:r>
          </a:p>
          <a:p>
            <a:pPr marL="720726" lvl="3" indent="-368300" defTabSz="2600960" hangingPunct="1">
              <a:lnSpc>
                <a:spcPct val="110000"/>
              </a:lnSpc>
              <a:buSzPct val="100000"/>
              <a:buFont typeface="Wingdings" pitchFamily="2" charset="2"/>
              <a:buChar char="§"/>
              <a:defRPr sz="1800"/>
            </a:pPr>
            <a:r>
              <a:rPr lang="en-US" sz="2200" b="1" dirty="0">
                <a:solidFill>
                  <a:srgbClr val="00C159"/>
                </a:solidFill>
                <a:latin typeface="Figtree" pitchFamily="2" charset="0"/>
                <a:cs typeface="Arial" panose="020B0604020202020204" pitchFamily="34" charset="0"/>
              </a:rPr>
              <a:t>Eir</a:t>
            </a:r>
            <a:r>
              <a:rPr lang="en-US" sz="2200" dirty="0">
                <a:solidFill>
                  <a:srgbClr val="00C159"/>
                </a:solidFill>
                <a:latin typeface="Figtree" pitchFamily="2" charset="0"/>
                <a:cs typeface="Arial" panose="020B0604020202020204" pitchFamily="34" charset="0"/>
              </a:rPr>
              <a:t>: </a:t>
            </a:r>
            <a:r>
              <a:rPr lang="en-US" sz="2200" dirty="0">
                <a:solidFill>
                  <a:schemeClr val="tx1">
                    <a:lumMod val="75000"/>
                    <a:lumOff val="25000"/>
                  </a:schemeClr>
                </a:solidFill>
                <a:latin typeface="Figtree" pitchFamily="2" charset="0"/>
                <a:cs typeface="Arial" panose="020B0604020202020204" pitchFamily="34" charset="0"/>
              </a:rPr>
              <a:t>Leading Irish telecom provider</a:t>
            </a:r>
          </a:p>
          <a:p>
            <a:pPr marL="720726" lvl="3" indent="-368300" defTabSz="2600960" hangingPunct="1">
              <a:lnSpc>
                <a:spcPct val="110000"/>
              </a:lnSpc>
              <a:buSzPct val="100000"/>
              <a:buFont typeface="Wingdings" pitchFamily="2" charset="2"/>
              <a:buChar char="§"/>
              <a:defRPr sz="1800"/>
            </a:pPr>
            <a:r>
              <a:rPr lang="en-US" sz="2200" b="1" dirty="0" err="1">
                <a:solidFill>
                  <a:srgbClr val="00C159"/>
                </a:solidFill>
                <a:latin typeface="Figtree" pitchFamily="2" charset="0"/>
                <a:cs typeface="Arial" panose="020B0604020202020204" pitchFamily="34" charset="0"/>
              </a:rPr>
              <a:t>Telecolumbus</a:t>
            </a:r>
            <a:r>
              <a:rPr lang="en-US" sz="2200" b="1" dirty="0">
                <a:solidFill>
                  <a:srgbClr val="00C159"/>
                </a:solidFill>
                <a:latin typeface="Figtree" pitchFamily="2" charset="0"/>
                <a:cs typeface="Arial" panose="020B0604020202020204" pitchFamily="34" charset="0"/>
              </a:rPr>
              <a:t>: </a:t>
            </a:r>
            <a:r>
              <a:rPr lang="en-US" sz="2200" dirty="0">
                <a:solidFill>
                  <a:schemeClr val="tx1">
                    <a:lumMod val="75000"/>
                    <a:lumOff val="25000"/>
                  </a:schemeClr>
                </a:solidFill>
                <a:latin typeface="Figtree" pitchFamily="2" charset="0"/>
                <a:cs typeface="Arial" panose="020B0604020202020204" pitchFamily="34" charset="0"/>
              </a:rPr>
              <a:t>leading German cable business</a:t>
            </a:r>
          </a:p>
          <a:p>
            <a:pPr marL="720726" lvl="3" indent="-368300" defTabSz="2600960" hangingPunct="1">
              <a:lnSpc>
                <a:spcPct val="110000"/>
              </a:lnSpc>
              <a:buSzPct val="100000"/>
              <a:buFont typeface="Wingdings" pitchFamily="2" charset="2"/>
              <a:buChar char="§"/>
              <a:defRPr sz="1800"/>
            </a:pPr>
            <a:r>
              <a:rPr lang="en-US" sz="2200" b="1" dirty="0">
                <a:solidFill>
                  <a:srgbClr val="00C159"/>
                </a:solidFill>
                <a:latin typeface="Figtree" pitchFamily="2" charset="0"/>
                <a:cs typeface="Arial" panose="020B0604020202020204" pitchFamily="34" charset="0"/>
              </a:rPr>
              <a:t>Dubai Drydocks: </a:t>
            </a:r>
            <a:r>
              <a:rPr lang="en-US" sz="2200" dirty="0">
                <a:solidFill>
                  <a:schemeClr val="tx1">
                    <a:lumMod val="75000"/>
                    <a:lumOff val="25000"/>
                  </a:schemeClr>
                </a:solidFill>
                <a:latin typeface="Figtree" pitchFamily="2" charset="0"/>
                <a:cs typeface="Arial" panose="020B0604020202020204" pitchFamily="34" charset="0"/>
              </a:rPr>
              <a:t>major marine infrastructure company</a:t>
            </a:r>
          </a:p>
          <a:p>
            <a:pPr marL="695326" lvl="3" indent="-342900" defTabSz="2600960" hangingPunct="1">
              <a:lnSpc>
                <a:spcPct val="110000"/>
              </a:lnSpc>
              <a:buSzPct val="100000"/>
              <a:buFont typeface="Wingdings" pitchFamily="2" charset="2"/>
              <a:buChar char="§"/>
              <a:defRPr sz="1800"/>
            </a:pPr>
            <a:r>
              <a:rPr lang="en-US" sz="2200" b="1" dirty="0">
                <a:solidFill>
                  <a:srgbClr val="00C159"/>
                </a:solidFill>
                <a:latin typeface="Figtree" pitchFamily="2" charset="0"/>
                <a:cs typeface="Arial" panose="020B0604020202020204" pitchFamily="34" charset="0"/>
              </a:rPr>
              <a:t>Echelon: </a:t>
            </a:r>
            <a:r>
              <a:rPr lang="en-US" sz="2200" dirty="0">
                <a:solidFill>
                  <a:schemeClr val="tx1">
                    <a:lumMod val="75000"/>
                    <a:lumOff val="25000"/>
                  </a:schemeClr>
                </a:solidFill>
                <a:latin typeface="Figtree" pitchFamily="2" charset="0"/>
                <a:cs typeface="Arial" panose="020B0604020202020204" pitchFamily="34" charset="0"/>
              </a:rPr>
              <a:t>Irish data centers</a:t>
            </a:r>
          </a:p>
          <a:p>
            <a:pPr marL="695326" lvl="3" indent="-342900" defTabSz="2600960" hangingPunct="1">
              <a:lnSpc>
                <a:spcPct val="110000"/>
              </a:lnSpc>
              <a:buSzPct val="100000"/>
              <a:buFont typeface="Wingdings" pitchFamily="2" charset="2"/>
              <a:buChar char="§"/>
              <a:defRPr sz="1800"/>
            </a:pPr>
            <a:r>
              <a:rPr lang="en-US" sz="2200" b="1" dirty="0">
                <a:solidFill>
                  <a:srgbClr val="00C159"/>
                </a:solidFill>
                <a:latin typeface="Figtree" pitchFamily="2" charset="0"/>
                <a:cs typeface="Arial" panose="020B0604020202020204" pitchFamily="34" charset="0"/>
              </a:rPr>
              <a:t>Nature Energy</a:t>
            </a:r>
            <a:r>
              <a:rPr lang="en-US" sz="2200" dirty="0">
                <a:solidFill>
                  <a:srgbClr val="00C159"/>
                </a:solidFill>
                <a:latin typeface="Figtree" pitchFamily="2" charset="0"/>
                <a:cs typeface="Arial" panose="020B0604020202020204" pitchFamily="34" charset="0"/>
              </a:rPr>
              <a:t>: </a:t>
            </a:r>
            <a:r>
              <a:rPr lang="en-US" sz="2200" dirty="0">
                <a:solidFill>
                  <a:schemeClr val="tx1">
                    <a:lumMod val="75000"/>
                    <a:lumOff val="25000"/>
                  </a:schemeClr>
                </a:solidFill>
                <a:latin typeface="Figtree" pitchFamily="2" charset="0"/>
                <a:cs typeface="Arial" panose="020B0604020202020204" pitchFamily="34" charset="0"/>
              </a:rPr>
              <a:t>Denmark's largest </a:t>
            </a:r>
            <a:br>
              <a:rPr lang="en-US" sz="2200" dirty="0">
                <a:solidFill>
                  <a:schemeClr val="tx1">
                    <a:lumMod val="75000"/>
                    <a:lumOff val="25000"/>
                  </a:schemeClr>
                </a:solidFill>
                <a:latin typeface="Figtree" pitchFamily="2" charset="0"/>
                <a:cs typeface="Arial" panose="020B0604020202020204" pitchFamily="34" charset="0"/>
              </a:rPr>
            </a:br>
            <a:r>
              <a:rPr lang="en-US" sz="2200" dirty="0">
                <a:solidFill>
                  <a:schemeClr val="tx1">
                    <a:lumMod val="75000"/>
                    <a:lumOff val="25000"/>
                  </a:schemeClr>
                </a:solidFill>
                <a:latin typeface="Figtree" pitchFamily="2" charset="0"/>
                <a:cs typeface="Arial" panose="020B0604020202020204" pitchFamily="34" charset="0"/>
              </a:rPr>
              <a:t>producer of biogas</a:t>
            </a:r>
          </a:p>
          <a:p>
            <a:pPr marL="352426" lvl="3" indent="368300" defTabSz="2600960" hangingPunct="1">
              <a:buSzPct val="100000"/>
              <a:buFontTx/>
              <a:buChar char="▪"/>
              <a:defRPr sz="1800"/>
            </a:pPr>
            <a:endParaRPr lang="en-US" sz="2200" dirty="0">
              <a:solidFill>
                <a:schemeClr val="tx1">
                  <a:lumMod val="75000"/>
                  <a:lumOff val="25000"/>
                </a:schemeClr>
              </a:solidFill>
              <a:latin typeface="Figtree" pitchFamily="2" charset="0"/>
              <a:cs typeface="Arial" panose="020B0604020202020204" pitchFamily="34" charset="0"/>
            </a:endParaRPr>
          </a:p>
        </p:txBody>
      </p:sp>
      <p:sp>
        <p:nvSpPr>
          <p:cNvPr id="27" name="Freeform: Shape 20">
            <a:extLst>
              <a:ext uri="{FF2B5EF4-FFF2-40B4-BE49-F238E27FC236}">
                <a16:creationId xmlns:a16="http://schemas.microsoft.com/office/drawing/2014/main" id="{8E2B949C-A53A-A3F2-96F1-865C3ABDC354}"/>
              </a:ext>
            </a:extLst>
          </p:cNvPr>
          <p:cNvSpPr/>
          <p:nvPr/>
        </p:nvSpPr>
        <p:spPr>
          <a:xfrm>
            <a:off x="13288435" y="7188329"/>
            <a:ext cx="8784000" cy="640080"/>
          </a:xfrm>
          <a:prstGeom prst="roundRect">
            <a:avLst/>
          </a:prstGeom>
          <a:solidFill>
            <a:srgbClr val="00C159"/>
          </a:solidFill>
          <a:ln w="12700">
            <a:noFill/>
            <a:miter lim="400000"/>
          </a:ln>
        </p:spPr>
        <p:txBody>
          <a:bodyPr lIns="0" tIns="0" rIns="0" bIns="0" anchor="ctr">
            <a:no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defTabSz="2600960" eaLnBrk="0" fontAlgn="base" hangingPunct="1">
              <a:spcBef>
                <a:spcPts val="2200"/>
              </a:spcBef>
              <a:spcAft>
                <a:spcPct val="0"/>
              </a:spcAft>
            </a:pPr>
            <a:r>
              <a:rPr lang="en-US" sz="2400" b="1" kern="1200" dirty="0">
                <a:solidFill>
                  <a:srgbClr val="FFFFFF"/>
                </a:solidFill>
                <a:latin typeface="Figtree" pitchFamily="2" charset="0"/>
                <a:cs typeface="Arial" panose="020B0604020202020204" pitchFamily="34" charset="0"/>
              </a:rPr>
              <a:t>Strategy and portfolio examples</a:t>
            </a:r>
          </a:p>
        </p:txBody>
      </p:sp>
      <p:grpSp>
        <p:nvGrpSpPr>
          <p:cNvPr id="28" name="Group 27">
            <a:extLst>
              <a:ext uri="{FF2B5EF4-FFF2-40B4-BE49-F238E27FC236}">
                <a16:creationId xmlns:a16="http://schemas.microsoft.com/office/drawing/2014/main" id="{69B883AC-D3D5-13BF-3D41-8CF355B6A34D}"/>
              </a:ext>
            </a:extLst>
          </p:cNvPr>
          <p:cNvGrpSpPr/>
          <p:nvPr/>
        </p:nvGrpSpPr>
        <p:grpSpPr>
          <a:xfrm>
            <a:off x="20467940" y="8932576"/>
            <a:ext cx="1206030" cy="2597852"/>
            <a:chOff x="8374327" y="3534946"/>
            <a:chExt cx="984424" cy="2159421"/>
          </a:xfrm>
        </p:grpSpPr>
        <p:pic>
          <p:nvPicPr>
            <p:cNvPr id="29" name="Picture 28">
              <a:extLst>
                <a:ext uri="{FF2B5EF4-FFF2-40B4-BE49-F238E27FC236}">
                  <a16:creationId xmlns:a16="http://schemas.microsoft.com/office/drawing/2014/main" id="{52E3CF29-9D7F-6B6C-BB78-26F3C84DCA60}"/>
                </a:ext>
              </a:extLst>
            </p:cNvPr>
            <p:cNvPicPr>
              <a:picLocks noChangeAspect="1"/>
            </p:cNvPicPr>
            <p:nvPr/>
          </p:nvPicPr>
          <p:blipFill>
            <a:blip r:embed="rId5"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8561768" y="3534946"/>
              <a:ext cx="697885" cy="413999"/>
            </a:xfrm>
            <a:prstGeom prst="rect">
              <a:avLst/>
            </a:prstGeom>
          </p:spPr>
        </p:pic>
        <p:pic>
          <p:nvPicPr>
            <p:cNvPr id="30" name="Picture 29" descr="Logo&#10;&#10;Description automatically generated">
              <a:extLst>
                <a:ext uri="{FF2B5EF4-FFF2-40B4-BE49-F238E27FC236}">
                  <a16:creationId xmlns:a16="http://schemas.microsoft.com/office/drawing/2014/main" id="{46202CEB-BEB4-5516-B0F6-D904C8BAC68A}"/>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8425655" y="3929098"/>
              <a:ext cx="881769" cy="387260"/>
            </a:xfrm>
            <a:prstGeom prst="rect">
              <a:avLst/>
            </a:prstGeom>
          </p:spPr>
        </p:pic>
        <p:pic>
          <p:nvPicPr>
            <p:cNvPr id="31" name="Picture 30">
              <a:extLst>
                <a:ext uri="{FF2B5EF4-FFF2-40B4-BE49-F238E27FC236}">
                  <a16:creationId xmlns:a16="http://schemas.microsoft.com/office/drawing/2014/main" id="{59723522-48E8-43C5-F05F-8BA8B1C74156}"/>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646201" y="4350221"/>
              <a:ext cx="440676" cy="387260"/>
            </a:xfrm>
            <a:prstGeom prst="rect">
              <a:avLst/>
            </a:prstGeom>
          </p:spPr>
        </p:pic>
        <p:pic>
          <p:nvPicPr>
            <p:cNvPr id="32" name="Picture 31" descr="A drawing of a person&#10;&#10;Description automatically generated">
              <a:extLst>
                <a:ext uri="{FF2B5EF4-FFF2-40B4-BE49-F238E27FC236}">
                  <a16:creationId xmlns:a16="http://schemas.microsoft.com/office/drawing/2014/main" id="{30A7F501-DEE1-B0C3-CD5B-0E5B8EAB7345}"/>
                </a:ext>
              </a:extLst>
            </p:cNvPr>
            <p:cNvPicPr>
              <a:picLocks noChangeAspect="1"/>
            </p:cNvPicPr>
            <p:nvPr/>
          </p:nvPicPr>
          <p:blipFill>
            <a:blip r:embed="rId8" cstate="print">
              <a:extLst>
                <a:ext uri="{28A0092B-C50C-407E-A947-70E740481C1C}">
                  <a14:useLocalDpi xmlns:a14="http://schemas.microsoft.com/office/drawing/2010/main"/>
                </a:ext>
              </a:extLst>
            </a:blip>
            <a:stretch>
              <a:fillRect/>
            </a:stretch>
          </p:blipFill>
          <p:spPr>
            <a:xfrm>
              <a:off x="8374327" y="4860059"/>
              <a:ext cx="984424" cy="256839"/>
            </a:xfrm>
            <a:prstGeom prst="rect">
              <a:avLst/>
            </a:prstGeom>
          </p:spPr>
        </p:pic>
        <p:pic>
          <p:nvPicPr>
            <p:cNvPr id="33" name="Picture 4" descr="Nature Energy">
              <a:extLst>
                <a:ext uri="{FF2B5EF4-FFF2-40B4-BE49-F238E27FC236}">
                  <a16:creationId xmlns:a16="http://schemas.microsoft.com/office/drawing/2014/main" id="{881D533A-CF9C-FDC3-D3A3-9DDA9CE08B18}"/>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8473425" y="5286134"/>
              <a:ext cx="786227" cy="408233"/>
            </a:xfrm>
            <a:prstGeom prst="rect">
              <a:avLst/>
            </a:prstGeom>
            <a:noFill/>
            <a:extLst>
              <a:ext uri="{909E8E84-426E-40DD-AFC4-6F175D3DCCD1}">
                <a14:hiddenFill xmlns:a14="http://schemas.microsoft.com/office/drawing/2010/main">
                  <a:solidFill>
                    <a:srgbClr val="FFFFFF"/>
                  </a:solidFill>
                </a14:hiddenFill>
              </a:ext>
            </a:extLst>
          </p:spPr>
        </p:pic>
      </p:grpSp>
      <p:sp>
        <p:nvSpPr>
          <p:cNvPr id="35" name="Freeform: Shape 15">
            <a:extLst>
              <a:ext uri="{FF2B5EF4-FFF2-40B4-BE49-F238E27FC236}">
                <a16:creationId xmlns:a16="http://schemas.microsoft.com/office/drawing/2014/main" id="{29D1CE45-8201-0923-D7A7-728C280778C5}"/>
              </a:ext>
            </a:extLst>
          </p:cNvPr>
          <p:cNvSpPr/>
          <p:nvPr/>
        </p:nvSpPr>
        <p:spPr>
          <a:xfrm>
            <a:off x="13267651" y="2637054"/>
            <a:ext cx="8761075" cy="4413451"/>
          </a:xfrm>
          <a:prstGeom prst="roundRect">
            <a:avLst>
              <a:gd name="adj" fmla="val 4016"/>
            </a:avLst>
          </a:prstGeom>
          <a:solidFill>
            <a:schemeClr val="bg1"/>
          </a:solidFill>
          <a:ln w="12700" cap="sq">
            <a:solidFill>
              <a:schemeClr val="bg1">
                <a:lumMod val="85000"/>
              </a:schemeClr>
            </a:solidFill>
            <a:bevel/>
          </a:ln>
          <a:effectLst>
            <a:softEdge rad="0"/>
          </a:effectLst>
        </p:spPr>
        <p:style>
          <a:lnRef idx="2">
            <a:scrgbClr r="0" g="0" b="0"/>
          </a:lnRef>
          <a:fillRef idx="1">
            <a:scrgbClr r="0" g="0" b="0"/>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80000" tIns="180000" rIns="180000" bIns="180000" numCol="1" spcCol="1270" anchor="t" anchorCtr="0">
            <a:no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lvl="1" defTabSz="2600960">
              <a:lnSpc>
                <a:spcPct val="110000"/>
              </a:lnSpc>
              <a:spcBef>
                <a:spcPts val="400"/>
              </a:spcBef>
              <a:spcAft>
                <a:spcPts val="400"/>
              </a:spcAft>
              <a:buSzPct val="175000"/>
            </a:pPr>
            <a:r>
              <a:rPr lang="en-US" sz="2200" b="1" dirty="0">
                <a:solidFill>
                  <a:srgbClr val="00C159"/>
                </a:solidFill>
                <a:latin typeface="Figtree" pitchFamily="2" charset="0"/>
                <a:cs typeface="Arial" panose="020B0604020202020204" pitchFamily="34" charset="0"/>
              </a:rPr>
              <a:t>Institutional: </a:t>
            </a:r>
          </a:p>
          <a:p>
            <a:pPr marL="809626" lvl="3" indent="-457200" defTabSz="2600960" hangingPunct="1">
              <a:lnSpc>
                <a:spcPct val="110000"/>
              </a:lnSpc>
              <a:spcBef>
                <a:spcPts val="200"/>
              </a:spcBef>
              <a:spcAft>
                <a:spcPts val="200"/>
              </a:spcAft>
              <a:buSzPct val="100000"/>
              <a:buFont typeface="Wingdings" pitchFamily="2" charset="2"/>
              <a:buChar char="§"/>
              <a:defRPr sz="1800"/>
            </a:pPr>
            <a:r>
              <a:rPr lang="en-US" sz="2200" dirty="0">
                <a:solidFill>
                  <a:schemeClr val="tx1">
                    <a:lumMod val="75000"/>
                    <a:lumOff val="25000"/>
                  </a:schemeClr>
                </a:solidFill>
                <a:latin typeface="Figtree" pitchFamily="2" charset="0"/>
                <a:cs typeface="Arial" panose="020B0604020202020204" pitchFamily="34" charset="0"/>
              </a:rPr>
              <a:t>Founded in 1983</a:t>
            </a:r>
          </a:p>
          <a:p>
            <a:pPr marL="809626" lvl="3" indent="-457200" defTabSz="2600960" hangingPunct="1">
              <a:lnSpc>
                <a:spcPct val="110000"/>
              </a:lnSpc>
              <a:spcBef>
                <a:spcPts val="200"/>
              </a:spcBef>
              <a:spcAft>
                <a:spcPts val="200"/>
              </a:spcAft>
              <a:buSzPct val="100000"/>
              <a:buFont typeface="Wingdings" pitchFamily="2" charset="2"/>
              <a:buChar char="§"/>
              <a:defRPr sz="1800"/>
            </a:pPr>
            <a:r>
              <a:rPr lang="en-US" sz="2200" dirty="0">
                <a:solidFill>
                  <a:schemeClr val="tx1">
                    <a:lumMod val="75000"/>
                    <a:lumOff val="25000"/>
                  </a:schemeClr>
                </a:solidFill>
                <a:latin typeface="Figtree" pitchFamily="2" charset="0"/>
                <a:cs typeface="Arial" panose="020B0604020202020204" pitchFamily="34" charset="0"/>
              </a:rPr>
              <a:t>Approximately $37bn+ AUM</a:t>
            </a:r>
          </a:p>
          <a:p>
            <a:pPr marL="809626" lvl="3" indent="-457200" defTabSz="2600960" hangingPunct="1">
              <a:lnSpc>
                <a:spcPct val="110000"/>
              </a:lnSpc>
              <a:spcBef>
                <a:spcPts val="200"/>
              </a:spcBef>
              <a:spcAft>
                <a:spcPts val="200"/>
              </a:spcAft>
              <a:buSzPct val="100000"/>
              <a:buFont typeface="Wingdings" pitchFamily="2" charset="2"/>
              <a:buChar char="§"/>
              <a:defRPr sz="1800"/>
            </a:pPr>
            <a:r>
              <a:rPr lang="en-US" sz="2200" dirty="0">
                <a:solidFill>
                  <a:schemeClr val="tx1">
                    <a:lumMod val="75000"/>
                    <a:lumOff val="25000"/>
                  </a:schemeClr>
                </a:solidFill>
                <a:latin typeface="Figtree" pitchFamily="2" charset="0"/>
                <a:cs typeface="Arial" panose="020B0604020202020204" pitchFamily="34" charset="0"/>
              </a:rPr>
              <a:t>Offices in NY, Philadelphia, London, Dublin, HK, </a:t>
            </a:r>
            <a:br>
              <a:rPr lang="en-US" sz="2200" dirty="0">
                <a:solidFill>
                  <a:schemeClr val="tx1">
                    <a:lumMod val="75000"/>
                    <a:lumOff val="25000"/>
                  </a:schemeClr>
                </a:solidFill>
                <a:latin typeface="Figtree" pitchFamily="2" charset="0"/>
                <a:cs typeface="Arial" panose="020B0604020202020204" pitchFamily="34" charset="0"/>
              </a:rPr>
            </a:br>
            <a:r>
              <a:rPr lang="en-US" sz="2200" dirty="0">
                <a:solidFill>
                  <a:schemeClr val="tx1">
                    <a:lumMod val="75000"/>
                    <a:lumOff val="25000"/>
                  </a:schemeClr>
                </a:solidFill>
                <a:latin typeface="Figtree" pitchFamily="2" charset="0"/>
                <a:cs typeface="Arial" panose="020B0604020202020204" pitchFamily="34" charset="0"/>
              </a:rPr>
              <a:t>Shenzhen and Mumbai </a:t>
            </a:r>
          </a:p>
          <a:p>
            <a:pPr marL="809626" lvl="3" indent="-457200" defTabSz="2600960" hangingPunct="1">
              <a:lnSpc>
                <a:spcPct val="110000"/>
              </a:lnSpc>
              <a:spcBef>
                <a:spcPts val="200"/>
              </a:spcBef>
              <a:spcAft>
                <a:spcPts val="200"/>
              </a:spcAft>
              <a:buSzPct val="100000"/>
              <a:buFont typeface="Wingdings" pitchFamily="2" charset="2"/>
              <a:buChar char="§"/>
              <a:defRPr sz="1800"/>
            </a:pPr>
            <a:r>
              <a:rPr lang="en-US" sz="2200" dirty="0">
                <a:solidFill>
                  <a:schemeClr val="tx1">
                    <a:lumMod val="75000"/>
                    <a:lumOff val="25000"/>
                  </a:schemeClr>
                </a:solidFill>
                <a:latin typeface="Figtree" pitchFamily="2" charset="0"/>
                <a:cs typeface="Arial" panose="020B0604020202020204" pitchFamily="34" charset="0"/>
              </a:rPr>
              <a:t>Headquartered in New York</a:t>
            </a:r>
          </a:p>
          <a:p>
            <a:pPr lvl="1" defTabSz="2600960">
              <a:lnSpc>
                <a:spcPct val="110000"/>
              </a:lnSpc>
              <a:spcBef>
                <a:spcPts val="1200"/>
              </a:spcBef>
              <a:spcAft>
                <a:spcPts val="400"/>
              </a:spcAft>
              <a:buSzPct val="175000"/>
              <a:defRPr sz="1800"/>
            </a:pPr>
            <a:r>
              <a:rPr lang="en-US" sz="2200" dirty="0">
                <a:solidFill>
                  <a:schemeClr val="tx1">
                    <a:lumMod val="75000"/>
                    <a:lumOff val="25000"/>
                  </a:schemeClr>
                </a:solidFill>
                <a:latin typeface="Figtree" pitchFamily="2" charset="0"/>
                <a:cs typeface="Arial" panose="020B0604020202020204" pitchFamily="34" charset="0"/>
              </a:rPr>
              <a:t>In the past decade, DK has acquired </a:t>
            </a:r>
            <a:r>
              <a:rPr lang="en-US" sz="2200" b="1" dirty="0">
                <a:solidFill>
                  <a:schemeClr val="tx1">
                    <a:lumMod val="75000"/>
                    <a:lumOff val="25000"/>
                  </a:schemeClr>
                </a:solidFill>
                <a:latin typeface="Figtree" pitchFamily="2" charset="0"/>
                <a:cs typeface="Arial" panose="020B0604020202020204" pitchFamily="34" charset="0"/>
              </a:rPr>
              <a:t>over $11bn of assets </a:t>
            </a:r>
            <a:r>
              <a:rPr lang="en-US" sz="2200" dirty="0">
                <a:solidFill>
                  <a:schemeClr val="tx1">
                    <a:lumMod val="75000"/>
                    <a:lumOff val="25000"/>
                  </a:schemeClr>
                </a:solidFill>
                <a:latin typeface="Figtree" pitchFamily="2" charset="0"/>
                <a:cs typeface="Arial" panose="020B0604020202020204" pitchFamily="34" charset="0"/>
              </a:rPr>
              <a:t>in Europe across numerous jurisdictions including Portugal, UK, Spain, the Netherlands, Germany, Ireland, Italy, Denmark, Sweden and Finland</a:t>
            </a:r>
          </a:p>
        </p:txBody>
      </p:sp>
      <p:sp>
        <p:nvSpPr>
          <p:cNvPr id="40" name="Rectangular Callout 39">
            <a:extLst>
              <a:ext uri="{FF2B5EF4-FFF2-40B4-BE49-F238E27FC236}">
                <a16:creationId xmlns:a16="http://schemas.microsoft.com/office/drawing/2014/main" id="{0EBF3673-33D3-3D80-22B8-C37EF0D1C46B}"/>
              </a:ext>
            </a:extLst>
          </p:cNvPr>
          <p:cNvSpPr/>
          <p:nvPr/>
        </p:nvSpPr>
        <p:spPr>
          <a:xfrm>
            <a:off x="21240750" y="11849100"/>
            <a:ext cx="2438400" cy="1257300"/>
          </a:xfrm>
          <a:prstGeom prst="wedgeRectCallout">
            <a:avLst>
              <a:gd name="adj1" fmla="val -63802"/>
              <a:gd name="adj2" fmla="val -45076"/>
            </a:avLst>
          </a:prstGeom>
          <a:solidFill>
            <a:srgbClr val="F4F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0" lang="en-US" sz="1600" b="1" i="0" strike="noStrike" cap="none" spc="0" normalizeH="0" baseline="0" dirty="0">
                <a:ln>
                  <a:noFill/>
                </a:ln>
                <a:solidFill>
                  <a:srgbClr val="00C159"/>
                </a:solidFill>
                <a:effectLst/>
                <a:uFillTx/>
                <a:latin typeface="Figtree" pitchFamily="2" charset="0"/>
                <a:sym typeface="Helvetica"/>
              </a:rPr>
              <a:t>Scaled from 4 </a:t>
            </a:r>
            <a:r>
              <a:rPr kumimoji="0" lang="en-US" sz="1600" i="0" strike="noStrike" cap="none" spc="0" normalizeH="0" baseline="0" dirty="0">
                <a:ln>
                  <a:noFill/>
                </a:ln>
                <a:solidFill>
                  <a:schemeClr val="tx1"/>
                </a:solidFill>
                <a:effectLst/>
                <a:uFillTx/>
                <a:latin typeface="Figtree" pitchFamily="2" charset="0"/>
                <a:sym typeface="Helvetica"/>
              </a:rPr>
              <a:t>biogas </a:t>
            </a:r>
            <a:r>
              <a:rPr lang="en-US" sz="1600" dirty="0">
                <a:solidFill>
                  <a:schemeClr val="tx1"/>
                </a:solidFill>
                <a:latin typeface="Figtree" pitchFamily="2" charset="0"/>
              </a:rPr>
              <a:t>plants to</a:t>
            </a:r>
            <a:r>
              <a:rPr lang="en-US" sz="1600" b="1" dirty="0">
                <a:solidFill>
                  <a:schemeClr val="tx1"/>
                </a:solidFill>
                <a:latin typeface="Figtree" pitchFamily="2" charset="0"/>
              </a:rPr>
              <a:t> </a:t>
            </a:r>
            <a:r>
              <a:rPr lang="en-US" sz="1600" b="1" dirty="0">
                <a:solidFill>
                  <a:srgbClr val="00C159"/>
                </a:solidFill>
                <a:latin typeface="Figtree" pitchFamily="2" charset="0"/>
              </a:rPr>
              <a:t>14</a:t>
            </a:r>
            <a:r>
              <a:rPr lang="en-US" sz="1600" b="1" dirty="0">
                <a:solidFill>
                  <a:schemeClr val="tx1"/>
                </a:solidFill>
                <a:latin typeface="Figtree" pitchFamily="2" charset="0"/>
              </a:rPr>
              <a:t> </a:t>
            </a:r>
            <a:r>
              <a:rPr lang="en-US" sz="1600" dirty="0">
                <a:solidFill>
                  <a:schemeClr val="tx1"/>
                </a:solidFill>
                <a:latin typeface="Figtree" pitchFamily="2" charset="0"/>
              </a:rPr>
              <a:t>– s</a:t>
            </a:r>
            <a:r>
              <a:rPr kumimoji="0" lang="en-US" sz="1600" i="0" strike="noStrike" cap="none" spc="0" normalizeH="0" baseline="0" dirty="0">
                <a:ln>
                  <a:noFill/>
                </a:ln>
                <a:solidFill>
                  <a:schemeClr val="tx1"/>
                </a:solidFill>
                <a:effectLst/>
                <a:uFillTx/>
                <a:latin typeface="Figtree" pitchFamily="2" charset="0"/>
                <a:sym typeface="Helvetica"/>
              </a:rPr>
              <a:t>ale to Shell for $2bn advised by J.P. Morgan  </a:t>
            </a:r>
          </a:p>
        </p:txBody>
      </p:sp>
    </p:spTree>
    <p:extLst>
      <p:ext uri="{BB962C8B-B14F-4D97-AF65-F5344CB8AC3E}">
        <p14:creationId xmlns:p14="http://schemas.microsoft.com/office/powerpoint/2010/main" val="40571843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1E24AA-6651-B8B3-534F-84BF2A9178D9}"/>
            </a:ext>
          </a:extLst>
        </p:cNvPr>
        <p:cNvGrpSpPr/>
        <p:nvPr/>
      </p:nvGrpSpPr>
      <p:grpSpPr>
        <a:xfrm>
          <a:off x="0" y="0"/>
          <a:ext cx="0" cy="0"/>
          <a:chOff x="0" y="0"/>
          <a:chExt cx="0" cy="0"/>
        </a:xfrm>
      </p:grpSpPr>
      <p:sp>
        <p:nvSpPr>
          <p:cNvPr id="4" name="Title 9">
            <a:extLst>
              <a:ext uri="{FF2B5EF4-FFF2-40B4-BE49-F238E27FC236}">
                <a16:creationId xmlns:a16="http://schemas.microsoft.com/office/drawing/2014/main" id="{90F8EFFD-879F-84CC-E8A1-EE39A31FF87D}"/>
              </a:ext>
            </a:extLst>
          </p:cNvPr>
          <p:cNvSpPr>
            <a:spLocks noGrp="1"/>
          </p:cNvSpPr>
          <p:nvPr>
            <p:ph type="title"/>
          </p:nvPr>
        </p:nvSpPr>
        <p:spPr>
          <a:xfrm>
            <a:off x="1677986" y="2764993"/>
            <a:ext cx="10123714" cy="1723549"/>
          </a:xfrm>
        </p:spPr>
        <p:txBody>
          <a:bodyPr/>
          <a:lstStyle/>
          <a:p>
            <a:pPr>
              <a:lnSpc>
                <a:spcPct val="100000"/>
              </a:lnSpc>
            </a:pPr>
            <a:r>
              <a:rPr lang="en-GB" sz="5600" dirty="0">
                <a:solidFill>
                  <a:srgbClr val="00C159"/>
                </a:solidFill>
              </a:rPr>
              <a:t>Backed world-class investors</a:t>
            </a:r>
            <a:r>
              <a:rPr lang="en-GB" sz="5600" dirty="0"/>
              <a:t>, with experience in scale-ups…</a:t>
            </a:r>
            <a:endParaRPr lang="en-PT" sz="5600" dirty="0"/>
          </a:p>
        </p:txBody>
      </p:sp>
      <p:pic>
        <p:nvPicPr>
          <p:cNvPr id="3" name="Picture 8" descr="A close up of a sign&#10;&#10;Description automatically generated">
            <a:extLst>
              <a:ext uri="{FF2B5EF4-FFF2-40B4-BE49-F238E27FC236}">
                <a16:creationId xmlns:a16="http://schemas.microsoft.com/office/drawing/2014/main" id="{F4A2C815-64A8-78EB-C578-CB0B714BE284}"/>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1742058" y="5958549"/>
            <a:ext cx="3006863" cy="961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9">
            <a:extLst>
              <a:ext uri="{FF2B5EF4-FFF2-40B4-BE49-F238E27FC236}">
                <a16:creationId xmlns:a16="http://schemas.microsoft.com/office/drawing/2014/main" id="{E3B5811B-8DF2-A70E-5361-2F3EE3B4FC1D}"/>
              </a:ext>
            </a:extLst>
          </p:cNvPr>
          <p:cNvPicPr>
            <a:picLocks/>
          </p:cNvPicPr>
          <p:nvPr/>
        </p:nvPicPr>
        <p:blipFill>
          <a:blip r:embed="rId3" cstate="email">
            <a:extLst>
              <a:ext uri="{28A0092B-C50C-407E-A947-70E740481C1C}">
                <a14:useLocalDpi xmlns:a14="http://schemas.microsoft.com/office/drawing/2010/main"/>
              </a:ext>
            </a:extLst>
          </a:blip>
          <a:stretch>
            <a:fillRect/>
          </a:stretch>
        </p:blipFill>
        <p:spPr>
          <a:xfrm>
            <a:off x="5075455" y="6104888"/>
            <a:ext cx="548950" cy="548950"/>
          </a:xfrm>
          <a:prstGeom prst="rect">
            <a:avLst/>
          </a:prstGeom>
          <a:noFill/>
          <a:ln cap="flat">
            <a:noFill/>
          </a:ln>
        </p:spPr>
      </p:pic>
      <p:pic>
        <p:nvPicPr>
          <p:cNvPr id="14" name="Picture 15">
            <a:extLst>
              <a:ext uri="{FF2B5EF4-FFF2-40B4-BE49-F238E27FC236}">
                <a16:creationId xmlns:a16="http://schemas.microsoft.com/office/drawing/2014/main" id="{D28EBA7D-A03D-1639-1B8F-D91A6D9E6DA3}"/>
              </a:ext>
            </a:extLst>
          </p:cNvPr>
          <p:cNvPicPr>
            <a:picLocks/>
          </p:cNvPicPr>
          <p:nvPr/>
        </p:nvPicPr>
        <p:blipFill>
          <a:blip r:embed="rId4" cstate="email">
            <a:extLst>
              <a:ext uri="{28A0092B-C50C-407E-A947-70E740481C1C}">
                <a14:useLocalDpi xmlns:a14="http://schemas.microsoft.com/office/drawing/2010/main"/>
              </a:ext>
            </a:extLst>
          </a:blip>
          <a:stretch>
            <a:fillRect/>
          </a:stretch>
        </p:blipFill>
        <p:spPr>
          <a:xfrm>
            <a:off x="5819875" y="6104238"/>
            <a:ext cx="548950" cy="548950"/>
          </a:xfrm>
          <a:prstGeom prst="rect">
            <a:avLst/>
          </a:prstGeom>
          <a:noFill/>
          <a:ln cap="flat">
            <a:noFill/>
          </a:ln>
        </p:spPr>
      </p:pic>
      <p:sp>
        <p:nvSpPr>
          <p:cNvPr id="17" name="TextBox 16">
            <a:extLst>
              <a:ext uri="{FF2B5EF4-FFF2-40B4-BE49-F238E27FC236}">
                <a16:creationId xmlns:a16="http://schemas.microsoft.com/office/drawing/2014/main" id="{EB32BFAA-18C3-C25F-0DAB-7A70817087E8}"/>
              </a:ext>
            </a:extLst>
          </p:cNvPr>
          <p:cNvSpPr txBox="1"/>
          <p:nvPr/>
        </p:nvSpPr>
        <p:spPr>
          <a:xfrm>
            <a:off x="1713862" y="7560485"/>
            <a:ext cx="9194514" cy="2815130"/>
          </a:xfrm>
          <a:prstGeom prst="rect">
            <a:avLst/>
          </a:prstGeom>
          <a:ln w="12700">
            <a:miter lim="400000"/>
          </a:ln>
        </p:spPr>
        <p:txBody>
          <a:bodyPr wrap="square" lIns="0" tIns="0" rIns="0" bIns="0" rtlCol="0" anchor="ctr">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defTabSz="914400" rtl="0" fontAlgn="auto" hangingPunct="1">
              <a:lnSpc>
                <a:spcPct val="110000"/>
              </a:lnSpc>
              <a:spcBef>
                <a:spcPts val="0"/>
              </a:spcBef>
              <a:spcAft>
                <a:spcPts val="0"/>
              </a:spcAft>
              <a:buNone/>
              <a:tabLst/>
              <a:defRPr sz="1800" b="0" i="0" u="none" strike="noStrike" kern="0" cap="none" spc="0" baseline="0">
                <a:solidFill>
                  <a:srgbClr val="000000"/>
                </a:solidFill>
                <a:uFillTx/>
              </a:defRPr>
            </a:pPr>
            <a:r>
              <a:rPr lang="en-US" sz="2800" b="1" u="none" strike="noStrike" kern="1200" cap="none" spc="0" baseline="0" dirty="0">
                <a:solidFill>
                  <a:srgbClr val="00C159"/>
                </a:solidFill>
                <a:uFillTx/>
                <a:latin typeface="Figtree SemiBold" pitchFamily="2" charset="0"/>
              </a:rPr>
              <a:t>Pioneer Point Partners </a:t>
            </a:r>
            <a:r>
              <a:rPr lang="en-US" sz="2800" b="0" i="0" u="none" strike="noStrike" kern="1200" cap="none" spc="0" baseline="0" dirty="0">
                <a:solidFill>
                  <a:srgbClr val="385723"/>
                </a:solidFill>
                <a:uFillTx/>
                <a:latin typeface="Figtree" pitchFamily="2" charset="0"/>
              </a:rPr>
              <a:t>i</a:t>
            </a:r>
            <a:r>
              <a:rPr lang="en-US" sz="2800" b="0" i="0" u="none" strike="noStrike" kern="1200" cap="none" spc="0" baseline="0" dirty="0">
                <a:solidFill>
                  <a:srgbClr val="000000"/>
                </a:solidFill>
                <a:uFillTx/>
                <a:latin typeface="Figtree" pitchFamily="2" charset="0"/>
              </a:rPr>
              <a:t>s an independent infrastructure investment firm founded by four Managing Partners with over 100 y</a:t>
            </a:r>
            <a:r>
              <a:rPr lang="en-US" sz="2800" dirty="0">
                <a:solidFill>
                  <a:srgbClr val="000000"/>
                </a:solidFill>
                <a:latin typeface="Figtree" pitchFamily="2" charset="0"/>
              </a:rPr>
              <a:t>ears</a:t>
            </a:r>
            <a:r>
              <a:rPr lang="en-US" sz="2800" b="0" i="0" u="none" strike="noStrike" kern="1200" cap="none" spc="0" baseline="0" dirty="0">
                <a:solidFill>
                  <a:srgbClr val="000000"/>
                </a:solidFill>
                <a:uFillTx/>
                <a:latin typeface="Figtree" pitchFamily="2" charset="0"/>
              </a:rPr>
              <a:t> of combined investment experience. </a:t>
            </a:r>
            <a:br>
              <a:rPr lang="en-US" sz="2800" b="0" i="0" u="none" strike="noStrike" kern="1200" cap="none" spc="0" baseline="0" dirty="0">
                <a:solidFill>
                  <a:srgbClr val="000000"/>
                </a:solidFill>
                <a:uFillTx/>
                <a:latin typeface="Figtree" pitchFamily="2" charset="0"/>
              </a:rPr>
            </a:br>
            <a:r>
              <a:rPr lang="en-US" sz="2800" b="0" i="0" u="none" strike="noStrike" kern="1200" cap="none" spc="0" baseline="0" dirty="0">
                <a:solidFill>
                  <a:srgbClr val="000000"/>
                </a:solidFill>
                <a:uFillTx/>
                <a:latin typeface="Figtree" pitchFamily="2" charset="0"/>
              </a:rPr>
              <a:t>They are sector specialists, focused on investing in the energy transition and environment sectors across Europe. Sustainability is at the core of everything </a:t>
            </a:r>
            <a:r>
              <a:rPr lang="en-US" sz="2800" dirty="0">
                <a:solidFill>
                  <a:srgbClr val="000000"/>
                </a:solidFill>
                <a:latin typeface="Figtree" pitchFamily="2" charset="0"/>
              </a:rPr>
              <a:t>they </a:t>
            </a:r>
            <a:r>
              <a:rPr lang="en-US" sz="2800" b="0" i="0" u="none" strike="noStrike" kern="1200" cap="none" spc="0" baseline="0" dirty="0">
                <a:solidFill>
                  <a:srgbClr val="000000"/>
                </a:solidFill>
                <a:uFillTx/>
                <a:latin typeface="Figtree" pitchFamily="2" charset="0"/>
              </a:rPr>
              <a:t>do.</a:t>
            </a:r>
          </a:p>
        </p:txBody>
      </p:sp>
      <p:sp>
        <p:nvSpPr>
          <p:cNvPr id="19" name="Freeform: Shape 27">
            <a:extLst>
              <a:ext uri="{FF2B5EF4-FFF2-40B4-BE49-F238E27FC236}">
                <a16:creationId xmlns:a16="http://schemas.microsoft.com/office/drawing/2014/main" id="{06EFB8D0-0F14-4150-04CA-8BED84F88303}"/>
              </a:ext>
            </a:extLst>
          </p:cNvPr>
          <p:cNvSpPr/>
          <p:nvPr/>
        </p:nvSpPr>
        <p:spPr>
          <a:xfrm>
            <a:off x="12687090" y="4401281"/>
            <a:ext cx="3891380" cy="3947590"/>
          </a:xfrm>
          <a:prstGeom prst="roundRect">
            <a:avLst>
              <a:gd name="adj" fmla="val 4618"/>
            </a:avLst>
          </a:prstGeom>
          <a:solidFill>
            <a:schemeClr val="bg1"/>
          </a:solidFill>
          <a:ln w="12700">
            <a:solidFill>
              <a:schemeClr val="bg1">
                <a:lumMod val="85000"/>
                <a:alpha val="90000"/>
              </a:schemeClr>
            </a:solidFill>
          </a:ln>
          <a:effectLst/>
        </p:spPr>
        <p:style>
          <a:lnRef idx="2">
            <a:scrgbClr r="0" g="0" b="0"/>
          </a:lnRef>
          <a:fillRef idx="1">
            <a:scrgbClr r="0" g="0" b="0"/>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2000" tIns="91440" rIns="72000" bIns="0" numCol="1" spcCol="1270" anchor="t" anchorCtr="0">
            <a:no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lvl="1" defTabSz="2600960">
              <a:buSzPct val="175000"/>
            </a:pPr>
            <a:r>
              <a:rPr lang="en-US" sz="2200" b="1" dirty="0">
                <a:solidFill>
                  <a:srgbClr val="00C159"/>
                </a:solidFill>
                <a:latin typeface="Figtree" pitchFamily="2" charset="0"/>
                <a:cs typeface="Arial" panose="020B0604020202020204" pitchFamily="34" charset="0"/>
              </a:rPr>
              <a:t>   Experienced: </a:t>
            </a:r>
            <a:r>
              <a:rPr lang="en-US" sz="2200" dirty="0">
                <a:solidFill>
                  <a:schemeClr val="tx1">
                    <a:lumMod val="75000"/>
                    <a:lumOff val="25000"/>
                  </a:schemeClr>
                </a:solidFill>
                <a:latin typeface="Figtree" pitchFamily="2" charset="0"/>
                <a:cs typeface="Arial" panose="020B0604020202020204" pitchFamily="34" charset="0"/>
              </a:rPr>
              <a:t>founders invested across 17 EU countries since 1993</a:t>
            </a:r>
          </a:p>
          <a:p>
            <a:pPr lvl="1" defTabSz="2600960">
              <a:buSzPct val="175000"/>
            </a:pPr>
            <a:r>
              <a:rPr lang="en-US" sz="2200" b="1" dirty="0">
                <a:solidFill>
                  <a:srgbClr val="00C159"/>
                </a:solidFill>
                <a:latin typeface="Figtree" pitchFamily="2" charset="0"/>
                <a:cs typeface="Arial" panose="020B0604020202020204" pitchFamily="34" charset="0"/>
              </a:rPr>
              <a:t>   Institutional: </a:t>
            </a:r>
            <a:r>
              <a:rPr lang="en-US" sz="2200" dirty="0">
                <a:solidFill>
                  <a:schemeClr val="tx1">
                    <a:lumMod val="75000"/>
                    <a:lumOff val="25000"/>
                  </a:schemeClr>
                </a:solidFill>
                <a:latin typeface="Figtree" pitchFamily="2" charset="0"/>
                <a:cs typeface="Arial" panose="020B0604020202020204" pitchFamily="34" charset="0"/>
              </a:rPr>
              <a:t>&gt;€2bn of committed capital; team </a:t>
            </a:r>
            <a:br>
              <a:rPr lang="en-US" sz="2200" dirty="0">
                <a:solidFill>
                  <a:schemeClr val="tx1">
                    <a:lumMod val="75000"/>
                    <a:lumOff val="25000"/>
                  </a:schemeClr>
                </a:solidFill>
                <a:latin typeface="Figtree" pitchFamily="2" charset="0"/>
                <a:cs typeface="Arial" panose="020B0604020202020204" pitchFamily="34" charset="0"/>
              </a:rPr>
            </a:br>
            <a:r>
              <a:rPr lang="en-US" sz="2200" dirty="0">
                <a:solidFill>
                  <a:schemeClr val="tx1">
                    <a:lumMod val="75000"/>
                    <a:lumOff val="25000"/>
                  </a:schemeClr>
                </a:solidFill>
                <a:latin typeface="Figtree" pitchFamily="2" charset="0"/>
                <a:cs typeface="Arial" panose="020B0604020202020204" pitchFamily="34" charset="0"/>
              </a:rPr>
              <a:t>of ~20 professionals </a:t>
            </a:r>
          </a:p>
          <a:p>
            <a:pPr lvl="1" defTabSz="2600960">
              <a:buSzPct val="175000"/>
            </a:pPr>
            <a:r>
              <a:rPr lang="en-GB" sz="2200" b="1" dirty="0">
                <a:solidFill>
                  <a:srgbClr val="00C159"/>
                </a:solidFill>
                <a:latin typeface="Figtree" pitchFamily="2" charset="0"/>
                <a:cs typeface="Arial" panose="020B0604020202020204" pitchFamily="34" charset="0"/>
              </a:rPr>
              <a:t>   Specialist investor </a:t>
            </a:r>
            <a:r>
              <a:rPr lang="en-GB" sz="2200" dirty="0">
                <a:solidFill>
                  <a:schemeClr val="tx1"/>
                </a:solidFill>
                <a:latin typeface="Figtree" pitchFamily="2" charset="0"/>
                <a:cs typeface="Arial" panose="020B0604020202020204" pitchFamily="34" charset="0"/>
              </a:rPr>
              <a:t>with &gt;20 yrs investment track record in energy, environment, water and data infrastructure</a:t>
            </a:r>
            <a:endParaRPr lang="en-US" sz="2200" dirty="0">
              <a:solidFill>
                <a:schemeClr val="tx1"/>
              </a:solidFill>
              <a:latin typeface="Figtree" pitchFamily="2" charset="0"/>
              <a:cs typeface="Arial" panose="020B0604020202020204" pitchFamily="34" charset="0"/>
            </a:endParaRPr>
          </a:p>
        </p:txBody>
      </p:sp>
      <p:sp>
        <p:nvSpPr>
          <p:cNvPr id="20" name="Freeform: Shape 29">
            <a:extLst>
              <a:ext uri="{FF2B5EF4-FFF2-40B4-BE49-F238E27FC236}">
                <a16:creationId xmlns:a16="http://schemas.microsoft.com/office/drawing/2014/main" id="{81A9E3E0-8037-97CD-4DC7-7B5D6D53B443}"/>
              </a:ext>
            </a:extLst>
          </p:cNvPr>
          <p:cNvSpPr/>
          <p:nvPr/>
        </p:nvSpPr>
        <p:spPr>
          <a:xfrm>
            <a:off x="20118583" y="3352200"/>
            <a:ext cx="2529382" cy="810179"/>
          </a:xfrm>
          <a:prstGeom prst="roundRect">
            <a:avLst/>
          </a:prstGeom>
          <a:solidFill>
            <a:srgbClr val="00C159">
              <a:alpha val="20000"/>
            </a:srgbClr>
          </a:solidFill>
          <a:ln w="12700">
            <a:noFill/>
            <a:miter lim="400000"/>
          </a:ln>
        </p:spPr>
        <p:txBody>
          <a:bodyPr lIns="0" tIns="0" rIns="0" bIns="0" anchor="ctr">
            <a:no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defTabSz="2600960" eaLnBrk="0" fontAlgn="base" hangingPunct="1">
              <a:spcBef>
                <a:spcPts val="2200"/>
              </a:spcBef>
              <a:spcAft>
                <a:spcPct val="0"/>
              </a:spcAft>
            </a:pPr>
            <a:r>
              <a:rPr lang="en-US" sz="2000" b="1" kern="1200" dirty="0">
                <a:solidFill>
                  <a:srgbClr val="0A3638"/>
                </a:solidFill>
                <a:latin typeface="Figtree" pitchFamily="2" charset="0"/>
                <a:cs typeface="Arial" panose="020B0604020202020204" pitchFamily="34" charset="0"/>
              </a:rPr>
              <a:t>Sector </a:t>
            </a:r>
            <a:br>
              <a:rPr lang="en-US" sz="2000" b="1" kern="1200" dirty="0">
                <a:solidFill>
                  <a:srgbClr val="0A3638"/>
                </a:solidFill>
                <a:latin typeface="Figtree" pitchFamily="2" charset="0"/>
                <a:cs typeface="Arial" panose="020B0604020202020204" pitchFamily="34" charset="0"/>
              </a:rPr>
            </a:br>
            <a:r>
              <a:rPr lang="en-US" sz="2000" b="1" kern="1200" dirty="0">
                <a:solidFill>
                  <a:srgbClr val="0A3638"/>
                </a:solidFill>
                <a:latin typeface="Figtree" pitchFamily="2" charset="0"/>
                <a:cs typeface="Arial" panose="020B0604020202020204" pitchFamily="34" charset="0"/>
              </a:rPr>
              <a:t>specialists</a:t>
            </a:r>
          </a:p>
        </p:txBody>
      </p:sp>
      <p:sp>
        <p:nvSpPr>
          <p:cNvPr id="22" name="Freeform: Shape 31">
            <a:extLst>
              <a:ext uri="{FF2B5EF4-FFF2-40B4-BE49-F238E27FC236}">
                <a16:creationId xmlns:a16="http://schemas.microsoft.com/office/drawing/2014/main" id="{FF90D0F7-ABE8-AFB6-E3D7-B965F8916AEB}"/>
              </a:ext>
            </a:extLst>
          </p:cNvPr>
          <p:cNvSpPr/>
          <p:nvPr/>
        </p:nvSpPr>
        <p:spPr>
          <a:xfrm>
            <a:off x="20077943" y="4374775"/>
            <a:ext cx="2583274" cy="3987348"/>
          </a:xfrm>
          <a:prstGeom prst="roundRect">
            <a:avLst>
              <a:gd name="adj" fmla="val 3046"/>
            </a:avLst>
          </a:prstGeom>
          <a:solidFill>
            <a:schemeClr val="bg1"/>
          </a:solidFill>
          <a:ln w="12700">
            <a:solidFill>
              <a:schemeClr val="bg1">
                <a:lumMod val="85000"/>
                <a:alpha val="90000"/>
              </a:schemeClr>
            </a:solidFill>
          </a:ln>
          <a:effectLst>
            <a:softEdge rad="0"/>
          </a:effectLst>
        </p:spPr>
        <p:style>
          <a:lnRef idx="2">
            <a:scrgbClr r="0" g="0" b="0"/>
          </a:lnRef>
          <a:fillRef idx="1">
            <a:scrgbClr r="0" g="0" b="0"/>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92024" numCol="1" spcCol="1270" anchor="ctr" anchorCtr="0">
            <a:no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lvl="1" defTabSz="2600960">
              <a:lnSpc>
                <a:spcPct val="150000"/>
              </a:lnSpc>
              <a:spcAft>
                <a:spcPts val="600"/>
              </a:spcAft>
              <a:buSzPct val="175000"/>
            </a:pPr>
            <a:r>
              <a:rPr lang="en-US" sz="2200" b="1" dirty="0">
                <a:solidFill>
                  <a:srgbClr val="00C159"/>
                </a:solidFill>
                <a:latin typeface="Figtree" pitchFamily="2" charset="0"/>
                <a:cs typeface="Arial" panose="020B0604020202020204" pitchFamily="34" charset="0"/>
              </a:rPr>
              <a:t>   Energy </a:t>
            </a:r>
          </a:p>
          <a:p>
            <a:pPr lvl="1" defTabSz="2600960">
              <a:lnSpc>
                <a:spcPct val="150000"/>
              </a:lnSpc>
              <a:spcAft>
                <a:spcPts val="600"/>
              </a:spcAft>
              <a:buSzPct val="175000"/>
            </a:pPr>
            <a:r>
              <a:rPr lang="en-US" sz="2200" b="1" dirty="0">
                <a:solidFill>
                  <a:srgbClr val="00C159"/>
                </a:solidFill>
                <a:latin typeface="Figtree" pitchFamily="2" charset="0"/>
                <a:cs typeface="Arial" panose="020B0604020202020204" pitchFamily="34" charset="0"/>
              </a:rPr>
              <a:t>   Environment</a:t>
            </a:r>
          </a:p>
          <a:p>
            <a:pPr lvl="1" defTabSz="2600960">
              <a:lnSpc>
                <a:spcPct val="150000"/>
              </a:lnSpc>
              <a:spcAft>
                <a:spcPts val="600"/>
              </a:spcAft>
              <a:buSzPct val="175000"/>
            </a:pPr>
            <a:r>
              <a:rPr lang="en-US" sz="2200" b="1" dirty="0">
                <a:solidFill>
                  <a:srgbClr val="00C159"/>
                </a:solidFill>
                <a:latin typeface="Figtree" pitchFamily="2" charset="0"/>
                <a:cs typeface="Arial" panose="020B0604020202020204" pitchFamily="34" charset="0"/>
              </a:rPr>
              <a:t>   Water</a:t>
            </a:r>
          </a:p>
          <a:p>
            <a:pPr lvl="1" defTabSz="2600960">
              <a:lnSpc>
                <a:spcPct val="150000"/>
              </a:lnSpc>
              <a:spcAft>
                <a:spcPts val="600"/>
              </a:spcAft>
              <a:buSzPct val="175000"/>
            </a:pPr>
            <a:r>
              <a:rPr lang="en-US" sz="2200" b="1" dirty="0">
                <a:solidFill>
                  <a:srgbClr val="00C159"/>
                </a:solidFill>
                <a:latin typeface="Figtree" pitchFamily="2" charset="0"/>
                <a:cs typeface="Arial" panose="020B0604020202020204" pitchFamily="34" charset="0"/>
              </a:rPr>
              <a:t>   Data </a:t>
            </a:r>
          </a:p>
          <a:p>
            <a:pPr lvl="1" defTabSz="2600960">
              <a:lnSpc>
                <a:spcPct val="150000"/>
              </a:lnSpc>
              <a:spcAft>
                <a:spcPts val="600"/>
              </a:spcAft>
              <a:buSzPct val="175000"/>
            </a:pPr>
            <a:r>
              <a:rPr lang="en-US" sz="2200" b="1" dirty="0">
                <a:solidFill>
                  <a:srgbClr val="00C159"/>
                </a:solidFill>
                <a:latin typeface="Figtree" pitchFamily="2" charset="0"/>
                <a:cs typeface="Arial" panose="020B0604020202020204" pitchFamily="34" charset="0"/>
              </a:rPr>
              <a:t>   Infrastructure</a:t>
            </a:r>
          </a:p>
          <a:p>
            <a:pPr lvl="1" defTabSz="2600960">
              <a:lnSpc>
                <a:spcPct val="150000"/>
              </a:lnSpc>
              <a:spcAft>
                <a:spcPts val="600"/>
              </a:spcAft>
              <a:buSzPct val="175000"/>
            </a:pPr>
            <a:r>
              <a:rPr lang="en-US" sz="2200" b="1" dirty="0">
                <a:solidFill>
                  <a:srgbClr val="00C159"/>
                </a:solidFill>
                <a:latin typeface="Figtree" pitchFamily="2" charset="0"/>
                <a:cs typeface="Arial" panose="020B0604020202020204" pitchFamily="34" charset="0"/>
              </a:rPr>
              <a:t>   Telecoms</a:t>
            </a:r>
          </a:p>
        </p:txBody>
      </p:sp>
      <p:sp>
        <p:nvSpPr>
          <p:cNvPr id="23" name="Freeform: Shape 33">
            <a:extLst>
              <a:ext uri="{FF2B5EF4-FFF2-40B4-BE49-F238E27FC236}">
                <a16:creationId xmlns:a16="http://schemas.microsoft.com/office/drawing/2014/main" id="{E6F32757-FAFE-DCA2-C2A2-9F45E21B755A}"/>
              </a:ext>
            </a:extLst>
          </p:cNvPr>
          <p:cNvSpPr/>
          <p:nvPr/>
        </p:nvSpPr>
        <p:spPr>
          <a:xfrm>
            <a:off x="16692624" y="3389586"/>
            <a:ext cx="3288252" cy="808877"/>
          </a:xfrm>
          <a:prstGeom prst="roundRect">
            <a:avLst/>
          </a:prstGeom>
          <a:solidFill>
            <a:srgbClr val="00C159">
              <a:alpha val="20000"/>
            </a:srgbClr>
          </a:solidFill>
          <a:ln w="12700">
            <a:noFill/>
            <a:miter lim="400000"/>
          </a:ln>
        </p:spPr>
        <p:txBody>
          <a:bodyPr lIns="0" tIns="0" rIns="0" bIns="0" anchor="ctr">
            <a:no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defTabSz="2600960" eaLnBrk="0" fontAlgn="base" hangingPunct="1">
              <a:spcBef>
                <a:spcPts val="2200"/>
              </a:spcBef>
              <a:spcAft>
                <a:spcPct val="0"/>
              </a:spcAft>
            </a:pPr>
            <a:r>
              <a:rPr lang="en-US" sz="2000" b="1" kern="1200" dirty="0">
                <a:solidFill>
                  <a:srgbClr val="0A3638"/>
                </a:solidFill>
                <a:latin typeface="Figtree" pitchFamily="2" charset="0"/>
                <a:cs typeface="Arial" panose="020B0604020202020204" pitchFamily="34" charset="0"/>
              </a:rPr>
              <a:t>Entrepreneurial </a:t>
            </a:r>
            <a:br>
              <a:rPr lang="en-US" sz="2000" b="1" kern="1200" dirty="0">
                <a:solidFill>
                  <a:srgbClr val="0A3638"/>
                </a:solidFill>
                <a:latin typeface="Figtree" pitchFamily="2" charset="0"/>
                <a:cs typeface="Arial" panose="020B0604020202020204" pitchFamily="34" charset="0"/>
              </a:rPr>
            </a:br>
            <a:r>
              <a:rPr lang="en-US" sz="2000" b="1" kern="1200" dirty="0">
                <a:solidFill>
                  <a:srgbClr val="0A3638"/>
                </a:solidFill>
                <a:latin typeface="Figtree" pitchFamily="2" charset="0"/>
                <a:cs typeface="Arial" panose="020B0604020202020204" pitchFamily="34" charset="0"/>
              </a:rPr>
              <a:t>ownership</a:t>
            </a:r>
          </a:p>
        </p:txBody>
      </p:sp>
      <p:sp>
        <p:nvSpPr>
          <p:cNvPr id="24" name="Freeform: Shape 35">
            <a:extLst>
              <a:ext uri="{FF2B5EF4-FFF2-40B4-BE49-F238E27FC236}">
                <a16:creationId xmlns:a16="http://schemas.microsoft.com/office/drawing/2014/main" id="{AB2C7F0D-B86B-663F-4FD6-3D0FBC5E3116}"/>
              </a:ext>
            </a:extLst>
          </p:cNvPr>
          <p:cNvSpPr/>
          <p:nvPr/>
        </p:nvSpPr>
        <p:spPr>
          <a:xfrm>
            <a:off x="16697739" y="4374777"/>
            <a:ext cx="3254376" cy="3987346"/>
          </a:xfrm>
          <a:prstGeom prst="roundRect">
            <a:avLst>
              <a:gd name="adj" fmla="val 4094"/>
            </a:avLst>
          </a:prstGeom>
          <a:solidFill>
            <a:schemeClr val="bg1"/>
          </a:solidFill>
          <a:ln w="12700">
            <a:solidFill>
              <a:schemeClr val="bg1">
                <a:lumMod val="85000"/>
                <a:alpha val="90000"/>
              </a:schemeClr>
            </a:solidFill>
          </a:ln>
          <a:effectLst/>
        </p:spPr>
        <p:style>
          <a:lnRef idx="2">
            <a:scrgbClr r="0" g="0" b="0"/>
          </a:lnRef>
          <a:fillRef idx="1">
            <a:scrgbClr r="0" g="0" b="0"/>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72000" tIns="0" rIns="72000" bIns="192024" numCol="1" spcCol="1270" anchor="ctr" anchorCtr="0">
            <a:no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lvl="1" defTabSz="2600960">
              <a:lnSpc>
                <a:spcPct val="90000"/>
              </a:lnSpc>
              <a:spcAft>
                <a:spcPts val="800"/>
              </a:spcAft>
              <a:buSzPct val="175000"/>
            </a:pPr>
            <a:r>
              <a:rPr lang="en-US" sz="2200" b="1" dirty="0">
                <a:solidFill>
                  <a:srgbClr val="00C159"/>
                </a:solidFill>
                <a:latin typeface="Figtree" pitchFamily="2" charset="0"/>
                <a:cs typeface="Arial" panose="020B0604020202020204" pitchFamily="34" charset="0"/>
              </a:rPr>
              <a:t>   Build platforms: </a:t>
            </a:r>
            <a:r>
              <a:rPr lang="en-US" sz="2200" dirty="0">
                <a:solidFill>
                  <a:schemeClr val="tx1">
                    <a:lumMod val="75000"/>
                    <a:lumOff val="25000"/>
                  </a:schemeClr>
                </a:solidFill>
                <a:latin typeface="Figtree" pitchFamily="2" charset="0"/>
                <a:cs typeface="Arial" panose="020B0604020202020204" pitchFamily="34" charset="0"/>
              </a:rPr>
              <a:t>create companies, develop and construct</a:t>
            </a:r>
          </a:p>
          <a:p>
            <a:pPr lvl="1" defTabSz="2600960">
              <a:lnSpc>
                <a:spcPct val="90000"/>
              </a:lnSpc>
              <a:spcAft>
                <a:spcPts val="800"/>
              </a:spcAft>
              <a:buSzPct val="175000"/>
            </a:pPr>
            <a:r>
              <a:rPr lang="en-US" sz="2200" b="1" dirty="0">
                <a:solidFill>
                  <a:srgbClr val="00C159"/>
                </a:solidFill>
                <a:latin typeface="Figtree" pitchFamily="2" charset="0"/>
                <a:cs typeface="Arial" panose="020B0604020202020204" pitchFamily="34" charset="0"/>
              </a:rPr>
              <a:t>   Drive growth: </a:t>
            </a:r>
            <a:r>
              <a:rPr lang="en-US" sz="2200" dirty="0">
                <a:solidFill>
                  <a:schemeClr val="tx1">
                    <a:lumMod val="75000"/>
                    <a:lumOff val="25000"/>
                  </a:schemeClr>
                </a:solidFill>
                <a:latin typeface="Figtree" pitchFamily="2" charset="0"/>
                <a:cs typeface="Arial" panose="020B0604020202020204" pitchFamily="34" charset="0"/>
              </a:rPr>
              <a:t>scale-up early-stage infrastructure assets to maturity</a:t>
            </a:r>
          </a:p>
          <a:p>
            <a:pPr lvl="1" defTabSz="2600960">
              <a:lnSpc>
                <a:spcPct val="90000"/>
              </a:lnSpc>
              <a:buSzPct val="175000"/>
            </a:pPr>
            <a:r>
              <a:rPr lang="en-US" sz="2200" b="1" dirty="0">
                <a:solidFill>
                  <a:srgbClr val="00C159"/>
                </a:solidFill>
                <a:latin typeface="Figtree" pitchFamily="2" charset="0"/>
                <a:cs typeface="Arial" panose="020B0604020202020204" pitchFamily="34" charset="0"/>
              </a:rPr>
              <a:t>   Hands-on: </a:t>
            </a:r>
            <a:r>
              <a:rPr lang="en-US" sz="2200" dirty="0">
                <a:solidFill>
                  <a:schemeClr val="tx1">
                    <a:lumMod val="75000"/>
                    <a:lumOff val="25000"/>
                  </a:schemeClr>
                </a:solidFill>
                <a:latin typeface="Figtree" pitchFamily="2" charset="0"/>
                <a:cs typeface="Arial" panose="020B0604020202020204" pitchFamily="34" charset="0"/>
              </a:rPr>
              <a:t>actively manage assets using founders’ PE and VC skills</a:t>
            </a:r>
          </a:p>
        </p:txBody>
      </p:sp>
      <p:sp>
        <p:nvSpPr>
          <p:cNvPr id="25" name="Freeform: Shape 39">
            <a:extLst>
              <a:ext uri="{FF2B5EF4-FFF2-40B4-BE49-F238E27FC236}">
                <a16:creationId xmlns:a16="http://schemas.microsoft.com/office/drawing/2014/main" id="{9B495E1A-D685-F29D-472E-9D3CFC305CB0}"/>
              </a:ext>
            </a:extLst>
          </p:cNvPr>
          <p:cNvSpPr/>
          <p:nvPr/>
        </p:nvSpPr>
        <p:spPr>
          <a:xfrm>
            <a:off x="12727730" y="3376649"/>
            <a:ext cx="3863992" cy="818656"/>
          </a:xfrm>
          <a:prstGeom prst="roundRect">
            <a:avLst/>
          </a:prstGeom>
          <a:solidFill>
            <a:srgbClr val="00C159">
              <a:alpha val="20000"/>
            </a:srgbClr>
          </a:solidFill>
          <a:ln w="12700">
            <a:noFill/>
            <a:miter lim="400000"/>
          </a:ln>
        </p:spPr>
        <p:txBody>
          <a:bodyPr lIns="0" tIns="0" rIns="0" bIns="0" anchor="ctr">
            <a:no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defTabSz="2600960" eaLnBrk="0" fontAlgn="base" hangingPunct="1">
              <a:spcBef>
                <a:spcPts val="2200"/>
              </a:spcBef>
              <a:spcAft>
                <a:spcPct val="0"/>
              </a:spcAft>
            </a:pPr>
            <a:r>
              <a:rPr lang="en-US" sz="2000" b="1" kern="1200" dirty="0">
                <a:solidFill>
                  <a:srgbClr val="0A3638"/>
                </a:solidFill>
                <a:latin typeface="Figtree" pitchFamily="2" charset="0"/>
                <a:cs typeface="Arial" panose="020B0604020202020204" pitchFamily="34" charset="0"/>
              </a:rPr>
              <a:t>Experienced and</a:t>
            </a:r>
            <a:br>
              <a:rPr lang="en-US" sz="2000" b="1" kern="1200" dirty="0">
                <a:solidFill>
                  <a:srgbClr val="0A3638"/>
                </a:solidFill>
                <a:latin typeface="Figtree" pitchFamily="2" charset="0"/>
                <a:cs typeface="Arial" panose="020B0604020202020204" pitchFamily="34" charset="0"/>
              </a:rPr>
            </a:br>
            <a:r>
              <a:rPr lang="en-US" sz="2000" b="1" kern="1200" dirty="0">
                <a:solidFill>
                  <a:srgbClr val="0A3638"/>
                </a:solidFill>
                <a:latin typeface="Figtree" pitchFamily="2" charset="0"/>
                <a:cs typeface="Arial" panose="020B0604020202020204" pitchFamily="34" charset="0"/>
              </a:rPr>
              <a:t> institutional</a:t>
            </a:r>
          </a:p>
        </p:txBody>
      </p:sp>
      <p:sp>
        <p:nvSpPr>
          <p:cNvPr id="26" name="Subtitle 2">
            <a:extLst>
              <a:ext uri="{FF2B5EF4-FFF2-40B4-BE49-F238E27FC236}">
                <a16:creationId xmlns:a16="http://schemas.microsoft.com/office/drawing/2014/main" id="{905439C9-D58E-5B2F-AF05-8310E4B4DA4F}"/>
              </a:ext>
            </a:extLst>
          </p:cNvPr>
          <p:cNvSpPr txBox="1">
            <a:spLocks/>
          </p:cNvSpPr>
          <p:nvPr/>
        </p:nvSpPr>
        <p:spPr bwMode="auto">
          <a:xfrm>
            <a:off x="12731263" y="9585624"/>
            <a:ext cx="9916702" cy="2112512"/>
          </a:xfrm>
          <a:prstGeom prst="roundRect">
            <a:avLst>
              <a:gd name="adj" fmla="val 6893"/>
            </a:avLst>
          </a:prstGeom>
          <a:solidFill>
            <a:schemeClr val="bg1"/>
          </a:solidFill>
          <a:ln w="12700">
            <a:solidFill>
              <a:schemeClr val="bg1">
                <a:lumMod val="85000"/>
                <a:alpha val="90000"/>
              </a:schemeClr>
            </a:solidFill>
          </a:ln>
          <a:effectLst/>
        </p:spPr>
        <p:style>
          <a:lnRef idx="2">
            <a:scrgbClr r="0" g="0" b="0"/>
          </a:lnRef>
          <a:fillRef idx="1">
            <a:scrgbClr r="0" g="0" b="0"/>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129600" tIns="0" rIns="170688" bIns="192024" numCol="1" spcCol="1270" anchor="ctr" anchorCtr="0">
            <a:no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endParaRPr lang="en-US" sz="1000" dirty="0"/>
          </a:p>
        </p:txBody>
      </p:sp>
      <p:cxnSp>
        <p:nvCxnSpPr>
          <p:cNvPr id="27" name="Straight Connector 26">
            <a:extLst>
              <a:ext uri="{FF2B5EF4-FFF2-40B4-BE49-F238E27FC236}">
                <a16:creationId xmlns:a16="http://schemas.microsoft.com/office/drawing/2014/main" id="{0C2DA50B-1DAC-AA87-F7E8-14C48599674A}"/>
              </a:ext>
            </a:extLst>
          </p:cNvPr>
          <p:cNvCxnSpPr>
            <a:cxnSpLocks/>
          </p:cNvCxnSpPr>
          <p:nvPr/>
        </p:nvCxnSpPr>
        <p:spPr>
          <a:xfrm flipV="1">
            <a:off x="13462662" y="10607009"/>
            <a:ext cx="8634706" cy="4486"/>
          </a:xfrm>
          <a:prstGeom prst="line">
            <a:avLst/>
          </a:prstGeom>
          <a:noFill/>
          <a:ln w="15875" cap="flat" cmpd="sng" algn="ctr">
            <a:solidFill>
              <a:srgbClr val="0A3638"/>
            </a:solidFill>
            <a:prstDash val="solid"/>
            <a:headEnd type="none"/>
            <a:tailEnd type="oval"/>
          </a:ln>
          <a:effectLst/>
        </p:spPr>
      </p:cxnSp>
      <p:sp>
        <p:nvSpPr>
          <p:cNvPr id="28" name="TextBox 1178">
            <a:extLst>
              <a:ext uri="{FF2B5EF4-FFF2-40B4-BE49-F238E27FC236}">
                <a16:creationId xmlns:a16="http://schemas.microsoft.com/office/drawing/2014/main" id="{D6C216CC-2BB1-5CCC-1E7D-5F6D2AE2F523}"/>
              </a:ext>
            </a:extLst>
          </p:cNvPr>
          <p:cNvSpPr txBox="1"/>
          <p:nvPr/>
        </p:nvSpPr>
        <p:spPr>
          <a:xfrm>
            <a:off x="15680489" y="10173465"/>
            <a:ext cx="726844" cy="246221"/>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fontAlgn="base">
              <a:spcBef>
                <a:spcPct val="0"/>
              </a:spcBef>
              <a:spcAft>
                <a:spcPct val="0"/>
              </a:spcAft>
            </a:pPr>
            <a:r>
              <a:rPr lang="en-US" altLang="ko-KR" sz="1000" b="1">
                <a:solidFill>
                  <a:srgbClr val="0A3638"/>
                </a:solidFill>
                <a:latin typeface="Figtree" pitchFamily="2" charset="0"/>
                <a:ea typeface="맑은 고딕" panose="020B0503020000020004" pitchFamily="34" charset="-127"/>
                <a:cs typeface="Arial" panose="020B0604020202020204" pitchFamily="34" charset="0"/>
              </a:rPr>
              <a:t>2013</a:t>
            </a:r>
            <a:endParaRPr lang="ko-KR" altLang="en-US" sz="1000" b="1">
              <a:solidFill>
                <a:srgbClr val="0A3638"/>
              </a:solidFill>
              <a:latin typeface="Figtree" pitchFamily="2" charset="0"/>
              <a:ea typeface="맑은 고딕" panose="020B0503020000020004" pitchFamily="34" charset="-127"/>
              <a:cs typeface="Arial" panose="020B0604020202020204" pitchFamily="34" charset="0"/>
            </a:endParaRPr>
          </a:p>
        </p:txBody>
      </p:sp>
      <p:sp>
        <p:nvSpPr>
          <p:cNvPr id="29" name="TextBox 1180">
            <a:extLst>
              <a:ext uri="{FF2B5EF4-FFF2-40B4-BE49-F238E27FC236}">
                <a16:creationId xmlns:a16="http://schemas.microsoft.com/office/drawing/2014/main" id="{9D030FA3-6CC7-6964-4FE3-F8904D3EB166}"/>
              </a:ext>
            </a:extLst>
          </p:cNvPr>
          <p:cNvSpPr txBox="1"/>
          <p:nvPr/>
        </p:nvSpPr>
        <p:spPr>
          <a:xfrm>
            <a:off x="17033965" y="10191931"/>
            <a:ext cx="726844" cy="246221"/>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fontAlgn="base">
              <a:spcBef>
                <a:spcPct val="0"/>
              </a:spcBef>
              <a:spcAft>
                <a:spcPct val="0"/>
              </a:spcAft>
            </a:pPr>
            <a:r>
              <a:rPr lang="en-US" altLang="ko-KR" sz="1000" b="1">
                <a:solidFill>
                  <a:srgbClr val="0A3638"/>
                </a:solidFill>
                <a:latin typeface="Figtree" pitchFamily="2" charset="0"/>
                <a:ea typeface="맑은 고딕" panose="020B0503020000020004" pitchFamily="34" charset="-127"/>
                <a:cs typeface="Arial" panose="020B0604020202020204" pitchFamily="34" charset="0"/>
              </a:rPr>
              <a:t>2015</a:t>
            </a:r>
            <a:endParaRPr lang="ko-KR" altLang="en-US" sz="1000" b="1">
              <a:solidFill>
                <a:srgbClr val="0A3638"/>
              </a:solidFill>
              <a:latin typeface="Figtree" pitchFamily="2" charset="0"/>
              <a:ea typeface="맑은 고딕" panose="020B0503020000020004" pitchFamily="34" charset="-127"/>
              <a:cs typeface="Arial" panose="020B0604020202020204" pitchFamily="34" charset="0"/>
            </a:endParaRPr>
          </a:p>
        </p:txBody>
      </p:sp>
      <p:sp>
        <p:nvSpPr>
          <p:cNvPr id="30" name="TextBox 1182">
            <a:extLst>
              <a:ext uri="{FF2B5EF4-FFF2-40B4-BE49-F238E27FC236}">
                <a16:creationId xmlns:a16="http://schemas.microsoft.com/office/drawing/2014/main" id="{1FE7E60D-306B-02D3-C03D-27271E8EE11F}"/>
              </a:ext>
            </a:extLst>
          </p:cNvPr>
          <p:cNvSpPr txBox="1"/>
          <p:nvPr/>
        </p:nvSpPr>
        <p:spPr>
          <a:xfrm>
            <a:off x="18396905" y="10182699"/>
            <a:ext cx="726844" cy="246221"/>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fontAlgn="base">
              <a:spcBef>
                <a:spcPct val="0"/>
              </a:spcBef>
              <a:spcAft>
                <a:spcPct val="0"/>
              </a:spcAft>
            </a:pPr>
            <a:r>
              <a:rPr lang="en-US" altLang="ko-KR" sz="1000" b="1">
                <a:solidFill>
                  <a:srgbClr val="0A3638"/>
                </a:solidFill>
                <a:latin typeface="Figtree" pitchFamily="2" charset="0"/>
                <a:ea typeface="맑은 고딕" panose="020B0503020000020004" pitchFamily="34" charset="-127"/>
                <a:cs typeface="Arial" panose="020B0604020202020204" pitchFamily="34" charset="0"/>
              </a:rPr>
              <a:t>2017</a:t>
            </a:r>
            <a:endParaRPr lang="ko-KR" altLang="en-US" sz="1000" b="1">
              <a:solidFill>
                <a:srgbClr val="0A3638"/>
              </a:solidFill>
              <a:latin typeface="Figtree" pitchFamily="2" charset="0"/>
              <a:ea typeface="맑은 고딕" panose="020B0503020000020004" pitchFamily="34" charset="-127"/>
              <a:cs typeface="Arial" panose="020B0604020202020204" pitchFamily="34" charset="0"/>
            </a:endParaRPr>
          </a:p>
        </p:txBody>
      </p:sp>
      <p:sp>
        <p:nvSpPr>
          <p:cNvPr id="31" name="TextBox 1184">
            <a:extLst>
              <a:ext uri="{FF2B5EF4-FFF2-40B4-BE49-F238E27FC236}">
                <a16:creationId xmlns:a16="http://schemas.microsoft.com/office/drawing/2014/main" id="{02A221C3-F5E7-57D9-1936-03DA88EDDBC8}"/>
              </a:ext>
            </a:extLst>
          </p:cNvPr>
          <p:cNvSpPr txBox="1"/>
          <p:nvPr/>
        </p:nvSpPr>
        <p:spPr>
          <a:xfrm>
            <a:off x="19750384" y="10201163"/>
            <a:ext cx="726846" cy="246221"/>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fontAlgn="base">
              <a:spcBef>
                <a:spcPct val="0"/>
              </a:spcBef>
              <a:spcAft>
                <a:spcPct val="0"/>
              </a:spcAft>
            </a:pPr>
            <a:r>
              <a:rPr lang="en-US" altLang="ko-KR" sz="1000" b="1">
                <a:solidFill>
                  <a:srgbClr val="0A3638"/>
                </a:solidFill>
                <a:latin typeface="Figtree" pitchFamily="2" charset="0"/>
                <a:ea typeface="맑은 고딕" panose="020B0503020000020004" pitchFamily="34" charset="-127"/>
                <a:cs typeface="Arial" panose="020B0604020202020204" pitchFamily="34" charset="0"/>
              </a:rPr>
              <a:t>2019</a:t>
            </a:r>
            <a:endParaRPr lang="ko-KR" altLang="en-US" sz="1000" b="1">
              <a:solidFill>
                <a:srgbClr val="0A3638"/>
              </a:solidFill>
              <a:latin typeface="Figtree" pitchFamily="2" charset="0"/>
              <a:ea typeface="맑은 고딕" panose="020B0503020000020004" pitchFamily="34" charset="-127"/>
              <a:cs typeface="Arial" panose="020B0604020202020204" pitchFamily="34" charset="0"/>
            </a:endParaRPr>
          </a:p>
        </p:txBody>
      </p:sp>
      <p:sp>
        <p:nvSpPr>
          <p:cNvPr id="32" name="TextBox 1177">
            <a:extLst>
              <a:ext uri="{FF2B5EF4-FFF2-40B4-BE49-F238E27FC236}">
                <a16:creationId xmlns:a16="http://schemas.microsoft.com/office/drawing/2014/main" id="{D8EF84D3-D0A2-FD9C-0AA3-152BCEDB8125}"/>
              </a:ext>
            </a:extLst>
          </p:cNvPr>
          <p:cNvSpPr txBox="1"/>
          <p:nvPr/>
        </p:nvSpPr>
        <p:spPr>
          <a:xfrm>
            <a:off x="12945143" y="10154999"/>
            <a:ext cx="726844" cy="246221"/>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fontAlgn="base">
              <a:spcBef>
                <a:spcPct val="0"/>
              </a:spcBef>
              <a:spcAft>
                <a:spcPct val="0"/>
              </a:spcAft>
            </a:pPr>
            <a:r>
              <a:rPr lang="en-US" altLang="ko-KR" sz="1000" b="1">
                <a:solidFill>
                  <a:srgbClr val="0A3638"/>
                </a:solidFill>
                <a:latin typeface="Figtree" pitchFamily="2" charset="0"/>
                <a:ea typeface="맑은 고딕" panose="020B0503020000020004" pitchFamily="34" charset="-127"/>
                <a:cs typeface="Arial" panose="020B0604020202020204" pitchFamily="34" charset="0"/>
              </a:rPr>
              <a:t>2008</a:t>
            </a:r>
            <a:endParaRPr lang="ko-KR" altLang="en-US" sz="1000" b="1">
              <a:solidFill>
                <a:srgbClr val="0A3638"/>
              </a:solidFill>
              <a:latin typeface="Figtree" pitchFamily="2" charset="0"/>
              <a:ea typeface="맑은 고딕" panose="020B0503020000020004" pitchFamily="34" charset="-127"/>
              <a:cs typeface="Arial" panose="020B0604020202020204" pitchFamily="34" charset="0"/>
            </a:endParaRPr>
          </a:p>
        </p:txBody>
      </p:sp>
      <p:sp>
        <p:nvSpPr>
          <p:cNvPr id="33" name="TextBox 1179">
            <a:extLst>
              <a:ext uri="{FF2B5EF4-FFF2-40B4-BE49-F238E27FC236}">
                <a16:creationId xmlns:a16="http://schemas.microsoft.com/office/drawing/2014/main" id="{7C07FC82-6BCB-2B9F-81EE-7D628C381B62}"/>
              </a:ext>
            </a:extLst>
          </p:cNvPr>
          <p:cNvSpPr txBox="1"/>
          <p:nvPr/>
        </p:nvSpPr>
        <p:spPr>
          <a:xfrm>
            <a:off x="14308083" y="10164233"/>
            <a:ext cx="726844" cy="246221"/>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fontAlgn="base">
              <a:spcBef>
                <a:spcPct val="0"/>
              </a:spcBef>
              <a:spcAft>
                <a:spcPct val="0"/>
              </a:spcAft>
            </a:pPr>
            <a:r>
              <a:rPr lang="en-US" altLang="ko-KR" sz="1000" b="1">
                <a:solidFill>
                  <a:srgbClr val="0A3638"/>
                </a:solidFill>
                <a:latin typeface="Figtree" pitchFamily="2" charset="0"/>
                <a:ea typeface="맑은 고딕" panose="020B0503020000020004" pitchFamily="34" charset="-127"/>
                <a:cs typeface="Arial" panose="020B0604020202020204" pitchFamily="34" charset="0"/>
              </a:rPr>
              <a:t>2011</a:t>
            </a:r>
            <a:endParaRPr lang="ko-KR" altLang="en-US" sz="1000" b="1">
              <a:solidFill>
                <a:srgbClr val="0A3638"/>
              </a:solidFill>
              <a:latin typeface="Figtree" pitchFamily="2" charset="0"/>
              <a:ea typeface="맑은 고딕" panose="020B0503020000020004" pitchFamily="34" charset="-127"/>
              <a:cs typeface="Arial" panose="020B0604020202020204" pitchFamily="34" charset="0"/>
            </a:endParaRPr>
          </a:p>
        </p:txBody>
      </p:sp>
      <p:sp>
        <p:nvSpPr>
          <p:cNvPr id="34" name="TextBox 1177">
            <a:extLst>
              <a:ext uri="{FF2B5EF4-FFF2-40B4-BE49-F238E27FC236}">
                <a16:creationId xmlns:a16="http://schemas.microsoft.com/office/drawing/2014/main" id="{1FB1F141-985D-5B74-D9B2-377C56F3A351}"/>
              </a:ext>
            </a:extLst>
          </p:cNvPr>
          <p:cNvSpPr txBox="1"/>
          <p:nvPr/>
        </p:nvSpPr>
        <p:spPr>
          <a:xfrm>
            <a:off x="14968918" y="10783879"/>
            <a:ext cx="784582" cy="246221"/>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fontAlgn="base">
              <a:spcBef>
                <a:spcPct val="0"/>
              </a:spcBef>
              <a:spcAft>
                <a:spcPct val="0"/>
              </a:spcAft>
            </a:pPr>
            <a:r>
              <a:rPr lang="en-US" altLang="ko-KR" sz="1000" b="1">
                <a:solidFill>
                  <a:srgbClr val="0A3638"/>
                </a:solidFill>
                <a:latin typeface="Figtree" pitchFamily="2" charset="0"/>
                <a:ea typeface="맑은 고딕" panose="020B0503020000020004" pitchFamily="34" charset="-127"/>
                <a:cs typeface="Arial" panose="020B0604020202020204" pitchFamily="34" charset="0"/>
              </a:rPr>
              <a:t>2012</a:t>
            </a:r>
            <a:endParaRPr lang="ko-KR" altLang="en-US" sz="1000" b="1">
              <a:solidFill>
                <a:srgbClr val="0A3638"/>
              </a:solidFill>
              <a:latin typeface="Figtree" pitchFamily="2" charset="0"/>
              <a:ea typeface="맑은 고딕" panose="020B0503020000020004" pitchFamily="34" charset="-127"/>
              <a:cs typeface="Arial" panose="020B0604020202020204" pitchFamily="34" charset="0"/>
            </a:endParaRPr>
          </a:p>
        </p:txBody>
      </p:sp>
      <p:sp>
        <p:nvSpPr>
          <p:cNvPr id="35" name="TextBox 1179">
            <a:extLst>
              <a:ext uri="{FF2B5EF4-FFF2-40B4-BE49-F238E27FC236}">
                <a16:creationId xmlns:a16="http://schemas.microsoft.com/office/drawing/2014/main" id="{52EB6A2B-41BE-4515-7DDE-22951FF461E0}"/>
              </a:ext>
            </a:extLst>
          </p:cNvPr>
          <p:cNvSpPr txBox="1"/>
          <p:nvPr/>
        </p:nvSpPr>
        <p:spPr>
          <a:xfrm>
            <a:off x="16329248" y="10779295"/>
            <a:ext cx="784582" cy="246221"/>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fontAlgn="base">
              <a:spcBef>
                <a:spcPct val="0"/>
              </a:spcBef>
              <a:spcAft>
                <a:spcPct val="0"/>
              </a:spcAft>
            </a:pPr>
            <a:r>
              <a:rPr lang="en-US" altLang="ko-KR" sz="1000" b="1">
                <a:solidFill>
                  <a:srgbClr val="0A3638"/>
                </a:solidFill>
                <a:latin typeface="Figtree" pitchFamily="2" charset="0"/>
                <a:ea typeface="맑은 고딕" panose="020B0503020000020004" pitchFamily="34" charset="-127"/>
                <a:cs typeface="Arial" panose="020B0604020202020204" pitchFamily="34" charset="0"/>
              </a:rPr>
              <a:t>2014</a:t>
            </a:r>
            <a:endParaRPr lang="ko-KR" altLang="en-US" sz="1000" b="1">
              <a:solidFill>
                <a:srgbClr val="0A3638"/>
              </a:solidFill>
              <a:latin typeface="Figtree" pitchFamily="2" charset="0"/>
              <a:ea typeface="맑은 고딕" panose="020B0503020000020004" pitchFamily="34" charset="-127"/>
              <a:cs typeface="Arial" panose="020B0604020202020204" pitchFamily="34" charset="0"/>
            </a:endParaRPr>
          </a:p>
        </p:txBody>
      </p:sp>
      <p:sp>
        <p:nvSpPr>
          <p:cNvPr id="36" name="TextBox 1181">
            <a:extLst>
              <a:ext uri="{FF2B5EF4-FFF2-40B4-BE49-F238E27FC236}">
                <a16:creationId xmlns:a16="http://schemas.microsoft.com/office/drawing/2014/main" id="{B9B55B0A-B6D7-1178-3521-7012A7C56B8C}"/>
              </a:ext>
            </a:extLst>
          </p:cNvPr>
          <p:cNvSpPr txBox="1"/>
          <p:nvPr/>
        </p:nvSpPr>
        <p:spPr>
          <a:xfrm>
            <a:off x="17689580" y="10775241"/>
            <a:ext cx="784582" cy="246221"/>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fontAlgn="base">
              <a:spcBef>
                <a:spcPct val="0"/>
              </a:spcBef>
              <a:spcAft>
                <a:spcPct val="0"/>
              </a:spcAft>
            </a:pPr>
            <a:r>
              <a:rPr lang="en-US" altLang="ko-KR" sz="1000" b="1">
                <a:solidFill>
                  <a:srgbClr val="0A3638"/>
                </a:solidFill>
                <a:latin typeface="Figtree" pitchFamily="2" charset="0"/>
                <a:ea typeface="맑은 고딕" panose="020B0503020000020004" pitchFamily="34" charset="-127"/>
                <a:cs typeface="Arial" panose="020B0604020202020204" pitchFamily="34" charset="0"/>
              </a:rPr>
              <a:t>2016</a:t>
            </a:r>
            <a:endParaRPr lang="ko-KR" altLang="en-US" sz="1000" b="1">
              <a:solidFill>
                <a:srgbClr val="0A3638"/>
              </a:solidFill>
              <a:latin typeface="Figtree" pitchFamily="2" charset="0"/>
              <a:ea typeface="맑은 고딕" panose="020B0503020000020004" pitchFamily="34" charset="-127"/>
              <a:cs typeface="Arial" panose="020B0604020202020204" pitchFamily="34" charset="0"/>
            </a:endParaRPr>
          </a:p>
        </p:txBody>
      </p:sp>
      <p:sp>
        <p:nvSpPr>
          <p:cNvPr id="37" name="TextBox 1183">
            <a:extLst>
              <a:ext uri="{FF2B5EF4-FFF2-40B4-BE49-F238E27FC236}">
                <a16:creationId xmlns:a16="http://schemas.microsoft.com/office/drawing/2014/main" id="{32B2B77F-3825-634E-962C-CD000A148535}"/>
              </a:ext>
            </a:extLst>
          </p:cNvPr>
          <p:cNvSpPr txBox="1"/>
          <p:nvPr/>
        </p:nvSpPr>
        <p:spPr>
          <a:xfrm>
            <a:off x="19068842" y="10763023"/>
            <a:ext cx="784582" cy="246221"/>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fontAlgn="base">
              <a:spcBef>
                <a:spcPct val="0"/>
              </a:spcBef>
              <a:spcAft>
                <a:spcPct val="0"/>
              </a:spcAft>
            </a:pPr>
            <a:r>
              <a:rPr lang="en-US" altLang="ko-KR" sz="1000" b="1">
                <a:solidFill>
                  <a:srgbClr val="0A3638"/>
                </a:solidFill>
                <a:latin typeface="Figtree" pitchFamily="2" charset="0"/>
                <a:ea typeface="맑은 고딕" panose="020B0503020000020004" pitchFamily="34" charset="-127"/>
                <a:cs typeface="Arial" panose="020B0604020202020204" pitchFamily="34" charset="0"/>
              </a:rPr>
              <a:t>2018</a:t>
            </a:r>
            <a:endParaRPr lang="ko-KR" altLang="en-US" sz="1000" b="1">
              <a:solidFill>
                <a:srgbClr val="0A3638"/>
              </a:solidFill>
              <a:latin typeface="Figtree" pitchFamily="2" charset="0"/>
              <a:ea typeface="맑은 고딕" panose="020B0503020000020004" pitchFamily="34" charset="-127"/>
              <a:cs typeface="Arial" panose="020B0604020202020204" pitchFamily="34" charset="0"/>
            </a:endParaRPr>
          </a:p>
        </p:txBody>
      </p:sp>
      <p:sp>
        <p:nvSpPr>
          <p:cNvPr id="38" name="TextBox 1178">
            <a:extLst>
              <a:ext uri="{FF2B5EF4-FFF2-40B4-BE49-F238E27FC236}">
                <a16:creationId xmlns:a16="http://schemas.microsoft.com/office/drawing/2014/main" id="{3C3C0FAD-199C-EB70-09DC-B3A6B315BC5A}"/>
              </a:ext>
            </a:extLst>
          </p:cNvPr>
          <p:cNvSpPr txBox="1"/>
          <p:nvPr/>
        </p:nvSpPr>
        <p:spPr>
          <a:xfrm>
            <a:off x="13655909" y="10777753"/>
            <a:ext cx="671008" cy="246221"/>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fontAlgn="base">
              <a:spcBef>
                <a:spcPct val="0"/>
              </a:spcBef>
              <a:spcAft>
                <a:spcPct val="0"/>
              </a:spcAft>
            </a:pPr>
            <a:r>
              <a:rPr lang="en-US" altLang="ko-KR" sz="1000" b="1">
                <a:solidFill>
                  <a:srgbClr val="0A3638"/>
                </a:solidFill>
                <a:latin typeface="Figtree" pitchFamily="2" charset="0"/>
                <a:ea typeface="맑은 고딕" panose="020B0503020000020004" pitchFamily="34" charset="-127"/>
                <a:cs typeface="Arial" panose="020B0604020202020204" pitchFamily="34" charset="0"/>
              </a:rPr>
              <a:t>2010</a:t>
            </a:r>
            <a:endParaRPr lang="ko-KR" altLang="en-US" sz="1000" b="1">
              <a:solidFill>
                <a:srgbClr val="0A3638"/>
              </a:solidFill>
              <a:latin typeface="Figtree" pitchFamily="2" charset="0"/>
              <a:ea typeface="맑은 고딕" panose="020B0503020000020004" pitchFamily="34" charset="-127"/>
              <a:cs typeface="Arial" panose="020B0604020202020204" pitchFamily="34" charset="0"/>
            </a:endParaRPr>
          </a:p>
        </p:txBody>
      </p:sp>
      <p:sp>
        <p:nvSpPr>
          <p:cNvPr id="39" name="TextBox 1182">
            <a:extLst>
              <a:ext uri="{FF2B5EF4-FFF2-40B4-BE49-F238E27FC236}">
                <a16:creationId xmlns:a16="http://schemas.microsoft.com/office/drawing/2014/main" id="{BD1B6F0E-B320-BC44-DA81-98383D3E1E2A}"/>
              </a:ext>
            </a:extLst>
          </p:cNvPr>
          <p:cNvSpPr txBox="1"/>
          <p:nvPr/>
        </p:nvSpPr>
        <p:spPr>
          <a:xfrm>
            <a:off x="20457567" y="10758811"/>
            <a:ext cx="726844" cy="246221"/>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fontAlgn="base">
              <a:spcBef>
                <a:spcPct val="0"/>
              </a:spcBef>
              <a:spcAft>
                <a:spcPct val="0"/>
              </a:spcAft>
            </a:pPr>
            <a:r>
              <a:rPr lang="en-US" altLang="ko-KR" sz="1000" b="1">
                <a:solidFill>
                  <a:srgbClr val="0A3638"/>
                </a:solidFill>
                <a:latin typeface="Figtree" pitchFamily="2" charset="0"/>
                <a:ea typeface="맑은 고딕" panose="020B0503020000020004" pitchFamily="34" charset="-127"/>
                <a:cs typeface="Arial" panose="020B0604020202020204" pitchFamily="34" charset="0"/>
              </a:rPr>
              <a:t>2020</a:t>
            </a:r>
            <a:endParaRPr lang="ko-KR" altLang="en-US" sz="1000" b="1">
              <a:solidFill>
                <a:srgbClr val="0A3638"/>
              </a:solidFill>
              <a:latin typeface="Figtree" pitchFamily="2" charset="0"/>
              <a:ea typeface="맑은 고딕" panose="020B0503020000020004" pitchFamily="34" charset="-127"/>
              <a:cs typeface="Arial" panose="020B0604020202020204" pitchFamily="34" charset="0"/>
            </a:endParaRPr>
          </a:p>
        </p:txBody>
      </p:sp>
      <p:sp>
        <p:nvSpPr>
          <p:cNvPr id="40" name="TextBox 1184">
            <a:extLst>
              <a:ext uri="{FF2B5EF4-FFF2-40B4-BE49-F238E27FC236}">
                <a16:creationId xmlns:a16="http://schemas.microsoft.com/office/drawing/2014/main" id="{E3CB27E8-615F-3E3E-BE0A-1AE0A2A2C202}"/>
              </a:ext>
            </a:extLst>
          </p:cNvPr>
          <p:cNvSpPr txBox="1"/>
          <p:nvPr/>
        </p:nvSpPr>
        <p:spPr>
          <a:xfrm>
            <a:off x="21122792" y="10210395"/>
            <a:ext cx="726846" cy="246221"/>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fontAlgn="base">
              <a:spcBef>
                <a:spcPct val="0"/>
              </a:spcBef>
              <a:spcAft>
                <a:spcPct val="0"/>
              </a:spcAft>
            </a:pPr>
            <a:r>
              <a:rPr lang="en-US" altLang="ko-KR" sz="1000" b="1">
                <a:solidFill>
                  <a:srgbClr val="0A3638"/>
                </a:solidFill>
                <a:latin typeface="Figtree" pitchFamily="2" charset="0"/>
                <a:ea typeface="맑은 고딕" panose="020B0503020000020004" pitchFamily="34" charset="-127"/>
                <a:cs typeface="Arial" panose="020B0604020202020204" pitchFamily="34" charset="0"/>
              </a:rPr>
              <a:t>2021</a:t>
            </a:r>
            <a:endParaRPr lang="ko-KR" altLang="en-US" sz="1000" b="1">
              <a:solidFill>
                <a:srgbClr val="0A3638"/>
              </a:solidFill>
              <a:latin typeface="Figtree" pitchFamily="2" charset="0"/>
              <a:ea typeface="맑은 고딕" panose="020B0503020000020004" pitchFamily="34" charset="-127"/>
              <a:cs typeface="Arial" panose="020B0604020202020204" pitchFamily="34" charset="0"/>
            </a:endParaRPr>
          </a:p>
        </p:txBody>
      </p:sp>
      <p:sp>
        <p:nvSpPr>
          <p:cNvPr id="41" name="Oval 40">
            <a:extLst>
              <a:ext uri="{FF2B5EF4-FFF2-40B4-BE49-F238E27FC236}">
                <a16:creationId xmlns:a16="http://schemas.microsoft.com/office/drawing/2014/main" id="{67CF5905-CCC6-09E8-2734-4D3FDD6F9290}"/>
              </a:ext>
            </a:extLst>
          </p:cNvPr>
          <p:cNvSpPr/>
          <p:nvPr/>
        </p:nvSpPr>
        <p:spPr>
          <a:xfrm>
            <a:off x="13808453" y="10419654"/>
            <a:ext cx="364212" cy="364212"/>
          </a:xfrm>
          <a:prstGeom prst="ellipse">
            <a:avLst/>
          </a:prstGeom>
          <a:solidFill>
            <a:srgbClr val="00C159"/>
          </a:solidFill>
          <a:ln w="12700" cap="flat" cmpd="sng" algn="ctr">
            <a:solidFill>
              <a:srgbClr val="FFFFFF"/>
            </a:solidFill>
            <a:prstDash val="solid"/>
          </a:ln>
          <a:effectLst>
            <a:glow rad="76200">
              <a:sysClr val="window" lastClr="FFFFFF">
                <a:alpha val="13000"/>
              </a:sysClr>
            </a:glow>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endParaRPr>
          </a:p>
        </p:txBody>
      </p:sp>
      <p:sp>
        <p:nvSpPr>
          <p:cNvPr id="42" name="Oval 41">
            <a:extLst>
              <a:ext uri="{FF2B5EF4-FFF2-40B4-BE49-F238E27FC236}">
                <a16:creationId xmlns:a16="http://schemas.microsoft.com/office/drawing/2014/main" id="{37301D94-37C5-47EC-0DBD-90ED9D62A5A6}"/>
              </a:ext>
            </a:extLst>
          </p:cNvPr>
          <p:cNvSpPr/>
          <p:nvPr/>
        </p:nvSpPr>
        <p:spPr>
          <a:xfrm>
            <a:off x="13876743" y="10487501"/>
            <a:ext cx="227632" cy="228522"/>
          </a:xfrm>
          <a:prstGeom prst="ellipse">
            <a:avLst/>
          </a:prstGeom>
          <a:solidFill>
            <a:srgbClr val="00C159"/>
          </a:solidFill>
          <a:ln w="25400" cap="flat" cmpd="sng" algn="ctr">
            <a:solidFill>
              <a:srgbClr val="FFFFFF"/>
            </a:solidFill>
            <a:prstDash val="solid"/>
          </a:ln>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rPr>
              <a:t>		</a:t>
            </a:r>
          </a:p>
        </p:txBody>
      </p:sp>
      <p:sp>
        <p:nvSpPr>
          <p:cNvPr id="43" name="Oval 42">
            <a:extLst>
              <a:ext uri="{FF2B5EF4-FFF2-40B4-BE49-F238E27FC236}">
                <a16:creationId xmlns:a16="http://schemas.microsoft.com/office/drawing/2014/main" id="{3B11BD2F-8D63-507F-FC23-7CA7779C5AB3}"/>
              </a:ext>
            </a:extLst>
          </p:cNvPr>
          <p:cNvSpPr/>
          <p:nvPr/>
        </p:nvSpPr>
        <p:spPr>
          <a:xfrm>
            <a:off x="14490283" y="10419654"/>
            <a:ext cx="364212" cy="364212"/>
          </a:xfrm>
          <a:prstGeom prst="ellipse">
            <a:avLst/>
          </a:prstGeom>
          <a:solidFill>
            <a:srgbClr val="00C159"/>
          </a:solidFill>
          <a:ln w="12700" cap="flat" cmpd="sng" algn="ctr">
            <a:solidFill>
              <a:srgbClr val="FFFFFF"/>
            </a:solidFill>
            <a:prstDash val="solid"/>
          </a:ln>
          <a:effectLst>
            <a:glow rad="76200">
              <a:sysClr val="window" lastClr="FFFFFF">
                <a:alpha val="13000"/>
              </a:sysClr>
            </a:glow>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endParaRPr>
          </a:p>
        </p:txBody>
      </p:sp>
      <p:sp>
        <p:nvSpPr>
          <p:cNvPr id="44" name="Oval 43">
            <a:extLst>
              <a:ext uri="{FF2B5EF4-FFF2-40B4-BE49-F238E27FC236}">
                <a16:creationId xmlns:a16="http://schemas.microsoft.com/office/drawing/2014/main" id="{789D0196-8549-A98A-C193-A6C82785FD89}"/>
              </a:ext>
            </a:extLst>
          </p:cNvPr>
          <p:cNvSpPr/>
          <p:nvPr/>
        </p:nvSpPr>
        <p:spPr>
          <a:xfrm>
            <a:off x="14558573" y="10487501"/>
            <a:ext cx="227632" cy="228522"/>
          </a:xfrm>
          <a:prstGeom prst="ellipse">
            <a:avLst/>
          </a:prstGeom>
          <a:solidFill>
            <a:srgbClr val="00C159"/>
          </a:solidFill>
          <a:ln w="25400" cap="flat" cmpd="sng" algn="ctr">
            <a:solidFill>
              <a:srgbClr val="FFFFFF"/>
            </a:solidFill>
            <a:prstDash val="solid"/>
          </a:ln>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rPr>
              <a:t>		</a:t>
            </a:r>
          </a:p>
        </p:txBody>
      </p:sp>
      <p:sp>
        <p:nvSpPr>
          <p:cNvPr id="45" name="Oval 44">
            <a:extLst>
              <a:ext uri="{FF2B5EF4-FFF2-40B4-BE49-F238E27FC236}">
                <a16:creationId xmlns:a16="http://schemas.microsoft.com/office/drawing/2014/main" id="{4DF18A9A-1F1F-A9E4-9071-3E64516A5687}"/>
              </a:ext>
            </a:extLst>
          </p:cNvPr>
          <p:cNvSpPr/>
          <p:nvPr/>
        </p:nvSpPr>
        <p:spPr>
          <a:xfrm>
            <a:off x="15172113" y="10419654"/>
            <a:ext cx="364212" cy="364212"/>
          </a:xfrm>
          <a:prstGeom prst="ellipse">
            <a:avLst/>
          </a:prstGeom>
          <a:solidFill>
            <a:srgbClr val="00C159"/>
          </a:solidFill>
          <a:ln w="12700" cap="flat" cmpd="sng" algn="ctr">
            <a:solidFill>
              <a:srgbClr val="FFFFFF"/>
            </a:solidFill>
            <a:prstDash val="solid"/>
          </a:ln>
          <a:effectLst>
            <a:glow rad="76200">
              <a:sysClr val="window" lastClr="FFFFFF">
                <a:alpha val="13000"/>
              </a:sysClr>
            </a:glow>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endParaRPr>
          </a:p>
        </p:txBody>
      </p:sp>
      <p:sp>
        <p:nvSpPr>
          <p:cNvPr id="46" name="Oval 45">
            <a:extLst>
              <a:ext uri="{FF2B5EF4-FFF2-40B4-BE49-F238E27FC236}">
                <a16:creationId xmlns:a16="http://schemas.microsoft.com/office/drawing/2014/main" id="{0FF70D6F-EFFD-9CAF-C696-1DE3408EDFD2}"/>
              </a:ext>
            </a:extLst>
          </p:cNvPr>
          <p:cNvSpPr/>
          <p:nvPr/>
        </p:nvSpPr>
        <p:spPr>
          <a:xfrm>
            <a:off x="15240403" y="10487501"/>
            <a:ext cx="227632" cy="228522"/>
          </a:xfrm>
          <a:prstGeom prst="ellipse">
            <a:avLst/>
          </a:prstGeom>
          <a:solidFill>
            <a:srgbClr val="00C159"/>
          </a:solidFill>
          <a:ln w="25400" cap="flat" cmpd="sng" algn="ctr">
            <a:solidFill>
              <a:srgbClr val="FFFFFF"/>
            </a:solidFill>
            <a:prstDash val="solid"/>
          </a:ln>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rPr>
              <a:t>		</a:t>
            </a:r>
          </a:p>
        </p:txBody>
      </p:sp>
      <p:sp>
        <p:nvSpPr>
          <p:cNvPr id="47" name="Oval 46">
            <a:extLst>
              <a:ext uri="{FF2B5EF4-FFF2-40B4-BE49-F238E27FC236}">
                <a16:creationId xmlns:a16="http://schemas.microsoft.com/office/drawing/2014/main" id="{5498D275-F93A-64F6-AE0E-7EBB25359278}"/>
              </a:ext>
            </a:extLst>
          </p:cNvPr>
          <p:cNvSpPr/>
          <p:nvPr/>
        </p:nvSpPr>
        <p:spPr>
          <a:xfrm>
            <a:off x="15853945" y="10419654"/>
            <a:ext cx="364212" cy="364212"/>
          </a:xfrm>
          <a:prstGeom prst="ellipse">
            <a:avLst/>
          </a:prstGeom>
          <a:solidFill>
            <a:srgbClr val="00C159"/>
          </a:solidFill>
          <a:ln w="12700" cap="flat" cmpd="sng" algn="ctr">
            <a:solidFill>
              <a:srgbClr val="FFFFFF"/>
            </a:solidFill>
            <a:prstDash val="solid"/>
          </a:ln>
          <a:effectLst>
            <a:glow rad="76200">
              <a:sysClr val="window" lastClr="FFFFFF">
                <a:alpha val="13000"/>
              </a:sysClr>
            </a:glow>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endParaRPr>
          </a:p>
        </p:txBody>
      </p:sp>
      <p:sp>
        <p:nvSpPr>
          <p:cNvPr id="48" name="Oval 47">
            <a:extLst>
              <a:ext uri="{FF2B5EF4-FFF2-40B4-BE49-F238E27FC236}">
                <a16:creationId xmlns:a16="http://schemas.microsoft.com/office/drawing/2014/main" id="{C7020758-5D2E-A06D-8DF6-CEFB8FC8A24D}"/>
              </a:ext>
            </a:extLst>
          </p:cNvPr>
          <p:cNvSpPr/>
          <p:nvPr/>
        </p:nvSpPr>
        <p:spPr>
          <a:xfrm>
            <a:off x="15922235" y="10487501"/>
            <a:ext cx="227632" cy="228522"/>
          </a:xfrm>
          <a:prstGeom prst="ellipse">
            <a:avLst/>
          </a:prstGeom>
          <a:solidFill>
            <a:srgbClr val="00C159"/>
          </a:solidFill>
          <a:ln w="25400" cap="flat" cmpd="sng" algn="ctr">
            <a:solidFill>
              <a:srgbClr val="FFFFFF"/>
            </a:solidFill>
            <a:prstDash val="solid"/>
          </a:ln>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rPr>
              <a:t>		</a:t>
            </a:r>
          </a:p>
        </p:txBody>
      </p:sp>
      <p:sp>
        <p:nvSpPr>
          <p:cNvPr id="49" name="Oval 48">
            <a:extLst>
              <a:ext uri="{FF2B5EF4-FFF2-40B4-BE49-F238E27FC236}">
                <a16:creationId xmlns:a16="http://schemas.microsoft.com/office/drawing/2014/main" id="{4531888E-686B-4D34-079B-E9B6F60B71AE}"/>
              </a:ext>
            </a:extLst>
          </p:cNvPr>
          <p:cNvSpPr/>
          <p:nvPr/>
        </p:nvSpPr>
        <p:spPr>
          <a:xfrm>
            <a:off x="16535775" y="10419654"/>
            <a:ext cx="364212" cy="364212"/>
          </a:xfrm>
          <a:prstGeom prst="ellipse">
            <a:avLst/>
          </a:prstGeom>
          <a:solidFill>
            <a:srgbClr val="00C159"/>
          </a:solidFill>
          <a:ln w="12700" cap="flat" cmpd="sng" algn="ctr">
            <a:solidFill>
              <a:srgbClr val="FFFFFF"/>
            </a:solidFill>
            <a:prstDash val="solid"/>
          </a:ln>
          <a:effectLst>
            <a:glow rad="76200">
              <a:sysClr val="window" lastClr="FFFFFF">
                <a:alpha val="13000"/>
              </a:sysClr>
            </a:glow>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endParaRPr>
          </a:p>
        </p:txBody>
      </p:sp>
      <p:sp>
        <p:nvSpPr>
          <p:cNvPr id="50" name="Oval 49">
            <a:extLst>
              <a:ext uri="{FF2B5EF4-FFF2-40B4-BE49-F238E27FC236}">
                <a16:creationId xmlns:a16="http://schemas.microsoft.com/office/drawing/2014/main" id="{055D1460-C0D6-66C1-5142-EBB98F5661FC}"/>
              </a:ext>
            </a:extLst>
          </p:cNvPr>
          <p:cNvSpPr/>
          <p:nvPr/>
        </p:nvSpPr>
        <p:spPr>
          <a:xfrm>
            <a:off x="16604065" y="10487501"/>
            <a:ext cx="227632" cy="228522"/>
          </a:xfrm>
          <a:prstGeom prst="ellipse">
            <a:avLst/>
          </a:prstGeom>
          <a:solidFill>
            <a:srgbClr val="00C159"/>
          </a:solidFill>
          <a:ln w="25400" cap="flat" cmpd="sng" algn="ctr">
            <a:solidFill>
              <a:srgbClr val="FFFFFF"/>
            </a:solidFill>
            <a:prstDash val="solid"/>
          </a:ln>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rPr>
              <a:t>		</a:t>
            </a:r>
          </a:p>
        </p:txBody>
      </p:sp>
      <p:sp>
        <p:nvSpPr>
          <p:cNvPr id="51" name="Oval 50">
            <a:extLst>
              <a:ext uri="{FF2B5EF4-FFF2-40B4-BE49-F238E27FC236}">
                <a16:creationId xmlns:a16="http://schemas.microsoft.com/office/drawing/2014/main" id="{0159E546-FF2A-F3D9-5B87-77F6620EA0AF}"/>
              </a:ext>
            </a:extLst>
          </p:cNvPr>
          <p:cNvSpPr/>
          <p:nvPr/>
        </p:nvSpPr>
        <p:spPr>
          <a:xfrm>
            <a:off x="17217605" y="10419654"/>
            <a:ext cx="364212" cy="364212"/>
          </a:xfrm>
          <a:prstGeom prst="ellipse">
            <a:avLst/>
          </a:prstGeom>
          <a:solidFill>
            <a:srgbClr val="00C159"/>
          </a:solidFill>
          <a:ln w="12700" cap="flat" cmpd="sng" algn="ctr">
            <a:solidFill>
              <a:srgbClr val="FFFFFF"/>
            </a:solidFill>
            <a:prstDash val="solid"/>
          </a:ln>
          <a:effectLst>
            <a:glow rad="76200">
              <a:sysClr val="window" lastClr="FFFFFF">
                <a:alpha val="13000"/>
              </a:sysClr>
            </a:glow>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endParaRPr>
          </a:p>
        </p:txBody>
      </p:sp>
      <p:sp>
        <p:nvSpPr>
          <p:cNvPr id="52" name="Oval 51">
            <a:extLst>
              <a:ext uri="{FF2B5EF4-FFF2-40B4-BE49-F238E27FC236}">
                <a16:creationId xmlns:a16="http://schemas.microsoft.com/office/drawing/2014/main" id="{33469A72-C404-43EB-3DBC-CC5BEF63223C}"/>
              </a:ext>
            </a:extLst>
          </p:cNvPr>
          <p:cNvSpPr/>
          <p:nvPr/>
        </p:nvSpPr>
        <p:spPr>
          <a:xfrm>
            <a:off x="17285895" y="10487501"/>
            <a:ext cx="227632" cy="228522"/>
          </a:xfrm>
          <a:prstGeom prst="ellipse">
            <a:avLst/>
          </a:prstGeom>
          <a:solidFill>
            <a:srgbClr val="00C159"/>
          </a:solidFill>
          <a:ln w="25400" cap="flat" cmpd="sng" algn="ctr">
            <a:solidFill>
              <a:srgbClr val="FFFFFF"/>
            </a:solidFill>
            <a:prstDash val="solid"/>
          </a:ln>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rPr>
              <a:t>		</a:t>
            </a:r>
          </a:p>
        </p:txBody>
      </p:sp>
      <p:sp>
        <p:nvSpPr>
          <p:cNvPr id="53" name="Oval 52">
            <a:extLst>
              <a:ext uri="{FF2B5EF4-FFF2-40B4-BE49-F238E27FC236}">
                <a16:creationId xmlns:a16="http://schemas.microsoft.com/office/drawing/2014/main" id="{8281F9C4-A150-9EF2-D315-2D9D8D8B9244}"/>
              </a:ext>
            </a:extLst>
          </p:cNvPr>
          <p:cNvSpPr/>
          <p:nvPr/>
        </p:nvSpPr>
        <p:spPr>
          <a:xfrm>
            <a:off x="17899435" y="10419654"/>
            <a:ext cx="364212" cy="364212"/>
          </a:xfrm>
          <a:prstGeom prst="ellipse">
            <a:avLst/>
          </a:prstGeom>
          <a:solidFill>
            <a:srgbClr val="00C159"/>
          </a:solidFill>
          <a:ln w="12700" cap="flat" cmpd="sng" algn="ctr">
            <a:solidFill>
              <a:srgbClr val="FFFFFF"/>
            </a:solidFill>
            <a:prstDash val="solid"/>
          </a:ln>
          <a:effectLst>
            <a:glow rad="76200">
              <a:sysClr val="window" lastClr="FFFFFF">
                <a:alpha val="13000"/>
              </a:sysClr>
            </a:glow>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endParaRPr>
          </a:p>
        </p:txBody>
      </p:sp>
      <p:sp>
        <p:nvSpPr>
          <p:cNvPr id="54" name="Oval 53">
            <a:extLst>
              <a:ext uri="{FF2B5EF4-FFF2-40B4-BE49-F238E27FC236}">
                <a16:creationId xmlns:a16="http://schemas.microsoft.com/office/drawing/2014/main" id="{2E87FC8B-FDB7-47B2-975E-10BB37FCDF95}"/>
              </a:ext>
            </a:extLst>
          </p:cNvPr>
          <p:cNvSpPr/>
          <p:nvPr/>
        </p:nvSpPr>
        <p:spPr>
          <a:xfrm>
            <a:off x="17967725" y="10487501"/>
            <a:ext cx="227632" cy="228522"/>
          </a:xfrm>
          <a:prstGeom prst="ellipse">
            <a:avLst/>
          </a:prstGeom>
          <a:solidFill>
            <a:srgbClr val="00C159"/>
          </a:solidFill>
          <a:ln w="25400" cap="flat" cmpd="sng" algn="ctr">
            <a:solidFill>
              <a:srgbClr val="FFFFFF"/>
            </a:solidFill>
            <a:prstDash val="solid"/>
          </a:ln>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rPr>
              <a:t>		</a:t>
            </a:r>
          </a:p>
        </p:txBody>
      </p:sp>
      <p:sp>
        <p:nvSpPr>
          <p:cNvPr id="55" name="Oval 54">
            <a:extLst>
              <a:ext uri="{FF2B5EF4-FFF2-40B4-BE49-F238E27FC236}">
                <a16:creationId xmlns:a16="http://schemas.microsoft.com/office/drawing/2014/main" id="{77DE3220-3C95-FD7E-1405-072594FEF0E0}"/>
              </a:ext>
            </a:extLst>
          </p:cNvPr>
          <p:cNvSpPr/>
          <p:nvPr/>
        </p:nvSpPr>
        <p:spPr>
          <a:xfrm>
            <a:off x="18581267" y="10419654"/>
            <a:ext cx="364212" cy="364212"/>
          </a:xfrm>
          <a:prstGeom prst="ellipse">
            <a:avLst/>
          </a:prstGeom>
          <a:solidFill>
            <a:srgbClr val="00C159"/>
          </a:solidFill>
          <a:ln w="12700" cap="flat" cmpd="sng" algn="ctr">
            <a:solidFill>
              <a:srgbClr val="FFFFFF"/>
            </a:solidFill>
            <a:prstDash val="solid"/>
          </a:ln>
          <a:effectLst>
            <a:glow rad="76200">
              <a:sysClr val="window" lastClr="FFFFFF">
                <a:alpha val="13000"/>
              </a:sysClr>
            </a:glow>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endParaRPr>
          </a:p>
        </p:txBody>
      </p:sp>
      <p:sp>
        <p:nvSpPr>
          <p:cNvPr id="56" name="Oval 55">
            <a:extLst>
              <a:ext uri="{FF2B5EF4-FFF2-40B4-BE49-F238E27FC236}">
                <a16:creationId xmlns:a16="http://schemas.microsoft.com/office/drawing/2014/main" id="{4E67091F-DEE4-F613-62CC-2886C76A9539}"/>
              </a:ext>
            </a:extLst>
          </p:cNvPr>
          <p:cNvSpPr/>
          <p:nvPr/>
        </p:nvSpPr>
        <p:spPr>
          <a:xfrm>
            <a:off x="18649557" y="10487501"/>
            <a:ext cx="227632" cy="228522"/>
          </a:xfrm>
          <a:prstGeom prst="ellipse">
            <a:avLst/>
          </a:prstGeom>
          <a:solidFill>
            <a:srgbClr val="00C159"/>
          </a:solidFill>
          <a:ln w="25400" cap="flat" cmpd="sng" algn="ctr">
            <a:solidFill>
              <a:srgbClr val="FFFFFF"/>
            </a:solidFill>
            <a:prstDash val="solid"/>
          </a:ln>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rPr>
              <a:t>		</a:t>
            </a:r>
          </a:p>
        </p:txBody>
      </p:sp>
      <p:sp>
        <p:nvSpPr>
          <p:cNvPr id="57" name="Oval 56">
            <a:extLst>
              <a:ext uri="{FF2B5EF4-FFF2-40B4-BE49-F238E27FC236}">
                <a16:creationId xmlns:a16="http://schemas.microsoft.com/office/drawing/2014/main" id="{9E932A5F-5F39-BE3E-7CBB-8E844B259D92}"/>
              </a:ext>
            </a:extLst>
          </p:cNvPr>
          <p:cNvSpPr/>
          <p:nvPr/>
        </p:nvSpPr>
        <p:spPr>
          <a:xfrm>
            <a:off x="19263097" y="10419654"/>
            <a:ext cx="364212" cy="364212"/>
          </a:xfrm>
          <a:prstGeom prst="ellipse">
            <a:avLst/>
          </a:prstGeom>
          <a:solidFill>
            <a:srgbClr val="00C159"/>
          </a:solidFill>
          <a:ln w="12700" cap="flat" cmpd="sng" algn="ctr">
            <a:solidFill>
              <a:srgbClr val="FFFFFF"/>
            </a:solidFill>
            <a:prstDash val="solid"/>
          </a:ln>
          <a:effectLst>
            <a:glow rad="76200">
              <a:sysClr val="window" lastClr="FFFFFF">
                <a:alpha val="13000"/>
              </a:sysClr>
            </a:glow>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endParaRPr>
          </a:p>
        </p:txBody>
      </p:sp>
      <p:sp>
        <p:nvSpPr>
          <p:cNvPr id="58" name="Oval 57">
            <a:extLst>
              <a:ext uri="{FF2B5EF4-FFF2-40B4-BE49-F238E27FC236}">
                <a16:creationId xmlns:a16="http://schemas.microsoft.com/office/drawing/2014/main" id="{5C555A77-D75E-F1D3-6844-AD80B9E1A71D}"/>
              </a:ext>
            </a:extLst>
          </p:cNvPr>
          <p:cNvSpPr/>
          <p:nvPr/>
        </p:nvSpPr>
        <p:spPr>
          <a:xfrm>
            <a:off x="19331387" y="10487501"/>
            <a:ext cx="227632" cy="228522"/>
          </a:xfrm>
          <a:prstGeom prst="ellipse">
            <a:avLst/>
          </a:prstGeom>
          <a:solidFill>
            <a:srgbClr val="00C159"/>
          </a:solidFill>
          <a:ln w="25400" cap="flat" cmpd="sng" algn="ctr">
            <a:solidFill>
              <a:srgbClr val="FFFFFF"/>
            </a:solidFill>
            <a:prstDash val="solid"/>
          </a:ln>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rPr>
              <a:t>		</a:t>
            </a:r>
          </a:p>
        </p:txBody>
      </p:sp>
      <p:sp>
        <p:nvSpPr>
          <p:cNvPr id="59" name="Oval 58">
            <a:extLst>
              <a:ext uri="{FF2B5EF4-FFF2-40B4-BE49-F238E27FC236}">
                <a16:creationId xmlns:a16="http://schemas.microsoft.com/office/drawing/2014/main" id="{2618C64E-A634-B1AA-C957-F3AF6C614429}"/>
              </a:ext>
            </a:extLst>
          </p:cNvPr>
          <p:cNvSpPr/>
          <p:nvPr/>
        </p:nvSpPr>
        <p:spPr>
          <a:xfrm>
            <a:off x="19944927" y="10419654"/>
            <a:ext cx="364212" cy="364212"/>
          </a:xfrm>
          <a:prstGeom prst="ellipse">
            <a:avLst/>
          </a:prstGeom>
          <a:solidFill>
            <a:srgbClr val="00C159"/>
          </a:solidFill>
          <a:ln w="12700" cap="flat" cmpd="sng" algn="ctr">
            <a:solidFill>
              <a:srgbClr val="FFFFFF"/>
            </a:solidFill>
            <a:prstDash val="solid"/>
          </a:ln>
          <a:effectLst>
            <a:glow rad="76200">
              <a:sysClr val="window" lastClr="FFFFFF">
                <a:alpha val="13000"/>
              </a:sysClr>
            </a:glow>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endParaRPr>
          </a:p>
        </p:txBody>
      </p:sp>
      <p:sp>
        <p:nvSpPr>
          <p:cNvPr id="60" name="Oval 59">
            <a:extLst>
              <a:ext uri="{FF2B5EF4-FFF2-40B4-BE49-F238E27FC236}">
                <a16:creationId xmlns:a16="http://schemas.microsoft.com/office/drawing/2014/main" id="{22F2DE2B-8137-CFEF-C56D-BD4DB73CA73C}"/>
              </a:ext>
            </a:extLst>
          </p:cNvPr>
          <p:cNvSpPr/>
          <p:nvPr/>
        </p:nvSpPr>
        <p:spPr>
          <a:xfrm>
            <a:off x="20013217" y="10487501"/>
            <a:ext cx="227632" cy="228522"/>
          </a:xfrm>
          <a:prstGeom prst="ellipse">
            <a:avLst/>
          </a:prstGeom>
          <a:solidFill>
            <a:srgbClr val="00C159"/>
          </a:solidFill>
          <a:ln w="25400" cap="flat" cmpd="sng" algn="ctr">
            <a:solidFill>
              <a:srgbClr val="FFFFFF"/>
            </a:solidFill>
            <a:prstDash val="solid"/>
          </a:ln>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rPr>
              <a:t>		</a:t>
            </a:r>
          </a:p>
        </p:txBody>
      </p:sp>
      <p:sp>
        <p:nvSpPr>
          <p:cNvPr id="61" name="Oval 60">
            <a:extLst>
              <a:ext uri="{FF2B5EF4-FFF2-40B4-BE49-F238E27FC236}">
                <a16:creationId xmlns:a16="http://schemas.microsoft.com/office/drawing/2014/main" id="{86794C49-AAE5-38A9-0651-DC804E04139C}"/>
              </a:ext>
            </a:extLst>
          </p:cNvPr>
          <p:cNvSpPr/>
          <p:nvPr/>
        </p:nvSpPr>
        <p:spPr>
          <a:xfrm>
            <a:off x="20626757" y="10419654"/>
            <a:ext cx="364212" cy="364212"/>
          </a:xfrm>
          <a:prstGeom prst="ellipse">
            <a:avLst/>
          </a:prstGeom>
          <a:solidFill>
            <a:srgbClr val="00C159"/>
          </a:solidFill>
          <a:ln w="12700" cap="flat" cmpd="sng" algn="ctr">
            <a:solidFill>
              <a:srgbClr val="FFFFFF"/>
            </a:solidFill>
            <a:prstDash val="solid"/>
          </a:ln>
          <a:effectLst>
            <a:glow rad="76200">
              <a:sysClr val="window" lastClr="FFFFFF">
                <a:alpha val="13000"/>
              </a:sysClr>
            </a:glow>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endParaRPr>
          </a:p>
        </p:txBody>
      </p:sp>
      <p:sp>
        <p:nvSpPr>
          <p:cNvPr id="62" name="Oval 61">
            <a:extLst>
              <a:ext uri="{FF2B5EF4-FFF2-40B4-BE49-F238E27FC236}">
                <a16:creationId xmlns:a16="http://schemas.microsoft.com/office/drawing/2014/main" id="{78F586E3-3D3E-8E99-AF44-7D65B891D1E7}"/>
              </a:ext>
            </a:extLst>
          </p:cNvPr>
          <p:cNvSpPr/>
          <p:nvPr/>
        </p:nvSpPr>
        <p:spPr>
          <a:xfrm>
            <a:off x="20695047" y="10487501"/>
            <a:ext cx="227632" cy="228522"/>
          </a:xfrm>
          <a:prstGeom prst="ellipse">
            <a:avLst/>
          </a:prstGeom>
          <a:solidFill>
            <a:srgbClr val="00C159"/>
          </a:solidFill>
          <a:ln w="25400" cap="flat" cmpd="sng" algn="ctr">
            <a:solidFill>
              <a:srgbClr val="FFFFFF"/>
            </a:solidFill>
            <a:prstDash val="solid"/>
          </a:ln>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rPr>
              <a:t>		</a:t>
            </a:r>
          </a:p>
        </p:txBody>
      </p:sp>
      <p:sp>
        <p:nvSpPr>
          <p:cNvPr id="63" name="Oval 62">
            <a:extLst>
              <a:ext uri="{FF2B5EF4-FFF2-40B4-BE49-F238E27FC236}">
                <a16:creationId xmlns:a16="http://schemas.microsoft.com/office/drawing/2014/main" id="{94CBEF96-D0F8-3935-FAD7-F454C3670CEC}"/>
              </a:ext>
            </a:extLst>
          </p:cNvPr>
          <p:cNvSpPr/>
          <p:nvPr/>
        </p:nvSpPr>
        <p:spPr>
          <a:xfrm>
            <a:off x="21308589" y="10419654"/>
            <a:ext cx="364212" cy="364212"/>
          </a:xfrm>
          <a:prstGeom prst="ellipse">
            <a:avLst/>
          </a:prstGeom>
          <a:solidFill>
            <a:srgbClr val="00C159"/>
          </a:solidFill>
          <a:ln w="12700" cap="flat" cmpd="sng" algn="ctr">
            <a:solidFill>
              <a:srgbClr val="FFFFFF"/>
            </a:solidFill>
            <a:prstDash val="solid"/>
          </a:ln>
          <a:effectLst>
            <a:glow rad="76200">
              <a:sysClr val="window" lastClr="FFFFFF">
                <a:alpha val="13000"/>
              </a:sysClr>
            </a:glow>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endParaRPr>
          </a:p>
        </p:txBody>
      </p:sp>
      <p:sp>
        <p:nvSpPr>
          <p:cNvPr id="64" name="Oval 63">
            <a:extLst>
              <a:ext uri="{FF2B5EF4-FFF2-40B4-BE49-F238E27FC236}">
                <a16:creationId xmlns:a16="http://schemas.microsoft.com/office/drawing/2014/main" id="{89392013-6744-4550-940C-3A64E5F56BD9}"/>
              </a:ext>
            </a:extLst>
          </p:cNvPr>
          <p:cNvSpPr/>
          <p:nvPr/>
        </p:nvSpPr>
        <p:spPr>
          <a:xfrm>
            <a:off x="21376879" y="10487501"/>
            <a:ext cx="227632" cy="228522"/>
          </a:xfrm>
          <a:prstGeom prst="ellipse">
            <a:avLst/>
          </a:prstGeom>
          <a:solidFill>
            <a:srgbClr val="00C159"/>
          </a:solidFill>
          <a:ln w="25400" cap="flat" cmpd="sng" algn="ctr">
            <a:solidFill>
              <a:srgbClr val="FFFFFF"/>
            </a:solidFill>
            <a:prstDash val="solid"/>
          </a:ln>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rPr>
              <a:t>		</a:t>
            </a:r>
          </a:p>
        </p:txBody>
      </p:sp>
      <p:pic>
        <p:nvPicPr>
          <p:cNvPr id="65" name="Picture 64" descr="A close up of a sign&#10;&#10;Description automatically generated">
            <a:extLst>
              <a:ext uri="{FF2B5EF4-FFF2-40B4-BE49-F238E27FC236}">
                <a16:creationId xmlns:a16="http://schemas.microsoft.com/office/drawing/2014/main" id="{CEADAA65-33DC-BCBF-02E7-069C49826EBB}"/>
              </a:ext>
            </a:extLst>
          </p:cNvPr>
          <p:cNvPicPr>
            <a:picLocks noChangeAspect="1"/>
          </p:cNvPicPr>
          <p:nvPr/>
        </p:nvPicPr>
        <p:blipFill rotWithShape="1">
          <a:blip r:embed="rId5" cstate="email">
            <a:extLst>
              <a:ext uri="{28A0092B-C50C-407E-A947-70E740481C1C}">
                <a14:useLocalDpi xmlns:a14="http://schemas.microsoft.com/office/drawing/2010/main"/>
              </a:ext>
            </a:extLst>
          </a:blip>
          <a:srcRect b="-8004"/>
          <a:stretch/>
        </p:blipFill>
        <p:spPr>
          <a:xfrm>
            <a:off x="13117157" y="10411908"/>
            <a:ext cx="367428" cy="413060"/>
          </a:xfrm>
          <a:prstGeom prst="rect">
            <a:avLst/>
          </a:prstGeom>
        </p:spPr>
      </p:pic>
      <p:pic>
        <p:nvPicPr>
          <p:cNvPr id="66" name="Picture 3" descr="C:\Users\Edoardo\Documents\My Dropbox\Pioneer\Website\Pictures\PeakGen logo.jpg">
            <a:extLst>
              <a:ext uri="{FF2B5EF4-FFF2-40B4-BE49-F238E27FC236}">
                <a16:creationId xmlns:a16="http://schemas.microsoft.com/office/drawing/2014/main" id="{AF18708B-B191-49F5-BD27-B5B531FD2F81}"/>
              </a:ext>
            </a:extLst>
          </p:cNvPr>
          <p:cNvPicPr>
            <a:picLocks noChangeAspect="1" noChangeArrowheads="1"/>
          </p:cNvPicPr>
          <p:nvPr/>
        </p:nvPicPr>
        <p:blipFill>
          <a:blip r:embed="rId6" cstate="email">
            <a:extLst>
              <a:ext uri="{28A0092B-C50C-407E-A947-70E740481C1C}">
                <a14:useLocalDpi xmlns:a14="http://schemas.microsoft.com/office/drawing/2010/main"/>
              </a:ext>
            </a:extLst>
          </a:blip>
          <a:srcRect/>
          <a:stretch>
            <a:fillRect/>
          </a:stretch>
        </p:blipFill>
        <p:spPr bwMode="auto">
          <a:xfrm>
            <a:off x="13720626" y="9960141"/>
            <a:ext cx="586326" cy="382386"/>
          </a:xfrm>
          <a:prstGeom prst="rect">
            <a:avLst/>
          </a:prstGeom>
          <a:ln>
            <a:noFill/>
          </a:ln>
          <a:effectLst/>
        </p:spPr>
      </p:pic>
      <p:pic>
        <p:nvPicPr>
          <p:cNvPr id="67" name="Picture 2">
            <a:extLst>
              <a:ext uri="{FF2B5EF4-FFF2-40B4-BE49-F238E27FC236}">
                <a16:creationId xmlns:a16="http://schemas.microsoft.com/office/drawing/2014/main" id="{311C5DA8-E4C2-F585-9EDA-DF909C9AFF1C}"/>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5858451" y="10931282"/>
            <a:ext cx="493488" cy="295432"/>
          </a:xfrm>
          <a:prstGeom prst="rect">
            <a:avLst/>
          </a:prstGeom>
          <a:noFill/>
          <a:ln w="9525">
            <a:noFill/>
            <a:miter lim="800000"/>
            <a:headEnd/>
            <a:tailEnd/>
          </a:ln>
        </p:spPr>
      </p:pic>
      <p:pic>
        <p:nvPicPr>
          <p:cNvPr id="68" name="Picture 2">
            <a:extLst>
              <a:ext uri="{FF2B5EF4-FFF2-40B4-BE49-F238E27FC236}">
                <a16:creationId xmlns:a16="http://schemas.microsoft.com/office/drawing/2014/main" id="{51E890C3-5A6C-BC11-FA6C-73CF2AAC1CE1}"/>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7197673" y="10970884"/>
            <a:ext cx="493488" cy="295432"/>
          </a:xfrm>
          <a:prstGeom prst="rect">
            <a:avLst/>
          </a:prstGeom>
          <a:noFill/>
          <a:ln w="9525">
            <a:noFill/>
            <a:miter lim="800000"/>
            <a:headEnd/>
            <a:tailEnd/>
          </a:ln>
        </p:spPr>
      </p:pic>
      <p:pic>
        <p:nvPicPr>
          <p:cNvPr id="69" name="Picture 2" descr="Logo_masotina">
            <a:extLst>
              <a:ext uri="{FF2B5EF4-FFF2-40B4-BE49-F238E27FC236}">
                <a16:creationId xmlns:a16="http://schemas.microsoft.com/office/drawing/2014/main" id="{995CABEF-DE36-600C-4429-8833D5A5D7F4}"/>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a:fillRect/>
          </a:stretch>
        </p:blipFill>
        <p:spPr bwMode="auto">
          <a:xfrm>
            <a:off x="14329352" y="10980783"/>
            <a:ext cx="734018" cy="191722"/>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69">
            <a:extLst>
              <a:ext uri="{FF2B5EF4-FFF2-40B4-BE49-F238E27FC236}">
                <a16:creationId xmlns:a16="http://schemas.microsoft.com/office/drawing/2014/main" id="{6016DDA6-ACD5-A874-B05F-A3BDA82ECFB3}"/>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9119698" y="10016901"/>
            <a:ext cx="763514" cy="267770"/>
          </a:xfrm>
          <a:prstGeom prst="rect">
            <a:avLst/>
          </a:prstGeom>
        </p:spPr>
      </p:pic>
      <p:pic>
        <p:nvPicPr>
          <p:cNvPr id="71" name="Picture 70">
            <a:extLst>
              <a:ext uri="{FF2B5EF4-FFF2-40B4-BE49-F238E27FC236}">
                <a16:creationId xmlns:a16="http://schemas.microsoft.com/office/drawing/2014/main" id="{ED0AF987-4F89-7284-8659-6A821F73AEAF}"/>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19748203" y="10881778"/>
            <a:ext cx="812184" cy="394384"/>
          </a:xfrm>
          <a:prstGeom prst="rect">
            <a:avLst/>
          </a:prstGeom>
        </p:spPr>
      </p:pic>
      <p:pic>
        <p:nvPicPr>
          <p:cNvPr id="72" name="Picture 4" descr="Echelon Data Centres | LinkedIn">
            <a:extLst>
              <a:ext uri="{FF2B5EF4-FFF2-40B4-BE49-F238E27FC236}">
                <a16:creationId xmlns:a16="http://schemas.microsoft.com/office/drawing/2014/main" id="{97FFEE58-3181-1CB4-70A6-ACE548AA3F20}"/>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20426385" y="10059468"/>
            <a:ext cx="735772" cy="191960"/>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2" descr="Image result for atll aigues">
            <a:hlinkClick r:id="rId12"/>
            <a:extLst>
              <a:ext uri="{FF2B5EF4-FFF2-40B4-BE49-F238E27FC236}">
                <a16:creationId xmlns:a16="http://schemas.microsoft.com/office/drawing/2014/main" id="{102133BA-660D-2207-C0E0-AB00FF151483}"/>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14853704" y="10035820"/>
            <a:ext cx="915326" cy="237912"/>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73">
            <a:extLst>
              <a:ext uri="{FF2B5EF4-FFF2-40B4-BE49-F238E27FC236}">
                <a16:creationId xmlns:a16="http://schemas.microsoft.com/office/drawing/2014/main" id="{F7F714C2-A6F3-7C7C-C052-53B9DCF77900}"/>
              </a:ext>
            </a:extLst>
          </p:cNvPr>
          <p:cNvPicPr>
            <a:picLocks noChangeAspect="1"/>
          </p:cNvPicPr>
          <p:nvPr/>
        </p:nvPicPr>
        <p:blipFill>
          <a:blip r:embed="rId14" cstate="email">
            <a:extLst>
              <a:ext uri="{28A0092B-C50C-407E-A947-70E740481C1C}">
                <a14:useLocalDpi xmlns:a14="http://schemas.microsoft.com/office/drawing/2010/main"/>
              </a:ext>
            </a:extLst>
          </a:blip>
          <a:stretch>
            <a:fillRect/>
          </a:stretch>
        </p:blipFill>
        <p:spPr>
          <a:xfrm>
            <a:off x="21248281" y="10040548"/>
            <a:ext cx="590072" cy="188956"/>
          </a:xfrm>
          <a:prstGeom prst="rect">
            <a:avLst/>
          </a:prstGeom>
        </p:spPr>
      </p:pic>
      <p:pic>
        <p:nvPicPr>
          <p:cNvPr id="75" name="Picture 74">
            <a:extLst>
              <a:ext uri="{FF2B5EF4-FFF2-40B4-BE49-F238E27FC236}">
                <a16:creationId xmlns:a16="http://schemas.microsoft.com/office/drawing/2014/main" id="{1E961A4E-6FB1-A0D1-875D-124A9D9960DA}"/>
              </a:ext>
            </a:extLst>
          </p:cNvPr>
          <p:cNvPicPr>
            <a:picLocks noChangeAspect="1"/>
          </p:cNvPicPr>
          <p:nvPr/>
        </p:nvPicPr>
        <p:blipFill>
          <a:blip r:embed="rId15" cstate="email">
            <a:extLst>
              <a:ext uri="{28A0092B-C50C-407E-A947-70E740481C1C}">
                <a14:useLocalDpi xmlns:a14="http://schemas.microsoft.com/office/drawing/2010/main"/>
              </a:ext>
            </a:extLst>
          </a:blip>
          <a:stretch>
            <a:fillRect/>
          </a:stretch>
        </p:blipFill>
        <p:spPr>
          <a:xfrm>
            <a:off x="21132256" y="10985732"/>
            <a:ext cx="754450" cy="184968"/>
          </a:xfrm>
          <a:prstGeom prst="rect">
            <a:avLst/>
          </a:prstGeom>
        </p:spPr>
      </p:pic>
      <p:pic>
        <p:nvPicPr>
          <p:cNvPr id="76" name="Picture 2" descr="Button Flag Spain Icon, PNG ClipArt Image | IconBug.com">
            <a:extLst>
              <a:ext uri="{FF2B5EF4-FFF2-40B4-BE49-F238E27FC236}">
                <a16:creationId xmlns:a16="http://schemas.microsoft.com/office/drawing/2014/main" id="{D3FCB96E-EB41-9D77-DA7F-FB4601B8103C}"/>
              </a:ext>
            </a:extLst>
          </p:cNvPr>
          <p:cNvPicPr>
            <a:picLocks noChangeAspect="1" noChangeArrowheads="1"/>
          </p:cNvPicPr>
          <p:nvPr/>
        </p:nvPicPr>
        <p:blipFill>
          <a:blip r:embed="rId16" cstate="email">
            <a:extLst>
              <a:ext uri="{28A0092B-C50C-407E-A947-70E740481C1C}">
                <a14:useLocalDpi xmlns:a14="http://schemas.microsoft.com/office/drawing/2010/main"/>
              </a:ext>
            </a:extLst>
          </a:blip>
          <a:srcRect/>
          <a:stretch>
            <a:fillRect/>
          </a:stretch>
        </p:blipFill>
        <p:spPr bwMode="auto">
          <a:xfrm>
            <a:off x="15204985" y="9788308"/>
            <a:ext cx="195824" cy="195812"/>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2" descr="Button Flag Spain Icon, PNG ClipArt Image | IconBug.com">
            <a:extLst>
              <a:ext uri="{FF2B5EF4-FFF2-40B4-BE49-F238E27FC236}">
                <a16:creationId xmlns:a16="http://schemas.microsoft.com/office/drawing/2014/main" id="{3B3919FA-B2A8-7B72-3912-DC1E29AB719F}"/>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21450828" y="11293711"/>
            <a:ext cx="215614" cy="215614"/>
          </a:xfrm>
          <a:prstGeom prst="rect">
            <a:avLst/>
          </a:prstGeom>
          <a:noFill/>
          <a:extLst>
            <a:ext uri="{909E8E84-426E-40DD-AFC4-6F175D3DCCD1}">
              <a14:hiddenFill xmlns:a14="http://schemas.microsoft.com/office/drawing/2010/main">
                <a:solidFill>
                  <a:srgbClr val="FFFFFF"/>
                </a:solidFill>
              </a14:hiddenFill>
            </a:ext>
          </a:extLst>
        </p:spPr>
      </p:pic>
      <p:pic>
        <p:nvPicPr>
          <p:cNvPr id="78" name="Picture 4" descr="uk-flag - OuiRun">
            <a:extLst>
              <a:ext uri="{FF2B5EF4-FFF2-40B4-BE49-F238E27FC236}">
                <a16:creationId xmlns:a16="http://schemas.microsoft.com/office/drawing/2014/main" id="{E6F2E1E1-9B78-F299-C8F6-E3D0E2F5F299}"/>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15948256" y="11244209"/>
            <a:ext cx="281502" cy="291386"/>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4" descr="uk-flag - OuiRun">
            <a:extLst>
              <a:ext uri="{FF2B5EF4-FFF2-40B4-BE49-F238E27FC236}">
                <a16:creationId xmlns:a16="http://schemas.microsoft.com/office/drawing/2014/main" id="{A08890F4-7978-B44D-4B0F-300B5CE308B6}"/>
              </a:ext>
            </a:extLst>
          </p:cNvPr>
          <p:cNvPicPr>
            <a:picLocks noChangeAspect="1" noChangeArrowheads="1"/>
          </p:cNvPicPr>
          <p:nvPr/>
        </p:nvPicPr>
        <p:blipFill>
          <a:blip r:embed="rId19" cstate="email">
            <a:extLst>
              <a:ext uri="{28A0092B-C50C-407E-A947-70E740481C1C}">
                <a14:useLocalDpi xmlns:a14="http://schemas.microsoft.com/office/drawing/2010/main"/>
              </a:ext>
            </a:extLst>
          </a:blip>
          <a:srcRect/>
          <a:stretch>
            <a:fillRect/>
          </a:stretch>
        </p:blipFill>
        <p:spPr bwMode="auto">
          <a:xfrm>
            <a:off x="17321530" y="11209557"/>
            <a:ext cx="311186" cy="311186"/>
          </a:xfrm>
          <a:prstGeom prst="rect">
            <a:avLst/>
          </a:prstGeom>
          <a:noFill/>
          <a:extLst>
            <a:ext uri="{909E8E84-426E-40DD-AFC4-6F175D3DCCD1}">
              <a14:hiddenFill xmlns:a14="http://schemas.microsoft.com/office/drawing/2010/main">
                <a:solidFill>
                  <a:srgbClr val="FFFFFF"/>
                </a:solidFill>
              </a14:hiddenFill>
            </a:ext>
          </a:extLst>
        </p:spPr>
      </p:pic>
      <p:pic>
        <p:nvPicPr>
          <p:cNvPr id="80" name="Picture 4" descr="uk-flag - OuiRun">
            <a:extLst>
              <a:ext uri="{FF2B5EF4-FFF2-40B4-BE49-F238E27FC236}">
                <a16:creationId xmlns:a16="http://schemas.microsoft.com/office/drawing/2014/main" id="{F82A5017-D9CC-414E-BD75-E0C5B1FA7D45}"/>
              </a:ext>
            </a:extLst>
          </p:cNvPr>
          <p:cNvPicPr>
            <a:picLocks noChangeAspect="1" noChangeArrowheads="1"/>
          </p:cNvPicPr>
          <p:nvPr/>
        </p:nvPicPr>
        <p:blipFill>
          <a:blip r:embed="rId20" cstate="email">
            <a:extLst>
              <a:ext uri="{28A0092B-C50C-407E-A947-70E740481C1C}">
                <a14:useLocalDpi xmlns:a14="http://schemas.microsoft.com/office/drawing/2010/main"/>
              </a:ext>
            </a:extLst>
          </a:blip>
          <a:srcRect/>
          <a:stretch>
            <a:fillRect/>
          </a:stretch>
        </p:blipFill>
        <p:spPr bwMode="auto">
          <a:xfrm>
            <a:off x="13862595" y="9743758"/>
            <a:ext cx="281500" cy="281484"/>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4" descr="uk-flag - OuiRun">
            <a:extLst>
              <a:ext uri="{FF2B5EF4-FFF2-40B4-BE49-F238E27FC236}">
                <a16:creationId xmlns:a16="http://schemas.microsoft.com/office/drawing/2014/main" id="{E5FF2246-955F-A153-C3F4-61750AC5D854}"/>
              </a:ext>
            </a:extLst>
          </p:cNvPr>
          <p:cNvPicPr>
            <a:picLocks noChangeAspect="1" noChangeArrowheads="1"/>
          </p:cNvPicPr>
          <p:nvPr/>
        </p:nvPicPr>
        <p:blipFill>
          <a:blip r:embed="rId20" cstate="email">
            <a:extLst>
              <a:ext uri="{28A0092B-C50C-407E-A947-70E740481C1C}">
                <a14:useLocalDpi xmlns:a14="http://schemas.microsoft.com/office/drawing/2010/main"/>
              </a:ext>
            </a:extLst>
          </a:blip>
          <a:srcRect/>
          <a:stretch>
            <a:fillRect/>
          </a:stretch>
        </p:blipFill>
        <p:spPr bwMode="auto">
          <a:xfrm>
            <a:off x="19324843" y="9743759"/>
            <a:ext cx="281500" cy="281486"/>
          </a:xfrm>
          <a:prstGeom prst="rect">
            <a:avLst/>
          </a:prstGeom>
          <a:noFill/>
          <a:extLst>
            <a:ext uri="{909E8E84-426E-40DD-AFC4-6F175D3DCCD1}">
              <a14:hiddenFill xmlns:a14="http://schemas.microsoft.com/office/drawing/2010/main">
                <a:solidFill>
                  <a:srgbClr val="FFFFFF"/>
                </a:solidFill>
              </a14:hiddenFill>
            </a:ext>
          </a:extLst>
        </p:spPr>
      </p:pic>
      <p:pic>
        <p:nvPicPr>
          <p:cNvPr id="82" name="Picture 6" descr="Ireland flag vector - Country flags">
            <a:extLst>
              <a:ext uri="{FF2B5EF4-FFF2-40B4-BE49-F238E27FC236}">
                <a16:creationId xmlns:a16="http://schemas.microsoft.com/office/drawing/2014/main" id="{F8218AA8-123C-B821-BF07-73C0B267790B}"/>
              </a:ext>
            </a:extLst>
          </p:cNvPr>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20688700" y="9788308"/>
            <a:ext cx="193806" cy="193816"/>
          </a:xfrm>
          <a:prstGeom prst="rect">
            <a:avLst/>
          </a:prstGeom>
          <a:noFill/>
          <a:extLst>
            <a:ext uri="{909E8E84-426E-40DD-AFC4-6F175D3DCCD1}">
              <a14:hiddenFill xmlns:a14="http://schemas.microsoft.com/office/drawing/2010/main">
                <a:solidFill>
                  <a:srgbClr val="FFFFFF"/>
                </a:solidFill>
              </a14:hiddenFill>
            </a:ext>
          </a:extLst>
        </p:spPr>
      </p:pic>
      <p:pic>
        <p:nvPicPr>
          <p:cNvPr id="83" name="Picture 6" descr="Ireland flag vector - Country flags">
            <a:extLst>
              <a:ext uri="{FF2B5EF4-FFF2-40B4-BE49-F238E27FC236}">
                <a16:creationId xmlns:a16="http://schemas.microsoft.com/office/drawing/2014/main" id="{702C46AC-F683-3563-5B55-44897E03746C}"/>
              </a:ext>
            </a:extLst>
          </p:cNvPr>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21456503" y="9788309"/>
            <a:ext cx="193808" cy="193818"/>
          </a:xfrm>
          <a:prstGeom prst="rect">
            <a:avLst/>
          </a:prstGeom>
          <a:noFill/>
          <a:extLst>
            <a:ext uri="{909E8E84-426E-40DD-AFC4-6F175D3DCCD1}">
              <a14:hiddenFill xmlns:a14="http://schemas.microsoft.com/office/drawing/2010/main">
                <a:solidFill>
                  <a:srgbClr val="FFFFFF"/>
                </a:solidFill>
              </a14:hiddenFill>
            </a:ext>
          </a:extLst>
        </p:spPr>
      </p:pic>
      <p:pic>
        <p:nvPicPr>
          <p:cNvPr id="84" name="Picture 8" descr="Italy Flag Icon #83652 - Free Icons Library">
            <a:extLst>
              <a:ext uri="{FF2B5EF4-FFF2-40B4-BE49-F238E27FC236}">
                <a16:creationId xmlns:a16="http://schemas.microsoft.com/office/drawing/2014/main" id="{FC4BF920-3AB2-9B93-C897-91AD9D9D505B}"/>
              </a:ext>
            </a:extLst>
          </p:cNvPr>
          <p:cNvPicPr>
            <a:picLocks noChangeAspect="1" noChangeArrowheads="1"/>
          </p:cNvPicPr>
          <p:nvPr/>
        </p:nvPicPr>
        <p:blipFill>
          <a:blip r:embed="rId22" cstate="email">
            <a:extLst>
              <a:ext uri="{28A0092B-C50C-407E-A947-70E740481C1C}">
                <a14:useLocalDpi xmlns:a14="http://schemas.microsoft.com/office/drawing/2010/main"/>
              </a:ext>
            </a:extLst>
          </a:blip>
          <a:srcRect/>
          <a:stretch>
            <a:fillRect/>
          </a:stretch>
        </p:blipFill>
        <p:spPr bwMode="auto">
          <a:xfrm>
            <a:off x="14636310" y="11298663"/>
            <a:ext cx="215614" cy="215614"/>
          </a:xfrm>
          <a:prstGeom prst="rect">
            <a:avLst/>
          </a:prstGeom>
          <a:noFill/>
          <a:extLst>
            <a:ext uri="{909E8E84-426E-40DD-AFC4-6F175D3DCCD1}">
              <a14:hiddenFill xmlns:a14="http://schemas.microsoft.com/office/drawing/2010/main">
                <a:solidFill>
                  <a:srgbClr val="FFFFFF"/>
                </a:solidFill>
              </a14:hiddenFill>
            </a:ext>
          </a:extLst>
        </p:spPr>
      </p:pic>
      <p:pic>
        <p:nvPicPr>
          <p:cNvPr id="85" name="Picture 8" descr="Italy Flag Icon #83652 - Free Icons Library">
            <a:extLst>
              <a:ext uri="{FF2B5EF4-FFF2-40B4-BE49-F238E27FC236}">
                <a16:creationId xmlns:a16="http://schemas.microsoft.com/office/drawing/2014/main" id="{4A1870F2-4B4B-B529-82D2-6EFA261900B4}"/>
              </a:ext>
            </a:extLst>
          </p:cNvPr>
          <p:cNvPicPr>
            <a:picLocks noChangeAspect="1" noChangeArrowheads="1"/>
          </p:cNvPicPr>
          <p:nvPr/>
        </p:nvPicPr>
        <p:blipFill>
          <a:blip r:embed="rId22" cstate="email">
            <a:extLst>
              <a:ext uri="{28A0092B-C50C-407E-A947-70E740481C1C}">
                <a14:useLocalDpi xmlns:a14="http://schemas.microsoft.com/office/drawing/2010/main"/>
              </a:ext>
            </a:extLst>
          </a:blip>
          <a:srcRect/>
          <a:stretch>
            <a:fillRect/>
          </a:stretch>
        </p:blipFill>
        <p:spPr bwMode="auto">
          <a:xfrm>
            <a:off x="20099256" y="11298663"/>
            <a:ext cx="215614" cy="215614"/>
          </a:xfrm>
          <a:prstGeom prst="rect">
            <a:avLst/>
          </a:prstGeom>
          <a:noFill/>
          <a:extLst>
            <a:ext uri="{909E8E84-426E-40DD-AFC4-6F175D3DCCD1}">
              <a14:hiddenFill xmlns:a14="http://schemas.microsoft.com/office/drawing/2010/main">
                <a:solidFill>
                  <a:srgbClr val="FFFFFF"/>
                </a:solidFill>
              </a14:hiddenFill>
            </a:ext>
          </a:extLst>
        </p:spPr>
      </p:pic>
      <p:pic>
        <p:nvPicPr>
          <p:cNvPr id="86" name="Picture 10" descr="Denmark flag icon - Country flags">
            <a:extLst>
              <a:ext uri="{FF2B5EF4-FFF2-40B4-BE49-F238E27FC236}">
                <a16:creationId xmlns:a16="http://schemas.microsoft.com/office/drawing/2014/main" id="{E485465E-56A7-4E13-9E65-0F0097CEEB60}"/>
              </a:ext>
            </a:extLst>
          </p:cNvPr>
          <p:cNvPicPr>
            <a:picLocks noChangeAspect="1" noChangeArrowheads="1"/>
          </p:cNvPicPr>
          <p:nvPr/>
        </p:nvPicPr>
        <p:blipFill>
          <a:blip r:embed="rId23" cstate="email">
            <a:extLst>
              <a:ext uri="{28A0092B-C50C-407E-A947-70E740481C1C}">
                <a14:useLocalDpi xmlns:a14="http://schemas.microsoft.com/office/drawing/2010/main"/>
              </a:ext>
            </a:extLst>
          </a:blip>
          <a:srcRect/>
          <a:stretch>
            <a:fillRect/>
          </a:stretch>
        </p:blipFill>
        <p:spPr bwMode="auto">
          <a:xfrm>
            <a:off x="18704770" y="11308561"/>
            <a:ext cx="191418" cy="191418"/>
          </a:xfrm>
          <a:prstGeom prst="rect">
            <a:avLst/>
          </a:prstGeom>
          <a:noFill/>
          <a:extLst>
            <a:ext uri="{909E8E84-426E-40DD-AFC4-6F175D3DCCD1}">
              <a14:hiddenFill xmlns:a14="http://schemas.microsoft.com/office/drawing/2010/main">
                <a:solidFill>
                  <a:srgbClr val="FFFFFF"/>
                </a:solidFill>
              </a14:hiddenFill>
            </a:ext>
          </a:extLst>
        </p:spPr>
      </p:pic>
      <p:pic>
        <p:nvPicPr>
          <p:cNvPr id="87" name="Picture 2" descr="Logo, company name&#10;&#10;Description automatically generated">
            <a:extLst>
              <a:ext uri="{FF2B5EF4-FFF2-40B4-BE49-F238E27FC236}">
                <a16:creationId xmlns:a16="http://schemas.microsoft.com/office/drawing/2014/main" id="{9379D4EC-7895-091C-EB9D-6ED2F90A8A4F}"/>
              </a:ext>
            </a:extLst>
          </p:cNvPr>
          <p:cNvPicPr>
            <a:picLocks noChangeAspect="1"/>
          </p:cNvPicPr>
          <p:nvPr/>
        </p:nvPicPr>
        <p:blipFill>
          <a:blip r:embed="rId24" cstate="email">
            <a:extLst>
              <a:ext uri="{28A0092B-C50C-407E-A947-70E740481C1C}">
                <a14:useLocalDpi xmlns:a14="http://schemas.microsoft.com/office/drawing/2010/main"/>
              </a:ext>
            </a:extLst>
          </a:blip>
          <a:stretch>
            <a:fillRect/>
          </a:stretch>
        </p:blipFill>
        <p:spPr>
          <a:xfrm>
            <a:off x="21918744" y="9922302"/>
            <a:ext cx="475334" cy="465636"/>
          </a:xfrm>
          <a:prstGeom prst="rect">
            <a:avLst/>
          </a:prstGeom>
        </p:spPr>
      </p:pic>
      <p:sp>
        <p:nvSpPr>
          <p:cNvPr id="88" name="Oval 87">
            <a:extLst>
              <a:ext uri="{FF2B5EF4-FFF2-40B4-BE49-F238E27FC236}">
                <a16:creationId xmlns:a16="http://schemas.microsoft.com/office/drawing/2014/main" id="{FA2E2BB7-3BA7-82CE-E1FB-ABC4C642230F}"/>
              </a:ext>
            </a:extLst>
          </p:cNvPr>
          <p:cNvSpPr/>
          <p:nvPr/>
        </p:nvSpPr>
        <p:spPr>
          <a:xfrm>
            <a:off x="21990419" y="10410194"/>
            <a:ext cx="364212" cy="364212"/>
          </a:xfrm>
          <a:prstGeom prst="ellipse">
            <a:avLst/>
          </a:prstGeom>
          <a:solidFill>
            <a:srgbClr val="00C159"/>
          </a:solidFill>
          <a:ln w="12700" cap="flat" cmpd="sng" algn="ctr">
            <a:solidFill>
              <a:srgbClr val="FFFFFF"/>
            </a:solidFill>
            <a:prstDash val="solid"/>
          </a:ln>
          <a:effectLst>
            <a:glow rad="76200">
              <a:sysClr val="window" lastClr="FFFFFF">
                <a:alpha val="13000"/>
              </a:sysClr>
            </a:glow>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endPar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endParaRPr>
          </a:p>
        </p:txBody>
      </p:sp>
      <p:sp>
        <p:nvSpPr>
          <p:cNvPr id="89" name="Oval 88">
            <a:extLst>
              <a:ext uri="{FF2B5EF4-FFF2-40B4-BE49-F238E27FC236}">
                <a16:creationId xmlns:a16="http://schemas.microsoft.com/office/drawing/2014/main" id="{61D68277-88DB-C502-714A-3097B5812378}"/>
              </a:ext>
            </a:extLst>
          </p:cNvPr>
          <p:cNvSpPr/>
          <p:nvPr/>
        </p:nvSpPr>
        <p:spPr>
          <a:xfrm>
            <a:off x="22058709" y="10478041"/>
            <a:ext cx="227632" cy="228522"/>
          </a:xfrm>
          <a:prstGeom prst="ellipse">
            <a:avLst/>
          </a:prstGeom>
          <a:solidFill>
            <a:srgbClr val="00C159"/>
          </a:solidFill>
          <a:ln w="25400" cap="flat" cmpd="sng" algn="ctr">
            <a:solidFill>
              <a:srgbClr val="FFFFFF"/>
            </a:solidFill>
            <a:prstDash val="solid"/>
          </a:ln>
          <a:effectLst/>
        </p:spPr>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ctr" defTabSz="18288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a:ln>
                  <a:noFill/>
                </a:ln>
                <a:solidFill>
                  <a:prstClr val="white"/>
                </a:solidFill>
                <a:effectLst/>
                <a:uLnTx/>
                <a:uFillTx/>
                <a:latin typeface="Montserrat" panose="00000500000000000000" pitchFamily="50" charset="0"/>
                <a:cs typeface="Arial" panose="020B0604020202020204" pitchFamily="34" charset="0"/>
              </a:rPr>
              <a:t>		</a:t>
            </a:r>
          </a:p>
        </p:txBody>
      </p:sp>
      <p:sp>
        <p:nvSpPr>
          <p:cNvPr id="90" name="TextBox 1182">
            <a:extLst>
              <a:ext uri="{FF2B5EF4-FFF2-40B4-BE49-F238E27FC236}">
                <a16:creationId xmlns:a16="http://schemas.microsoft.com/office/drawing/2014/main" id="{FDFBB03A-1E0A-2886-25B3-3287E1D8E12A}"/>
              </a:ext>
            </a:extLst>
          </p:cNvPr>
          <p:cNvSpPr txBox="1"/>
          <p:nvPr/>
        </p:nvSpPr>
        <p:spPr>
          <a:xfrm>
            <a:off x="21816413" y="10758811"/>
            <a:ext cx="726844" cy="338554"/>
          </a:xfrm>
          <a:prstGeom prst="rect">
            <a:avLst/>
          </a:prstGeom>
          <a:noFill/>
        </p:spPr>
        <p:txBody>
          <a:bodyPr wrap="square" lIns="182880" tIns="91440" rIns="182880" bIns="91440" rtlCol="0" anchor="t">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fontAlgn="base">
              <a:spcBef>
                <a:spcPct val="0"/>
              </a:spcBef>
              <a:spcAft>
                <a:spcPct val="0"/>
              </a:spcAft>
            </a:pPr>
            <a:r>
              <a:rPr lang="en-US" altLang="ko-KR" sz="1000" b="1">
                <a:solidFill>
                  <a:srgbClr val="0A3638"/>
                </a:solidFill>
                <a:latin typeface="Figtree" pitchFamily="2" charset="0"/>
                <a:ea typeface="맑은 고딕"/>
                <a:cs typeface="Arial"/>
              </a:rPr>
              <a:t>2022</a:t>
            </a:r>
            <a:endParaRPr lang="ko-KR" altLang="en-US" sz="1000" b="1">
              <a:solidFill>
                <a:srgbClr val="0A3638"/>
              </a:solidFill>
              <a:latin typeface="Figtree" pitchFamily="2" charset="0"/>
              <a:ea typeface="맑은 고딕" panose="020B0503020000020004" pitchFamily="34" charset="-127"/>
              <a:cs typeface="Arial" panose="020B0604020202020204" pitchFamily="34" charset="0"/>
            </a:endParaRPr>
          </a:p>
        </p:txBody>
      </p:sp>
      <p:pic>
        <p:nvPicPr>
          <p:cNvPr id="91" name="Picture 12" descr="A picture containing text, vector graphics&#10;&#10;Description automatically generated">
            <a:extLst>
              <a:ext uri="{FF2B5EF4-FFF2-40B4-BE49-F238E27FC236}">
                <a16:creationId xmlns:a16="http://schemas.microsoft.com/office/drawing/2014/main" id="{4617403F-A8EF-02E9-7D20-ADDD5DC8BE52}"/>
              </a:ext>
            </a:extLst>
          </p:cNvPr>
          <p:cNvPicPr>
            <a:picLocks noChangeAspect="1"/>
          </p:cNvPicPr>
          <p:nvPr/>
        </p:nvPicPr>
        <p:blipFill>
          <a:blip r:embed="rId25" cstate="email">
            <a:extLst>
              <a:ext uri="{28A0092B-C50C-407E-A947-70E740481C1C}">
                <a14:useLocalDpi xmlns:a14="http://schemas.microsoft.com/office/drawing/2010/main"/>
              </a:ext>
            </a:extLst>
          </a:blip>
          <a:stretch>
            <a:fillRect/>
          </a:stretch>
        </p:blipFill>
        <p:spPr>
          <a:xfrm>
            <a:off x="22056848" y="9793261"/>
            <a:ext cx="189662" cy="187970"/>
          </a:xfrm>
          <a:prstGeom prst="rect">
            <a:avLst/>
          </a:prstGeom>
        </p:spPr>
      </p:pic>
      <p:pic>
        <p:nvPicPr>
          <p:cNvPr id="92" name="Picture 91">
            <a:extLst>
              <a:ext uri="{FF2B5EF4-FFF2-40B4-BE49-F238E27FC236}">
                <a16:creationId xmlns:a16="http://schemas.microsoft.com/office/drawing/2014/main" id="{3497258B-F44C-A40E-A7E9-5DB3EBA66431}"/>
              </a:ext>
            </a:extLst>
          </p:cNvPr>
          <p:cNvPicPr>
            <a:picLocks noChangeAspect="1"/>
          </p:cNvPicPr>
          <p:nvPr/>
        </p:nvPicPr>
        <p:blipFill>
          <a:blip r:embed="rId26" cstate="email">
            <a:extLst>
              <a:ext uri="{28A0092B-C50C-407E-A947-70E740481C1C}">
                <a14:useLocalDpi xmlns:a14="http://schemas.microsoft.com/office/drawing/2010/main"/>
              </a:ext>
            </a:extLst>
          </a:blip>
          <a:stretch>
            <a:fillRect/>
          </a:stretch>
        </p:blipFill>
        <p:spPr>
          <a:xfrm>
            <a:off x="20546175" y="10976523"/>
            <a:ext cx="588420" cy="285214"/>
          </a:xfrm>
          <a:prstGeom prst="rect">
            <a:avLst/>
          </a:prstGeom>
        </p:spPr>
      </p:pic>
      <p:sp>
        <p:nvSpPr>
          <p:cNvPr id="93" name="Freeform: Shape 16">
            <a:extLst>
              <a:ext uri="{FF2B5EF4-FFF2-40B4-BE49-F238E27FC236}">
                <a16:creationId xmlns:a16="http://schemas.microsoft.com/office/drawing/2014/main" id="{FEA5A12C-49A8-60AD-0AE2-482131539C85}"/>
              </a:ext>
            </a:extLst>
          </p:cNvPr>
          <p:cNvSpPr/>
          <p:nvPr/>
        </p:nvSpPr>
        <p:spPr>
          <a:xfrm>
            <a:off x="12682330" y="2572430"/>
            <a:ext cx="9952383" cy="646552"/>
          </a:xfrm>
          <a:prstGeom prst="roundRect">
            <a:avLst/>
          </a:prstGeom>
          <a:solidFill>
            <a:srgbClr val="00C159"/>
          </a:solidFill>
          <a:ln w="12700">
            <a:noFill/>
            <a:miter lim="400000"/>
          </a:ln>
        </p:spPr>
        <p:txBody>
          <a:bodyPr lIns="0" tIns="0" rIns="0" bIns="0" anchor="ctr">
            <a:no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defTabSz="2600960" eaLnBrk="0" fontAlgn="base" hangingPunct="1">
              <a:spcBef>
                <a:spcPts val="2200"/>
              </a:spcBef>
              <a:spcAft>
                <a:spcPct val="0"/>
              </a:spcAft>
            </a:pPr>
            <a:r>
              <a:rPr lang="en-US" sz="2400" b="1" kern="1200" dirty="0">
                <a:solidFill>
                  <a:srgbClr val="FFFFFF"/>
                </a:solidFill>
                <a:latin typeface="Figtree" pitchFamily="2" charset="0"/>
                <a:cs typeface="Arial" panose="020B0604020202020204" pitchFamily="34" charset="0"/>
              </a:rPr>
              <a:t>European specialist investor </a:t>
            </a:r>
          </a:p>
        </p:txBody>
      </p:sp>
      <p:sp>
        <p:nvSpPr>
          <p:cNvPr id="94" name="Arrow: Pentagon 37">
            <a:extLst>
              <a:ext uri="{FF2B5EF4-FFF2-40B4-BE49-F238E27FC236}">
                <a16:creationId xmlns:a16="http://schemas.microsoft.com/office/drawing/2014/main" id="{F731438F-F7A8-30C9-46F6-4F2D039A6043}"/>
              </a:ext>
            </a:extLst>
          </p:cNvPr>
          <p:cNvSpPr/>
          <p:nvPr/>
        </p:nvSpPr>
        <p:spPr bwMode="gray">
          <a:xfrm rot="5400000">
            <a:off x="17391414" y="4090424"/>
            <a:ext cx="634730" cy="9848498"/>
          </a:xfrm>
          <a:prstGeom prst="homePlate">
            <a:avLst>
              <a:gd name="adj" fmla="val 23122"/>
            </a:avLst>
          </a:prstGeom>
          <a:solidFill>
            <a:srgbClr val="0A3638"/>
          </a:solidFill>
          <a:ln>
            <a:solidFill>
              <a:srgbClr val="72982D"/>
            </a:solidFill>
          </a:ln>
          <a:effectLst/>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a:r>
              <a:rPr lang="en-US" sz="2000" b="1" dirty="0">
                <a:solidFill>
                  <a:srgbClr val="FFFFFF"/>
                </a:solidFill>
                <a:latin typeface="Figtree" pitchFamily="2" charset="0"/>
                <a:cs typeface="Arial" panose="020B0604020202020204" pitchFamily="34" charset="0"/>
              </a:rPr>
              <a:t>Sustainability at the core of all investment activities</a:t>
            </a:r>
          </a:p>
        </p:txBody>
      </p:sp>
      <p:pic>
        <p:nvPicPr>
          <p:cNvPr id="96" name="Picture 4" descr="Nature Energy">
            <a:extLst>
              <a:ext uri="{FF2B5EF4-FFF2-40B4-BE49-F238E27FC236}">
                <a16:creationId xmlns:a16="http://schemas.microsoft.com/office/drawing/2014/main" id="{1DB527D0-6377-038A-6363-263CB9BB1287}"/>
              </a:ext>
            </a:extLst>
          </p:cNvPr>
          <p:cNvPicPr>
            <a:picLocks noChangeAspect="1" noChangeArrowheads="1"/>
          </p:cNvPicPr>
          <p:nvPr/>
        </p:nvPicPr>
        <p:blipFill>
          <a:blip r:embed="rId27" cstate="email">
            <a:extLst>
              <a:ext uri="{28A0092B-C50C-407E-A947-70E740481C1C}">
                <a14:useLocalDpi xmlns:a14="http://schemas.microsoft.com/office/drawing/2010/main"/>
              </a:ext>
            </a:extLst>
          </a:blip>
          <a:srcRect/>
          <a:stretch>
            <a:fillRect/>
          </a:stretch>
        </p:blipFill>
        <p:spPr bwMode="auto">
          <a:xfrm>
            <a:off x="18408924" y="10855544"/>
            <a:ext cx="705070" cy="3594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75002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03192-2AE2-896F-8417-A23DC7BFD1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F709BF-BDEB-9C4A-018C-A1FDBCE2C2FF}"/>
              </a:ext>
            </a:extLst>
          </p:cNvPr>
          <p:cNvSpPr>
            <a:spLocks noGrp="1"/>
          </p:cNvSpPr>
          <p:nvPr>
            <p:ph type="ctrTitle"/>
          </p:nvPr>
        </p:nvSpPr>
        <p:spPr>
          <a:xfrm>
            <a:off x="1662221" y="6304001"/>
            <a:ext cx="12078812" cy="2215991"/>
          </a:xfrm>
        </p:spPr>
        <p:txBody>
          <a:bodyPr/>
          <a:lstStyle/>
          <a:p>
            <a:pPr>
              <a:spcBef>
                <a:spcPts val="0"/>
              </a:spcBef>
              <a:defRPr sz="1800" b="0" i="0" u="none" strike="noStrike" kern="0" cap="none" spc="0" baseline="0">
                <a:solidFill>
                  <a:srgbClr val="000000"/>
                </a:solidFill>
                <a:uFillTx/>
              </a:defRPr>
            </a:pPr>
            <a:r>
              <a:rPr lang="tr-TR" sz="8000" dirty="0" err="1">
                <a:solidFill>
                  <a:srgbClr val="FFFFFF"/>
                </a:solidFill>
              </a:rPr>
              <a:t>Our</a:t>
            </a:r>
            <a:r>
              <a:rPr lang="tr-TR" sz="8000" dirty="0">
                <a:solidFill>
                  <a:srgbClr val="FFFFFF"/>
                </a:solidFill>
              </a:rPr>
              <a:t> </a:t>
            </a:r>
            <a:r>
              <a:rPr lang="tr-TR" sz="8000" dirty="0" err="1">
                <a:solidFill>
                  <a:srgbClr val="FFFFFF"/>
                </a:solidFill>
              </a:rPr>
              <a:t>people</a:t>
            </a:r>
            <a:r>
              <a:rPr lang="tr-TR" sz="8000" dirty="0">
                <a:solidFill>
                  <a:srgbClr val="FFFFFF"/>
                </a:solidFill>
              </a:rPr>
              <a:t> </a:t>
            </a:r>
            <a:r>
              <a:rPr lang="tr-TR" sz="8000" dirty="0" err="1">
                <a:solidFill>
                  <a:srgbClr val="FFFFFF"/>
                </a:solidFill>
              </a:rPr>
              <a:t>make</a:t>
            </a:r>
            <a:br>
              <a:rPr lang="tr-TR" sz="8000" dirty="0">
                <a:solidFill>
                  <a:srgbClr val="1C1C1C"/>
                </a:solidFill>
              </a:rPr>
            </a:br>
            <a:r>
              <a:rPr lang="tr-TR" sz="8000" dirty="0">
                <a:solidFill>
                  <a:srgbClr val="12BD64"/>
                </a:solidFill>
                <a:ea typeface="Figtree Bold" pitchFamily="34"/>
              </a:rPr>
              <a:t>Start </a:t>
            </a:r>
            <a:r>
              <a:rPr lang="tr-TR" sz="8000" dirty="0" err="1">
                <a:solidFill>
                  <a:srgbClr val="12BD64"/>
                </a:solidFill>
                <a:ea typeface="Figtree Bold" pitchFamily="34"/>
              </a:rPr>
              <a:t>Campus</a:t>
            </a:r>
            <a:r>
              <a:rPr lang="tr-TR" sz="8000" dirty="0">
                <a:solidFill>
                  <a:srgbClr val="1C1C1C"/>
                </a:solidFill>
                <a:ea typeface="Figtree Bold" pitchFamily="34"/>
              </a:rPr>
              <a:t> </a:t>
            </a:r>
            <a:r>
              <a:rPr lang="tr-TR" sz="8000" dirty="0" err="1">
                <a:solidFill>
                  <a:srgbClr val="FFFFFF"/>
                </a:solidFill>
                <a:ea typeface="Figtree Bold" pitchFamily="34"/>
              </a:rPr>
              <a:t>unique</a:t>
            </a:r>
            <a:endParaRPr lang="en-US" sz="8000" dirty="0">
              <a:solidFill>
                <a:srgbClr val="FFFFFF"/>
              </a:solidFill>
              <a:ea typeface="Figtree Bold" pitchFamily="34"/>
            </a:endParaRPr>
          </a:p>
        </p:txBody>
      </p:sp>
      <p:pic>
        <p:nvPicPr>
          <p:cNvPr id="5" name="Picture 4" descr="A green and grey map of the world&#10;&#10;Description automatically generated">
            <a:extLst>
              <a:ext uri="{FF2B5EF4-FFF2-40B4-BE49-F238E27FC236}">
                <a16:creationId xmlns:a16="http://schemas.microsoft.com/office/drawing/2014/main" id="{F39FDB42-C95E-EE6C-AAD8-0474DBBD9DB1}"/>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813"/>
          <a:stretch/>
        </p:blipFill>
        <p:spPr>
          <a:xfrm>
            <a:off x="17937047" y="-134755"/>
            <a:ext cx="6448540" cy="13850754"/>
          </a:xfrm>
          <a:prstGeom prst="rect">
            <a:avLst/>
          </a:prstGeom>
        </p:spPr>
      </p:pic>
      <p:sp>
        <p:nvSpPr>
          <p:cNvPr id="3" name="Text 8">
            <a:extLst>
              <a:ext uri="{FF2B5EF4-FFF2-40B4-BE49-F238E27FC236}">
                <a16:creationId xmlns:a16="http://schemas.microsoft.com/office/drawing/2014/main" id="{060CDCF1-6C46-3211-C36B-8C1E154BD10F}"/>
              </a:ext>
            </a:extLst>
          </p:cNvPr>
          <p:cNvSpPr/>
          <p:nvPr/>
        </p:nvSpPr>
        <p:spPr>
          <a:xfrm>
            <a:off x="1561192" y="10357851"/>
            <a:ext cx="6188727" cy="984885"/>
          </a:xfrm>
          <a:prstGeom prst="rect">
            <a:avLst/>
          </a:prstGeom>
          <a:noFill/>
          <a:ln cap="flat">
            <a:noFill/>
            <a:prstDash val="solid"/>
          </a:ln>
        </p:spPr>
        <p:txBody>
          <a:bodyPr vert="horz" wrap="none" lIns="144000" tIns="0" rIns="0" bIns="0" anchor="t" anchorCtr="1" compatLnSpc="1">
            <a:spAutoFit/>
          </a:bodyPr>
          <a:lstStyle/>
          <a:p>
            <a:pPr defTabSz="1828800">
              <a:defRPr sz="1800" b="0" i="0" u="none" strike="noStrike" kern="0" cap="none" spc="0" baseline="0">
                <a:solidFill>
                  <a:srgbClr val="000000"/>
                </a:solidFill>
                <a:uFillTx/>
              </a:defRPr>
            </a:pPr>
            <a:r>
              <a:rPr lang="tr-TR" sz="3200" dirty="0">
                <a:solidFill>
                  <a:srgbClr val="12BD64"/>
                </a:solidFill>
                <a:latin typeface="Figtree"/>
              </a:rPr>
              <a:t>A </a:t>
            </a:r>
            <a:r>
              <a:rPr lang="tr-TR" sz="3200" dirty="0" err="1">
                <a:solidFill>
                  <a:srgbClr val="12BD64"/>
                </a:solidFill>
                <a:latin typeface="Figtree"/>
              </a:rPr>
              <a:t>team</a:t>
            </a:r>
            <a:r>
              <a:rPr lang="tr-TR" sz="3200" dirty="0">
                <a:solidFill>
                  <a:srgbClr val="12BD64"/>
                </a:solidFill>
                <a:latin typeface="Figtree"/>
              </a:rPr>
              <a:t> </a:t>
            </a:r>
            <a:r>
              <a:rPr lang="tr-TR" sz="3200" dirty="0" err="1">
                <a:solidFill>
                  <a:srgbClr val="12BD64"/>
                </a:solidFill>
                <a:latin typeface="Figtree"/>
              </a:rPr>
              <a:t>with</a:t>
            </a:r>
            <a:r>
              <a:rPr lang="tr-TR" sz="3200" dirty="0">
                <a:solidFill>
                  <a:srgbClr val="12BD64"/>
                </a:solidFill>
                <a:latin typeface="Figtree"/>
              </a:rPr>
              <a:t> </a:t>
            </a:r>
            <a:r>
              <a:rPr lang="tr-TR" sz="3200" dirty="0" err="1">
                <a:solidFill>
                  <a:srgbClr val="12BD64"/>
                </a:solidFill>
                <a:latin typeface="Figtree"/>
              </a:rPr>
              <a:t>hundreds</a:t>
            </a:r>
            <a:r>
              <a:rPr lang="tr-TR" sz="3200" dirty="0">
                <a:solidFill>
                  <a:srgbClr val="12BD64"/>
                </a:solidFill>
                <a:latin typeface="Figtree"/>
              </a:rPr>
              <a:t> of </a:t>
            </a:r>
            <a:r>
              <a:rPr lang="tr-TR" sz="3200" dirty="0" err="1">
                <a:solidFill>
                  <a:srgbClr val="12BD64"/>
                </a:solidFill>
                <a:latin typeface="Figtree"/>
              </a:rPr>
              <a:t>years</a:t>
            </a:r>
            <a:r>
              <a:rPr lang="tr-TR" sz="3200" dirty="0">
                <a:solidFill>
                  <a:srgbClr val="12BD64"/>
                </a:solidFill>
                <a:latin typeface="Figtree"/>
              </a:rPr>
              <a:t> </a:t>
            </a:r>
          </a:p>
          <a:p>
            <a:pPr defTabSz="1828800">
              <a:defRPr sz="1800" b="0" i="0" u="none" strike="noStrike" kern="0" cap="none" spc="0" baseline="0">
                <a:solidFill>
                  <a:srgbClr val="000000"/>
                </a:solidFill>
                <a:uFillTx/>
              </a:defRPr>
            </a:pPr>
            <a:r>
              <a:rPr lang="tr-TR" sz="3200" dirty="0">
                <a:solidFill>
                  <a:srgbClr val="12BD64"/>
                </a:solidFill>
                <a:latin typeface="Figtree"/>
              </a:rPr>
              <a:t>of </a:t>
            </a:r>
            <a:r>
              <a:rPr lang="tr-TR" sz="3200" dirty="0" err="1">
                <a:solidFill>
                  <a:srgbClr val="12BD64"/>
                </a:solidFill>
                <a:latin typeface="Figtree"/>
              </a:rPr>
              <a:t>combined</a:t>
            </a:r>
            <a:r>
              <a:rPr lang="tr-TR" sz="3200" dirty="0">
                <a:solidFill>
                  <a:srgbClr val="12BD64"/>
                </a:solidFill>
                <a:latin typeface="Figtree"/>
              </a:rPr>
              <a:t> </a:t>
            </a:r>
            <a:r>
              <a:rPr lang="tr-TR" sz="3200" dirty="0" err="1">
                <a:solidFill>
                  <a:srgbClr val="12BD64"/>
                </a:solidFill>
                <a:latin typeface="Figtree"/>
              </a:rPr>
              <a:t>industry</a:t>
            </a:r>
            <a:r>
              <a:rPr lang="tr-TR" sz="3200" dirty="0">
                <a:solidFill>
                  <a:srgbClr val="12BD64"/>
                </a:solidFill>
                <a:latin typeface="Figtree"/>
              </a:rPr>
              <a:t> </a:t>
            </a:r>
            <a:r>
              <a:rPr lang="tr-TR" sz="3200" dirty="0" err="1">
                <a:solidFill>
                  <a:srgbClr val="12BD64"/>
                </a:solidFill>
                <a:latin typeface="Figtree"/>
              </a:rPr>
              <a:t>experience</a:t>
            </a:r>
            <a:endParaRPr lang="en-US" sz="3200" dirty="0">
              <a:solidFill>
                <a:srgbClr val="12BD64"/>
              </a:solidFill>
              <a:latin typeface="Figtree"/>
            </a:endParaRPr>
          </a:p>
        </p:txBody>
      </p:sp>
      <p:sp>
        <p:nvSpPr>
          <p:cNvPr id="4" name="Text 8">
            <a:extLst>
              <a:ext uri="{FF2B5EF4-FFF2-40B4-BE49-F238E27FC236}">
                <a16:creationId xmlns:a16="http://schemas.microsoft.com/office/drawing/2014/main" id="{571CE8D4-66B7-40E5-C8DF-26C9BA6CEEFD}"/>
              </a:ext>
            </a:extLst>
          </p:cNvPr>
          <p:cNvSpPr/>
          <p:nvPr/>
        </p:nvSpPr>
        <p:spPr>
          <a:xfrm>
            <a:off x="1586593" y="8974653"/>
            <a:ext cx="6836340" cy="984885"/>
          </a:xfrm>
          <a:prstGeom prst="rect">
            <a:avLst/>
          </a:prstGeom>
          <a:noFill/>
          <a:ln cap="flat">
            <a:noFill/>
            <a:prstDash val="solid"/>
          </a:ln>
        </p:spPr>
        <p:txBody>
          <a:bodyPr vert="horz" wrap="none" lIns="144000" tIns="0" rIns="0" bIns="0" anchor="t" anchorCtr="1" compatLnSpc="1">
            <a:spAutoFit/>
          </a:bodyPr>
          <a:lstStyle/>
          <a:p>
            <a:pPr defTabSz="1828800">
              <a:defRPr sz="1800" b="0" i="0" u="none" strike="noStrike" kern="0" cap="none" spc="0" baseline="0">
                <a:solidFill>
                  <a:srgbClr val="000000"/>
                </a:solidFill>
                <a:uFillTx/>
              </a:defRPr>
            </a:pPr>
            <a:r>
              <a:rPr lang="en-GB" sz="3200" dirty="0">
                <a:solidFill>
                  <a:srgbClr val="FFFFFF"/>
                </a:solidFill>
                <a:latin typeface="Figtree"/>
              </a:rPr>
              <a:t>Experienced management team, </a:t>
            </a:r>
            <a:br>
              <a:rPr lang="en-GB" sz="3200" dirty="0">
                <a:solidFill>
                  <a:srgbClr val="FFFFFF"/>
                </a:solidFill>
                <a:latin typeface="Figtree"/>
              </a:rPr>
            </a:br>
            <a:r>
              <a:rPr lang="en-GB" sz="3200" dirty="0">
                <a:solidFill>
                  <a:srgbClr val="FFFFFF"/>
                </a:solidFill>
                <a:latin typeface="Figtree"/>
              </a:rPr>
              <a:t>backed by two world-class investors</a:t>
            </a:r>
            <a:endParaRPr lang="en-US" sz="3200" dirty="0">
              <a:solidFill>
                <a:srgbClr val="FFFFFF"/>
              </a:solidFill>
              <a:latin typeface="Figtree"/>
            </a:endParaRPr>
          </a:p>
        </p:txBody>
      </p:sp>
    </p:spTree>
    <p:extLst>
      <p:ext uri="{BB962C8B-B14F-4D97-AF65-F5344CB8AC3E}">
        <p14:creationId xmlns:p14="http://schemas.microsoft.com/office/powerpoint/2010/main" val="41281989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62BB9-FAE5-2F37-AE1E-D8B54DDBFD4D}"/>
            </a:ext>
          </a:extLst>
        </p:cNvPr>
        <p:cNvGrpSpPr/>
        <p:nvPr/>
      </p:nvGrpSpPr>
      <p:grpSpPr>
        <a:xfrm>
          <a:off x="0" y="0"/>
          <a:ext cx="0" cy="0"/>
          <a:chOff x="0" y="0"/>
          <a:chExt cx="0" cy="0"/>
        </a:xfrm>
      </p:grpSpPr>
      <p:sp>
        <p:nvSpPr>
          <p:cNvPr id="19" name="Rectangle 18">
            <a:extLst>
              <a:ext uri="{FF2B5EF4-FFF2-40B4-BE49-F238E27FC236}">
                <a16:creationId xmlns:a16="http://schemas.microsoft.com/office/drawing/2014/main" id="{E9D981CF-29F6-DFF0-4A2E-F80F932D898A}"/>
              </a:ext>
            </a:extLst>
          </p:cNvPr>
          <p:cNvSpPr/>
          <p:nvPr/>
        </p:nvSpPr>
        <p:spPr>
          <a:xfrm>
            <a:off x="10234424" y="0"/>
            <a:ext cx="7718614" cy="7750982"/>
          </a:xfrm>
          <a:prstGeom prst="rect">
            <a:avLst/>
          </a:prstGeom>
          <a:solidFill>
            <a:srgbClr val="ED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4F4FF"/>
              </a:solidFill>
              <a:effectLst/>
              <a:uLnTx/>
              <a:uFillTx/>
              <a:latin typeface="Gill Sans MT" panose="020B0502020104020203"/>
              <a:ea typeface="+mn-ea"/>
              <a:cs typeface="+mn-cs"/>
            </a:endParaRPr>
          </a:p>
        </p:txBody>
      </p:sp>
      <p:sp>
        <p:nvSpPr>
          <p:cNvPr id="7" name="Rectangle 6">
            <a:extLst>
              <a:ext uri="{FF2B5EF4-FFF2-40B4-BE49-F238E27FC236}">
                <a16:creationId xmlns:a16="http://schemas.microsoft.com/office/drawing/2014/main" id="{987C64E6-F8FF-DAB1-7223-07AAC96DE11F}"/>
              </a:ext>
            </a:extLst>
          </p:cNvPr>
          <p:cNvSpPr/>
          <p:nvPr/>
        </p:nvSpPr>
        <p:spPr>
          <a:xfrm>
            <a:off x="1" y="10903137"/>
            <a:ext cx="10404538" cy="360000"/>
          </a:xfrm>
          <a:prstGeom prst="rect">
            <a:avLst/>
          </a:prstGeom>
          <a:solidFill>
            <a:srgbClr val="ED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4F4FF"/>
              </a:solidFill>
              <a:effectLst/>
              <a:uLnTx/>
              <a:uFillTx/>
              <a:latin typeface="Gill Sans MT" panose="020B0502020104020203"/>
              <a:ea typeface="+mn-ea"/>
              <a:cs typeface="+mn-cs"/>
            </a:endParaRPr>
          </a:p>
        </p:txBody>
      </p:sp>
      <p:pic>
        <p:nvPicPr>
          <p:cNvPr id="10" name="Picture Placeholder 8">
            <a:extLst>
              <a:ext uri="{FF2B5EF4-FFF2-40B4-BE49-F238E27FC236}">
                <a16:creationId xmlns:a16="http://schemas.microsoft.com/office/drawing/2014/main" id="{9BB74475-8F15-2EF7-0474-B81C24A82D74}"/>
              </a:ext>
            </a:extLst>
          </p:cNvPr>
          <p:cNvPicPr>
            <a:picLocks noGrp="1" noChangeAspect="1"/>
          </p:cNvPicPr>
          <p:nvPr>
            <p:ph type="pic" sz="quarter" idx="13"/>
          </p:nvPr>
        </p:nvPicPr>
        <p:blipFill>
          <a:blip r:embed="rId3" cstate="email">
            <a:extLst>
              <a:ext uri="{28A0092B-C50C-407E-A947-70E740481C1C}">
                <a14:useLocalDpi xmlns:a14="http://schemas.microsoft.com/office/drawing/2010/main"/>
              </a:ext>
            </a:extLst>
          </a:blip>
          <a:srcRect/>
          <a:stretch>
            <a:fillRect/>
          </a:stretch>
        </p:blipFill>
        <p:spPr>
          <a:xfrm>
            <a:off x="17953038" y="0"/>
            <a:ext cx="6432550" cy="13716000"/>
          </a:xfrm>
        </p:spPr>
      </p:pic>
      <p:pic>
        <p:nvPicPr>
          <p:cNvPr id="30" name="Graphic 29">
            <a:extLst>
              <a:ext uri="{FF2B5EF4-FFF2-40B4-BE49-F238E27FC236}">
                <a16:creationId xmlns:a16="http://schemas.microsoft.com/office/drawing/2014/main" id="{B51DC58C-D7E4-160A-F019-78BBEB181D2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34391" y="667382"/>
            <a:ext cx="3217900" cy="1067888"/>
          </a:xfrm>
          <a:prstGeom prst="rect">
            <a:avLst/>
          </a:prstGeom>
        </p:spPr>
      </p:pic>
      <p:pic>
        <p:nvPicPr>
          <p:cNvPr id="54" name="Picture 14">
            <a:extLst>
              <a:ext uri="{FF2B5EF4-FFF2-40B4-BE49-F238E27FC236}">
                <a16:creationId xmlns:a16="http://schemas.microsoft.com/office/drawing/2014/main" id="{AA74101A-A0AE-ED0B-2B96-E760EAA61FCB}"/>
              </a:ext>
            </a:extLst>
          </p:cNvPr>
          <p:cNvPicPr>
            <a:picLocks noChangeAspect="1"/>
          </p:cNvPicPr>
          <p:nvPr/>
        </p:nvPicPr>
        <p:blipFill>
          <a:blip r:embed="rId5" cstate="email">
            <a:extLst>
              <a:ext uri="{28A0092B-C50C-407E-A947-70E740481C1C}">
                <a14:useLocalDpi xmlns:a14="http://schemas.microsoft.com/office/drawing/2010/main"/>
              </a:ext>
            </a:extLst>
          </a:blip>
          <a:srcRect/>
          <a:stretch/>
        </p:blipFill>
        <p:spPr>
          <a:xfrm>
            <a:off x="4282913" y="3171661"/>
            <a:ext cx="1822479" cy="1822480"/>
          </a:xfrm>
          <a:prstGeom prst="ellipse">
            <a:avLst/>
          </a:prstGeom>
          <a:noFill/>
          <a:ln w="28575" cap="flat">
            <a:solidFill>
              <a:srgbClr val="475B23"/>
            </a:solidFill>
          </a:ln>
        </p:spPr>
      </p:pic>
      <p:pic>
        <p:nvPicPr>
          <p:cNvPr id="55" name="Picture 54">
            <a:extLst>
              <a:ext uri="{FF2B5EF4-FFF2-40B4-BE49-F238E27FC236}">
                <a16:creationId xmlns:a16="http://schemas.microsoft.com/office/drawing/2014/main" id="{32E38858-9C44-A363-BE01-02F957FB08DD}"/>
              </a:ext>
            </a:extLst>
          </p:cNvPr>
          <p:cNvPicPr>
            <a:picLocks noChangeAspect="1"/>
          </p:cNvPicPr>
          <p:nvPr/>
        </p:nvPicPr>
        <p:blipFill>
          <a:blip r:embed="rId6" cstate="email">
            <a:extLst>
              <a:ext uri="{28A0092B-C50C-407E-A947-70E740481C1C}">
                <a14:useLocalDpi xmlns:a14="http://schemas.microsoft.com/office/drawing/2010/main"/>
              </a:ext>
            </a:extLst>
          </a:blip>
          <a:srcRect/>
          <a:stretch/>
        </p:blipFill>
        <p:spPr>
          <a:xfrm>
            <a:off x="7204733" y="3158637"/>
            <a:ext cx="1822479" cy="1822480"/>
          </a:xfrm>
          <a:prstGeom prst="ellipse">
            <a:avLst/>
          </a:prstGeom>
          <a:ln w="28575">
            <a:solidFill>
              <a:srgbClr val="475B23"/>
            </a:solidFill>
          </a:ln>
        </p:spPr>
      </p:pic>
      <p:pic>
        <p:nvPicPr>
          <p:cNvPr id="56" name="Picture 55">
            <a:extLst>
              <a:ext uri="{FF2B5EF4-FFF2-40B4-BE49-F238E27FC236}">
                <a16:creationId xmlns:a16="http://schemas.microsoft.com/office/drawing/2014/main" id="{2D406FA2-8D54-F907-259C-292107FCB956}"/>
              </a:ext>
            </a:extLst>
          </p:cNvPr>
          <p:cNvPicPr>
            <a:picLocks noChangeAspect="1"/>
          </p:cNvPicPr>
          <p:nvPr/>
        </p:nvPicPr>
        <p:blipFill>
          <a:blip r:embed="rId7" cstate="email">
            <a:extLst>
              <a:ext uri="{28A0092B-C50C-407E-A947-70E740481C1C}">
                <a14:useLocalDpi xmlns:a14="http://schemas.microsoft.com/office/drawing/2010/main"/>
              </a:ext>
            </a:extLst>
          </a:blip>
          <a:srcRect/>
          <a:stretch/>
        </p:blipFill>
        <p:spPr>
          <a:xfrm>
            <a:off x="1413162" y="3165149"/>
            <a:ext cx="1822479" cy="1822480"/>
          </a:xfrm>
          <a:prstGeom prst="ellipse">
            <a:avLst/>
          </a:prstGeom>
          <a:ln w="28575">
            <a:solidFill>
              <a:srgbClr val="475B23"/>
            </a:solidFill>
          </a:ln>
        </p:spPr>
      </p:pic>
      <p:sp>
        <p:nvSpPr>
          <p:cNvPr id="57" name="TextBox 56">
            <a:extLst>
              <a:ext uri="{FF2B5EF4-FFF2-40B4-BE49-F238E27FC236}">
                <a16:creationId xmlns:a16="http://schemas.microsoft.com/office/drawing/2014/main" id="{9F2B7698-95BD-334A-26DE-FD2022E8A237}"/>
              </a:ext>
            </a:extLst>
          </p:cNvPr>
          <p:cNvSpPr txBox="1"/>
          <p:nvPr/>
        </p:nvSpPr>
        <p:spPr>
          <a:xfrm>
            <a:off x="1012769" y="5084852"/>
            <a:ext cx="2623265" cy="822909"/>
          </a:xfrm>
          <a:prstGeom prst="rect">
            <a:avLst/>
          </a:prstGeom>
          <a:noFill/>
        </p:spPr>
        <p:txBody>
          <a:bodyPr wrap="square" tIns="36000" bIns="36000">
            <a:spAutoFit/>
          </a:bodyPr>
          <a:lstStyle/>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0" cap="none" spc="0" normalizeH="0" baseline="0" noProof="0">
                <a:ln>
                  <a:noFill/>
                </a:ln>
                <a:solidFill>
                  <a:srgbClr val="000000"/>
                </a:solidFill>
                <a:effectLst/>
                <a:uLnTx/>
                <a:uFillTx/>
                <a:latin typeface="Figtree" pitchFamily="2" charset="0"/>
                <a:ea typeface="+mn-ea"/>
                <a:cs typeface="+mn-cs"/>
              </a:rPr>
              <a:t>Robert Dunn</a:t>
            </a:r>
          </a:p>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1800" b="0" i="0" u="none" strike="noStrike" kern="0" cap="none" spc="0" normalizeH="0" baseline="0" noProof="0">
                <a:ln>
                  <a:noFill/>
                </a:ln>
                <a:solidFill>
                  <a:srgbClr val="00C159"/>
                </a:solidFill>
                <a:effectLst/>
                <a:uLnTx/>
                <a:uFillTx/>
                <a:latin typeface="Figtree" pitchFamily="2" charset="0"/>
                <a:ea typeface="+mn-ea"/>
                <a:cs typeface="+mn-cs"/>
              </a:rPr>
              <a:t>Chief Executive Officer</a:t>
            </a:r>
          </a:p>
        </p:txBody>
      </p:sp>
      <p:sp>
        <p:nvSpPr>
          <p:cNvPr id="58" name="TextBox 57">
            <a:extLst>
              <a:ext uri="{FF2B5EF4-FFF2-40B4-BE49-F238E27FC236}">
                <a16:creationId xmlns:a16="http://schemas.microsoft.com/office/drawing/2014/main" id="{E28E234C-18BB-B7DE-E362-34CC7A7CBCA5}"/>
              </a:ext>
            </a:extLst>
          </p:cNvPr>
          <p:cNvSpPr txBox="1"/>
          <p:nvPr/>
        </p:nvSpPr>
        <p:spPr>
          <a:xfrm>
            <a:off x="1012769" y="5915633"/>
            <a:ext cx="2623265" cy="241605"/>
          </a:xfrm>
          <a:prstGeom prst="rect">
            <a:avLst/>
          </a:prstGeom>
          <a:noFill/>
        </p:spPr>
        <p:txBody>
          <a:bodyPr wrap="square">
            <a:spAutoFit/>
          </a:bodyPr>
          <a:lstStyle/>
          <a:p>
            <a:pPr marL="0" marR="0" lvl="0" indent="0" algn="ctr" defTabSz="1828891"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1CDCD">
                    <a:lumMod val="90000"/>
                  </a:srgbClr>
                </a:solidFill>
                <a:effectLst/>
                <a:uLnTx/>
                <a:uFillTx/>
                <a:latin typeface="Figtree" pitchFamily="2" charset="0"/>
                <a:ea typeface="+mn-ea"/>
                <a:cs typeface="+mn-cs"/>
              </a:rPr>
              <a:t>Precedent experience</a:t>
            </a:r>
            <a:endParaRPr kumimoji="0" lang="en-GB" sz="1200" b="0" i="0" u="none" strike="noStrike" kern="1200" cap="none" spc="0" normalizeH="0" baseline="0" noProof="0">
              <a:ln>
                <a:noFill/>
              </a:ln>
              <a:solidFill>
                <a:srgbClr val="D1CDCD">
                  <a:lumMod val="90000"/>
                </a:srgbClr>
              </a:solidFill>
              <a:effectLst/>
              <a:uLnTx/>
              <a:uFillTx/>
              <a:latin typeface="Figtree" pitchFamily="2" charset="0"/>
              <a:ea typeface="+mn-ea"/>
              <a:cs typeface="+mn-cs"/>
            </a:endParaRPr>
          </a:p>
        </p:txBody>
      </p:sp>
      <p:pic>
        <p:nvPicPr>
          <p:cNvPr id="59" name="Picture 6">
            <a:extLst>
              <a:ext uri="{FF2B5EF4-FFF2-40B4-BE49-F238E27FC236}">
                <a16:creationId xmlns:a16="http://schemas.microsoft.com/office/drawing/2014/main" id="{107FE7C3-C006-5A29-5FF2-718D9073867B}"/>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p:blipFill>
        <p:spPr bwMode="auto">
          <a:xfrm>
            <a:off x="1631018" y="6018269"/>
            <a:ext cx="1386766" cy="657908"/>
          </a:xfrm>
          <a:prstGeom prst="rect">
            <a:avLst/>
          </a:prstGeom>
          <a:noFill/>
          <a:extLst>
            <a:ext uri="{909E8E84-426E-40DD-AFC4-6F175D3DCCD1}">
              <a14:hiddenFill xmlns:a14="http://schemas.microsoft.com/office/drawing/2010/main">
                <a:solidFill>
                  <a:srgbClr val="FFFFFF"/>
                </a:solidFill>
              </a14:hiddenFill>
            </a:ext>
          </a:extLst>
        </p:spPr>
      </p:pic>
      <p:sp>
        <p:nvSpPr>
          <p:cNvPr id="61" name="TextBox 22">
            <a:extLst>
              <a:ext uri="{FF2B5EF4-FFF2-40B4-BE49-F238E27FC236}">
                <a16:creationId xmlns:a16="http://schemas.microsoft.com/office/drawing/2014/main" id="{B9AE2E10-E960-4A24-E85A-261521EE1124}"/>
              </a:ext>
            </a:extLst>
          </p:cNvPr>
          <p:cNvSpPr txBox="1"/>
          <p:nvPr/>
        </p:nvSpPr>
        <p:spPr>
          <a:xfrm>
            <a:off x="3882520" y="5084852"/>
            <a:ext cx="2623265" cy="822909"/>
          </a:xfrm>
          <a:prstGeom prst="rect">
            <a:avLst/>
          </a:prstGeom>
          <a:noFill/>
          <a:ln cap="flat">
            <a:noFill/>
          </a:ln>
        </p:spPr>
        <p:txBody>
          <a:bodyPr vert="horz" wrap="square" lIns="0" tIns="36000" rIns="0" bIns="36000" anchor="t" anchorCtr="1" compatLnSpc="1">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0" cap="none" spc="0" normalizeH="0" baseline="0" noProof="0">
                <a:ln>
                  <a:noFill/>
                </a:ln>
                <a:solidFill>
                  <a:srgbClr val="000000"/>
                </a:solidFill>
                <a:effectLst/>
                <a:uLnTx/>
                <a:uFillTx/>
                <a:latin typeface="Figtree" pitchFamily="2" charset="0"/>
                <a:ea typeface="+mn-ea"/>
                <a:cs typeface="+mn-cs"/>
              </a:rPr>
              <a:t>Luis Rodrigues</a:t>
            </a:r>
          </a:p>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1800" b="0" i="0" u="none" strike="noStrike" kern="0" cap="none" spc="0" normalizeH="0" baseline="0" noProof="0">
                <a:ln>
                  <a:noFill/>
                </a:ln>
                <a:solidFill>
                  <a:srgbClr val="00C159"/>
                </a:solidFill>
                <a:effectLst/>
                <a:uLnTx/>
                <a:uFillTx/>
                <a:latin typeface="Figtree" pitchFamily="2" charset="0"/>
                <a:ea typeface="+mn-ea"/>
                <a:cs typeface="+mn-cs"/>
              </a:rPr>
              <a:t>Chief Operating Officer</a:t>
            </a:r>
          </a:p>
        </p:txBody>
      </p:sp>
      <p:pic>
        <p:nvPicPr>
          <p:cNvPr id="62" name="Picture 20">
            <a:extLst>
              <a:ext uri="{FF2B5EF4-FFF2-40B4-BE49-F238E27FC236}">
                <a16:creationId xmlns:a16="http://schemas.microsoft.com/office/drawing/2014/main" id="{737DC80B-0B4A-3C40-F356-E66EDA206D41}"/>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p:blipFill>
        <p:spPr bwMode="auto">
          <a:xfrm>
            <a:off x="4619150" y="6151628"/>
            <a:ext cx="1150004" cy="391190"/>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1300289F-6454-039C-E9A8-47298A8C15C8}"/>
              </a:ext>
            </a:extLst>
          </p:cNvPr>
          <p:cNvSpPr txBox="1"/>
          <p:nvPr/>
        </p:nvSpPr>
        <p:spPr>
          <a:xfrm>
            <a:off x="3882520" y="5915633"/>
            <a:ext cx="2623265" cy="241605"/>
          </a:xfrm>
          <a:prstGeom prst="rect">
            <a:avLst/>
          </a:prstGeom>
          <a:noFill/>
        </p:spPr>
        <p:txBody>
          <a:bodyPr wrap="square">
            <a:spAutoFit/>
          </a:bodyPr>
          <a:lstStyle/>
          <a:p>
            <a:pPr marL="0" marR="0" lvl="0" indent="0" algn="ctr" defTabSz="1828891"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1CDCD">
                    <a:lumMod val="90000"/>
                  </a:srgbClr>
                </a:solidFill>
                <a:effectLst/>
                <a:uLnTx/>
                <a:uFillTx/>
                <a:latin typeface="Figtree" pitchFamily="2" charset="0"/>
                <a:ea typeface="+mn-ea"/>
                <a:cs typeface="+mn-cs"/>
              </a:rPr>
              <a:t>Precedent experience</a:t>
            </a:r>
            <a:endParaRPr kumimoji="0" lang="en-GB" sz="1200" b="0" i="0" u="none" strike="noStrike" kern="1200" cap="none" spc="0" normalizeH="0" baseline="0" noProof="0">
              <a:ln>
                <a:noFill/>
              </a:ln>
              <a:solidFill>
                <a:srgbClr val="D1CDCD">
                  <a:lumMod val="90000"/>
                </a:srgbClr>
              </a:solidFill>
              <a:effectLst/>
              <a:uLnTx/>
              <a:uFillTx/>
              <a:latin typeface="Figtree" pitchFamily="2" charset="0"/>
              <a:ea typeface="+mn-ea"/>
              <a:cs typeface="+mn-cs"/>
            </a:endParaRPr>
          </a:p>
        </p:txBody>
      </p:sp>
      <p:sp>
        <p:nvSpPr>
          <p:cNvPr id="1025" name="TextBox 19">
            <a:extLst>
              <a:ext uri="{FF2B5EF4-FFF2-40B4-BE49-F238E27FC236}">
                <a16:creationId xmlns:a16="http://schemas.microsoft.com/office/drawing/2014/main" id="{AC07F248-237B-DB53-D2FC-16BF81971D0B}"/>
              </a:ext>
            </a:extLst>
          </p:cNvPr>
          <p:cNvSpPr txBox="1"/>
          <p:nvPr/>
        </p:nvSpPr>
        <p:spPr>
          <a:xfrm>
            <a:off x="6804340" y="5084852"/>
            <a:ext cx="2623265" cy="822909"/>
          </a:xfrm>
          <a:prstGeom prst="rect">
            <a:avLst/>
          </a:prstGeom>
          <a:noFill/>
          <a:ln cap="flat">
            <a:noFill/>
          </a:ln>
        </p:spPr>
        <p:txBody>
          <a:bodyPr vert="horz" wrap="square" lIns="0" tIns="36000" rIns="0" bIns="36000" anchor="t" anchorCtr="1" compatLnSpc="1">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0" cap="none" spc="0" normalizeH="0" baseline="0" noProof="0">
                <a:ln>
                  <a:noFill/>
                </a:ln>
                <a:solidFill>
                  <a:srgbClr val="000000"/>
                </a:solidFill>
                <a:effectLst/>
                <a:uLnTx/>
                <a:uFillTx/>
                <a:latin typeface="Figtree" pitchFamily="2" charset="0"/>
                <a:ea typeface="+mn-ea"/>
                <a:cs typeface="+mn-cs"/>
              </a:rPr>
              <a:t>Caroline Romanski</a:t>
            </a:r>
          </a:p>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1800" b="0" i="0" u="none" strike="noStrike" kern="0" cap="none" spc="0" normalizeH="0" baseline="0" noProof="0">
                <a:ln>
                  <a:noFill/>
                </a:ln>
                <a:solidFill>
                  <a:srgbClr val="00C159"/>
                </a:solidFill>
                <a:effectLst/>
                <a:uLnTx/>
                <a:uFillTx/>
                <a:latin typeface="Figtree" pitchFamily="2" charset="0"/>
                <a:ea typeface="+mn-ea"/>
                <a:cs typeface="+mn-cs"/>
              </a:rPr>
              <a:t>Chief Corporate Officer</a:t>
            </a:r>
            <a:endParaRPr kumimoji="0" lang="en-US" sz="1800" b="0" i="0" u="none" strike="noStrike" kern="0" cap="none" spc="0" normalizeH="0" baseline="0" noProof="0">
              <a:ln>
                <a:noFill/>
              </a:ln>
              <a:solidFill>
                <a:srgbClr val="00C159"/>
              </a:solidFill>
              <a:effectLst/>
              <a:uLnTx/>
              <a:uFillTx/>
              <a:latin typeface="Figtree" pitchFamily="2" charset="0"/>
              <a:ea typeface="+mn-ea"/>
              <a:cs typeface="Calibri"/>
            </a:endParaRPr>
          </a:p>
        </p:txBody>
      </p:sp>
      <p:sp>
        <p:nvSpPr>
          <p:cNvPr id="1026" name="TextBox 1025">
            <a:extLst>
              <a:ext uri="{FF2B5EF4-FFF2-40B4-BE49-F238E27FC236}">
                <a16:creationId xmlns:a16="http://schemas.microsoft.com/office/drawing/2014/main" id="{E095D8B5-C948-2400-6A4C-4DBDF18A6005}"/>
              </a:ext>
            </a:extLst>
          </p:cNvPr>
          <p:cNvSpPr txBox="1"/>
          <p:nvPr/>
        </p:nvSpPr>
        <p:spPr>
          <a:xfrm>
            <a:off x="6804340" y="5915633"/>
            <a:ext cx="2623265" cy="241605"/>
          </a:xfrm>
          <a:prstGeom prst="rect">
            <a:avLst/>
          </a:prstGeom>
          <a:noFill/>
        </p:spPr>
        <p:txBody>
          <a:bodyPr wrap="square">
            <a:spAutoFit/>
          </a:bodyPr>
          <a:lstStyle/>
          <a:p>
            <a:pPr marL="0" marR="0" lvl="0" indent="0" algn="ctr" defTabSz="1828891"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1CDCD">
                    <a:lumMod val="90000"/>
                  </a:srgbClr>
                </a:solidFill>
                <a:effectLst/>
                <a:uLnTx/>
                <a:uFillTx/>
                <a:latin typeface="Figtree" pitchFamily="2" charset="0"/>
                <a:ea typeface="+mn-ea"/>
                <a:cs typeface="+mn-cs"/>
              </a:rPr>
              <a:t>Precedent experience</a:t>
            </a:r>
            <a:endParaRPr kumimoji="0" lang="en-GB" sz="1200" b="0" i="0" u="none" strike="noStrike" kern="1200" cap="none" spc="0" normalizeH="0" baseline="0" noProof="0">
              <a:ln>
                <a:noFill/>
              </a:ln>
              <a:solidFill>
                <a:srgbClr val="D1CDCD">
                  <a:lumMod val="90000"/>
                </a:srgbClr>
              </a:solidFill>
              <a:effectLst/>
              <a:uLnTx/>
              <a:uFillTx/>
              <a:latin typeface="Figtree" pitchFamily="2" charset="0"/>
              <a:ea typeface="+mn-ea"/>
              <a:cs typeface="+mn-cs"/>
            </a:endParaRPr>
          </a:p>
        </p:txBody>
      </p:sp>
      <p:pic>
        <p:nvPicPr>
          <p:cNvPr id="1027" name="Picture 2" descr="JP-Morgan Vector Logo - Download Free ...">
            <a:extLst>
              <a:ext uri="{FF2B5EF4-FFF2-40B4-BE49-F238E27FC236}">
                <a16:creationId xmlns:a16="http://schemas.microsoft.com/office/drawing/2014/main" id="{97EF20D0-22D0-4476-FC1E-5E2460BC5D9D}"/>
              </a:ext>
            </a:extLst>
          </p:cNvPr>
          <p:cNvPicPr>
            <a:picLocks noChangeAspect="1" noChangeArrowheads="1"/>
          </p:cNvPicPr>
          <p:nvPr/>
        </p:nvPicPr>
        <p:blipFill>
          <a:blip r:embed="rId10" cstate="email">
            <a:extLst>
              <a:ext uri="{28A0092B-C50C-407E-A947-70E740481C1C}">
                <a14:useLocalDpi xmlns:a14="http://schemas.microsoft.com/office/drawing/2010/main"/>
              </a:ext>
            </a:extLst>
          </a:blip>
          <a:srcRect/>
          <a:stretch>
            <a:fillRect/>
          </a:stretch>
        </p:blipFill>
        <p:spPr bwMode="auto">
          <a:xfrm>
            <a:off x="7394196" y="6198794"/>
            <a:ext cx="1443553" cy="296859"/>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035" descr="Logo, company name&#10;&#10;Description automatically generated">
            <a:extLst>
              <a:ext uri="{FF2B5EF4-FFF2-40B4-BE49-F238E27FC236}">
                <a16:creationId xmlns:a16="http://schemas.microsoft.com/office/drawing/2014/main" id="{D3C6FDA5-259A-6F86-3526-317FCD596149}"/>
              </a:ext>
            </a:extLst>
          </p:cNvPr>
          <p:cNvPicPr>
            <a:picLocks noChangeAspect="1"/>
          </p:cNvPicPr>
          <p:nvPr/>
        </p:nvPicPr>
        <p:blipFill rotWithShape="1">
          <a:blip r:embed="rId11" cstate="email">
            <a:clrChange>
              <a:clrFrom>
                <a:srgbClr val="FFFEFD"/>
              </a:clrFrom>
              <a:clrTo>
                <a:srgbClr val="FFFEFD">
                  <a:alpha val="0"/>
                </a:srgbClr>
              </a:clrTo>
            </a:clrChange>
            <a:alphaModFix/>
            <a:extLst>
              <a:ext uri="{28A0092B-C50C-407E-A947-70E740481C1C}">
                <a14:useLocalDpi xmlns:a14="http://schemas.microsoft.com/office/drawing/2010/main"/>
              </a:ext>
            </a:extLst>
          </a:blip>
          <a:srcRect/>
          <a:stretch/>
        </p:blipFill>
        <p:spPr>
          <a:xfrm>
            <a:off x="10634170" y="3158637"/>
            <a:ext cx="3796853" cy="923415"/>
          </a:xfrm>
          <a:prstGeom prst="rect">
            <a:avLst/>
          </a:prstGeom>
        </p:spPr>
      </p:pic>
      <p:pic>
        <p:nvPicPr>
          <p:cNvPr id="1037" name="Picture 2" descr="Home – Pioneer Point Partners">
            <a:extLst>
              <a:ext uri="{FF2B5EF4-FFF2-40B4-BE49-F238E27FC236}">
                <a16:creationId xmlns:a16="http://schemas.microsoft.com/office/drawing/2014/main" id="{37D7EBE8-96FE-3277-0D2E-A49A72981C41}"/>
              </a:ext>
            </a:extLst>
          </p:cNvPr>
          <p:cNvPicPr>
            <a:picLocks noChangeAspect="1" noChangeArrowheads="1"/>
          </p:cNvPicPr>
          <p:nvPr/>
        </p:nvPicPr>
        <p:blipFill>
          <a:blip r:embed="rId12" cstate="print">
            <a:extLst>
              <a:ext uri="{28A0092B-C50C-407E-A947-70E740481C1C}">
                <a14:useLocalDpi xmlns:a14="http://schemas.microsoft.com/office/drawing/2010/main"/>
              </a:ext>
            </a:extLst>
          </a:blip>
          <a:srcRect/>
          <a:stretch>
            <a:fillRect/>
          </a:stretch>
        </p:blipFill>
        <p:spPr bwMode="auto">
          <a:xfrm>
            <a:off x="10904754" y="5316029"/>
            <a:ext cx="2714366" cy="846568"/>
          </a:xfrm>
          <a:prstGeom prst="rect">
            <a:avLst/>
          </a:prstGeom>
          <a:noFill/>
          <a:extLst>
            <a:ext uri="{909E8E84-426E-40DD-AFC4-6F175D3DCCD1}">
              <a14:hiddenFill xmlns:a14="http://schemas.microsoft.com/office/drawing/2010/main">
                <a:solidFill>
                  <a:srgbClr val="FFFFFF"/>
                </a:solidFill>
              </a14:hiddenFill>
            </a:ext>
          </a:extLst>
        </p:spPr>
      </p:pic>
      <p:sp>
        <p:nvSpPr>
          <p:cNvPr id="1038" name="TextBox 1037">
            <a:extLst>
              <a:ext uri="{FF2B5EF4-FFF2-40B4-BE49-F238E27FC236}">
                <a16:creationId xmlns:a16="http://schemas.microsoft.com/office/drawing/2014/main" id="{6E8E659C-4F09-AA9D-0D0E-4EDE9652B664}"/>
              </a:ext>
            </a:extLst>
          </p:cNvPr>
          <p:cNvSpPr txBox="1"/>
          <p:nvPr/>
        </p:nvSpPr>
        <p:spPr>
          <a:xfrm>
            <a:off x="10650168" y="4117178"/>
            <a:ext cx="6377185" cy="615553"/>
          </a:xfrm>
          <a:prstGeom prst="rect">
            <a:avLst/>
          </a:prstGeom>
          <a:ln w="12700">
            <a:miter lim="400000"/>
          </a:ln>
        </p:spPr>
        <p:txBody>
          <a:bodyPr wrap="square" lIns="0" tIns="0" rIns="0" bIns="0" rtlCol="0" anchor="ctr">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l" defTabSz="2177288" rtl="0" eaLnBrk="1" fontAlgn="auto" latinLnBrk="0" hangingPunct="0">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Figtree" pitchFamily="2" charset="0"/>
                <a:ea typeface="+mn-ea"/>
                <a:cs typeface="Arial" panose="020B0604020202020204" pitchFamily="34" charset="0"/>
                <a:sym typeface="Helvetica"/>
              </a:rPr>
              <a:t>Global investment management firm with c. $38bn in assets under management</a:t>
            </a:r>
          </a:p>
        </p:txBody>
      </p:sp>
      <p:pic>
        <p:nvPicPr>
          <p:cNvPr id="1039" name="Picture 4" descr="Round icon. Download flag icon of European Union at PNG format">
            <a:extLst>
              <a:ext uri="{FF2B5EF4-FFF2-40B4-BE49-F238E27FC236}">
                <a16:creationId xmlns:a16="http://schemas.microsoft.com/office/drawing/2014/main" id="{750E1EDE-3892-F7E1-BA2C-08F6157000C2}"/>
              </a:ext>
            </a:extLst>
          </p:cNvPr>
          <p:cNvPicPr>
            <a:picLocks noChangeAspect="1" noChangeArrowheads="1"/>
          </p:cNvPicPr>
          <p:nvPr/>
        </p:nvPicPr>
        <p:blipFill>
          <a:blip r:embed="rId13" cstate="email">
            <a:extLst>
              <a:ext uri="{28A0092B-C50C-407E-A947-70E740481C1C}">
                <a14:useLocalDpi xmlns:a14="http://schemas.microsoft.com/office/drawing/2010/main"/>
              </a:ext>
            </a:extLst>
          </a:blip>
          <a:srcRect/>
          <a:stretch>
            <a:fillRect/>
          </a:stretch>
        </p:blipFill>
        <p:spPr bwMode="auto">
          <a:xfrm>
            <a:off x="16115353" y="5397313"/>
            <a:ext cx="912000" cy="684000"/>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6" descr="Round icon. Download flag icon of United States of America at PNG format">
            <a:extLst>
              <a:ext uri="{FF2B5EF4-FFF2-40B4-BE49-F238E27FC236}">
                <a16:creationId xmlns:a16="http://schemas.microsoft.com/office/drawing/2014/main" id="{2D8B6015-4212-4D33-E0C1-75D2D6C7F766}"/>
              </a:ext>
            </a:extLst>
          </p:cNvPr>
          <p:cNvPicPr>
            <a:picLocks noChangeAspect="1" noChangeArrowheads="1"/>
          </p:cNvPicPr>
          <p:nvPr/>
        </p:nvPicPr>
        <p:blipFill>
          <a:blip r:embed="rId14" cstate="email">
            <a:extLst>
              <a:ext uri="{28A0092B-C50C-407E-A947-70E740481C1C}">
                <a14:useLocalDpi xmlns:a14="http://schemas.microsoft.com/office/drawing/2010/main"/>
              </a:ext>
            </a:extLst>
          </a:blip>
          <a:srcRect/>
          <a:stretch>
            <a:fillRect/>
          </a:stretch>
        </p:blipFill>
        <p:spPr bwMode="auto">
          <a:xfrm>
            <a:off x="16115353" y="3278344"/>
            <a:ext cx="912000" cy="684000"/>
          </a:xfrm>
          <a:prstGeom prst="rect">
            <a:avLst/>
          </a:prstGeom>
          <a:noFill/>
          <a:extLst>
            <a:ext uri="{909E8E84-426E-40DD-AFC4-6F175D3DCCD1}">
              <a14:hiddenFill xmlns:a14="http://schemas.microsoft.com/office/drawing/2010/main">
                <a:solidFill>
                  <a:srgbClr val="FFFFFF"/>
                </a:solidFill>
              </a14:hiddenFill>
            </a:ext>
          </a:extLst>
        </p:spPr>
      </p:pic>
      <p:sp>
        <p:nvSpPr>
          <p:cNvPr id="1042" name="TextBox 1041">
            <a:extLst>
              <a:ext uri="{FF2B5EF4-FFF2-40B4-BE49-F238E27FC236}">
                <a16:creationId xmlns:a16="http://schemas.microsoft.com/office/drawing/2014/main" id="{CEDFAF61-E860-D050-61FB-77A193D417A6}"/>
              </a:ext>
            </a:extLst>
          </p:cNvPr>
          <p:cNvSpPr txBox="1"/>
          <p:nvPr/>
        </p:nvSpPr>
        <p:spPr>
          <a:xfrm>
            <a:off x="10650168" y="6344045"/>
            <a:ext cx="6375600" cy="615553"/>
          </a:xfrm>
          <a:prstGeom prst="rect">
            <a:avLst/>
          </a:prstGeom>
          <a:ln w="12700">
            <a:miter lim="400000"/>
          </a:ln>
        </p:spPr>
        <p:txBody>
          <a:bodyPr wrap="square" lIns="0" tIns="0" rIns="0" bIns="0" rtlCol="0" anchor="ctr">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algn="l" defTabSz="2177288" rtl="0" eaLnBrk="1" fontAlgn="auto" latinLnBrk="0" hangingPunct="0">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000000"/>
                </a:solidFill>
                <a:effectLst/>
                <a:uLnTx/>
                <a:uFillTx/>
                <a:latin typeface="Figtree" pitchFamily="2" charset="0"/>
                <a:ea typeface="+mn-ea"/>
                <a:cs typeface="Arial" panose="020B0604020202020204" pitchFamily="34" charset="0"/>
                <a:sym typeface="Helvetica"/>
              </a:rPr>
              <a:t>European specialist investor with &gt;20 yrs track record in energy, environment, water and data infrastructure</a:t>
            </a:r>
          </a:p>
        </p:txBody>
      </p:sp>
      <p:pic>
        <p:nvPicPr>
          <p:cNvPr id="1062" name="Picture 2">
            <a:extLst>
              <a:ext uri="{FF2B5EF4-FFF2-40B4-BE49-F238E27FC236}">
                <a16:creationId xmlns:a16="http://schemas.microsoft.com/office/drawing/2014/main" id="{E8727630-F945-DC46-82C6-81BEE26D125C}"/>
              </a:ext>
            </a:extLst>
          </p:cNvPr>
          <p:cNvPicPr>
            <a:picLocks noChangeAspect="1" noChangeArrowheads="1"/>
          </p:cNvPicPr>
          <p:nvPr/>
        </p:nvPicPr>
        <p:blipFill rotWithShape="1">
          <a:blip r:embed="rId15" cstate="email">
            <a:extLst>
              <a:ext uri="{28A0092B-C50C-407E-A947-70E740481C1C}">
                <a14:useLocalDpi xmlns:a14="http://schemas.microsoft.com/office/drawing/2010/main"/>
              </a:ext>
            </a:extLst>
          </a:blip>
          <a:srcRect/>
          <a:stretch/>
        </p:blipFill>
        <p:spPr bwMode="auto">
          <a:xfrm>
            <a:off x="1413162" y="7075127"/>
            <a:ext cx="1821600" cy="1821600"/>
          </a:xfrm>
          <a:prstGeom prst="ellipse">
            <a:avLst/>
          </a:prstGeom>
          <a:ln w="28575">
            <a:solidFill>
              <a:srgbClr val="475B23"/>
            </a:solidFill>
          </a:ln>
          <a:extLst>
            <a:ext uri="{909E8E84-426E-40DD-AFC4-6F175D3DCCD1}">
              <a14:hiddenFill xmlns:a14="http://schemas.microsoft.com/office/drawing/2010/main">
                <a:solidFill>
                  <a:srgbClr val="FFFFFF"/>
                </a:solidFill>
              </a14:hiddenFill>
            </a:ext>
          </a:extLst>
        </p:spPr>
      </p:pic>
      <p:pic>
        <p:nvPicPr>
          <p:cNvPr id="1063" name="Picture 2">
            <a:extLst>
              <a:ext uri="{FF2B5EF4-FFF2-40B4-BE49-F238E27FC236}">
                <a16:creationId xmlns:a16="http://schemas.microsoft.com/office/drawing/2014/main" id="{AA9E0849-C7B3-AA15-5790-C3C336C5933A}"/>
              </a:ext>
            </a:extLst>
          </p:cNvPr>
          <p:cNvPicPr>
            <a:picLocks noChangeAspect="1" noChangeArrowheads="1"/>
          </p:cNvPicPr>
          <p:nvPr/>
        </p:nvPicPr>
        <p:blipFill rotWithShape="1">
          <a:blip r:embed="rId16" cstate="email">
            <a:extLst>
              <a:ext uri="{28A0092B-C50C-407E-A947-70E740481C1C}">
                <a14:useLocalDpi xmlns:a14="http://schemas.microsoft.com/office/drawing/2010/main"/>
              </a:ext>
            </a:extLst>
          </a:blip>
          <a:srcRect/>
          <a:stretch/>
        </p:blipFill>
        <p:spPr bwMode="auto">
          <a:xfrm>
            <a:off x="4283792" y="7075127"/>
            <a:ext cx="1821600" cy="1821600"/>
          </a:xfrm>
          <a:prstGeom prst="ellipse">
            <a:avLst/>
          </a:prstGeom>
          <a:ln w="28575">
            <a:solidFill>
              <a:srgbClr val="475B23"/>
            </a:solidFill>
          </a:ln>
          <a:extLst>
            <a:ext uri="{909E8E84-426E-40DD-AFC4-6F175D3DCCD1}">
              <a14:hiddenFill xmlns:a14="http://schemas.microsoft.com/office/drawing/2010/main">
                <a:solidFill>
                  <a:srgbClr val="FFFFFF"/>
                </a:solidFill>
              </a14:hiddenFill>
            </a:ext>
          </a:extLst>
        </p:spPr>
      </p:pic>
      <p:sp>
        <p:nvSpPr>
          <p:cNvPr id="1064" name="TextBox 23">
            <a:extLst>
              <a:ext uri="{FF2B5EF4-FFF2-40B4-BE49-F238E27FC236}">
                <a16:creationId xmlns:a16="http://schemas.microsoft.com/office/drawing/2014/main" id="{4E4C453C-7206-4702-293E-12057B0EAD35}"/>
              </a:ext>
            </a:extLst>
          </p:cNvPr>
          <p:cNvSpPr txBox="1"/>
          <p:nvPr/>
        </p:nvSpPr>
        <p:spPr>
          <a:xfrm>
            <a:off x="6622121" y="9007908"/>
            <a:ext cx="2987701" cy="822908"/>
          </a:xfrm>
          <a:prstGeom prst="rect">
            <a:avLst/>
          </a:prstGeom>
          <a:noFill/>
          <a:ln cap="flat">
            <a:noFill/>
          </a:ln>
        </p:spPr>
        <p:txBody>
          <a:bodyPr vert="horz" wrap="square" lIns="0" tIns="36000" rIns="0" bIns="36000" anchor="t" anchorCtr="1" compatLnSpc="1">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0" cap="none" spc="0" normalizeH="0" baseline="0" noProof="0" dirty="0">
                <a:ln>
                  <a:noFill/>
                </a:ln>
                <a:solidFill>
                  <a:srgbClr val="000000"/>
                </a:solidFill>
                <a:effectLst/>
                <a:uLnTx/>
                <a:uFillTx/>
                <a:latin typeface="Figtree" pitchFamily="2" charset="0"/>
                <a:ea typeface="+mn-ea"/>
                <a:cs typeface="+mn-cs"/>
              </a:rPr>
              <a:t>Warren Barrie</a:t>
            </a:r>
            <a:br>
              <a:rPr kumimoji="0" lang="en-US" sz="2400" b="1" i="0" u="none" strike="noStrike" kern="0" cap="none" spc="0" normalizeH="0" baseline="0" noProof="0" dirty="0">
                <a:ln>
                  <a:noFill/>
                </a:ln>
                <a:solidFill>
                  <a:srgbClr val="000000"/>
                </a:solidFill>
                <a:effectLst/>
                <a:uLnTx/>
                <a:uFillTx/>
                <a:latin typeface="Figtree" pitchFamily="2" charset="0"/>
                <a:ea typeface="+mn-ea"/>
                <a:cs typeface="+mn-cs"/>
              </a:rPr>
            </a:br>
            <a:r>
              <a:rPr kumimoji="0" lang="en-US" sz="1800" b="0" i="0" u="none" strike="noStrike" kern="0" cap="none" spc="0" normalizeH="0" baseline="0" noProof="0" dirty="0">
                <a:ln>
                  <a:noFill/>
                </a:ln>
                <a:solidFill>
                  <a:srgbClr val="00C159"/>
                </a:solidFill>
                <a:effectLst/>
                <a:uLnTx/>
                <a:uFillTx/>
                <a:latin typeface="Figtree" pitchFamily="2" charset="0"/>
                <a:ea typeface="+mn-ea"/>
                <a:cs typeface="+mn-cs"/>
              </a:rPr>
              <a:t>Chief Revenue Officer</a:t>
            </a:r>
            <a:endParaRPr kumimoji="0" lang="en-US" sz="2400" b="0" i="0" u="none" strike="noStrike" kern="0" cap="none" spc="0" normalizeH="0" baseline="0" noProof="0" dirty="0">
              <a:ln>
                <a:noFill/>
              </a:ln>
              <a:solidFill>
                <a:srgbClr val="00C159"/>
              </a:solidFill>
              <a:effectLst/>
              <a:uLnTx/>
              <a:uFillTx/>
              <a:latin typeface="Figtree" pitchFamily="2" charset="0"/>
              <a:ea typeface="+mn-ea"/>
              <a:cs typeface="+mn-cs"/>
            </a:endParaRPr>
          </a:p>
        </p:txBody>
      </p:sp>
      <p:sp>
        <p:nvSpPr>
          <p:cNvPr id="1065" name="TextBox 20">
            <a:extLst>
              <a:ext uri="{FF2B5EF4-FFF2-40B4-BE49-F238E27FC236}">
                <a16:creationId xmlns:a16="http://schemas.microsoft.com/office/drawing/2014/main" id="{CFE77779-505E-5B7D-D37B-D647F5F63507}"/>
              </a:ext>
            </a:extLst>
          </p:cNvPr>
          <p:cNvSpPr txBox="1"/>
          <p:nvPr/>
        </p:nvSpPr>
        <p:spPr>
          <a:xfrm>
            <a:off x="803479" y="9007908"/>
            <a:ext cx="3001643" cy="822908"/>
          </a:xfrm>
          <a:prstGeom prst="rect">
            <a:avLst/>
          </a:prstGeom>
          <a:noFill/>
          <a:ln cap="flat">
            <a:noFill/>
          </a:ln>
        </p:spPr>
        <p:txBody>
          <a:bodyPr vert="horz" wrap="square" lIns="0" tIns="36000" rIns="0" bIns="36000" anchor="t" anchorCtr="1" compatLnSpc="1">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0" cap="none" spc="0" normalizeH="0" baseline="0" noProof="0">
                <a:ln>
                  <a:noFill/>
                </a:ln>
                <a:solidFill>
                  <a:srgbClr val="000000"/>
                </a:solidFill>
                <a:effectLst/>
                <a:uLnTx/>
                <a:uFillTx/>
                <a:latin typeface="Figtree" pitchFamily="2" charset="0"/>
                <a:ea typeface="+mn-ea"/>
                <a:cs typeface="+mn-cs"/>
              </a:rPr>
              <a:t>Nicolas Le Brouster</a:t>
            </a:r>
          </a:p>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1800" b="0" i="0" u="none" strike="noStrike" kern="0" cap="none" spc="0" normalizeH="0" baseline="0" noProof="0">
                <a:ln>
                  <a:noFill/>
                </a:ln>
                <a:solidFill>
                  <a:srgbClr val="00C159"/>
                </a:solidFill>
                <a:effectLst/>
                <a:uLnTx/>
                <a:uFillTx/>
                <a:latin typeface="Figtree" pitchFamily="2" charset="0"/>
                <a:ea typeface="+mn-ea"/>
                <a:cs typeface="+mn-cs"/>
              </a:rPr>
              <a:t>Chief Financial Officer</a:t>
            </a:r>
          </a:p>
        </p:txBody>
      </p:sp>
      <p:sp>
        <p:nvSpPr>
          <p:cNvPr id="1066" name="TextBox 22">
            <a:extLst>
              <a:ext uri="{FF2B5EF4-FFF2-40B4-BE49-F238E27FC236}">
                <a16:creationId xmlns:a16="http://schemas.microsoft.com/office/drawing/2014/main" id="{BAEB54F3-257C-E94C-AC23-3DA6A76A520B}"/>
              </a:ext>
            </a:extLst>
          </p:cNvPr>
          <p:cNvSpPr txBox="1"/>
          <p:nvPr/>
        </p:nvSpPr>
        <p:spPr>
          <a:xfrm>
            <a:off x="3903666" y="9007908"/>
            <a:ext cx="2596062" cy="822908"/>
          </a:xfrm>
          <a:prstGeom prst="rect">
            <a:avLst/>
          </a:prstGeom>
          <a:noFill/>
          <a:ln cap="flat">
            <a:noFill/>
          </a:ln>
        </p:spPr>
        <p:txBody>
          <a:bodyPr vert="horz" wrap="square" lIns="0" tIns="36000" rIns="0" bIns="36000" anchor="t" anchorCtr="1" compatLnSpc="1">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ctr" defTabSz="1828800" rtl="0" eaLnBrk="1" fontAlgn="auto" latinLnBrk="0" hangingPunct="1">
              <a:lnSpc>
                <a:spcPct val="12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0" cap="none" spc="0" normalizeH="0" baseline="0" noProof="0">
                <a:ln>
                  <a:noFill/>
                </a:ln>
                <a:solidFill>
                  <a:srgbClr val="000000"/>
                </a:solidFill>
                <a:effectLst/>
                <a:uLnTx/>
                <a:uFillTx/>
                <a:latin typeface="Figtree" pitchFamily="2" charset="0"/>
                <a:ea typeface="+mn-ea"/>
                <a:cs typeface="+mn-cs"/>
              </a:rPr>
              <a:t>Omer Wilson</a:t>
            </a:r>
            <a:br>
              <a:rPr kumimoji="0" lang="en-US" sz="2400" b="1" i="0" u="none" strike="noStrike" kern="0" cap="none" spc="0" normalizeH="0" baseline="0" noProof="0">
                <a:ln>
                  <a:noFill/>
                </a:ln>
                <a:solidFill>
                  <a:srgbClr val="000000"/>
                </a:solidFill>
                <a:effectLst/>
                <a:uLnTx/>
                <a:uFillTx/>
                <a:latin typeface="Figtree" pitchFamily="2" charset="0"/>
                <a:ea typeface="+mn-ea"/>
                <a:cs typeface="+mn-cs"/>
              </a:rPr>
            </a:br>
            <a:r>
              <a:rPr kumimoji="0" lang="en-US" sz="1800" b="0" i="0" u="none" strike="noStrike" kern="0" cap="none" spc="0" normalizeH="0" baseline="0" noProof="0">
                <a:ln>
                  <a:noFill/>
                </a:ln>
                <a:solidFill>
                  <a:srgbClr val="00C159"/>
                </a:solidFill>
                <a:effectLst/>
                <a:uLnTx/>
                <a:uFillTx/>
                <a:latin typeface="Figtree" pitchFamily="2" charset="0"/>
                <a:ea typeface="+mn-ea"/>
                <a:cs typeface="+mn-cs"/>
              </a:rPr>
              <a:t>Chief Marketing Officer</a:t>
            </a:r>
            <a:endParaRPr kumimoji="0" lang="en-US" sz="2400" b="0" i="0" u="none" strike="noStrike" kern="0" cap="none" spc="0" normalizeH="0" baseline="0" noProof="0">
              <a:ln>
                <a:noFill/>
              </a:ln>
              <a:solidFill>
                <a:srgbClr val="00C159"/>
              </a:solidFill>
              <a:effectLst/>
              <a:uLnTx/>
              <a:uFillTx/>
              <a:latin typeface="Figtree" pitchFamily="2" charset="0"/>
              <a:ea typeface="+mn-ea"/>
              <a:cs typeface="+mn-cs"/>
            </a:endParaRPr>
          </a:p>
        </p:txBody>
      </p:sp>
      <p:sp>
        <p:nvSpPr>
          <p:cNvPr id="1071" name="TextBox 1070">
            <a:extLst>
              <a:ext uri="{FF2B5EF4-FFF2-40B4-BE49-F238E27FC236}">
                <a16:creationId xmlns:a16="http://schemas.microsoft.com/office/drawing/2014/main" id="{8B6C13B8-56FC-2983-631C-CE4996BA85C4}"/>
              </a:ext>
            </a:extLst>
          </p:cNvPr>
          <p:cNvSpPr txBox="1"/>
          <p:nvPr/>
        </p:nvSpPr>
        <p:spPr>
          <a:xfrm>
            <a:off x="1012769" y="9825437"/>
            <a:ext cx="2623265" cy="241605"/>
          </a:xfrm>
          <a:prstGeom prst="rect">
            <a:avLst/>
          </a:prstGeom>
          <a:noFill/>
        </p:spPr>
        <p:txBody>
          <a:bodyPr wrap="square">
            <a:spAutoFit/>
          </a:bodyPr>
          <a:lstStyle/>
          <a:p>
            <a:pPr marL="0" marR="0" lvl="0" indent="0" algn="ctr" defTabSz="1828891"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1CDCD">
                    <a:lumMod val="90000"/>
                  </a:srgbClr>
                </a:solidFill>
                <a:effectLst/>
                <a:uLnTx/>
                <a:uFillTx/>
                <a:latin typeface="Figtree" pitchFamily="2" charset="0"/>
                <a:ea typeface="+mn-ea"/>
                <a:cs typeface="+mn-cs"/>
              </a:rPr>
              <a:t>Precedent experience</a:t>
            </a:r>
            <a:endParaRPr kumimoji="0" lang="en-GB" sz="1200" b="0" i="0" u="none" strike="noStrike" kern="1200" cap="none" spc="0" normalizeH="0" baseline="0" noProof="0">
              <a:ln>
                <a:noFill/>
              </a:ln>
              <a:solidFill>
                <a:srgbClr val="D1CDCD">
                  <a:lumMod val="90000"/>
                </a:srgbClr>
              </a:solidFill>
              <a:effectLst/>
              <a:uLnTx/>
              <a:uFillTx/>
              <a:latin typeface="Figtree" pitchFamily="2" charset="0"/>
              <a:ea typeface="+mn-ea"/>
              <a:cs typeface="+mn-cs"/>
            </a:endParaRPr>
          </a:p>
        </p:txBody>
      </p:sp>
      <p:sp>
        <p:nvSpPr>
          <p:cNvPr id="1072" name="TextBox 1071">
            <a:extLst>
              <a:ext uri="{FF2B5EF4-FFF2-40B4-BE49-F238E27FC236}">
                <a16:creationId xmlns:a16="http://schemas.microsoft.com/office/drawing/2014/main" id="{5C1FD81F-C4F3-C3C1-0901-4FA5C15E4DD7}"/>
              </a:ext>
            </a:extLst>
          </p:cNvPr>
          <p:cNvSpPr txBox="1"/>
          <p:nvPr/>
        </p:nvSpPr>
        <p:spPr>
          <a:xfrm>
            <a:off x="3882520" y="9825437"/>
            <a:ext cx="2623265" cy="241605"/>
          </a:xfrm>
          <a:prstGeom prst="rect">
            <a:avLst/>
          </a:prstGeom>
          <a:noFill/>
        </p:spPr>
        <p:txBody>
          <a:bodyPr wrap="square">
            <a:spAutoFit/>
          </a:bodyPr>
          <a:lstStyle/>
          <a:p>
            <a:pPr marL="0" marR="0" lvl="0" indent="0" algn="ctr" defTabSz="1828891"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1CDCD">
                    <a:lumMod val="90000"/>
                  </a:srgbClr>
                </a:solidFill>
                <a:effectLst/>
                <a:uLnTx/>
                <a:uFillTx/>
                <a:latin typeface="Figtree" pitchFamily="2" charset="0"/>
                <a:ea typeface="+mn-ea"/>
                <a:cs typeface="+mn-cs"/>
              </a:rPr>
              <a:t>Precedent experience</a:t>
            </a:r>
            <a:endParaRPr kumimoji="0" lang="en-GB" sz="1200" b="0" i="0" u="none" strike="noStrike" kern="1200" cap="none" spc="0" normalizeH="0" baseline="0" noProof="0">
              <a:ln>
                <a:noFill/>
              </a:ln>
              <a:solidFill>
                <a:srgbClr val="D1CDCD">
                  <a:lumMod val="90000"/>
                </a:srgbClr>
              </a:solidFill>
              <a:effectLst/>
              <a:uLnTx/>
              <a:uFillTx/>
              <a:latin typeface="Figtree" pitchFamily="2" charset="0"/>
              <a:ea typeface="+mn-ea"/>
              <a:cs typeface="+mn-cs"/>
            </a:endParaRPr>
          </a:p>
        </p:txBody>
      </p:sp>
      <p:sp>
        <p:nvSpPr>
          <p:cNvPr id="1073" name="TextBox 1072">
            <a:extLst>
              <a:ext uri="{FF2B5EF4-FFF2-40B4-BE49-F238E27FC236}">
                <a16:creationId xmlns:a16="http://schemas.microsoft.com/office/drawing/2014/main" id="{4161A978-9B47-219B-95CF-554DEDE5BA28}"/>
              </a:ext>
            </a:extLst>
          </p:cNvPr>
          <p:cNvSpPr txBox="1"/>
          <p:nvPr/>
        </p:nvSpPr>
        <p:spPr>
          <a:xfrm>
            <a:off x="6804340" y="9825437"/>
            <a:ext cx="2623265" cy="241605"/>
          </a:xfrm>
          <a:prstGeom prst="rect">
            <a:avLst/>
          </a:prstGeom>
          <a:noFill/>
        </p:spPr>
        <p:txBody>
          <a:bodyPr wrap="square">
            <a:spAutoFit/>
          </a:bodyPr>
          <a:lstStyle/>
          <a:p>
            <a:pPr marL="0" marR="0" lvl="0" indent="0" algn="ctr" defTabSz="1828891" rtl="0" eaLnBrk="1" fontAlgn="auto" latinLnBrk="0" hangingPunct="1">
              <a:lnSpc>
                <a:spcPct val="80000"/>
              </a:lnSpc>
              <a:spcBef>
                <a:spcPts val="0"/>
              </a:spcBef>
              <a:spcAft>
                <a:spcPts val="0"/>
              </a:spcAft>
              <a:buClrTx/>
              <a:buSzTx/>
              <a:buFontTx/>
              <a:buNone/>
              <a:tabLst/>
              <a:defRPr/>
            </a:pPr>
            <a:r>
              <a:rPr kumimoji="0" lang="en-US" sz="1200" b="0" i="0" u="none" strike="noStrike" kern="1200" cap="none" spc="0" normalizeH="0" baseline="0" noProof="0">
                <a:ln>
                  <a:noFill/>
                </a:ln>
                <a:solidFill>
                  <a:srgbClr val="D1CDCD">
                    <a:lumMod val="90000"/>
                  </a:srgbClr>
                </a:solidFill>
                <a:effectLst/>
                <a:uLnTx/>
                <a:uFillTx/>
                <a:latin typeface="Figtree" pitchFamily="2" charset="0"/>
                <a:ea typeface="+mn-ea"/>
                <a:cs typeface="+mn-cs"/>
              </a:rPr>
              <a:t>Precedent experience</a:t>
            </a:r>
            <a:endParaRPr kumimoji="0" lang="en-GB" sz="1200" b="0" i="0" u="none" strike="noStrike" kern="1200" cap="none" spc="0" normalizeH="0" baseline="0" noProof="0">
              <a:ln>
                <a:noFill/>
              </a:ln>
              <a:solidFill>
                <a:srgbClr val="D1CDCD">
                  <a:lumMod val="90000"/>
                </a:srgbClr>
              </a:solidFill>
              <a:effectLst/>
              <a:uLnTx/>
              <a:uFillTx/>
              <a:latin typeface="Figtree" pitchFamily="2" charset="0"/>
              <a:ea typeface="+mn-ea"/>
              <a:cs typeface="+mn-cs"/>
            </a:endParaRPr>
          </a:p>
        </p:txBody>
      </p:sp>
      <p:pic>
        <p:nvPicPr>
          <p:cNvPr id="1075" name="Picture 16" descr="GE Capital's Retail Finance Renews Consumer Financing Program with Select  Comfort Corporation | GE News">
            <a:extLst>
              <a:ext uri="{FF2B5EF4-FFF2-40B4-BE49-F238E27FC236}">
                <a16:creationId xmlns:a16="http://schemas.microsoft.com/office/drawing/2014/main" id="{8EA21AD6-8B88-E8F1-3FA4-F9175561A266}"/>
              </a:ext>
            </a:extLst>
          </p:cNvPr>
          <p:cNvPicPr>
            <a:picLocks noChangeAspect="1" noChangeArrowheads="1"/>
          </p:cNvPicPr>
          <p:nvPr/>
        </p:nvPicPr>
        <p:blipFill>
          <a:blip r:embed="rId17" cstate="email">
            <a:extLst>
              <a:ext uri="{28A0092B-C50C-407E-A947-70E740481C1C}">
                <a14:useLocalDpi xmlns:a14="http://schemas.microsoft.com/office/drawing/2010/main"/>
              </a:ext>
            </a:extLst>
          </a:blip>
          <a:srcRect/>
          <a:stretch>
            <a:fillRect/>
          </a:stretch>
        </p:blipFill>
        <p:spPr bwMode="auto">
          <a:xfrm>
            <a:off x="1662594" y="10067059"/>
            <a:ext cx="1323614" cy="423959"/>
          </a:xfrm>
          <a:prstGeom prst="rect">
            <a:avLst/>
          </a:prstGeom>
          <a:noFill/>
          <a:extLst>
            <a:ext uri="{909E8E84-426E-40DD-AFC4-6F175D3DCCD1}">
              <a14:hiddenFill xmlns:a14="http://schemas.microsoft.com/office/drawing/2010/main">
                <a:solidFill>
                  <a:srgbClr val="FFFFFF"/>
                </a:solidFill>
              </a14:hiddenFill>
            </a:ext>
          </a:extLst>
        </p:spPr>
      </p:pic>
      <p:pic>
        <p:nvPicPr>
          <p:cNvPr id="1077" name="Picture 6">
            <a:extLst>
              <a:ext uri="{FF2B5EF4-FFF2-40B4-BE49-F238E27FC236}">
                <a16:creationId xmlns:a16="http://schemas.microsoft.com/office/drawing/2014/main" id="{6D87829A-9832-3DD8-FB79-1EC7E3616692}"/>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p:blipFill>
        <p:spPr bwMode="auto">
          <a:xfrm>
            <a:off x="4500769" y="9934232"/>
            <a:ext cx="1386766" cy="657908"/>
          </a:xfrm>
          <a:prstGeom prst="rect">
            <a:avLst/>
          </a:prstGeom>
          <a:noFill/>
          <a:extLst>
            <a:ext uri="{909E8E84-426E-40DD-AFC4-6F175D3DCCD1}">
              <a14:hiddenFill xmlns:a14="http://schemas.microsoft.com/office/drawing/2010/main">
                <a:solidFill>
                  <a:srgbClr val="FFFFFF"/>
                </a:solidFill>
              </a14:hiddenFill>
            </a:ext>
          </a:extLst>
        </p:spPr>
      </p:pic>
      <p:sp>
        <p:nvSpPr>
          <p:cNvPr id="1083" name="TextBox 1082">
            <a:extLst>
              <a:ext uri="{FF2B5EF4-FFF2-40B4-BE49-F238E27FC236}">
                <a16:creationId xmlns:a16="http://schemas.microsoft.com/office/drawing/2014/main" id="{1FD99277-4628-ADF1-C546-44221B6C1707}"/>
              </a:ext>
            </a:extLst>
          </p:cNvPr>
          <p:cNvSpPr txBox="1"/>
          <p:nvPr/>
        </p:nvSpPr>
        <p:spPr>
          <a:xfrm>
            <a:off x="3234762" y="15118030"/>
            <a:ext cx="6349028" cy="307777"/>
          </a:xfrm>
          <a:prstGeom prst="rect">
            <a:avLst/>
          </a:prstGeom>
          <a:noFill/>
        </p:spPr>
        <p:txBody>
          <a:bodyPr wrap="none" lIns="72000" rIns="72000" rtlCol="0">
            <a:spAutoFit/>
          </a:bodyPr>
          <a:lstStyle/>
          <a:p>
            <a:pPr marL="0" marR="0" lvl="0" indent="0" algn="l" defTabSz="18288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30000" noProof="0">
                <a:ln>
                  <a:noFill/>
                </a:ln>
                <a:solidFill>
                  <a:srgbClr val="000000"/>
                </a:solidFill>
                <a:effectLst/>
                <a:uLnTx/>
                <a:uFillTx/>
                <a:latin typeface="Figtree" pitchFamily="2" charset="0"/>
                <a:ea typeface="+mn-ea"/>
                <a:cs typeface="+mn-cs"/>
              </a:rPr>
              <a:t>1</a:t>
            </a:r>
            <a:r>
              <a:rPr kumimoji="0" lang="en-US" sz="1400" b="0" i="0" u="none" strike="noStrike" kern="1200" cap="none" spc="0" normalizeH="0" baseline="0" noProof="0">
                <a:ln>
                  <a:noFill/>
                </a:ln>
                <a:solidFill>
                  <a:srgbClr val="000000"/>
                </a:solidFill>
                <a:effectLst/>
                <a:uLnTx/>
                <a:uFillTx/>
                <a:latin typeface="Figtree" pitchFamily="2" charset="0"/>
                <a:ea typeface="+mn-ea"/>
                <a:cs typeface="+mn-cs"/>
              </a:rPr>
              <a:t> Non-exhaustive list of partners that delivered the operational SIN01 building</a:t>
            </a:r>
            <a:endParaRPr kumimoji="0" lang="en-GB" sz="1400" b="0" i="0" u="none" strike="noStrike" kern="1200" cap="none" spc="0" normalizeH="0" baseline="0" noProof="0">
              <a:ln>
                <a:noFill/>
              </a:ln>
              <a:solidFill>
                <a:srgbClr val="000000"/>
              </a:solidFill>
              <a:effectLst/>
              <a:uLnTx/>
              <a:uFillTx/>
              <a:latin typeface="Figtree" pitchFamily="2" charset="0"/>
              <a:ea typeface="+mn-ea"/>
              <a:cs typeface="+mn-cs"/>
            </a:endParaRPr>
          </a:p>
        </p:txBody>
      </p:sp>
      <p:graphicFrame>
        <p:nvGraphicFramePr>
          <p:cNvPr id="1086" name="Table 1085">
            <a:extLst>
              <a:ext uri="{FF2B5EF4-FFF2-40B4-BE49-F238E27FC236}">
                <a16:creationId xmlns:a16="http://schemas.microsoft.com/office/drawing/2014/main" id="{528197A6-E6BF-49DE-942C-B33EF26C4A91}"/>
              </a:ext>
            </a:extLst>
          </p:cNvPr>
          <p:cNvGraphicFramePr>
            <a:graphicFrameLocks noGrp="1"/>
          </p:cNvGraphicFramePr>
          <p:nvPr/>
        </p:nvGraphicFramePr>
        <p:xfrm>
          <a:off x="564056" y="2210605"/>
          <a:ext cx="9540000" cy="576000"/>
        </p:xfrm>
        <a:graphic>
          <a:graphicData uri="http://schemas.openxmlformats.org/drawingml/2006/table">
            <a:tbl>
              <a:tblPr firstRow="1" bandRow="1">
                <a:tableStyleId>{5C22544A-7EE6-4342-B048-85BDC9FD1C3A}</a:tableStyleId>
              </a:tblPr>
              <a:tblGrid>
                <a:gridCol w="9540000">
                  <a:extLst>
                    <a:ext uri="{9D8B030D-6E8A-4147-A177-3AD203B41FA5}">
                      <a16:colId xmlns:a16="http://schemas.microsoft.com/office/drawing/2014/main" val="1092837733"/>
                    </a:ext>
                  </a:extLst>
                </a:gridCol>
              </a:tblGrid>
              <a:tr h="576000">
                <a:tc>
                  <a:txBody>
                    <a:bodyPr/>
                    <a:lstStyle/>
                    <a:p>
                      <a:r>
                        <a:rPr lang="en-US" sz="2800">
                          <a:solidFill>
                            <a:schemeClr val="tx1"/>
                          </a:solidFill>
                          <a:latin typeface="Figtree" pitchFamily="2" charset="0"/>
                        </a:rPr>
                        <a:t>Management Team with deep experience </a:t>
                      </a:r>
                      <a:endParaRPr lang="en-GB" sz="2800">
                        <a:solidFill>
                          <a:schemeClr val="tx1"/>
                        </a:solidFill>
                        <a:latin typeface="Figtree" pitchFamily="2" charset="0"/>
                      </a:endParaRPr>
                    </a:p>
                  </a:txBody>
                  <a:tcPr marL="108000" marR="182880" marT="36000" marB="36000">
                    <a:lnL w="12700" cmpd="sng">
                      <a:noFill/>
                    </a:lnL>
                    <a:lnR w="12700" cmpd="sng">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6441108"/>
                  </a:ext>
                </a:extLst>
              </a:tr>
            </a:tbl>
          </a:graphicData>
        </a:graphic>
      </p:graphicFrame>
      <p:graphicFrame>
        <p:nvGraphicFramePr>
          <p:cNvPr id="1087" name="Table 1086">
            <a:extLst>
              <a:ext uri="{FF2B5EF4-FFF2-40B4-BE49-F238E27FC236}">
                <a16:creationId xmlns:a16="http://schemas.microsoft.com/office/drawing/2014/main" id="{323A71E3-01C5-0F74-381A-9E241653421C}"/>
              </a:ext>
            </a:extLst>
          </p:cNvPr>
          <p:cNvGraphicFramePr>
            <a:graphicFrameLocks noGrp="1"/>
          </p:cNvGraphicFramePr>
          <p:nvPr/>
        </p:nvGraphicFramePr>
        <p:xfrm>
          <a:off x="10651753" y="2210605"/>
          <a:ext cx="6375600" cy="576000"/>
        </p:xfrm>
        <a:graphic>
          <a:graphicData uri="http://schemas.openxmlformats.org/drawingml/2006/table">
            <a:tbl>
              <a:tblPr firstRow="1" bandRow="1">
                <a:tableStyleId>{5C22544A-7EE6-4342-B048-85BDC9FD1C3A}</a:tableStyleId>
              </a:tblPr>
              <a:tblGrid>
                <a:gridCol w="6375600">
                  <a:extLst>
                    <a:ext uri="{9D8B030D-6E8A-4147-A177-3AD203B41FA5}">
                      <a16:colId xmlns:a16="http://schemas.microsoft.com/office/drawing/2014/main" val="1092837733"/>
                    </a:ext>
                  </a:extLst>
                </a:gridCol>
              </a:tblGrid>
              <a:tr h="576000">
                <a:tc>
                  <a:txBody>
                    <a:bodyPr/>
                    <a:lstStyle/>
                    <a:p>
                      <a:r>
                        <a:rPr lang="en-US" sz="2800" dirty="0">
                          <a:solidFill>
                            <a:schemeClr val="tx1"/>
                          </a:solidFill>
                          <a:latin typeface="Figtree" pitchFamily="2" charset="0"/>
                        </a:rPr>
                        <a:t>Backed by two world-class investors </a:t>
                      </a:r>
                      <a:endParaRPr lang="en-GB" sz="2800" dirty="0">
                        <a:solidFill>
                          <a:schemeClr val="tx1"/>
                        </a:solidFill>
                        <a:latin typeface="Figtree" pitchFamily="2" charset="0"/>
                      </a:endParaRPr>
                    </a:p>
                  </a:txBody>
                  <a:tcPr marL="108000" marR="182880" marT="36000" marB="36000">
                    <a:lnL w="12700" cmpd="sng">
                      <a:noFill/>
                    </a:lnL>
                    <a:lnR w="12700" cmpd="sng">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6441108"/>
                  </a:ext>
                </a:extLst>
              </a:tr>
            </a:tbl>
          </a:graphicData>
        </a:graphic>
      </p:graphicFrame>
      <p:graphicFrame>
        <p:nvGraphicFramePr>
          <p:cNvPr id="1090" name="Table 1089">
            <a:extLst>
              <a:ext uri="{FF2B5EF4-FFF2-40B4-BE49-F238E27FC236}">
                <a16:creationId xmlns:a16="http://schemas.microsoft.com/office/drawing/2014/main" id="{D31F7301-1998-1839-92FD-B0FCE8C9AE22}"/>
              </a:ext>
            </a:extLst>
          </p:cNvPr>
          <p:cNvGraphicFramePr>
            <a:graphicFrameLocks noGrp="1"/>
          </p:cNvGraphicFramePr>
          <p:nvPr/>
        </p:nvGraphicFramePr>
        <p:xfrm>
          <a:off x="10651753" y="8091552"/>
          <a:ext cx="6375600" cy="925440"/>
        </p:xfrm>
        <a:graphic>
          <a:graphicData uri="http://schemas.openxmlformats.org/drawingml/2006/table">
            <a:tbl>
              <a:tblPr firstRow="1" bandRow="1">
                <a:tableStyleId>{5C22544A-7EE6-4342-B048-85BDC9FD1C3A}</a:tableStyleId>
              </a:tblPr>
              <a:tblGrid>
                <a:gridCol w="6375600">
                  <a:extLst>
                    <a:ext uri="{9D8B030D-6E8A-4147-A177-3AD203B41FA5}">
                      <a16:colId xmlns:a16="http://schemas.microsoft.com/office/drawing/2014/main" val="1092837733"/>
                    </a:ext>
                  </a:extLst>
                </a:gridCol>
              </a:tblGrid>
              <a:tr h="405526">
                <a:tc>
                  <a:txBody>
                    <a:bodyPr/>
                    <a:lstStyle/>
                    <a:p>
                      <a:r>
                        <a:rPr lang="en-US" sz="2800">
                          <a:solidFill>
                            <a:schemeClr val="tx1"/>
                          </a:solidFill>
                          <a:latin typeface="Figtree" pitchFamily="2" charset="0"/>
                        </a:rPr>
                        <a:t>Supported by a team with proven track-record </a:t>
                      </a:r>
                      <a:endParaRPr lang="en-GB" sz="2800" baseline="30000">
                        <a:solidFill>
                          <a:schemeClr val="tx1"/>
                        </a:solidFill>
                        <a:latin typeface="Figtree" pitchFamily="2" charset="0"/>
                      </a:endParaRPr>
                    </a:p>
                  </a:txBody>
                  <a:tcPr marL="108000" marR="0" marT="36000" marB="36000">
                    <a:lnL w="12700" cmpd="sng">
                      <a:noFill/>
                    </a:lnL>
                    <a:lnR w="12700" cmpd="sng">
                      <a:noFill/>
                    </a:lnR>
                    <a:lnT w="12700" cmpd="sng">
                      <a:noFill/>
                    </a:lnT>
                    <a:lnB w="28575" cap="flat" cmpd="sng" algn="ctr">
                      <a:solidFill>
                        <a:schemeClr val="accent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86441108"/>
                  </a:ext>
                </a:extLst>
              </a:tr>
            </a:tbl>
          </a:graphicData>
        </a:graphic>
      </p:graphicFrame>
      <p:sp>
        <p:nvSpPr>
          <p:cNvPr id="3" name="Rectangle: Rounded Corners 2">
            <a:extLst>
              <a:ext uri="{FF2B5EF4-FFF2-40B4-BE49-F238E27FC236}">
                <a16:creationId xmlns:a16="http://schemas.microsoft.com/office/drawing/2014/main" id="{6776FF67-6FD2-6666-5577-138639CDB0B0}"/>
              </a:ext>
            </a:extLst>
          </p:cNvPr>
          <p:cNvSpPr/>
          <p:nvPr/>
        </p:nvSpPr>
        <p:spPr>
          <a:xfrm>
            <a:off x="564056" y="11407860"/>
            <a:ext cx="3059999" cy="1548000"/>
          </a:xfrm>
          <a:prstGeom prst="roundRect">
            <a:avLst/>
          </a:prstGeom>
          <a:solidFill>
            <a:schemeClr val="accent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Figtree Black" pitchFamily="2" charset="0"/>
                <a:ea typeface="+mn-ea"/>
                <a:cs typeface="+mn-cs"/>
              </a:rPr>
              <a:t>c. 70 </a:t>
            </a:r>
          </a:p>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t>FTE organization, </a:t>
            </a:r>
            <a:b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br>
            <a: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t>scaled for growth</a:t>
            </a:r>
            <a:endParaRPr kumimoji="0" lang="en-GB" sz="2400" b="0" i="0" u="none" strike="noStrike" kern="1200" cap="none" spc="0" normalizeH="0" baseline="0" noProof="0">
              <a:ln>
                <a:noFill/>
              </a:ln>
              <a:solidFill>
                <a:srgbClr val="FFFFFF"/>
              </a:solidFill>
              <a:effectLst/>
              <a:uLnTx/>
              <a:uFillTx/>
              <a:latin typeface="Figtree" pitchFamily="2" charset="0"/>
              <a:ea typeface="+mn-ea"/>
              <a:cs typeface="+mn-cs"/>
            </a:endParaRPr>
          </a:p>
        </p:txBody>
      </p:sp>
      <p:sp>
        <p:nvSpPr>
          <p:cNvPr id="5" name="Rectangle: Rounded Corners 4">
            <a:extLst>
              <a:ext uri="{FF2B5EF4-FFF2-40B4-BE49-F238E27FC236}">
                <a16:creationId xmlns:a16="http://schemas.microsoft.com/office/drawing/2014/main" id="{7964DD33-C654-E2BF-9BF8-A8B4B7FA90E1}"/>
              </a:ext>
            </a:extLst>
          </p:cNvPr>
          <p:cNvSpPr/>
          <p:nvPr/>
        </p:nvSpPr>
        <p:spPr>
          <a:xfrm>
            <a:off x="3839224" y="11407860"/>
            <a:ext cx="3059999" cy="1548000"/>
          </a:xfrm>
          <a:prstGeom prst="roundRect">
            <a:avLst/>
          </a:prstGeom>
          <a:solidFill>
            <a:schemeClr val="accent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Figtree Black" pitchFamily="2" charset="0"/>
                <a:ea typeface="+mn-ea"/>
                <a:cs typeface="+mn-cs"/>
              </a:rPr>
              <a:t>c. 4 GW </a:t>
            </a:r>
          </a:p>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Figtree" pitchFamily="2" charset="0"/>
                <a:ea typeface="+mn-ea"/>
                <a:cs typeface="+mn-cs"/>
              </a:rPr>
              <a:t> </a:t>
            </a:r>
            <a: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t>combined global DC experience</a:t>
            </a:r>
            <a:endParaRPr kumimoji="0" lang="en-GB" sz="2800" b="0" i="0" u="none" strike="noStrike" kern="1200" cap="none" spc="0" normalizeH="0" baseline="0" noProof="0">
              <a:ln>
                <a:noFill/>
              </a:ln>
              <a:solidFill>
                <a:srgbClr val="FFFFFF"/>
              </a:solidFill>
              <a:effectLst/>
              <a:uLnTx/>
              <a:uFillTx/>
              <a:latin typeface="Figtree" pitchFamily="2" charset="0"/>
              <a:ea typeface="+mn-ea"/>
              <a:cs typeface="+mn-cs"/>
            </a:endParaRPr>
          </a:p>
        </p:txBody>
      </p:sp>
      <p:sp>
        <p:nvSpPr>
          <p:cNvPr id="6" name="Rectangle: Rounded Corners 5">
            <a:extLst>
              <a:ext uri="{FF2B5EF4-FFF2-40B4-BE49-F238E27FC236}">
                <a16:creationId xmlns:a16="http://schemas.microsoft.com/office/drawing/2014/main" id="{1DF84631-C6EC-673A-BF89-48651794CE73}"/>
              </a:ext>
            </a:extLst>
          </p:cNvPr>
          <p:cNvSpPr/>
          <p:nvPr/>
        </p:nvSpPr>
        <p:spPr>
          <a:xfrm>
            <a:off x="7114392" y="11407860"/>
            <a:ext cx="3059999" cy="1548000"/>
          </a:xfrm>
          <a:prstGeom prst="roundRect">
            <a:avLst/>
          </a:prstGeom>
          <a:solidFill>
            <a:schemeClr val="accent1"/>
          </a:solidFill>
          <a:ln w="571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FFFFFF"/>
                </a:solidFill>
                <a:effectLst/>
                <a:uLnTx/>
                <a:uFillTx/>
                <a:latin typeface="Figtree Black" pitchFamily="2" charset="0"/>
                <a:ea typeface="+mn-ea"/>
                <a:cs typeface="+mn-cs"/>
              </a:rPr>
              <a:t>2 </a:t>
            </a:r>
          </a:p>
          <a:p>
            <a:pPr marL="0" marR="0" lvl="0" indent="0" algn="ctr" defTabSz="18288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a:ln>
                  <a:noFill/>
                </a:ln>
                <a:solidFill>
                  <a:srgbClr val="FFFFFF"/>
                </a:solidFill>
                <a:effectLst/>
                <a:uLnTx/>
                <a:uFillTx/>
                <a:latin typeface="Figtree" pitchFamily="2" charset="0"/>
                <a:ea typeface="+mn-ea"/>
                <a:cs typeface="+mn-cs"/>
              </a:rPr>
              <a:t> </a:t>
            </a:r>
            <a:r>
              <a:rPr kumimoji="0" lang="en-US" sz="2400" b="0" i="0" u="none" strike="noStrike" kern="1200" cap="none" spc="0" normalizeH="0" baseline="0" noProof="0">
                <a:ln>
                  <a:noFill/>
                </a:ln>
                <a:solidFill>
                  <a:srgbClr val="FFFFFF"/>
                </a:solidFill>
                <a:effectLst/>
                <a:uLnTx/>
                <a:uFillTx/>
                <a:latin typeface="Figtree" pitchFamily="2" charset="0"/>
                <a:ea typeface="+mn-ea"/>
                <a:cs typeface="+mn-cs"/>
              </a:rPr>
              <a:t>Highly experienced investors </a:t>
            </a:r>
            <a:endParaRPr kumimoji="0" lang="en-GB" sz="2800" b="0" i="0" u="none" strike="noStrike" kern="1200" cap="none" spc="0" normalizeH="0" baseline="0" noProof="0">
              <a:ln>
                <a:noFill/>
              </a:ln>
              <a:solidFill>
                <a:srgbClr val="FFFFFF"/>
              </a:solidFill>
              <a:effectLst/>
              <a:uLnTx/>
              <a:uFillTx/>
              <a:latin typeface="Figtree" pitchFamily="2" charset="0"/>
              <a:ea typeface="+mn-ea"/>
              <a:cs typeface="+mn-cs"/>
            </a:endParaRPr>
          </a:p>
        </p:txBody>
      </p:sp>
      <p:grpSp>
        <p:nvGrpSpPr>
          <p:cNvPr id="4" name="Group 3">
            <a:extLst>
              <a:ext uri="{FF2B5EF4-FFF2-40B4-BE49-F238E27FC236}">
                <a16:creationId xmlns:a16="http://schemas.microsoft.com/office/drawing/2014/main" id="{EE96BF67-29E7-2F40-5654-3ADF605EC876}"/>
              </a:ext>
            </a:extLst>
          </p:cNvPr>
          <p:cNvGrpSpPr/>
          <p:nvPr/>
        </p:nvGrpSpPr>
        <p:grpSpPr>
          <a:xfrm>
            <a:off x="19349455" y="15175552"/>
            <a:ext cx="6700910" cy="2760001"/>
            <a:chOff x="10604039" y="8042731"/>
            <a:chExt cx="6700910" cy="2760001"/>
          </a:xfrm>
        </p:grpSpPr>
        <p:pic>
          <p:nvPicPr>
            <p:cNvPr id="8" name="Picture 2" descr="Download CBRE Group Logo in SVG Vector or PNG File Format ...">
              <a:extLst>
                <a:ext uri="{FF2B5EF4-FFF2-40B4-BE49-F238E27FC236}">
                  <a16:creationId xmlns:a16="http://schemas.microsoft.com/office/drawing/2014/main" id="{981E0E07-C30F-E957-37BB-FAF50519DB13}"/>
                </a:ext>
              </a:extLst>
            </p:cNvPr>
            <p:cNvPicPr>
              <a:picLocks noChangeAspect="1" noChangeArrowheads="1"/>
            </p:cNvPicPr>
            <p:nvPr/>
          </p:nvPicPr>
          <p:blipFill rotWithShape="1">
            <a:blip r:embed="rId18" cstate="email">
              <a:extLst>
                <a:ext uri="{28A0092B-C50C-407E-A947-70E740481C1C}">
                  <a14:useLocalDpi xmlns:a14="http://schemas.microsoft.com/office/drawing/2010/main"/>
                </a:ext>
              </a:extLst>
            </a:blip>
            <a:srcRect t="20140" b="20379"/>
            <a:stretch/>
          </p:blipFill>
          <p:spPr bwMode="auto">
            <a:xfrm>
              <a:off x="13122169" y="8072728"/>
              <a:ext cx="1561698" cy="61928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Download picture">
              <a:extLst>
                <a:ext uri="{FF2B5EF4-FFF2-40B4-BE49-F238E27FC236}">
                  <a16:creationId xmlns:a16="http://schemas.microsoft.com/office/drawing/2014/main" id="{DE20AB82-1648-BAC4-86EA-D804A30039A9}"/>
                </a:ext>
              </a:extLst>
            </p:cNvPr>
            <p:cNvPicPr>
              <a:picLocks noChangeAspect="1" noChangeArrowheads="1"/>
            </p:cNvPicPr>
            <p:nvPr/>
          </p:nvPicPr>
          <p:blipFill>
            <a:blip r:embed="rId19"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0824284" y="8042731"/>
              <a:ext cx="1871822" cy="74872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8" descr="Download Siemens Logo in SVG Vector or PNG File Format - Logo.wine">
              <a:extLst>
                <a:ext uri="{FF2B5EF4-FFF2-40B4-BE49-F238E27FC236}">
                  <a16:creationId xmlns:a16="http://schemas.microsoft.com/office/drawing/2014/main" id="{C0D69BE2-D288-6AB3-7E73-886ADA984C4F}"/>
                </a:ext>
              </a:extLst>
            </p:cNvPr>
            <p:cNvPicPr>
              <a:picLocks noChangeAspect="1" noChangeArrowheads="1"/>
            </p:cNvPicPr>
            <p:nvPr/>
          </p:nvPicPr>
          <p:blipFill rotWithShape="1">
            <a:blip r:embed="rId20" cstate="email">
              <a:extLst>
                <a:ext uri="{28A0092B-C50C-407E-A947-70E740481C1C}">
                  <a14:useLocalDpi xmlns:a14="http://schemas.microsoft.com/office/drawing/2010/main"/>
                </a:ext>
              </a:extLst>
            </a:blip>
            <a:srcRect t="26065" b="28979"/>
            <a:stretch/>
          </p:blipFill>
          <p:spPr bwMode="auto">
            <a:xfrm>
              <a:off x="10824284" y="9170914"/>
              <a:ext cx="2148007" cy="64377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0" descr="Jacobs-logo - Moltex Energy">
              <a:extLst>
                <a:ext uri="{FF2B5EF4-FFF2-40B4-BE49-F238E27FC236}">
                  <a16:creationId xmlns:a16="http://schemas.microsoft.com/office/drawing/2014/main" id="{03E05A98-2970-02CE-5101-556113BA7B49}"/>
                </a:ext>
              </a:extLst>
            </p:cNvPr>
            <p:cNvPicPr>
              <a:picLocks noChangeAspect="1" noChangeArrowheads="1"/>
            </p:cNvPicPr>
            <p:nvPr/>
          </p:nvPicPr>
          <p:blipFill>
            <a:blip r:embed="rId21"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5109930" y="8066355"/>
              <a:ext cx="1872887" cy="701481"/>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21" descr="Autodesk's primary logo, the Autodesk symbol next to the Autodesk wordmark, in a single line">
              <a:extLst>
                <a:ext uri="{FF2B5EF4-FFF2-40B4-BE49-F238E27FC236}">
                  <a16:creationId xmlns:a16="http://schemas.microsoft.com/office/drawing/2014/main" id="{340F635F-F4C9-B90A-17A2-8BC6447E6DC3}"/>
                </a:ext>
              </a:extLst>
            </p:cNvPr>
            <p:cNvPicPr>
              <a:picLocks noChangeAspect="1" noChangeArrowheads="1"/>
            </p:cNvPicPr>
            <p:nvPr/>
          </p:nvPicPr>
          <p:blipFill rotWithShape="1">
            <a:blip r:embed="rId22" cstate="email">
              <a:clrChange>
                <a:clrFrom>
                  <a:srgbClr val="FFFFFF"/>
                </a:clrFrom>
                <a:clrTo>
                  <a:srgbClr val="FFFFFF">
                    <a:alpha val="0"/>
                  </a:srgbClr>
                </a:clrTo>
              </a:clrChange>
              <a:extLst>
                <a:ext uri="{28A0092B-C50C-407E-A947-70E740481C1C}">
                  <a14:useLocalDpi xmlns:a14="http://schemas.microsoft.com/office/drawing/2010/main"/>
                </a:ext>
              </a:extLst>
            </a:blip>
            <a:srcRect l="8410" t="31149" r="6399" b="38838"/>
            <a:stretch/>
          </p:blipFill>
          <p:spPr bwMode="auto">
            <a:xfrm>
              <a:off x="10604039" y="10186126"/>
              <a:ext cx="2974838" cy="590003"/>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 descr="Curtis Engine Contingent Puts a Charge into MTU Engineering ...">
              <a:extLst>
                <a:ext uri="{FF2B5EF4-FFF2-40B4-BE49-F238E27FC236}">
                  <a16:creationId xmlns:a16="http://schemas.microsoft.com/office/drawing/2014/main" id="{6FD2DDE7-08AF-B8A1-74E2-2D5DE25E2C86}"/>
                </a:ext>
              </a:extLst>
            </p:cNvPr>
            <p:cNvPicPr>
              <a:picLocks noChangeAspect="1" noChangeArrowheads="1"/>
            </p:cNvPicPr>
            <p:nvPr/>
          </p:nvPicPr>
          <p:blipFill rotWithShape="1">
            <a:blip r:embed="rId23"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14893612" y="9196959"/>
              <a:ext cx="2411337" cy="59168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4">
              <a:extLst>
                <a:ext uri="{FF2B5EF4-FFF2-40B4-BE49-F238E27FC236}">
                  <a16:creationId xmlns:a16="http://schemas.microsoft.com/office/drawing/2014/main" id="{1AC877AC-C756-578F-E56A-BD2E283BE32A}"/>
                </a:ext>
              </a:extLst>
            </p:cNvPr>
            <p:cNvPicPr>
              <a:picLocks noChangeAspect="1" noChangeArrowheads="1"/>
            </p:cNvPicPr>
            <p:nvPr/>
          </p:nvPicPr>
          <p:blipFill rotWithShape="1">
            <a:blip r:embed="rId24" cstate="email">
              <a:extLst>
                <a:ext uri="{28A0092B-C50C-407E-A947-70E740481C1C}">
                  <a14:useLocalDpi xmlns:a14="http://schemas.microsoft.com/office/drawing/2010/main"/>
                </a:ext>
              </a:extLst>
            </a:blip>
            <a:srcRect/>
            <a:stretch/>
          </p:blipFill>
          <p:spPr bwMode="auto">
            <a:xfrm>
              <a:off x="13302742" y="9223295"/>
              <a:ext cx="1381125" cy="53901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GIGABYTE Global">
              <a:extLst>
                <a:ext uri="{FF2B5EF4-FFF2-40B4-BE49-F238E27FC236}">
                  <a16:creationId xmlns:a16="http://schemas.microsoft.com/office/drawing/2014/main" id="{41E78D0A-D5A8-233D-EE52-05E825CC244A}"/>
                </a:ext>
              </a:extLst>
            </p:cNvPr>
            <p:cNvPicPr>
              <a:picLocks noChangeAspect="1" noChangeArrowheads="1"/>
            </p:cNvPicPr>
            <p:nvPr/>
          </p:nvPicPr>
          <p:blipFill rotWithShape="1">
            <a:blip r:embed="rId25" cstate="email">
              <a:extLst>
                <a:ext uri="{28A0092B-C50C-407E-A947-70E740481C1C}">
                  <a14:useLocalDpi xmlns:a14="http://schemas.microsoft.com/office/drawing/2010/main"/>
                </a:ext>
              </a:extLst>
            </a:blip>
            <a:srcRect/>
            <a:stretch/>
          </p:blipFill>
          <p:spPr bwMode="auto">
            <a:xfrm>
              <a:off x="14972709" y="10275572"/>
              <a:ext cx="2053372" cy="411111"/>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8">
              <a:extLst>
                <a:ext uri="{FF2B5EF4-FFF2-40B4-BE49-F238E27FC236}">
                  <a16:creationId xmlns:a16="http://schemas.microsoft.com/office/drawing/2014/main" id="{9C29743C-E74C-6FD3-D927-FBF58ED8F5E0}"/>
                </a:ext>
              </a:extLst>
            </p:cNvPr>
            <p:cNvPicPr>
              <a:picLocks noChangeAspect="1" noChangeArrowheads="1"/>
            </p:cNvPicPr>
            <p:nvPr/>
          </p:nvPicPr>
          <p:blipFill>
            <a:blip r:embed="rId26" cstate="email">
              <a:extLst>
                <a:ext uri="{28A0092B-C50C-407E-A947-70E740481C1C}">
                  <a14:useLocalDpi xmlns:a14="http://schemas.microsoft.com/office/drawing/2010/main"/>
                </a:ext>
              </a:extLst>
            </a:blip>
            <a:srcRect/>
            <a:stretch>
              <a:fillRect/>
            </a:stretch>
          </p:blipFill>
          <p:spPr bwMode="auto">
            <a:xfrm>
              <a:off x="13613519" y="10159523"/>
              <a:ext cx="1212529" cy="643209"/>
            </a:xfrm>
            <a:prstGeom prst="rect">
              <a:avLst/>
            </a:prstGeom>
            <a:noFill/>
            <a:extLst>
              <a:ext uri="{909E8E84-426E-40DD-AFC4-6F175D3DCCD1}">
                <a14:hiddenFill xmlns:a14="http://schemas.microsoft.com/office/drawing/2010/main">
                  <a:solidFill>
                    <a:srgbClr val="FFFFFF"/>
                  </a:solidFill>
                </a14:hiddenFill>
              </a:ext>
            </a:extLst>
          </p:spPr>
        </p:pic>
      </p:grpSp>
      <p:pic>
        <p:nvPicPr>
          <p:cNvPr id="12" name="Picture 2">
            <a:extLst>
              <a:ext uri="{FF2B5EF4-FFF2-40B4-BE49-F238E27FC236}">
                <a16:creationId xmlns:a16="http://schemas.microsoft.com/office/drawing/2014/main" id="{F584BF16-2273-9163-0A7D-A3CA9491D7BF}"/>
              </a:ext>
            </a:extLst>
          </p:cNvPr>
          <p:cNvPicPr>
            <a:picLocks noChangeAspect="1" noChangeArrowheads="1"/>
          </p:cNvPicPr>
          <p:nvPr/>
        </p:nvPicPr>
        <p:blipFill>
          <a:blip r:embed="rId27" cstate="email">
            <a:extLst>
              <a:ext uri="{28A0092B-C50C-407E-A947-70E740481C1C}">
                <a14:useLocalDpi xmlns:a14="http://schemas.microsoft.com/office/drawing/2010/main"/>
              </a:ext>
            </a:extLst>
          </a:blip>
          <a:srcRect/>
          <a:stretch>
            <a:fillRect/>
          </a:stretch>
        </p:blipFill>
        <p:spPr bwMode="auto">
          <a:xfrm>
            <a:off x="13265819" y="9545387"/>
            <a:ext cx="1734490" cy="349678"/>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2" descr="Download CBRE Group Logo in SVG Vector or PNG File Format ...">
            <a:extLst>
              <a:ext uri="{FF2B5EF4-FFF2-40B4-BE49-F238E27FC236}">
                <a16:creationId xmlns:a16="http://schemas.microsoft.com/office/drawing/2014/main" id="{1368CC89-FF0F-A337-C978-E67BFAF210E0}"/>
              </a:ext>
            </a:extLst>
          </p:cNvPr>
          <p:cNvPicPr>
            <a:picLocks noChangeAspect="1" noChangeArrowheads="1"/>
          </p:cNvPicPr>
          <p:nvPr/>
        </p:nvPicPr>
        <p:blipFill>
          <a:blip r:embed="rId18" cstate="email">
            <a:extLst>
              <a:ext uri="{28A0092B-C50C-407E-A947-70E740481C1C}">
                <a14:useLocalDpi xmlns:a14="http://schemas.microsoft.com/office/drawing/2010/main"/>
              </a:ext>
            </a:extLst>
          </a:blip>
          <a:srcRect/>
          <a:stretch>
            <a:fillRect/>
          </a:stretch>
        </p:blipFill>
        <p:spPr bwMode="auto">
          <a:xfrm>
            <a:off x="15369118" y="10287928"/>
            <a:ext cx="1868834" cy="1245888"/>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a:extLst>
              <a:ext uri="{FF2B5EF4-FFF2-40B4-BE49-F238E27FC236}">
                <a16:creationId xmlns:a16="http://schemas.microsoft.com/office/drawing/2014/main" id="{D23041FB-B282-B4B6-40B5-5EF4A1516B51}"/>
              </a:ext>
            </a:extLst>
          </p:cNvPr>
          <p:cNvPicPr>
            <a:picLocks noChangeAspect="1" noChangeArrowheads="1"/>
          </p:cNvPicPr>
          <p:nvPr/>
        </p:nvPicPr>
        <p:blipFill>
          <a:blip r:embed="rId28" cstate="email">
            <a:extLst>
              <a:ext uri="{28A0092B-C50C-407E-A947-70E740481C1C}">
                <a14:useLocalDpi xmlns:a14="http://schemas.microsoft.com/office/drawing/2010/main"/>
              </a:ext>
            </a:extLst>
          </a:blip>
          <a:srcRect/>
          <a:stretch>
            <a:fillRect/>
          </a:stretch>
        </p:blipFill>
        <p:spPr bwMode="auto">
          <a:xfrm>
            <a:off x="13513914" y="10538907"/>
            <a:ext cx="1238300" cy="496770"/>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23">
            <a:extLst>
              <a:ext uri="{FF2B5EF4-FFF2-40B4-BE49-F238E27FC236}">
                <a16:creationId xmlns:a16="http://schemas.microsoft.com/office/drawing/2014/main" id="{43AB6FA0-7C5E-3E73-5C8C-8A9366174DF5}"/>
              </a:ext>
            </a:extLst>
          </p:cNvPr>
          <p:cNvPicPr>
            <a:picLocks noChangeAspect="1" noChangeArrowheads="1"/>
          </p:cNvPicPr>
          <p:nvPr/>
        </p:nvPicPr>
        <p:blipFill>
          <a:blip r:embed="rId29" cstate="email">
            <a:extLst>
              <a:ext uri="{28A0092B-C50C-407E-A947-70E740481C1C}">
                <a14:useLocalDpi xmlns:a14="http://schemas.microsoft.com/office/drawing/2010/main"/>
              </a:ext>
            </a:extLst>
          </a:blip>
          <a:srcRect/>
          <a:stretch>
            <a:fillRect/>
          </a:stretch>
        </p:blipFill>
        <p:spPr bwMode="auto">
          <a:xfrm>
            <a:off x="11049221" y="10538384"/>
            <a:ext cx="1349907" cy="80842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a:extLst>
              <a:ext uri="{FF2B5EF4-FFF2-40B4-BE49-F238E27FC236}">
                <a16:creationId xmlns:a16="http://schemas.microsoft.com/office/drawing/2014/main" id="{3082F786-5FCE-D356-1560-D0836DC719C1}"/>
              </a:ext>
            </a:extLst>
          </p:cNvPr>
          <p:cNvPicPr>
            <a:picLocks noChangeAspect="1" noChangeArrowheads="1"/>
          </p:cNvPicPr>
          <p:nvPr/>
        </p:nvPicPr>
        <p:blipFill>
          <a:blip r:embed="rId30" cstate="email">
            <a:extLst>
              <a:ext uri="{28A0092B-C50C-407E-A947-70E740481C1C}">
                <a14:useLocalDpi xmlns:a14="http://schemas.microsoft.com/office/drawing/2010/main"/>
              </a:ext>
            </a:extLst>
          </a:blip>
          <a:srcRect/>
          <a:stretch>
            <a:fillRect/>
          </a:stretch>
        </p:blipFill>
        <p:spPr bwMode="auto">
          <a:xfrm>
            <a:off x="15673082" y="9515730"/>
            <a:ext cx="1260907" cy="490352"/>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6">
            <a:extLst>
              <a:ext uri="{FF2B5EF4-FFF2-40B4-BE49-F238E27FC236}">
                <a16:creationId xmlns:a16="http://schemas.microsoft.com/office/drawing/2014/main" id="{87E770C7-42E9-8BAC-1767-BF2E924D2391}"/>
              </a:ext>
            </a:extLst>
          </p:cNvPr>
          <p:cNvPicPr>
            <a:picLocks noChangeAspect="1" noChangeArrowheads="1"/>
          </p:cNvPicPr>
          <p:nvPr/>
        </p:nvPicPr>
        <p:blipFill>
          <a:blip r:embed="rId31" cstate="email">
            <a:extLst>
              <a:ext uri="{28A0092B-C50C-407E-A947-70E740481C1C}">
                <a14:useLocalDpi xmlns:a14="http://schemas.microsoft.com/office/drawing/2010/main"/>
              </a:ext>
            </a:extLst>
          </a:blip>
          <a:srcRect/>
          <a:stretch>
            <a:fillRect/>
          </a:stretch>
        </p:blipFill>
        <p:spPr bwMode="auto">
          <a:xfrm>
            <a:off x="10881077" y="16428523"/>
            <a:ext cx="1717586" cy="1082079"/>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Galp logo">
            <a:extLst>
              <a:ext uri="{FF2B5EF4-FFF2-40B4-BE49-F238E27FC236}">
                <a16:creationId xmlns:a16="http://schemas.microsoft.com/office/drawing/2014/main" id="{78E402FD-A0C9-D9DA-0BCA-B11F5DC1E2B9}"/>
              </a:ext>
            </a:extLst>
          </p:cNvPr>
          <p:cNvPicPr>
            <a:picLocks noChangeAspect="1" noChangeArrowheads="1"/>
          </p:cNvPicPr>
          <p:nvPr/>
        </p:nvPicPr>
        <p:blipFill rotWithShape="1">
          <a:blip r:embed="rId3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13280696" y="11564389"/>
            <a:ext cx="1704737" cy="104265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26" descr="Logo de CMS">
            <a:extLst>
              <a:ext uri="{FF2B5EF4-FFF2-40B4-BE49-F238E27FC236}">
                <a16:creationId xmlns:a16="http://schemas.microsoft.com/office/drawing/2014/main" id="{52F6730A-7291-B809-F9AD-048A095FB915}"/>
              </a:ext>
            </a:extLst>
          </p:cNvPr>
          <p:cNvPicPr>
            <a:picLocks noChangeAspect="1" noChangeArrowheads="1"/>
          </p:cNvPicPr>
          <p:nvPr/>
        </p:nvPicPr>
        <p:blipFill>
          <a:blip r:embed="rId33" cstate="email">
            <a:extLst>
              <a:ext uri="{28A0092B-C50C-407E-A947-70E740481C1C}">
                <a14:useLocalDpi xmlns:a14="http://schemas.microsoft.com/office/drawing/2010/main"/>
              </a:ext>
            </a:extLst>
          </a:blip>
          <a:srcRect/>
          <a:stretch>
            <a:fillRect/>
          </a:stretch>
        </p:blipFill>
        <p:spPr bwMode="auto">
          <a:xfrm>
            <a:off x="14157874" y="15289729"/>
            <a:ext cx="1236231" cy="627774"/>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8" descr="Deloitte fecha quatro escritórios no UK e coloca 500 pessoas em  teletrabalho permanente - RHmagazine">
            <a:extLst>
              <a:ext uri="{FF2B5EF4-FFF2-40B4-BE49-F238E27FC236}">
                <a16:creationId xmlns:a16="http://schemas.microsoft.com/office/drawing/2014/main" id="{73E319BE-B238-588F-2BF4-9B9AC28C26E2}"/>
              </a:ext>
            </a:extLst>
          </p:cNvPr>
          <p:cNvPicPr>
            <a:picLocks noChangeAspect="1" noChangeArrowheads="1"/>
          </p:cNvPicPr>
          <p:nvPr/>
        </p:nvPicPr>
        <p:blipFill>
          <a:blip r:embed="rId3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13774752" y="16611089"/>
            <a:ext cx="2002476" cy="811203"/>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0">
            <a:extLst>
              <a:ext uri="{FF2B5EF4-FFF2-40B4-BE49-F238E27FC236}">
                <a16:creationId xmlns:a16="http://schemas.microsoft.com/office/drawing/2014/main" id="{BE4E32C8-AFB0-84E8-5CEE-0BD69E64DF34}"/>
              </a:ext>
            </a:extLst>
          </p:cNvPr>
          <p:cNvPicPr>
            <a:picLocks noChangeAspect="1" noChangeArrowheads="1"/>
          </p:cNvPicPr>
          <p:nvPr/>
        </p:nvPicPr>
        <p:blipFill>
          <a:blip r:embed="rId35" cstate="email">
            <a:extLst>
              <a:ext uri="{28A0092B-C50C-407E-A947-70E740481C1C}">
                <a14:useLocalDpi xmlns:a14="http://schemas.microsoft.com/office/drawing/2010/main"/>
              </a:ext>
            </a:extLst>
          </a:blip>
          <a:srcRect/>
          <a:stretch/>
        </p:blipFill>
        <p:spPr bwMode="auto">
          <a:xfrm>
            <a:off x="10931124" y="9461218"/>
            <a:ext cx="1586101" cy="539535"/>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2">
            <a:extLst>
              <a:ext uri="{FF2B5EF4-FFF2-40B4-BE49-F238E27FC236}">
                <a16:creationId xmlns:a16="http://schemas.microsoft.com/office/drawing/2014/main" id="{8E899141-8EA2-43B0-3926-0E5D12076D5C}"/>
              </a:ext>
            </a:extLst>
          </p:cNvPr>
          <p:cNvPicPr>
            <a:picLocks noChangeAspect="1" noChangeArrowheads="1"/>
          </p:cNvPicPr>
          <p:nvPr/>
        </p:nvPicPr>
        <p:blipFill>
          <a:blip r:embed="rId36" cstate="email">
            <a:extLst>
              <a:ext uri="{28A0092B-C50C-407E-A947-70E740481C1C}">
                <a14:useLocalDpi xmlns:a14="http://schemas.microsoft.com/office/drawing/2010/main"/>
              </a:ext>
            </a:extLst>
          </a:blip>
          <a:srcRect/>
          <a:stretch>
            <a:fillRect/>
          </a:stretch>
        </p:blipFill>
        <p:spPr bwMode="auto">
          <a:xfrm>
            <a:off x="15712559" y="11815663"/>
            <a:ext cx="1181952" cy="64037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32" descr="Gleeds -">
            <a:extLst>
              <a:ext uri="{FF2B5EF4-FFF2-40B4-BE49-F238E27FC236}">
                <a16:creationId xmlns:a16="http://schemas.microsoft.com/office/drawing/2014/main" id="{6DBF6C94-8F56-E270-F3D4-AFA750111CFA}"/>
              </a:ext>
            </a:extLst>
          </p:cNvPr>
          <p:cNvPicPr>
            <a:picLocks noChangeAspect="1" noChangeArrowheads="1"/>
          </p:cNvPicPr>
          <p:nvPr/>
        </p:nvPicPr>
        <p:blipFill>
          <a:blip r:embed="rId37" cstate="email">
            <a:extLst>
              <a:ext uri="{28A0092B-C50C-407E-A947-70E740481C1C}">
                <a14:useLocalDpi xmlns:a14="http://schemas.microsoft.com/office/drawing/2010/main"/>
              </a:ext>
            </a:extLst>
          </a:blip>
          <a:srcRect/>
          <a:stretch>
            <a:fillRect/>
          </a:stretch>
        </p:blipFill>
        <p:spPr bwMode="auto">
          <a:xfrm>
            <a:off x="10931124" y="11767382"/>
            <a:ext cx="1586101" cy="55807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1" descr="A person in a blue shirt&#10;&#10;AI-generated content may be incorrect.">
            <a:extLst>
              <a:ext uri="{FF2B5EF4-FFF2-40B4-BE49-F238E27FC236}">
                <a16:creationId xmlns:a16="http://schemas.microsoft.com/office/drawing/2014/main" id="{3CE3F809-E2C8-4FD1-ABEB-A0718DED2EB9}"/>
              </a:ext>
            </a:extLst>
          </p:cNvPr>
          <p:cNvPicPr>
            <a:picLocks noChangeAspect="1"/>
          </p:cNvPicPr>
          <p:nvPr/>
        </p:nvPicPr>
        <p:blipFill>
          <a:blip r:embed="rId38" cstate="email">
            <a:extLst>
              <a:ext uri="{28A0092B-C50C-407E-A947-70E740481C1C}">
                <a14:useLocalDpi xmlns:a14="http://schemas.microsoft.com/office/drawing/2010/main"/>
              </a:ext>
            </a:extLst>
          </a:blip>
          <a:srcRect/>
          <a:stretch>
            <a:fillRect/>
          </a:stretch>
        </p:blipFill>
        <p:spPr>
          <a:xfrm>
            <a:off x="7156184" y="7068130"/>
            <a:ext cx="1871028" cy="1821601"/>
          </a:xfrm>
          <a:prstGeom prst="ellipse">
            <a:avLst/>
          </a:prstGeom>
          <a:ln w="22225">
            <a:solidFill>
              <a:srgbClr val="034526"/>
            </a:solidFill>
          </a:ln>
        </p:spPr>
      </p:pic>
      <p:pic>
        <p:nvPicPr>
          <p:cNvPr id="9" name="Picture 6">
            <a:extLst>
              <a:ext uri="{FF2B5EF4-FFF2-40B4-BE49-F238E27FC236}">
                <a16:creationId xmlns:a16="http://schemas.microsoft.com/office/drawing/2014/main" id="{630892F5-DD4C-009D-8D83-E6C9DC10DEAB}"/>
              </a:ext>
            </a:extLst>
          </p:cNvPr>
          <p:cNvPicPr>
            <a:picLocks noChangeAspect="1" noChangeArrowheads="1"/>
          </p:cNvPicPr>
          <p:nvPr/>
        </p:nvPicPr>
        <p:blipFill>
          <a:blip r:embed="rId8" cstate="email">
            <a:extLst>
              <a:ext uri="{28A0092B-C50C-407E-A947-70E740481C1C}">
                <a14:useLocalDpi xmlns:a14="http://schemas.microsoft.com/office/drawing/2010/main"/>
              </a:ext>
            </a:extLst>
          </a:blip>
          <a:srcRect/>
          <a:stretch/>
        </p:blipFill>
        <p:spPr bwMode="auto">
          <a:xfrm>
            <a:off x="7394797" y="9950084"/>
            <a:ext cx="1386766" cy="657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30223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C257F-A3BE-57AC-7E67-22E3A854DD91}"/>
            </a:ext>
          </a:extLst>
        </p:cNvPr>
        <p:cNvGrpSpPr/>
        <p:nvPr/>
      </p:nvGrpSpPr>
      <p:grpSpPr>
        <a:xfrm>
          <a:off x="0" y="0"/>
          <a:ext cx="0" cy="0"/>
          <a:chOff x="0" y="0"/>
          <a:chExt cx="0" cy="0"/>
        </a:xfrm>
      </p:grpSpPr>
      <p:graphicFrame>
        <p:nvGraphicFramePr>
          <p:cNvPr id="272" name="Table 271">
            <a:extLst>
              <a:ext uri="{FF2B5EF4-FFF2-40B4-BE49-F238E27FC236}">
                <a16:creationId xmlns:a16="http://schemas.microsoft.com/office/drawing/2014/main" id="{4B13B523-8B7B-F0BE-0123-B0265084BD56}"/>
              </a:ext>
            </a:extLst>
          </p:cNvPr>
          <p:cNvGraphicFramePr>
            <a:graphicFrameLocks/>
          </p:cNvGraphicFramePr>
          <p:nvPr>
            <p:extLst>
              <p:ext uri="{D42A27DB-BD31-4B8C-83A1-F6EECF244321}">
                <p14:modId xmlns:p14="http://schemas.microsoft.com/office/powerpoint/2010/main" val="538022139"/>
              </p:ext>
            </p:extLst>
          </p:nvPr>
        </p:nvGraphicFramePr>
        <p:xfrm>
          <a:off x="1679944" y="4342726"/>
          <a:ext cx="19147762" cy="7817190"/>
        </p:xfrm>
        <a:graphic>
          <a:graphicData uri="http://schemas.openxmlformats.org/drawingml/2006/table">
            <a:tbl>
              <a:tblPr firstRow="1" bandRow="1">
                <a:tableStyleId>{5940675A-B579-460E-94D1-54222C63F5DA}</a:tableStyleId>
              </a:tblPr>
              <a:tblGrid>
                <a:gridCol w="1622692">
                  <a:extLst>
                    <a:ext uri="{9D8B030D-6E8A-4147-A177-3AD203B41FA5}">
                      <a16:colId xmlns:a16="http://schemas.microsoft.com/office/drawing/2014/main" val="3770884824"/>
                    </a:ext>
                  </a:extLst>
                </a:gridCol>
                <a:gridCol w="1947230">
                  <a:extLst>
                    <a:ext uri="{9D8B030D-6E8A-4147-A177-3AD203B41FA5}">
                      <a16:colId xmlns:a16="http://schemas.microsoft.com/office/drawing/2014/main" val="974732491"/>
                    </a:ext>
                  </a:extLst>
                </a:gridCol>
                <a:gridCol w="1947230">
                  <a:extLst>
                    <a:ext uri="{9D8B030D-6E8A-4147-A177-3AD203B41FA5}">
                      <a16:colId xmlns:a16="http://schemas.microsoft.com/office/drawing/2014/main" val="2038664072"/>
                    </a:ext>
                  </a:extLst>
                </a:gridCol>
                <a:gridCol w="1947230">
                  <a:extLst>
                    <a:ext uri="{9D8B030D-6E8A-4147-A177-3AD203B41FA5}">
                      <a16:colId xmlns:a16="http://schemas.microsoft.com/office/drawing/2014/main" val="3185543205"/>
                    </a:ext>
                  </a:extLst>
                </a:gridCol>
                <a:gridCol w="1947230">
                  <a:extLst>
                    <a:ext uri="{9D8B030D-6E8A-4147-A177-3AD203B41FA5}">
                      <a16:colId xmlns:a16="http://schemas.microsoft.com/office/drawing/2014/main" val="231506731"/>
                    </a:ext>
                  </a:extLst>
                </a:gridCol>
                <a:gridCol w="1947230">
                  <a:extLst>
                    <a:ext uri="{9D8B030D-6E8A-4147-A177-3AD203B41FA5}">
                      <a16:colId xmlns:a16="http://schemas.microsoft.com/office/drawing/2014/main" val="3183123201"/>
                    </a:ext>
                  </a:extLst>
                </a:gridCol>
                <a:gridCol w="1947230">
                  <a:extLst>
                    <a:ext uri="{9D8B030D-6E8A-4147-A177-3AD203B41FA5}">
                      <a16:colId xmlns:a16="http://schemas.microsoft.com/office/drawing/2014/main" val="3043675869"/>
                    </a:ext>
                  </a:extLst>
                </a:gridCol>
                <a:gridCol w="1947230">
                  <a:extLst>
                    <a:ext uri="{9D8B030D-6E8A-4147-A177-3AD203B41FA5}">
                      <a16:colId xmlns:a16="http://schemas.microsoft.com/office/drawing/2014/main" val="3204806280"/>
                    </a:ext>
                  </a:extLst>
                </a:gridCol>
                <a:gridCol w="1947230">
                  <a:extLst>
                    <a:ext uri="{9D8B030D-6E8A-4147-A177-3AD203B41FA5}">
                      <a16:colId xmlns:a16="http://schemas.microsoft.com/office/drawing/2014/main" val="527699860"/>
                    </a:ext>
                  </a:extLst>
                </a:gridCol>
                <a:gridCol w="1947230">
                  <a:extLst>
                    <a:ext uri="{9D8B030D-6E8A-4147-A177-3AD203B41FA5}">
                      <a16:colId xmlns:a16="http://schemas.microsoft.com/office/drawing/2014/main" val="2074923888"/>
                    </a:ext>
                  </a:extLst>
                </a:gridCol>
              </a:tblGrid>
              <a:tr h="576000">
                <a:tc>
                  <a:txBody>
                    <a:bodyPr/>
                    <a:lstStyle/>
                    <a:p>
                      <a:pPr algn="l"/>
                      <a:r>
                        <a:rPr lang="en-GB" sz="1800" b="1" dirty="0">
                          <a:solidFill>
                            <a:schemeClr val="bg1"/>
                          </a:solidFill>
                          <a:latin typeface="Figtree" pitchFamily="2" charset="0"/>
                        </a:rPr>
                        <a:t>Individual</a:t>
                      </a:r>
                    </a:p>
                  </a:txBody>
                  <a:tcPr marL="72000" marR="72000" marT="0" marB="0" anchor="ctr">
                    <a:lnL w="12700" cmpd="sng">
                      <a:noFill/>
                    </a:lnL>
                    <a:lnR w="28575" cap="flat" cmpd="sng" algn="ctr">
                      <a:solidFill>
                        <a:schemeClr val="bg1"/>
                      </a:solidFill>
                      <a:prstDash val="solid"/>
                      <a:round/>
                      <a:headEnd type="none" w="med" len="med"/>
                      <a:tailEnd type="none" w="med" len="med"/>
                    </a:lnR>
                    <a:lnT w="12700" cmpd="sng">
                      <a:noFill/>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A3638"/>
                    </a:solidFill>
                  </a:tcPr>
                </a:tc>
                <a:tc>
                  <a:txBody>
                    <a:bodyPr/>
                    <a:lstStyle/>
                    <a:p>
                      <a:pPr algn="ctr"/>
                      <a:r>
                        <a:rPr lang="en-GB" sz="1600" b="1">
                          <a:latin typeface="Figtree" pitchFamily="2" charset="0"/>
                        </a:rPr>
                        <a:t>Robert Dunn</a:t>
                      </a:r>
                    </a:p>
                  </a:txBody>
                  <a:tcPr marL="72000" marR="72000" marT="0" marB="0" anchor="ctr">
                    <a:lnL w="28575" cap="flat" cmpd="sng" algn="ctr">
                      <a:solidFill>
                        <a:schemeClr val="bg1"/>
                      </a:solidFill>
                      <a:prstDash val="solid"/>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b="1">
                          <a:latin typeface="Figtree" pitchFamily="2" charset="0"/>
                        </a:rPr>
                        <a:t>Luis Rodrigues</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b="1">
                          <a:latin typeface="Figtree" pitchFamily="2" charset="0"/>
                        </a:rPr>
                        <a:t>Alberto Petermann</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b="1">
                          <a:latin typeface="Figtree" pitchFamily="2" charset="0"/>
                        </a:rPr>
                        <a:t>Luis Marques</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b="1">
                          <a:latin typeface="Figtree" pitchFamily="2" charset="0"/>
                        </a:rPr>
                        <a:t>Bill Kennedy</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b="1">
                          <a:latin typeface="Figtree" pitchFamily="2" charset="0"/>
                        </a:rPr>
                        <a:t>Pedro Nobre</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b="1">
                          <a:latin typeface="Figtree" pitchFamily="2" charset="0"/>
                        </a:rPr>
                        <a:t>Fábio Coelho</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b="1" dirty="0">
                          <a:latin typeface="Figtree" pitchFamily="2" charset="0"/>
                        </a:rPr>
                        <a:t>Márcio Reis</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b="1" dirty="0">
                          <a:latin typeface="Figtree" pitchFamily="2" charset="0"/>
                        </a:rPr>
                        <a:t>Denis Browne</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5626626"/>
                  </a:ext>
                </a:extLst>
              </a:tr>
              <a:tr h="792000">
                <a:tc>
                  <a:txBody>
                    <a:bodyPr/>
                    <a:lstStyle/>
                    <a:p>
                      <a:pPr algn="l"/>
                      <a:r>
                        <a:rPr lang="en-GB" sz="1800" b="1" dirty="0">
                          <a:solidFill>
                            <a:schemeClr val="bg1"/>
                          </a:solidFill>
                          <a:latin typeface="Figtree" pitchFamily="2" charset="0"/>
                        </a:rPr>
                        <a:t>Role</a:t>
                      </a:r>
                    </a:p>
                  </a:txBody>
                  <a:tcPr marL="72000" marR="72000" marT="0" marB="0" anchor="ctr">
                    <a:lnL w="12700" cmpd="sng">
                      <a:noFill/>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A3638"/>
                    </a:solidFill>
                  </a:tcPr>
                </a:tc>
                <a:tc>
                  <a:txBody>
                    <a:bodyPr/>
                    <a:lstStyle/>
                    <a:p>
                      <a:pPr algn="ctr"/>
                      <a:r>
                        <a:rPr lang="en-GB" sz="1600" b="1" i="1">
                          <a:solidFill>
                            <a:srgbClr val="005469"/>
                          </a:solidFill>
                          <a:latin typeface="Figtree" pitchFamily="2" charset="0"/>
                        </a:rPr>
                        <a:t>CEO</a:t>
                      </a:r>
                    </a:p>
                  </a:txBody>
                  <a:tcPr marL="72000" marR="72000" marT="0" marB="0" anchor="ctr">
                    <a:lnL w="28575" cap="flat" cmpd="sng" algn="ctr">
                      <a:solidFill>
                        <a:schemeClr val="bg1"/>
                      </a:solidFill>
                      <a:prstDash val="solid"/>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b="1" i="1">
                          <a:solidFill>
                            <a:srgbClr val="005469"/>
                          </a:solidFill>
                          <a:latin typeface="Figtree" pitchFamily="2" charset="0"/>
                        </a:rPr>
                        <a:t>COO</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b="1" i="1">
                          <a:solidFill>
                            <a:srgbClr val="005469"/>
                          </a:solidFill>
                          <a:latin typeface="Figtree" pitchFamily="2" charset="0"/>
                        </a:rPr>
                        <a:t>Head of Design &amp; Delivery</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b="1" i="1">
                          <a:solidFill>
                            <a:srgbClr val="005469"/>
                          </a:solidFill>
                          <a:latin typeface="Figtree" pitchFamily="2" charset="0"/>
                        </a:rPr>
                        <a:t>Project Manager</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lang="en-GB" sz="1600" b="1" i="1">
                          <a:solidFill>
                            <a:srgbClr val="005469"/>
                          </a:solidFill>
                          <a:latin typeface="Figtree" pitchFamily="2" charset="0"/>
                        </a:rPr>
                        <a:t>Program Manager</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lang="en-GB" sz="1600" b="1" i="1">
                          <a:solidFill>
                            <a:srgbClr val="005469"/>
                          </a:solidFill>
                          <a:latin typeface="Figtree" pitchFamily="2" charset="0"/>
                        </a:rPr>
                        <a:t>Sr. Electrical Engineer</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b="1" i="1">
                          <a:solidFill>
                            <a:srgbClr val="005469"/>
                          </a:solidFill>
                          <a:latin typeface="Figtree" pitchFamily="2" charset="0"/>
                        </a:rPr>
                        <a:t>Mechanical Engineer</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b="1" i="1" dirty="0">
                          <a:solidFill>
                            <a:srgbClr val="005469"/>
                          </a:solidFill>
                          <a:latin typeface="Figtree" pitchFamily="2" charset="0"/>
                        </a:rPr>
                        <a:t>Site Manager</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b="1" i="1" dirty="0">
                          <a:solidFill>
                            <a:srgbClr val="005469"/>
                          </a:solidFill>
                          <a:latin typeface="Figtree" pitchFamily="2" charset="0"/>
                        </a:rPr>
                        <a:t>Head of R&amp;D </a:t>
                      </a:r>
                      <a:r>
                        <a:rPr lang="en-GB" sz="1600" b="1" i="1" dirty="0" err="1">
                          <a:solidFill>
                            <a:srgbClr val="005469"/>
                          </a:solidFill>
                          <a:latin typeface="Figtree" pitchFamily="2" charset="0"/>
                        </a:rPr>
                        <a:t>BoD</a:t>
                      </a:r>
                      <a:r>
                        <a:rPr lang="en-GB" sz="1600" b="1" i="1" dirty="0">
                          <a:solidFill>
                            <a:srgbClr val="005469"/>
                          </a:solidFill>
                          <a:latin typeface="Figtree" pitchFamily="2" charset="0"/>
                        </a:rPr>
                        <a:t> member</a:t>
                      </a:r>
                    </a:p>
                  </a:txBody>
                  <a:tcPr marL="0" marR="144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11094098"/>
                  </a:ext>
                </a:extLst>
              </a:tr>
              <a:tr h="576000">
                <a:tc>
                  <a:txBody>
                    <a:bodyPr/>
                    <a:lstStyle/>
                    <a:p>
                      <a:pPr algn="l"/>
                      <a:r>
                        <a:rPr lang="en-GB" sz="1800" b="1" dirty="0">
                          <a:solidFill>
                            <a:schemeClr val="bg1"/>
                          </a:solidFill>
                          <a:latin typeface="Figtree" pitchFamily="2" charset="0"/>
                        </a:rPr>
                        <a:t>Team</a:t>
                      </a:r>
                    </a:p>
                  </a:txBody>
                  <a:tcPr marL="72000" marR="72000" marT="0" marB="0" anchor="ctr">
                    <a:lnL w="12700" cmpd="sng">
                      <a:noFill/>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A3638"/>
                    </a:solidFill>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lang="en-GB" sz="1600">
                          <a:latin typeface="Figtree" pitchFamily="2" charset="0"/>
                        </a:rPr>
                        <a:t>n/a</a:t>
                      </a:r>
                    </a:p>
                  </a:txBody>
                  <a:tcPr marL="72000" marR="72000" marT="0" marB="0" anchor="ctr">
                    <a:lnL w="28575" cap="flat" cmpd="sng" algn="ctr">
                      <a:solidFill>
                        <a:schemeClr val="bg1"/>
                      </a:solidFill>
                      <a:prstDash val="solid"/>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a:latin typeface="Figtree" pitchFamily="2" charset="0"/>
                        </a:rPr>
                        <a:t>n/a</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Figtree" pitchFamily="2" charset="0"/>
                          <a:cs typeface="Helvetica"/>
                          <a:sym typeface="BryantPro-Bold"/>
                        </a:rPr>
                        <a:t>Design &amp; Delivery</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Figtree" pitchFamily="2" charset="0"/>
                          <a:cs typeface="Helvetica"/>
                          <a:sym typeface="BryantPro-Bold"/>
                        </a:rPr>
                        <a:t>Design &amp; Delivery</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Figtree" pitchFamily="2" charset="0"/>
                          <a:cs typeface="Helvetica"/>
                          <a:sym typeface="BryantPro-Bold"/>
                        </a:rPr>
                        <a:t>Design &amp; Delivery</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Figtree" pitchFamily="2" charset="0"/>
                          <a:cs typeface="+mn-cs"/>
                          <a:sym typeface="BryantPro-Bold"/>
                        </a:rPr>
                        <a:t>Design &amp; Delivery</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Figtree" pitchFamily="2" charset="0"/>
                          <a:cs typeface="Helvetica"/>
                          <a:sym typeface="BryantPro-Bold"/>
                        </a:rPr>
                        <a:t>Design &amp; Delivery</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dirty="0">
                          <a:latin typeface="Figtree" pitchFamily="2" charset="0"/>
                        </a:rPr>
                        <a:t>Operations</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dirty="0">
                          <a:latin typeface="Figtree" pitchFamily="2" charset="0"/>
                        </a:rPr>
                        <a:t>R&amp;D</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342462318"/>
                  </a:ext>
                </a:extLst>
              </a:tr>
              <a:tr h="835969">
                <a:tc>
                  <a:txBody>
                    <a:bodyPr/>
                    <a:lstStyle/>
                    <a:p>
                      <a:pPr algn="l"/>
                      <a:r>
                        <a:rPr lang="en-GB" sz="1800" b="1" dirty="0">
                          <a:solidFill>
                            <a:schemeClr val="bg1"/>
                          </a:solidFill>
                          <a:latin typeface="Figtree" pitchFamily="2" charset="0"/>
                        </a:rPr>
                        <a:t>Years of Experience</a:t>
                      </a:r>
                    </a:p>
                  </a:txBody>
                  <a:tcPr marL="72000" marR="72000" marT="0" marB="0" anchor="ctr">
                    <a:lnL w="12700" cmpd="sng">
                      <a:noFill/>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A3638"/>
                    </a:solidFill>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Figtree" pitchFamily="2" charset="0"/>
                          <a:cs typeface="Helvetica"/>
                          <a:sym typeface="BryantPro-Bold"/>
                        </a:rPr>
                        <a:t>&gt;15 years</a:t>
                      </a:r>
                    </a:p>
                  </a:txBody>
                  <a:tcPr marL="72000" marR="72000" marT="0" marB="0" anchor="ctr">
                    <a:lnL w="28575" cap="flat" cmpd="sng" algn="ctr">
                      <a:solidFill>
                        <a:schemeClr val="bg1"/>
                      </a:solidFill>
                      <a:prstDash val="solid"/>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Figtree" pitchFamily="2" charset="0"/>
                          <a:cs typeface="Helvetica"/>
                          <a:sym typeface="BryantPro-Bold"/>
                        </a:rPr>
                        <a:t>&gt;15 years</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Figtree" pitchFamily="2" charset="0"/>
                          <a:cs typeface="Helvetica"/>
                          <a:sym typeface="BryantPro-Bold"/>
                        </a:rPr>
                        <a:t>&gt;15 years</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Figtree" pitchFamily="2" charset="0"/>
                          <a:cs typeface="+mn-cs"/>
                          <a:sym typeface="BryantPro-Bold"/>
                        </a:rPr>
                        <a:t>&gt;15 years</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Figtree" pitchFamily="2" charset="0"/>
                          <a:cs typeface="+mn-cs"/>
                          <a:sym typeface="BryantPro-Bold"/>
                        </a:rPr>
                        <a:t>&gt;40 years</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Figtree" pitchFamily="2" charset="0"/>
                          <a:cs typeface="+mn-cs"/>
                          <a:sym typeface="BryantPro-Bold"/>
                        </a:rPr>
                        <a:t>&gt;25 years</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srgbClr val="000000"/>
                          </a:solidFill>
                          <a:effectLst/>
                          <a:uLnTx/>
                          <a:uFillTx/>
                          <a:latin typeface="Figtree" pitchFamily="2" charset="0"/>
                          <a:cs typeface="+mn-cs"/>
                          <a:sym typeface="BryantPro-Bold"/>
                        </a:rPr>
                        <a:t>&gt;10 years</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dirty="0">
                          <a:ln>
                            <a:noFill/>
                          </a:ln>
                          <a:solidFill>
                            <a:srgbClr val="000000"/>
                          </a:solidFill>
                          <a:effectLst/>
                          <a:uLnTx/>
                          <a:uFillTx/>
                          <a:latin typeface="Figtree" pitchFamily="2" charset="0"/>
                          <a:cs typeface="+mn-cs"/>
                          <a:sym typeface="BryantPro-Bold"/>
                        </a:rPr>
                        <a:t>&gt;15 years</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1600" dirty="0">
                          <a:latin typeface="Figtree" pitchFamily="2" charset="0"/>
                        </a:rPr>
                        <a:t>&gt;25 years</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14687371"/>
                  </a:ext>
                </a:extLst>
              </a:tr>
              <a:tr h="1728000">
                <a:tc>
                  <a:txBody>
                    <a:bodyPr/>
                    <a:lstStyle/>
                    <a:p>
                      <a:pPr algn="l"/>
                      <a:r>
                        <a:rPr lang="en-GB" sz="1800" b="1" dirty="0">
                          <a:solidFill>
                            <a:schemeClr val="bg1"/>
                          </a:solidFill>
                          <a:latin typeface="Figtree" pitchFamily="2" charset="0"/>
                        </a:rPr>
                        <a:t>Previous employers</a:t>
                      </a:r>
                    </a:p>
                  </a:txBody>
                  <a:tcPr marL="72000" marR="72000" marT="0" marB="0" anchor="ctr">
                    <a:lnL w="12700" cmpd="sng">
                      <a:noFill/>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A3638"/>
                    </a:solidFill>
                  </a:tcPr>
                </a:tc>
                <a:tc>
                  <a:txBody>
                    <a:bodyPr/>
                    <a:lstStyle/>
                    <a:p>
                      <a:pPr algn="l"/>
                      <a:endParaRPr lang="en-GB" sz="1600" dirty="0">
                        <a:latin typeface="Figtree" pitchFamily="2" charset="0"/>
                      </a:endParaRPr>
                    </a:p>
                  </a:txBody>
                  <a:tcPr marL="72000" marR="72000" marT="0" marB="0" anchor="ctr">
                    <a:lnL w="28575" cap="flat" cmpd="sng" algn="ctr">
                      <a:solidFill>
                        <a:schemeClr val="bg1"/>
                      </a:solidFill>
                      <a:prstDash val="solid"/>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endParaRPr lang="en-GB" sz="1600" dirty="0">
                        <a:latin typeface="Figtree" pitchFamily="2" charset="0"/>
                      </a:endParaRP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endParaRPr lang="en-GB" sz="1600" dirty="0">
                        <a:latin typeface="Figtree" pitchFamily="2" charset="0"/>
                      </a:endParaRP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endParaRPr lang="en-GB" sz="1600" dirty="0">
                        <a:latin typeface="Figtree" pitchFamily="2" charset="0"/>
                      </a:endParaRP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endParaRPr lang="en-GB" sz="1600">
                        <a:latin typeface="Figtree" pitchFamily="2" charset="0"/>
                      </a:endParaRP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endParaRPr lang="en-GB" sz="1600">
                        <a:latin typeface="Figtree" pitchFamily="2" charset="0"/>
                      </a:endParaRP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endParaRPr lang="en-GB" sz="1600">
                        <a:latin typeface="Figtree" pitchFamily="2" charset="0"/>
                      </a:endParaRP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endParaRPr lang="en-GB" sz="1600" dirty="0">
                        <a:latin typeface="Figtree" pitchFamily="2" charset="0"/>
                      </a:endParaRP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tc>
                  <a:txBody>
                    <a:bodyPr/>
                    <a:lstStyle/>
                    <a:p>
                      <a:pPr algn="l"/>
                      <a:endParaRPr lang="en-GB" sz="1600" dirty="0">
                        <a:latin typeface="Figtree" pitchFamily="2" charset="0"/>
                      </a:endParaRP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388505630"/>
                  </a:ext>
                </a:extLst>
              </a:tr>
              <a:tr h="1813696">
                <a:tc>
                  <a:txBody>
                    <a:bodyPr/>
                    <a:lstStyle/>
                    <a:p>
                      <a:pPr algn="l"/>
                      <a:r>
                        <a:rPr lang="en-GB" sz="1800" b="1" dirty="0">
                          <a:solidFill>
                            <a:schemeClr val="bg1"/>
                          </a:solidFill>
                          <a:latin typeface="Figtree" pitchFamily="2" charset="0"/>
                        </a:rPr>
                        <a:t>Key </a:t>
                      </a:r>
                      <a:r>
                        <a:rPr lang="en-GB" sz="1800" b="1" u="sng" dirty="0">
                          <a:solidFill>
                            <a:schemeClr val="bg1"/>
                          </a:solidFill>
                          <a:latin typeface="Figtree" pitchFamily="2" charset="0"/>
                        </a:rPr>
                        <a:t>select</a:t>
                      </a:r>
                      <a:r>
                        <a:rPr lang="en-GB" sz="1800" b="1" dirty="0">
                          <a:solidFill>
                            <a:schemeClr val="bg1"/>
                          </a:solidFill>
                          <a:latin typeface="Figtree" pitchFamily="2" charset="0"/>
                        </a:rPr>
                        <a:t> DC facilities worked at/on</a:t>
                      </a:r>
                    </a:p>
                  </a:txBody>
                  <a:tcPr marL="72000" marR="72000" marT="0" marB="0" anchor="ctr">
                    <a:lnL w="12700" cmpd="sng">
                      <a:noFill/>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A3638"/>
                    </a:solidFill>
                  </a:tcPr>
                </a:tc>
                <a:tc>
                  <a:txBody>
                    <a:bodyPr/>
                    <a:lstStyle/>
                    <a:p>
                      <a:pPr marL="252000" indent="0" algn="l">
                        <a:lnSpc>
                          <a:spcPct val="120000"/>
                        </a:lnSpc>
                        <a:spcAft>
                          <a:spcPts val="300"/>
                        </a:spcAft>
                        <a:buFont typeface="Symbol" panose="05050102010706020507" pitchFamily="18" charset="2"/>
                        <a:buNone/>
                      </a:pPr>
                      <a:r>
                        <a:rPr lang="en-GB" sz="1800" b="1" dirty="0">
                          <a:latin typeface="Figtree" pitchFamily="2" charset="0"/>
                        </a:rPr>
                        <a:t>140 MW</a:t>
                      </a:r>
                    </a:p>
                    <a:p>
                      <a:pPr marL="252000" indent="0" algn="l">
                        <a:lnSpc>
                          <a:spcPct val="120000"/>
                        </a:lnSpc>
                        <a:spcAft>
                          <a:spcPts val="300"/>
                        </a:spcAft>
                        <a:buFont typeface="Symbol" panose="05050102010706020507" pitchFamily="18" charset="2"/>
                        <a:buNone/>
                      </a:pPr>
                      <a:r>
                        <a:rPr lang="en-GB" sz="1800" b="1" dirty="0">
                          <a:latin typeface="Figtree" pitchFamily="2" charset="0"/>
                        </a:rPr>
                        <a:t>110 MW</a:t>
                      </a:r>
                    </a:p>
                    <a:p>
                      <a:pPr marL="252000" indent="0" algn="l">
                        <a:lnSpc>
                          <a:spcPct val="120000"/>
                        </a:lnSpc>
                        <a:spcAft>
                          <a:spcPts val="300"/>
                        </a:spcAft>
                        <a:buFont typeface="Symbol" panose="05050102010706020507" pitchFamily="18" charset="2"/>
                        <a:buNone/>
                      </a:pPr>
                      <a:r>
                        <a:rPr lang="en-GB" sz="1800" b="1" dirty="0">
                          <a:latin typeface="Figtree" pitchFamily="2" charset="0"/>
                        </a:rPr>
                        <a:t>70 MW</a:t>
                      </a:r>
                    </a:p>
                    <a:p>
                      <a:pPr marL="252000" indent="0" algn="l">
                        <a:lnSpc>
                          <a:spcPct val="120000"/>
                        </a:lnSpc>
                        <a:spcAft>
                          <a:spcPts val="300"/>
                        </a:spcAft>
                        <a:buFont typeface="Symbol" panose="05050102010706020507" pitchFamily="18" charset="2"/>
                        <a:buNone/>
                      </a:pPr>
                      <a:r>
                        <a:rPr lang="en-GB" sz="1800" b="1" dirty="0">
                          <a:latin typeface="Figtree" pitchFamily="2" charset="0"/>
                        </a:rPr>
                        <a:t>30 MW</a:t>
                      </a:r>
                    </a:p>
                    <a:p>
                      <a:pPr marL="252000" indent="0" algn="l">
                        <a:lnSpc>
                          <a:spcPct val="120000"/>
                        </a:lnSpc>
                        <a:spcAft>
                          <a:spcPts val="300"/>
                        </a:spcAft>
                        <a:buFont typeface="Symbol" panose="05050102010706020507" pitchFamily="18" charset="2"/>
                        <a:buNone/>
                      </a:pPr>
                      <a:r>
                        <a:rPr lang="en-GB" sz="1800" b="1" dirty="0">
                          <a:latin typeface="Figtree" pitchFamily="2" charset="0"/>
                        </a:rPr>
                        <a:t>30 MW</a:t>
                      </a:r>
                    </a:p>
                    <a:p>
                      <a:pPr marL="252000" indent="0" algn="l">
                        <a:spcAft>
                          <a:spcPts val="300"/>
                        </a:spcAft>
                        <a:buFont typeface="Symbol" panose="05050102010706020507" pitchFamily="18" charset="2"/>
                        <a:buNone/>
                      </a:pPr>
                      <a:endParaRPr lang="en-GB" sz="1800" b="1" dirty="0">
                        <a:latin typeface="Figtree" pitchFamily="2" charset="0"/>
                      </a:endParaRPr>
                    </a:p>
                  </a:txBody>
                  <a:tcPr marL="72000" marR="72000" marT="0" marB="0">
                    <a:lnL w="28575" cap="flat" cmpd="sng" algn="ctr">
                      <a:solidFill>
                        <a:schemeClr val="bg1"/>
                      </a:solidFill>
                      <a:prstDash val="solid"/>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252000" indent="0" algn="l">
                        <a:lnSpc>
                          <a:spcPct val="120000"/>
                        </a:lnSpc>
                        <a:spcAft>
                          <a:spcPts val="300"/>
                        </a:spcAft>
                        <a:buFont typeface="Symbol" panose="05050102010706020507" pitchFamily="18" charset="2"/>
                        <a:buNone/>
                      </a:pPr>
                      <a:r>
                        <a:rPr lang="en-GB" sz="1800" b="1" dirty="0">
                          <a:latin typeface="Figtree" pitchFamily="2" charset="0"/>
                        </a:rPr>
                        <a:t>250 MW</a:t>
                      </a:r>
                    </a:p>
                    <a:p>
                      <a:pPr marL="252000" indent="0" algn="l">
                        <a:lnSpc>
                          <a:spcPct val="120000"/>
                        </a:lnSpc>
                        <a:spcAft>
                          <a:spcPts val="300"/>
                        </a:spcAft>
                        <a:buFont typeface="Symbol" panose="05050102010706020507" pitchFamily="18" charset="2"/>
                        <a:buNone/>
                      </a:pPr>
                      <a:r>
                        <a:rPr lang="en-GB" sz="1800" b="1" dirty="0">
                          <a:latin typeface="Figtree" pitchFamily="2" charset="0"/>
                        </a:rPr>
                        <a:t>150 MW</a:t>
                      </a:r>
                    </a:p>
                    <a:p>
                      <a:pPr marL="252000" indent="0" algn="l">
                        <a:lnSpc>
                          <a:spcPct val="120000"/>
                        </a:lnSpc>
                        <a:spcAft>
                          <a:spcPts val="300"/>
                        </a:spcAft>
                        <a:buFont typeface="Symbol" panose="05050102010706020507" pitchFamily="18" charset="2"/>
                        <a:buNone/>
                      </a:pPr>
                      <a:r>
                        <a:rPr lang="en-GB" sz="1800" b="1" dirty="0">
                          <a:latin typeface="Figtree" pitchFamily="2" charset="0"/>
                        </a:rPr>
                        <a:t>60 MW</a:t>
                      </a:r>
                    </a:p>
                    <a:p>
                      <a:pPr marL="252000" indent="0" algn="l">
                        <a:lnSpc>
                          <a:spcPct val="120000"/>
                        </a:lnSpc>
                        <a:spcAft>
                          <a:spcPts val="300"/>
                        </a:spcAft>
                        <a:buFont typeface="Symbol" panose="05050102010706020507" pitchFamily="18" charset="2"/>
                        <a:buNone/>
                      </a:pPr>
                      <a:r>
                        <a:rPr lang="en-GB" sz="1800" b="1" dirty="0">
                          <a:latin typeface="Figtree" pitchFamily="2" charset="0"/>
                        </a:rPr>
                        <a:t>5 MW</a:t>
                      </a:r>
                    </a:p>
                  </a:txBody>
                  <a:tcPr marL="72000" marR="72000" marT="0" marB="0">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252000" indent="0" algn="l">
                        <a:lnSpc>
                          <a:spcPct val="120000"/>
                        </a:lnSpc>
                        <a:spcAft>
                          <a:spcPts val="300"/>
                        </a:spcAft>
                        <a:buFont typeface="Symbol" panose="05050102010706020507" pitchFamily="18" charset="2"/>
                        <a:buNone/>
                      </a:pPr>
                      <a:r>
                        <a:rPr lang="en-GB" sz="1800" b="1" dirty="0">
                          <a:latin typeface="Figtree" pitchFamily="2" charset="0"/>
                        </a:rPr>
                        <a:t>130 MW</a:t>
                      </a:r>
                    </a:p>
                    <a:p>
                      <a:pPr marL="252000" indent="0" algn="l">
                        <a:lnSpc>
                          <a:spcPct val="120000"/>
                        </a:lnSpc>
                        <a:spcAft>
                          <a:spcPts val="300"/>
                        </a:spcAft>
                        <a:buFont typeface="Symbol" panose="05050102010706020507" pitchFamily="18" charset="2"/>
                        <a:buNone/>
                      </a:pPr>
                      <a:r>
                        <a:rPr lang="en-GB" sz="1800" b="1" dirty="0">
                          <a:latin typeface="Figtree" pitchFamily="2" charset="0"/>
                        </a:rPr>
                        <a:t>30 MW</a:t>
                      </a:r>
                    </a:p>
                    <a:p>
                      <a:pPr marL="252000" indent="0" algn="l">
                        <a:lnSpc>
                          <a:spcPct val="120000"/>
                        </a:lnSpc>
                        <a:spcAft>
                          <a:spcPts val="300"/>
                        </a:spcAft>
                        <a:buFont typeface="Symbol" panose="05050102010706020507" pitchFamily="18" charset="2"/>
                        <a:buNone/>
                      </a:pPr>
                      <a:r>
                        <a:rPr lang="en-GB" sz="1800" b="1" dirty="0">
                          <a:latin typeface="Figtree" pitchFamily="2" charset="0"/>
                        </a:rPr>
                        <a:t>20 MW</a:t>
                      </a:r>
                    </a:p>
                  </a:txBody>
                  <a:tcPr marL="72000" marR="72000" marT="0" marB="0">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90 MW</a:t>
                      </a:r>
                    </a:p>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40 MW</a:t>
                      </a:r>
                    </a:p>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30 MW</a:t>
                      </a:r>
                    </a:p>
                  </a:txBody>
                  <a:tcPr marL="72000" marR="72000" marT="0" marB="0">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150 MW</a:t>
                      </a:r>
                    </a:p>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90 MW</a:t>
                      </a:r>
                    </a:p>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60 MW</a:t>
                      </a:r>
                    </a:p>
                  </a:txBody>
                  <a:tcPr marL="72000" marR="72000" marT="0" marB="0">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50 MW</a:t>
                      </a:r>
                    </a:p>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50 MW</a:t>
                      </a:r>
                    </a:p>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&lt;10 MW</a:t>
                      </a:r>
                    </a:p>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&lt;10 MW</a:t>
                      </a:r>
                    </a:p>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&lt;10 MW</a:t>
                      </a:r>
                    </a:p>
                  </a:txBody>
                  <a:tcPr marL="72000" marR="72000" marT="0" marB="0">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60 MW</a:t>
                      </a:r>
                    </a:p>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20 MW</a:t>
                      </a:r>
                    </a:p>
                  </a:txBody>
                  <a:tcPr marL="72000" marR="72000" marT="0" marB="0">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330 MW</a:t>
                      </a:r>
                    </a:p>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210 MW</a:t>
                      </a:r>
                    </a:p>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1.5 MW</a:t>
                      </a:r>
                    </a:p>
                  </a:txBody>
                  <a:tcPr marL="72000" marR="72000" marT="0" marB="0">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210 MW</a:t>
                      </a:r>
                    </a:p>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210 MW</a:t>
                      </a:r>
                    </a:p>
                    <a:p>
                      <a:pPr marL="252000" marR="0" lvl="0" indent="0" algn="l" defTabSz="1300480" rtl="0" eaLnBrk="1" fontAlgn="auto" latinLnBrk="0" hangingPunct="1">
                        <a:lnSpc>
                          <a:spcPct val="120000"/>
                        </a:lnSpc>
                        <a:spcBef>
                          <a:spcPts val="0"/>
                        </a:spcBef>
                        <a:spcAft>
                          <a:spcPts val="300"/>
                        </a:spcAft>
                        <a:buClrTx/>
                        <a:buSzTx/>
                        <a:buFont typeface="Symbol" panose="05050102010706020507" pitchFamily="18" charset="2"/>
                        <a:buNone/>
                        <a:tabLst/>
                        <a:defRPr/>
                      </a:pPr>
                      <a:r>
                        <a:rPr lang="en-GB" sz="1800" b="1" dirty="0">
                          <a:latin typeface="Figtree" pitchFamily="2" charset="0"/>
                        </a:rPr>
                        <a:t>180 MW</a:t>
                      </a:r>
                    </a:p>
                    <a:p>
                      <a:pPr marL="252000" indent="0" algn="l">
                        <a:lnSpc>
                          <a:spcPct val="120000"/>
                        </a:lnSpc>
                        <a:spcAft>
                          <a:spcPts val="300"/>
                        </a:spcAft>
                        <a:buFont typeface="Symbol" panose="05050102010706020507" pitchFamily="18" charset="2"/>
                        <a:buNone/>
                      </a:pPr>
                      <a:r>
                        <a:rPr lang="en-GB" sz="1800" b="1" dirty="0">
                          <a:latin typeface="Figtree" pitchFamily="2" charset="0"/>
                        </a:rPr>
                        <a:t>40 MW</a:t>
                      </a:r>
                    </a:p>
                    <a:p>
                      <a:pPr marL="252000" indent="0" algn="l">
                        <a:lnSpc>
                          <a:spcPct val="120000"/>
                        </a:lnSpc>
                        <a:spcAft>
                          <a:spcPts val="300"/>
                        </a:spcAft>
                        <a:buFont typeface="Symbol" panose="05050102010706020507" pitchFamily="18" charset="2"/>
                        <a:buNone/>
                      </a:pPr>
                      <a:r>
                        <a:rPr lang="en-GB" sz="1800" b="1" dirty="0">
                          <a:latin typeface="Figtree" pitchFamily="2" charset="0"/>
                        </a:rPr>
                        <a:t>30 MW</a:t>
                      </a:r>
                    </a:p>
                  </a:txBody>
                  <a:tcPr marL="72000" marR="72000" marT="0" marB="0">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95288511"/>
                  </a:ext>
                </a:extLst>
              </a:tr>
              <a:tr h="1198481">
                <a:tc>
                  <a:txBody>
                    <a:bodyPr/>
                    <a:lstStyle/>
                    <a:p>
                      <a:pPr algn="l"/>
                      <a:r>
                        <a:rPr lang="en-GB" sz="1800" b="1" dirty="0">
                          <a:solidFill>
                            <a:schemeClr val="bg1"/>
                          </a:solidFill>
                          <a:latin typeface="Figtree" pitchFamily="2" charset="0"/>
                        </a:rPr>
                        <a:t>Total MW¹</a:t>
                      </a:r>
                    </a:p>
                  </a:txBody>
                  <a:tcPr marL="72000" marR="72000" marT="0" marB="0" anchor="ctr">
                    <a:lnL w="12700" cmpd="sng">
                      <a:noFill/>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mpd="sng">
                      <a:noFill/>
                    </a:lnB>
                    <a:lnTlToBr w="12700" cmpd="sng">
                      <a:noFill/>
                      <a:prstDash val="solid"/>
                    </a:lnTlToBr>
                    <a:lnBlToTr w="12700" cmpd="sng">
                      <a:noFill/>
                      <a:prstDash val="solid"/>
                    </a:lnBlToTr>
                    <a:solidFill>
                      <a:srgbClr val="0A3638"/>
                    </a:solidFill>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lang="en-US" sz="2400" b="1" dirty="0">
                          <a:solidFill>
                            <a:srgbClr val="00C159"/>
                          </a:solidFill>
                          <a:latin typeface="Figtree" pitchFamily="2" charset="0"/>
                        </a:rPr>
                        <a:t>400 MW</a:t>
                      </a:r>
                      <a:endParaRPr lang="en-GB" sz="2400" b="1" dirty="0">
                        <a:solidFill>
                          <a:srgbClr val="00C159"/>
                        </a:solidFill>
                        <a:latin typeface="Figtree" pitchFamily="2" charset="0"/>
                      </a:endParaRPr>
                    </a:p>
                  </a:txBody>
                  <a:tcPr marL="72000" marR="72000" marT="0" marB="0" anchor="ctr">
                    <a:lnL w="28575" cap="flat" cmpd="sng" algn="ctr">
                      <a:solidFill>
                        <a:schemeClr val="bg1"/>
                      </a:solidFill>
                      <a:prstDash val="solid"/>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2400" b="1" dirty="0">
                          <a:solidFill>
                            <a:srgbClr val="00C159"/>
                          </a:solidFill>
                          <a:latin typeface="Figtree" pitchFamily="2" charset="0"/>
                        </a:rPr>
                        <a:t>465 MW</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2400" b="1" dirty="0">
                          <a:solidFill>
                            <a:srgbClr val="00C159"/>
                          </a:solidFill>
                          <a:latin typeface="Figtree" pitchFamily="2" charset="0"/>
                        </a:rPr>
                        <a:t>200 MW</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lang="en-GB" sz="2400" b="1" dirty="0">
                          <a:solidFill>
                            <a:srgbClr val="00C159"/>
                          </a:solidFill>
                          <a:latin typeface="Figtree" pitchFamily="2" charset="0"/>
                        </a:rPr>
                        <a:t>200 MW</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2400" b="1" dirty="0">
                          <a:solidFill>
                            <a:srgbClr val="00C159"/>
                          </a:solidFill>
                          <a:latin typeface="Figtree" pitchFamily="2" charset="0"/>
                        </a:rPr>
                        <a:t>300 MW</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2400" b="1" dirty="0">
                          <a:solidFill>
                            <a:srgbClr val="00C159"/>
                          </a:solidFill>
                          <a:latin typeface="Figtree" pitchFamily="2" charset="0"/>
                        </a:rPr>
                        <a:t>150 MW</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2400" b="1" dirty="0">
                          <a:solidFill>
                            <a:srgbClr val="00C159"/>
                          </a:solidFill>
                          <a:latin typeface="Figtree" pitchFamily="2" charset="0"/>
                        </a:rPr>
                        <a:t>100 MW</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marL="0" marR="0" lvl="0" indent="0" algn="ctr" defTabSz="1300480" rtl="0" eaLnBrk="1" fontAlgn="auto" latinLnBrk="0" hangingPunct="1">
                        <a:lnSpc>
                          <a:spcPct val="100000"/>
                        </a:lnSpc>
                        <a:spcBef>
                          <a:spcPts val="0"/>
                        </a:spcBef>
                        <a:spcAft>
                          <a:spcPts val="0"/>
                        </a:spcAft>
                        <a:buClrTx/>
                        <a:buSzTx/>
                        <a:buFontTx/>
                        <a:buNone/>
                        <a:tabLst/>
                        <a:defRPr/>
                      </a:pPr>
                      <a:r>
                        <a:rPr lang="en-GB" sz="2400" b="1" dirty="0">
                          <a:solidFill>
                            <a:srgbClr val="00C159"/>
                          </a:solidFill>
                          <a:latin typeface="Figtree" pitchFamily="2" charset="0"/>
                        </a:rPr>
                        <a:t>540 MW</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pPr algn="ctr"/>
                      <a:r>
                        <a:rPr lang="en-GB" sz="2400" b="1" dirty="0">
                          <a:solidFill>
                            <a:srgbClr val="00C159"/>
                          </a:solidFill>
                          <a:latin typeface="Figtree" pitchFamily="2" charset="0"/>
                        </a:rPr>
                        <a:t>680 MW</a:t>
                      </a:r>
                    </a:p>
                  </a:txBody>
                  <a:tcPr marL="72000" marR="72000" marT="0" marB="0" anchor="ctr">
                    <a:lnL w="19050" cap="flat" cmpd="sng" algn="ctr">
                      <a:solidFill>
                        <a:schemeClr val="bg1">
                          <a:lumMod val="85000"/>
                        </a:schemeClr>
                      </a:solidFill>
                      <a:prstDash val="dash"/>
                      <a:round/>
                      <a:headEnd type="none" w="med" len="med"/>
                      <a:tailEnd type="none" w="med" len="med"/>
                    </a:lnL>
                    <a:lnR w="19050" cap="flat" cmpd="sng" algn="ctr">
                      <a:solidFill>
                        <a:schemeClr val="bg1">
                          <a:lumMod val="85000"/>
                        </a:schemeClr>
                      </a:solidFill>
                      <a:prstDash val="dash"/>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425724250"/>
                  </a:ext>
                </a:extLst>
              </a:tr>
            </a:tbl>
          </a:graphicData>
        </a:graphic>
      </p:graphicFrame>
      <p:sp>
        <p:nvSpPr>
          <p:cNvPr id="6" name="TextBox 5">
            <a:extLst>
              <a:ext uri="{FF2B5EF4-FFF2-40B4-BE49-F238E27FC236}">
                <a16:creationId xmlns:a16="http://schemas.microsoft.com/office/drawing/2014/main" id="{0C114E0A-C912-BA1C-9525-3BDA6F8D5983}"/>
              </a:ext>
            </a:extLst>
          </p:cNvPr>
          <p:cNvSpPr txBox="1"/>
          <p:nvPr/>
        </p:nvSpPr>
        <p:spPr>
          <a:xfrm>
            <a:off x="1508481" y="1666531"/>
            <a:ext cx="12712845" cy="1323439"/>
          </a:xfrm>
          <a:prstGeom prst="rect">
            <a:avLst/>
          </a:prstGeom>
          <a:noFill/>
        </p:spPr>
        <p:txBody>
          <a:bodyPr wrap="square">
            <a:spAutoFit/>
          </a:bodyPr>
          <a:lstStyle/>
          <a:p>
            <a:r>
              <a:rPr lang="en-US" sz="4000" b="1" dirty="0">
                <a:latin typeface="Figtree SemiBold" pitchFamily="2" charset="0"/>
              </a:rPr>
              <a:t>Start Campus </a:t>
            </a:r>
            <a:r>
              <a:rPr lang="en-US" sz="4000" b="1" dirty="0">
                <a:solidFill>
                  <a:srgbClr val="00C159"/>
                </a:solidFill>
                <a:latin typeface="Figtree SemiBold" pitchFamily="2" charset="0"/>
              </a:rPr>
              <a:t>D&amp;D and Ops teams</a:t>
            </a:r>
            <a:r>
              <a:rPr lang="en-US" sz="4000" b="1" dirty="0">
                <a:latin typeface="Figtree SemiBold" pitchFamily="2" charset="0"/>
              </a:rPr>
              <a:t> have developed and/or operated over 3.8 GW of IT capacity combined </a:t>
            </a:r>
            <a:endParaRPr lang="en-PT" sz="4000" b="1" dirty="0">
              <a:latin typeface="Figtree SemiBold" pitchFamily="2" charset="0"/>
            </a:endParaRPr>
          </a:p>
        </p:txBody>
      </p:sp>
      <p:pic>
        <p:nvPicPr>
          <p:cNvPr id="18" name="Picture 4">
            <a:extLst>
              <a:ext uri="{FF2B5EF4-FFF2-40B4-BE49-F238E27FC236}">
                <a16:creationId xmlns:a16="http://schemas.microsoft.com/office/drawing/2014/main" id="{2E2CBDB9-E01A-513A-4FB7-FA403EC78E63}"/>
              </a:ext>
            </a:extLst>
          </p:cNvPr>
          <p:cNvPicPr>
            <a:picLocks noChangeAspect="1" noChangeArrowheads="1"/>
          </p:cNvPicPr>
          <p:nvPr/>
        </p:nvPicPr>
        <p:blipFill rotWithShape="1">
          <a:blip r:embed="rId2" cstate="email">
            <a:extLst>
              <a:ext uri="{28A0092B-C50C-407E-A947-70E740481C1C}">
                <a14:useLocalDpi xmlns:a14="http://schemas.microsoft.com/office/drawing/2010/main"/>
              </a:ext>
            </a:extLst>
          </a:blip>
          <a:srcRect/>
          <a:stretch/>
        </p:blipFill>
        <p:spPr bwMode="auto">
          <a:xfrm>
            <a:off x="7910605" y="3530008"/>
            <a:ext cx="828274" cy="828529"/>
          </a:xfrm>
          <a:prstGeom prst="rect">
            <a:avLst/>
          </a:prstGeom>
          <a:noFill/>
          <a:effectLst>
            <a:softEdge rad="12700"/>
          </a:effectLst>
          <a:extLst>
            <a:ext uri="{909E8E84-426E-40DD-AFC4-6F175D3DCCD1}">
              <a14:hiddenFill xmlns:a14="http://schemas.microsoft.com/office/drawing/2010/main">
                <a:solidFill>
                  <a:srgbClr val="FFFFFF"/>
                </a:solidFill>
              </a14:hiddenFill>
            </a:ext>
          </a:extLst>
        </p:spPr>
      </p:pic>
      <p:pic>
        <p:nvPicPr>
          <p:cNvPr id="19" name="Picture 6" descr="Luís Rodrigues">
            <a:extLst>
              <a:ext uri="{FF2B5EF4-FFF2-40B4-BE49-F238E27FC236}">
                <a16:creationId xmlns:a16="http://schemas.microsoft.com/office/drawing/2014/main" id="{A846A9D9-2963-7D86-8B14-B7B0BE7ABFEC}"/>
              </a:ext>
            </a:extLst>
          </p:cNvPr>
          <p:cNvPicPr>
            <a:picLocks noChangeAspect="1" noChangeArrowheads="1"/>
          </p:cNvPicPr>
          <p:nvPr/>
        </p:nvPicPr>
        <p:blipFill rotWithShape="1">
          <a:blip r:embed="rId3" cstate="email">
            <a:extLst>
              <a:ext uri="{28A0092B-C50C-407E-A947-70E740481C1C}">
                <a14:useLocalDpi xmlns:a14="http://schemas.microsoft.com/office/drawing/2010/main"/>
              </a:ext>
            </a:extLst>
          </a:blip>
          <a:srcRect/>
          <a:stretch/>
        </p:blipFill>
        <p:spPr bwMode="auto">
          <a:xfrm>
            <a:off x="5785323" y="3530008"/>
            <a:ext cx="828720" cy="828529"/>
          </a:xfrm>
          <a:prstGeom prst="rect">
            <a:avLst/>
          </a:prstGeom>
          <a:noFill/>
          <a:effectLst>
            <a:softEdge rad="12700"/>
          </a:effectLst>
          <a:extLst>
            <a:ext uri="{909E8E84-426E-40DD-AFC4-6F175D3DCCD1}">
              <a14:hiddenFill xmlns:a14="http://schemas.microsoft.com/office/drawing/2010/main">
                <a:solidFill>
                  <a:srgbClr val="FFFFFF"/>
                </a:solidFill>
              </a14:hiddenFill>
            </a:ext>
          </a:extLst>
        </p:spPr>
      </p:pic>
      <p:pic>
        <p:nvPicPr>
          <p:cNvPr id="20" name="Picture 8" descr="Rob Dunn">
            <a:extLst>
              <a:ext uri="{FF2B5EF4-FFF2-40B4-BE49-F238E27FC236}">
                <a16:creationId xmlns:a16="http://schemas.microsoft.com/office/drawing/2014/main" id="{E3C72660-BC91-6B07-C0FA-DE2A5390B853}"/>
              </a:ext>
            </a:extLst>
          </p:cNvPr>
          <p:cNvPicPr>
            <a:picLocks noChangeAspect="1" noChangeArrowheads="1"/>
          </p:cNvPicPr>
          <p:nvPr/>
        </p:nvPicPr>
        <p:blipFill rotWithShape="1">
          <a:blip r:embed="rId4" cstate="email">
            <a:extLst>
              <a:ext uri="{28A0092B-C50C-407E-A947-70E740481C1C}">
                <a14:useLocalDpi xmlns:a14="http://schemas.microsoft.com/office/drawing/2010/main"/>
              </a:ext>
            </a:extLst>
          </a:blip>
          <a:srcRect/>
          <a:stretch/>
        </p:blipFill>
        <p:spPr bwMode="auto">
          <a:xfrm>
            <a:off x="3893991" y="3530008"/>
            <a:ext cx="828702" cy="828529"/>
          </a:xfrm>
          <a:prstGeom prst="rect">
            <a:avLst/>
          </a:prstGeom>
          <a:noFill/>
          <a:effectLst>
            <a:softEdge rad="12700"/>
          </a:effectLst>
          <a:extLst>
            <a:ext uri="{909E8E84-426E-40DD-AFC4-6F175D3DCCD1}">
              <a14:hiddenFill xmlns:a14="http://schemas.microsoft.com/office/drawing/2010/main">
                <a:solidFill>
                  <a:srgbClr val="FFFFFF"/>
                </a:solidFill>
              </a14:hiddenFill>
            </a:ext>
          </a:extLst>
        </p:spPr>
      </p:pic>
      <p:pic>
        <p:nvPicPr>
          <p:cNvPr id="21" name="Picture 2" descr="image">
            <a:extLst>
              <a:ext uri="{FF2B5EF4-FFF2-40B4-BE49-F238E27FC236}">
                <a16:creationId xmlns:a16="http://schemas.microsoft.com/office/drawing/2014/main" id="{E9825762-27C2-5282-81C2-4A8CB1F38B87}"/>
              </a:ext>
            </a:extLst>
          </p:cNvPr>
          <p:cNvPicPr>
            <a:picLocks noChangeAspect="1" noChangeArrowheads="1"/>
          </p:cNvPicPr>
          <p:nvPr/>
        </p:nvPicPr>
        <p:blipFill rotWithShape="1">
          <a:blip r:embed="rId5" cstate="email">
            <a:clrChange>
              <a:clrFrom>
                <a:srgbClr val="FFFFFF"/>
              </a:clrFrom>
              <a:clrTo>
                <a:srgbClr val="FFFFFF">
                  <a:alpha val="0"/>
                </a:srgbClr>
              </a:clrTo>
            </a:clrChange>
            <a:extLst>
              <a:ext uri="{BEBA8EAE-BF5A-486C-A8C5-ECC9F3942E4B}">
                <a14:imgProps xmlns:a14="http://schemas.microsoft.com/office/drawing/2010/main">
                  <a14:imgLayer r:embed="rId6">
                    <a14:imgEffect>
                      <a14:backgroundRemoval t="0" b="100000" l="9955" r="97738">
                        <a14:foregroundMark x1="64706" y1="89247" x2="7692" y2="99283"/>
                        <a14:foregroundMark x1="65158" y1="89247" x2="89593" y2="96416"/>
                        <a14:foregroundMark x1="89593" y1="96416" x2="91403" y2="98208"/>
                        <a14:foregroundMark x1="82805" y1="85663" x2="97285" y2="99642"/>
                        <a14:foregroundMark x1="85520" y1="33333" x2="75113" y2="10036"/>
                        <a14:backgroundMark x1="67421" y1="1792" x2="67421" y2="1792"/>
                        <a14:backgroundMark x1="66063" y1="0" x2="72851" y2="5018"/>
                        <a14:backgroundMark x1="76923" y1="5376" x2="71493" y2="717"/>
                        <a14:backgroundMark x1="67873" y1="0" x2="67873" y2="0"/>
                        <a14:backgroundMark x1="68326" y1="0" x2="68326" y2="0"/>
                      </a14:backgroundRemoval>
                    </a14:imgEffect>
                  </a14:imgLayer>
                </a14:imgProps>
              </a:ext>
              <a:ext uri="{28A0092B-C50C-407E-A947-70E740481C1C}">
                <a14:useLocalDpi xmlns:a14="http://schemas.microsoft.com/office/drawing/2010/main"/>
              </a:ext>
            </a:extLst>
          </a:blip>
          <a:srcRect l="-13945" r="-12601"/>
          <a:stretch/>
        </p:blipFill>
        <p:spPr bwMode="auto">
          <a:xfrm>
            <a:off x="19399058" y="3530008"/>
            <a:ext cx="828529" cy="828529"/>
          </a:xfrm>
          <a:prstGeom prst="rect">
            <a:avLst/>
          </a:prstGeom>
          <a:solidFill>
            <a:srgbClr val="FFFFFF">
              <a:alpha val="0"/>
            </a:srgbClr>
          </a:solidFill>
          <a:ln w="28575">
            <a:noFill/>
          </a:ln>
          <a:effectLst>
            <a:softEdge rad="12700"/>
          </a:effectLst>
        </p:spPr>
      </p:pic>
      <p:pic>
        <p:nvPicPr>
          <p:cNvPr id="22" name="Picture 4">
            <a:extLst>
              <a:ext uri="{FF2B5EF4-FFF2-40B4-BE49-F238E27FC236}">
                <a16:creationId xmlns:a16="http://schemas.microsoft.com/office/drawing/2014/main" id="{8455EC33-DBD1-2057-6BC5-C3CDD2F64395}"/>
              </a:ext>
            </a:extLst>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3574617" y="7185048"/>
            <a:ext cx="1305855" cy="62363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6" descr="Laing O'rourke – Nine Feet Tall">
            <a:extLst>
              <a:ext uri="{FF2B5EF4-FFF2-40B4-BE49-F238E27FC236}">
                <a16:creationId xmlns:a16="http://schemas.microsoft.com/office/drawing/2014/main" id="{6940D1F9-FCFE-DEB1-B13D-DC1A15CBFC61}"/>
              </a:ext>
            </a:extLst>
          </p:cNvPr>
          <p:cNvPicPr>
            <a:picLocks noChangeAspect="1" noChangeArrowheads="1"/>
          </p:cNvPicPr>
          <p:nvPr/>
        </p:nvPicPr>
        <p:blipFill>
          <a:blip r:embed="rId8" cstate="email">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a:ext>
            </a:extLst>
          </a:blip>
          <a:srcRect/>
          <a:stretch>
            <a:fillRect/>
          </a:stretch>
        </p:blipFill>
        <p:spPr bwMode="auto">
          <a:xfrm>
            <a:off x="3607353" y="7928057"/>
            <a:ext cx="1247268" cy="312215"/>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34">
            <a:extLst>
              <a:ext uri="{FF2B5EF4-FFF2-40B4-BE49-F238E27FC236}">
                <a16:creationId xmlns:a16="http://schemas.microsoft.com/office/drawing/2014/main" id="{743163C2-E170-19AC-4810-2A92D11B27BF}"/>
              </a:ext>
            </a:extLst>
          </p:cNvPr>
          <p:cNvPicPr>
            <a:picLocks noChangeAspect="1" noChangeArrowheads="1"/>
          </p:cNvPicPr>
          <p:nvPr/>
        </p:nvPicPr>
        <p:blipFill rotWithShape="1">
          <a:blip r:embed="rId10" cstate="email">
            <a:extLst>
              <a:ext uri="{BEBA8EAE-BF5A-486C-A8C5-ECC9F3942E4B}">
                <a14:imgProps xmlns:a14="http://schemas.microsoft.com/office/drawing/2010/main">
                  <a14:imgLayer r:embed="rId11">
                    <a14:imgEffect>
                      <a14:backgroundRemoval t="5202" b="100000" l="9827" r="98844">
                        <a14:foregroundMark x1="26590" y1="97110" x2="41618" y2="90173"/>
                        <a14:foregroundMark x1="41618" y1="90173" x2="67630" y2="93064"/>
                        <a14:foregroundMark x1="67630" y1="93064" x2="82081" y2="84971"/>
                        <a14:foregroundMark x1="82081" y1="84971" x2="87283" y2="84393"/>
                        <a14:foregroundMark x1="95954" y1="87861" x2="78613" y2="96532"/>
                        <a14:foregroundMark x1="78613" y1="96532" x2="46243" y2="98266"/>
                        <a14:foregroundMark x1="98844" y1="88439" x2="93064" y2="99422"/>
                        <a14:foregroundMark x1="98266" y1="91329" x2="98266" y2="91329"/>
                        <a14:foregroundMark x1="98844" y1="95954" x2="98844" y2="95954"/>
                        <a14:foregroundMark x1="20809" y1="99422" x2="44509" y2="99422"/>
                        <a14:foregroundMark x1="43931" y1="7514" x2="56069" y2="5202"/>
                        <a14:foregroundMark x1="56069" y1="5202" x2="57225" y2="5780"/>
                        <a14:foregroundMark x1="98266" y1="98844" x2="82659" y2="99422"/>
                      </a14:backgroundRemoval>
                    </a14:imgEffect>
                  </a14:imgLayer>
                </a14:imgProps>
              </a:ext>
              <a:ext uri="{28A0092B-C50C-407E-A947-70E740481C1C}">
                <a14:useLocalDpi xmlns:a14="http://schemas.microsoft.com/office/drawing/2010/main"/>
              </a:ext>
            </a:extLst>
          </a:blip>
          <a:srcRect/>
          <a:stretch/>
        </p:blipFill>
        <p:spPr bwMode="auto">
          <a:xfrm>
            <a:off x="17382422" y="3542414"/>
            <a:ext cx="904730" cy="828529"/>
          </a:xfrm>
          <a:prstGeom prst="rect">
            <a:avLst/>
          </a:prstGeom>
          <a:noFill/>
          <a:effectLst>
            <a:softEdge rad="12700"/>
          </a:effectLst>
          <a:extLst>
            <a:ext uri="{909E8E84-426E-40DD-AFC4-6F175D3DCCD1}">
              <a14:hiddenFill xmlns:a14="http://schemas.microsoft.com/office/drawing/2010/main">
                <a:solidFill>
                  <a:srgbClr val="FFFFFF"/>
                </a:solidFill>
              </a14:hiddenFill>
            </a:ext>
          </a:extLst>
        </p:spPr>
      </p:pic>
      <p:pic>
        <p:nvPicPr>
          <p:cNvPr id="62" name="Picture 12" descr="Bill Kennedy">
            <a:extLst>
              <a:ext uri="{FF2B5EF4-FFF2-40B4-BE49-F238E27FC236}">
                <a16:creationId xmlns:a16="http://schemas.microsoft.com/office/drawing/2014/main" id="{EA13FDE9-8817-1D19-73ED-8E259335FFDE}"/>
              </a:ext>
            </a:extLst>
          </p:cNvPr>
          <p:cNvPicPr>
            <a:picLocks noChangeAspect="1" noChangeArrowheads="1"/>
          </p:cNvPicPr>
          <p:nvPr/>
        </p:nvPicPr>
        <p:blipFill>
          <a:blip r:embed="rId12" cstate="email">
            <a:extLst>
              <a:ext uri="{BEBA8EAE-BF5A-486C-A8C5-ECC9F3942E4B}">
                <a14:imgProps xmlns:a14="http://schemas.microsoft.com/office/drawing/2010/main">
                  <a14:imgLayer r:embed="rId13">
                    <a14:imgEffect>
                      <a14:backgroundRemoval t="5500" b="98500" l="3000" r="98000">
                        <a14:foregroundMark x1="37000" y1="9500" x2="51000" y2="5500"/>
                        <a14:foregroundMark x1="51000" y1="5500" x2="42000" y2="9500"/>
                        <a14:foregroundMark x1="34000" y1="70500" x2="5000" y2="85500"/>
                        <a14:foregroundMark x1="5000" y1="85500" x2="45500" y2="91000"/>
                        <a14:foregroundMark x1="45500" y1="91000" x2="84500" y2="89000"/>
                        <a14:foregroundMark x1="84500" y1="89000" x2="94000" y2="85000"/>
                        <a14:foregroundMark x1="94000" y1="85000" x2="77500" y2="75500"/>
                        <a14:foregroundMark x1="77500" y1="75500" x2="60000" y2="86500"/>
                        <a14:foregroundMark x1="60000" y1="86500" x2="32000" y2="80000"/>
                        <a14:foregroundMark x1="32000" y1="80000" x2="30000" y2="80000"/>
                        <a14:foregroundMark x1="500" y1="77000" x2="3000" y2="95500"/>
                        <a14:foregroundMark x1="3000" y1="95500" x2="86500" y2="97500"/>
                        <a14:foregroundMark x1="86500" y1="97500" x2="97000" y2="86500"/>
                        <a14:foregroundMark x1="97000" y1="86500" x2="98000" y2="82500"/>
                        <a14:foregroundMark x1="2500" y1="84000" x2="3000" y2="97500"/>
                        <a14:foregroundMark x1="3000" y1="97500" x2="17500" y2="98500"/>
                      </a14:backgroundRemoval>
                    </a14:imgEffect>
                  </a14:imgLayer>
                </a14:imgProps>
              </a:ext>
              <a:ext uri="{28A0092B-C50C-407E-A947-70E740481C1C}">
                <a14:useLocalDpi xmlns:a14="http://schemas.microsoft.com/office/drawing/2010/main"/>
              </a:ext>
            </a:extLst>
          </a:blip>
          <a:srcRect/>
          <a:stretch>
            <a:fillRect/>
          </a:stretch>
        </p:blipFill>
        <p:spPr bwMode="auto">
          <a:xfrm>
            <a:off x="11564835" y="3501792"/>
            <a:ext cx="869151" cy="869151"/>
          </a:xfrm>
          <a:prstGeom prst="rect">
            <a:avLst/>
          </a:prstGeom>
          <a:noFill/>
          <a:effectLst>
            <a:softEdge rad="12700"/>
          </a:effectLst>
          <a:extLst>
            <a:ext uri="{909E8E84-426E-40DD-AFC4-6F175D3DCCD1}">
              <a14:hiddenFill xmlns:a14="http://schemas.microsoft.com/office/drawing/2010/main">
                <a:solidFill>
                  <a:srgbClr val="FFFFFF"/>
                </a:solidFill>
              </a14:hiddenFill>
            </a:ext>
          </a:extLst>
        </p:spPr>
      </p:pic>
      <p:pic>
        <p:nvPicPr>
          <p:cNvPr id="63" name="Picture 62">
            <a:extLst>
              <a:ext uri="{FF2B5EF4-FFF2-40B4-BE49-F238E27FC236}">
                <a16:creationId xmlns:a16="http://schemas.microsoft.com/office/drawing/2014/main" id="{F27477AE-1DB7-B52A-5489-A132F00C4886}"/>
              </a:ext>
            </a:extLst>
          </p:cNvPr>
          <p:cNvPicPr>
            <a:picLocks noChangeAspect="1"/>
          </p:cNvPicPr>
          <p:nvPr/>
        </p:nvPicPr>
        <p:blipFill rotWithShape="1">
          <a:blip r:embed="rId14" cstate="email">
            <a:clrChange>
              <a:clrFrom>
                <a:srgbClr val="EAEAEA"/>
              </a:clrFrom>
              <a:clrTo>
                <a:srgbClr val="EAEAEA">
                  <a:alpha val="0"/>
                </a:srgbClr>
              </a:clrTo>
            </a:clrChange>
            <a:extLst>
              <a:ext uri="{BEBA8EAE-BF5A-486C-A8C5-ECC9F3942E4B}">
                <a14:imgProps xmlns:a14="http://schemas.microsoft.com/office/drawing/2010/main">
                  <a14:imgLayer r:embed="rId15">
                    <a14:imgEffect>
                      <a14:backgroundRemoval t="10072" b="97482" l="9818" r="89818">
                        <a14:foregroundMark x1="39273" y1="89568" x2="71273" y2="46043"/>
                        <a14:foregroundMark x1="37818" y1="93525" x2="47273" y2="96043"/>
                        <a14:foregroundMark x1="30182" y1="96043" x2="71273" y2="97482"/>
                        <a14:foregroundMark x1="22182" y1="38129" x2="39273" y2="22302"/>
                      </a14:backgroundRemoval>
                    </a14:imgEffect>
                  </a14:imgLayer>
                </a14:imgProps>
              </a:ext>
              <a:ext uri="{28A0092B-C50C-407E-A947-70E740481C1C}">
                <a14:useLocalDpi xmlns:a14="http://schemas.microsoft.com/office/drawing/2010/main"/>
              </a:ext>
            </a:extLst>
          </a:blip>
          <a:srcRect/>
          <a:stretch/>
        </p:blipFill>
        <p:spPr>
          <a:xfrm>
            <a:off x="9694868" y="3530390"/>
            <a:ext cx="828529" cy="828147"/>
          </a:xfrm>
          <a:prstGeom prst="rect">
            <a:avLst/>
          </a:prstGeom>
          <a:effectLst>
            <a:softEdge rad="12700"/>
          </a:effectLst>
        </p:spPr>
      </p:pic>
      <p:pic>
        <p:nvPicPr>
          <p:cNvPr id="75" name="Picture 22">
            <a:extLst>
              <a:ext uri="{FF2B5EF4-FFF2-40B4-BE49-F238E27FC236}">
                <a16:creationId xmlns:a16="http://schemas.microsoft.com/office/drawing/2014/main" id="{BA4BDF20-30FA-E07C-DB8F-4FB8BC7FCCE5}"/>
              </a:ext>
            </a:extLst>
          </p:cNvPr>
          <p:cNvPicPr>
            <a:picLocks noChangeAspect="1" noChangeArrowheads="1"/>
          </p:cNvPicPr>
          <p:nvPr/>
        </p:nvPicPr>
        <p:blipFill>
          <a:blip r:embed="rId16" cstate="email">
            <a:extLst>
              <a:ext uri="{BEBA8EAE-BF5A-486C-A8C5-ECC9F3942E4B}">
                <a14:imgProps xmlns:a14="http://schemas.microsoft.com/office/drawing/2010/main">
                  <a14:imgLayer r:embed="rId17">
                    <a14:imgEffect>
                      <a14:backgroundRemoval t="6936" b="98266" l="2890" r="98844">
                        <a14:foregroundMark x1="63584" y1="30636" x2="63584" y2="36416"/>
                        <a14:foregroundMark x1="30058" y1="75723" x2="17341" y2="79769"/>
                        <a14:foregroundMark x1="17341" y1="79769" x2="19653" y2="93642"/>
                        <a14:foregroundMark x1="19653" y1="93642" x2="78035" y2="85549"/>
                        <a14:foregroundMark x1="78035" y1="85549" x2="80347" y2="84393"/>
                        <a14:foregroundMark x1="3468" y1="80925" x2="4624" y2="96532"/>
                        <a14:foregroundMark x1="4624" y1="96532" x2="5780" y2="98266"/>
                        <a14:foregroundMark x1="39884" y1="73988" x2="33526" y2="70520"/>
                        <a14:foregroundMark x1="59685" y1="56461" x2="57803" y2="60694"/>
                        <a14:foregroundMark x1="57803" y1="60694" x2="57803" y2="60694"/>
                        <a14:foregroundMark x1="52601" y1="11561" x2="43353" y2="8092"/>
                        <a14:foregroundMark x1="91908" y1="81503" x2="95954" y2="94798"/>
                        <a14:foregroundMark x1="98844" y1="95954" x2="98844" y2="94798"/>
                        <a14:backgroundMark x1="64740" y1="42775" x2="64162" y2="56647"/>
                        <a14:backgroundMark x1="64162" y1="42775" x2="64162" y2="42775"/>
                        <a14:backgroundMark x1="63584" y1="41040" x2="63584" y2="41040"/>
                        <a14:backgroundMark x1="64162" y1="42775" x2="64162" y2="42775"/>
                        <a14:backgroundMark x1="65318" y1="42197" x2="64740" y2="41618"/>
                        <a14:backgroundMark x1="64740" y1="42775" x2="64740" y2="42775"/>
                        <a14:backgroundMark x1="64162" y1="43353" x2="64162" y2="43353"/>
                        <a14:backgroundMark x1="63584" y1="42775" x2="63584" y2="42775"/>
                        <a14:backgroundMark x1="35260" y1="9827" x2="43931" y2="6936"/>
                        <a14:backgroundMark x1="43931" y1="6936" x2="43931" y2="6936"/>
                        <a14:backgroundMark x1="63584" y1="39884" x2="63584" y2="42775"/>
                      </a14:backgroundRemoval>
                    </a14:imgEffect>
                  </a14:imgLayer>
                </a14:imgProps>
              </a:ext>
              <a:ext uri="{28A0092B-C50C-407E-A947-70E740481C1C}">
                <a14:useLocalDpi xmlns:a14="http://schemas.microsoft.com/office/drawing/2010/main"/>
              </a:ext>
            </a:extLst>
          </a:blip>
          <a:srcRect/>
          <a:stretch>
            <a:fillRect/>
          </a:stretch>
        </p:blipFill>
        <p:spPr bwMode="auto">
          <a:xfrm>
            <a:off x="13517628" y="3488857"/>
            <a:ext cx="869152" cy="869152"/>
          </a:xfrm>
          <a:prstGeom prst="rect">
            <a:avLst/>
          </a:prstGeom>
          <a:noFill/>
          <a:effectLst>
            <a:softEdge rad="12700"/>
          </a:effectLst>
          <a:extLst>
            <a:ext uri="{909E8E84-426E-40DD-AFC4-6F175D3DCCD1}">
              <a14:hiddenFill xmlns:a14="http://schemas.microsoft.com/office/drawing/2010/main">
                <a:solidFill>
                  <a:srgbClr val="FFFFFF"/>
                </a:solidFill>
              </a14:hiddenFill>
            </a:ext>
          </a:extLst>
        </p:spPr>
      </p:pic>
      <p:pic>
        <p:nvPicPr>
          <p:cNvPr id="76" name="Picture 75">
            <a:extLst>
              <a:ext uri="{FF2B5EF4-FFF2-40B4-BE49-F238E27FC236}">
                <a16:creationId xmlns:a16="http://schemas.microsoft.com/office/drawing/2014/main" id="{443D88A8-AF36-D563-4047-8F9B5DBE6850}"/>
              </a:ext>
            </a:extLst>
          </p:cNvPr>
          <p:cNvPicPr>
            <a:picLocks noChangeAspect="1"/>
          </p:cNvPicPr>
          <p:nvPr/>
        </p:nvPicPr>
        <p:blipFill rotWithShape="1">
          <a:blip r:embed="rId18" cstate="email">
            <a:extLst>
              <a:ext uri="{BEBA8EAE-BF5A-486C-A8C5-ECC9F3942E4B}">
                <a14:imgProps xmlns:a14="http://schemas.microsoft.com/office/drawing/2010/main">
                  <a14:imgLayer r:embed="rId19">
                    <a14:imgEffect>
                      <a14:backgroundRemoval t="8451" b="97183" l="6757" r="83784">
                        <a14:foregroundMark x1="27027" y1="85915" x2="36486" y2="91549"/>
                        <a14:foregroundMark x1="40541" y1="90141" x2="45946" y2="87324"/>
                        <a14:foregroundMark x1="54054" y1="84507" x2="58108" y2="84507"/>
                        <a14:foregroundMark x1="33784" y1="95775" x2="68919" y2="97183"/>
                      </a14:backgroundRemoval>
                    </a14:imgEffect>
                  </a14:imgLayer>
                </a14:imgProps>
              </a:ext>
              <a:ext uri="{28A0092B-C50C-407E-A947-70E740481C1C}">
                <a14:useLocalDpi xmlns:a14="http://schemas.microsoft.com/office/drawing/2010/main"/>
              </a:ext>
            </a:extLst>
          </a:blip>
          <a:srcRect l="-313" t="-607" r="6229" b="607"/>
          <a:stretch/>
        </p:blipFill>
        <p:spPr>
          <a:xfrm>
            <a:off x="15470423" y="3530179"/>
            <a:ext cx="828356" cy="827829"/>
          </a:xfrm>
          <a:prstGeom prst="rect">
            <a:avLst/>
          </a:prstGeom>
          <a:effectLst>
            <a:softEdge rad="12700"/>
          </a:effectLst>
        </p:spPr>
      </p:pic>
      <p:pic>
        <p:nvPicPr>
          <p:cNvPr id="358" name="Picture 357">
            <a:extLst>
              <a:ext uri="{FF2B5EF4-FFF2-40B4-BE49-F238E27FC236}">
                <a16:creationId xmlns:a16="http://schemas.microsoft.com/office/drawing/2014/main" id="{810E0EB4-E0EA-1A31-6909-7E2513F5E60C}"/>
              </a:ext>
            </a:extLst>
          </p:cNvPr>
          <p:cNvPicPr>
            <a:picLocks noChangeAspect="1"/>
          </p:cNvPicPr>
          <p:nvPr/>
        </p:nvPicPr>
        <p:blipFill>
          <a:blip r:embed="rId20"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465094" y="7844653"/>
            <a:ext cx="1512000" cy="373990"/>
          </a:xfrm>
          <a:prstGeom prst="rect">
            <a:avLst/>
          </a:prstGeom>
        </p:spPr>
      </p:pic>
      <p:pic>
        <p:nvPicPr>
          <p:cNvPr id="359" name="Picture 10" descr="Google Data Centers - AODocs">
            <a:extLst>
              <a:ext uri="{FF2B5EF4-FFF2-40B4-BE49-F238E27FC236}">
                <a16:creationId xmlns:a16="http://schemas.microsoft.com/office/drawing/2014/main" id="{8373F177-0DB0-6B89-E04E-E72D4B07167D}"/>
              </a:ext>
            </a:extLst>
          </p:cNvPr>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5517891" y="7272230"/>
            <a:ext cx="1486730" cy="504000"/>
          </a:xfrm>
          <a:prstGeom prst="rect">
            <a:avLst/>
          </a:prstGeom>
          <a:noFill/>
          <a:extLst>
            <a:ext uri="{909E8E84-426E-40DD-AFC4-6F175D3DCCD1}">
              <a14:hiddenFill xmlns:a14="http://schemas.microsoft.com/office/drawing/2010/main">
                <a:solidFill>
                  <a:srgbClr val="FFFFFF"/>
                </a:solidFill>
              </a14:hiddenFill>
            </a:ext>
          </a:extLst>
        </p:spPr>
      </p:pic>
      <p:pic>
        <p:nvPicPr>
          <p:cNvPr id="361" name="Picture 10" descr="Google Data Centers - AODocs">
            <a:extLst>
              <a:ext uri="{FF2B5EF4-FFF2-40B4-BE49-F238E27FC236}">
                <a16:creationId xmlns:a16="http://schemas.microsoft.com/office/drawing/2014/main" id="{B850169C-D4E8-D799-2EE1-18B968D2A7D0}"/>
              </a:ext>
            </a:extLst>
          </p:cNvPr>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17160431" y="7462037"/>
            <a:ext cx="1486730" cy="504000"/>
          </a:xfrm>
          <a:prstGeom prst="rect">
            <a:avLst/>
          </a:prstGeom>
          <a:noFill/>
          <a:extLst>
            <a:ext uri="{909E8E84-426E-40DD-AFC4-6F175D3DCCD1}">
              <a14:hiddenFill xmlns:a14="http://schemas.microsoft.com/office/drawing/2010/main">
                <a:solidFill>
                  <a:srgbClr val="FFFFFF"/>
                </a:solidFill>
              </a14:hiddenFill>
            </a:ext>
          </a:extLst>
        </p:spPr>
      </p:pic>
      <p:pic>
        <p:nvPicPr>
          <p:cNvPr id="362" name="Picture 10" descr="Google Data Centers - AODocs">
            <a:extLst>
              <a:ext uri="{FF2B5EF4-FFF2-40B4-BE49-F238E27FC236}">
                <a16:creationId xmlns:a16="http://schemas.microsoft.com/office/drawing/2014/main" id="{BB1518BB-1B0E-C829-A713-0CE91AA65ACA}"/>
              </a:ext>
            </a:extLst>
          </p:cNvPr>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19120258" y="7130136"/>
            <a:ext cx="1486730" cy="504000"/>
          </a:xfrm>
          <a:prstGeom prst="rect">
            <a:avLst/>
          </a:prstGeom>
          <a:noFill/>
          <a:extLst>
            <a:ext uri="{909E8E84-426E-40DD-AFC4-6F175D3DCCD1}">
              <a14:hiddenFill xmlns:a14="http://schemas.microsoft.com/office/drawing/2010/main">
                <a:solidFill>
                  <a:srgbClr val="FFFFFF"/>
                </a:solidFill>
              </a14:hiddenFill>
            </a:ext>
          </a:extLst>
        </p:spPr>
      </p:pic>
      <p:pic>
        <p:nvPicPr>
          <p:cNvPr id="365" name="Picture 14" descr="Fleischmann Colombia SAS | Construyored">
            <a:extLst>
              <a:ext uri="{FF2B5EF4-FFF2-40B4-BE49-F238E27FC236}">
                <a16:creationId xmlns:a16="http://schemas.microsoft.com/office/drawing/2014/main" id="{30E4F4EB-78D3-2A71-0A73-EFD13DF0E0E6}"/>
              </a:ext>
            </a:extLst>
          </p:cNvPr>
          <p:cNvPicPr>
            <a:picLocks noChangeAspect="1" noChangeArrowheads="1"/>
          </p:cNvPicPr>
          <p:nvPr/>
        </p:nvPicPr>
        <p:blipFill rotWithShape="1">
          <a:blip r:embed="rId22"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7428930" y="7619543"/>
            <a:ext cx="1584000" cy="188988"/>
          </a:xfrm>
          <a:prstGeom prst="rect">
            <a:avLst/>
          </a:prstGeom>
          <a:noFill/>
          <a:extLst>
            <a:ext uri="{909E8E84-426E-40DD-AFC4-6F175D3DCCD1}">
              <a14:hiddenFill xmlns:a14="http://schemas.microsoft.com/office/drawing/2010/main">
                <a:solidFill>
                  <a:srgbClr val="FFFFFF"/>
                </a:solidFill>
              </a14:hiddenFill>
            </a:ext>
          </a:extLst>
        </p:spPr>
      </p:pic>
      <p:pic>
        <p:nvPicPr>
          <p:cNvPr id="366" name="Picture 10" descr="Google Data Centers - AODocs">
            <a:extLst>
              <a:ext uri="{FF2B5EF4-FFF2-40B4-BE49-F238E27FC236}">
                <a16:creationId xmlns:a16="http://schemas.microsoft.com/office/drawing/2014/main" id="{3CCF02D1-D558-CEA2-062E-9A1F22208BD7}"/>
              </a:ext>
            </a:extLst>
          </p:cNvPr>
          <p:cNvPicPr>
            <a:picLocks noChangeAspect="1" noChangeArrowheads="1"/>
          </p:cNvPicPr>
          <p:nvPr/>
        </p:nvPicPr>
        <p:blipFill>
          <a:blip r:embed="rId21" cstate="email">
            <a:extLst>
              <a:ext uri="{28A0092B-C50C-407E-A947-70E740481C1C}">
                <a14:useLocalDpi xmlns:a14="http://schemas.microsoft.com/office/drawing/2010/main"/>
              </a:ext>
            </a:extLst>
          </a:blip>
          <a:srcRect/>
          <a:stretch>
            <a:fillRect/>
          </a:stretch>
        </p:blipFill>
        <p:spPr bwMode="auto">
          <a:xfrm>
            <a:off x="9357353" y="7431557"/>
            <a:ext cx="1486730" cy="504000"/>
          </a:xfrm>
          <a:prstGeom prst="rect">
            <a:avLst/>
          </a:prstGeom>
          <a:noFill/>
          <a:extLst>
            <a:ext uri="{909E8E84-426E-40DD-AFC4-6F175D3DCCD1}">
              <a14:hiddenFill xmlns:a14="http://schemas.microsoft.com/office/drawing/2010/main">
                <a:solidFill>
                  <a:srgbClr val="FFFFFF"/>
                </a:solidFill>
              </a14:hiddenFill>
            </a:ext>
          </a:extLst>
        </p:spPr>
      </p:pic>
      <p:pic>
        <p:nvPicPr>
          <p:cNvPr id="367" name="Picture 2">
            <a:extLst>
              <a:ext uri="{FF2B5EF4-FFF2-40B4-BE49-F238E27FC236}">
                <a16:creationId xmlns:a16="http://schemas.microsoft.com/office/drawing/2014/main" id="{41D65828-6A16-032A-82FF-D17124A14201}"/>
              </a:ext>
            </a:extLst>
          </p:cNvPr>
          <p:cNvPicPr>
            <a:picLocks noChangeAspect="1" noChangeArrowheads="1"/>
          </p:cNvPicPr>
          <p:nvPr/>
        </p:nvPicPr>
        <p:blipFill>
          <a:blip r:embed="rId23" cstate="email">
            <a:extLst>
              <a:ext uri="{28A0092B-C50C-407E-A947-70E740481C1C}">
                <a14:useLocalDpi xmlns:a14="http://schemas.microsoft.com/office/drawing/2010/main"/>
              </a:ext>
            </a:extLst>
          </a:blip>
          <a:srcRect/>
          <a:stretch>
            <a:fillRect/>
          </a:stretch>
        </p:blipFill>
        <p:spPr bwMode="auto">
          <a:xfrm>
            <a:off x="11328070" y="7492683"/>
            <a:ext cx="1440000" cy="290308"/>
          </a:xfrm>
          <a:prstGeom prst="rect">
            <a:avLst/>
          </a:prstGeom>
          <a:noFill/>
          <a:extLst>
            <a:ext uri="{909E8E84-426E-40DD-AFC4-6F175D3DCCD1}">
              <a14:hiddenFill xmlns:a14="http://schemas.microsoft.com/office/drawing/2010/main">
                <a:solidFill>
                  <a:srgbClr val="FFFFFF"/>
                </a:solidFill>
              </a14:hiddenFill>
            </a:ext>
          </a:extLst>
        </p:spPr>
      </p:pic>
      <p:pic>
        <p:nvPicPr>
          <p:cNvPr id="368" name="Picture 367">
            <a:extLst>
              <a:ext uri="{FF2B5EF4-FFF2-40B4-BE49-F238E27FC236}">
                <a16:creationId xmlns:a16="http://schemas.microsoft.com/office/drawing/2014/main" id="{6B10A4EC-B39E-E33B-AA69-2C6C79067ADB}"/>
              </a:ext>
            </a:extLst>
          </p:cNvPr>
          <p:cNvPicPr>
            <a:picLocks noChangeAspect="1"/>
          </p:cNvPicPr>
          <p:nvPr/>
        </p:nvPicPr>
        <p:blipFill rotWithShape="1">
          <a:blip r:embed="rId24"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15412046" y="7864088"/>
            <a:ext cx="1008000" cy="308290"/>
          </a:xfrm>
          <a:prstGeom prst="rect">
            <a:avLst/>
          </a:prstGeom>
        </p:spPr>
      </p:pic>
      <p:pic>
        <p:nvPicPr>
          <p:cNvPr id="369" name="Picture 10">
            <a:extLst>
              <a:ext uri="{FF2B5EF4-FFF2-40B4-BE49-F238E27FC236}">
                <a16:creationId xmlns:a16="http://schemas.microsoft.com/office/drawing/2014/main" id="{8405F374-0D19-9687-8600-A2AB4433DC4C}"/>
              </a:ext>
            </a:extLst>
          </p:cNvPr>
          <p:cNvPicPr>
            <a:picLocks noChangeAspect="1" noChangeArrowheads="1"/>
          </p:cNvPicPr>
          <p:nvPr/>
        </p:nvPicPr>
        <p:blipFill rotWithShape="1">
          <a:blip r:embed="rId25" cstate="email">
            <a:clrChange>
              <a:clrFrom>
                <a:srgbClr val="FFFFFF"/>
              </a:clrFrom>
              <a:clrTo>
                <a:srgbClr val="FFFFFF">
                  <a:alpha val="0"/>
                </a:srgbClr>
              </a:clrTo>
            </a:clrChange>
            <a:extLst>
              <a:ext uri="{28A0092B-C50C-407E-A947-70E740481C1C}">
                <a14:useLocalDpi xmlns:a14="http://schemas.microsoft.com/office/drawing/2010/main"/>
              </a:ext>
            </a:extLst>
          </a:blip>
          <a:srcRect l="567" t="38978" r="608" b="38695"/>
          <a:stretch/>
        </p:blipFill>
        <p:spPr bwMode="auto">
          <a:xfrm>
            <a:off x="15196046" y="7364590"/>
            <a:ext cx="1440000" cy="180738"/>
          </a:xfrm>
          <a:prstGeom prst="rect">
            <a:avLst/>
          </a:prstGeom>
          <a:noFill/>
          <a:extLst>
            <a:ext uri="{909E8E84-426E-40DD-AFC4-6F175D3DCCD1}">
              <a14:hiddenFill xmlns:a14="http://schemas.microsoft.com/office/drawing/2010/main">
                <a:solidFill>
                  <a:srgbClr val="FFFFFF"/>
                </a:solidFill>
              </a14:hiddenFill>
            </a:ext>
          </a:extLst>
        </p:spPr>
      </p:pic>
      <p:pic>
        <p:nvPicPr>
          <p:cNvPr id="370" name="Picture 18" descr="Distribuidor Schneider Electric - Descubra a nossa gama | TVH Portugal">
            <a:extLst>
              <a:ext uri="{FF2B5EF4-FFF2-40B4-BE49-F238E27FC236}">
                <a16:creationId xmlns:a16="http://schemas.microsoft.com/office/drawing/2014/main" id="{E29C3780-0FAC-A21B-3FC7-256A4B411C72}"/>
              </a:ext>
            </a:extLst>
          </p:cNvPr>
          <p:cNvPicPr>
            <a:picLocks noChangeAspect="1" noChangeArrowheads="1"/>
          </p:cNvPicPr>
          <p:nvPr/>
        </p:nvPicPr>
        <p:blipFill rotWithShape="1">
          <a:blip r:embed="rId26" cstate="email">
            <a:extLst>
              <a:ext uri="{28A0092B-C50C-407E-A947-70E740481C1C}">
                <a14:useLocalDpi xmlns:a14="http://schemas.microsoft.com/office/drawing/2010/main"/>
              </a:ext>
            </a:extLst>
          </a:blip>
          <a:srcRect/>
          <a:stretch/>
        </p:blipFill>
        <p:spPr bwMode="auto">
          <a:xfrm>
            <a:off x="13310890" y="7790660"/>
            <a:ext cx="1440000" cy="438814"/>
          </a:xfrm>
          <a:prstGeom prst="rect">
            <a:avLst/>
          </a:prstGeom>
          <a:noFill/>
          <a:extLst>
            <a:ext uri="{909E8E84-426E-40DD-AFC4-6F175D3DCCD1}">
              <a14:hiddenFill xmlns:a14="http://schemas.microsoft.com/office/drawing/2010/main">
                <a:solidFill>
                  <a:srgbClr val="FFFFFF"/>
                </a:solidFill>
              </a14:hiddenFill>
            </a:ext>
          </a:extLst>
        </p:spPr>
      </p:pic>
      <p:pic>
        <p:nvPicPr>
          <p:cNvPr id="371" name="Picture 20">
            <a:extLst>
              <a:ext uri="{FF2B5EF4-FFF2-40B4-BE49-F238E27FC236}">
                <a16:creationId xmlns:a16="http://schemas.microsoft.com/office/drawing/2014/main" id="{F7B6EDAB-B541-F13F-E907-214973E00EC4}"/>
              </a:ext>
            </a:extLst>
          </p:cNvPr>
          <p:cNvPicPr>
            <a:picLocks noChangeAspect="1" noChangeArrowheads="1"/>
          </p:cNvPicPr>
          <p:nvPr/>
        </p:nvPicPr>
        <p:blipFill>
          <a:blip r:embed="rId27" cstate="email">
            <a:extLst>
              <a:ext uri="{28A0092B-C50C-407E-A947-70E740481C1C}">
                <a14:useLocalDpi xmlns:a14="http://schemas.microsoft.com/office/drawing/2010/main"/>
              </a:ext>
            </a:extLst>
          </a:blip>
          <a:srcRect/>
          <a:stretch>
            <a:fillRect/>
          </a:stretch>
        </p:blipFill>
        <p:spPr bwMode="auto">
          <a:xfrm>
            <a:off x="13310890" y="7240724"/>
            <a:ext cx="1440000" cy="313154"/>
          </a:xfrm>
          <a:prstGeom prst="rect">
            <a:avLst/>
          </a:prstGeom>
          <a:noFill/>
          <a:extLst>
            <a:ext uri="{909E8E84-426E-40DD-AFC4-6F175D3DCCD1}">
              <a14:hiddenFill xmlns:a14="http://schemas.microsoft.com/office/drawing/2010/main">
                <a:solidFill>
                  <a:srgbClr val="FFFFFF"/>
                </a:solidFill>
              </a14:hiddenFill>
            </a:ext>
          </a:extLst>
        </p:spPr>
      </p:pic>
      <p:pic>
        <p:nvPicPr>
          <p:cNvPr id="372" name="Picture 16" descr="Denmark icon">
            <a:extLst>
              <a:ext uri="{FF2B5EF4-FFF2-40B4-BE49-F238E27FC236}">
                <a16:creationId xmlns:a16="http://schemas.microsoft.com/office/drawing/2014/main" id="{3C2022E9-F208-31E5-2401-8C3045AD5260}"/>
              </a:ext>
            </a:extLst>
          </p:cNvPr>
          <p:cNvPicPr>
            <a:picLocks noChangeAspect="1" noChangeArrowheads="1"/>
          </p:cNvPicPr>
          <p:nvPr/>
        </p:nvPicPr>
        <p:blipFill>
          <a:blip r:embed="rId28" cstate="email">
            <a:extLst>
              <a:ext uri="{28A0092B-C50C-407E-A947-70E740481C1C}">
                <a14:useLocalDpi xmlns:a14="http://schemas.microsoft.com/office/drawing/2010/main"/>
              </a:ext>
            </a:extLst>
          </a:blip>
          <a:srcRect/>
          <a:stretch>
            <a:fillRect/>
          </a:stretch>
        </p:blipFill>
        <p:spPr bwMode="auto">
          <a:xfrm>
            <a:off x="20276128" y="10365916"/>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74" name="Picture 20" descr="Portugal">
            <a:extLst>
              <a:ext uri="{FF2B5EF4-FFF2-40B4-BE49-F238E27FC236}">
                <a16:creationId xmlns:a16="http://schemas.microsoft.com/office/drawing/2014/main" id="{3D03598A-300C-ABDE-946F-7BB06CB6080F}"/>
              </a:ext>
            </a:extLst>
          </p:cNvPr>
          <p:cNvPicPr>
            <a:picLocks noChangeAspect="1" noChangeArrowheads="1"/>
          </p:cNvPicPr>
          <p:nvPr/>
        </p:nvPicPr>
        <p:blipFill>
          <a:blip r:embed="rId29" cstate="email">
            <a:extLst>
              <a:ext uri="{28A0092B-C50C-407E-A947-70E740481C1C}">
                <a14:useLocalDpi xmlns:a14="http://schemas.microsoft.com/office/drawing/2010/main"/>
              </a:ext>
            </a:extLst>
          </a:blip>
          <a:srcRect/>
          <a:stretch>
            <a:fillRect/>
          </a:stretch>
        </p:blipFill>
        <p:spPr bwMode="auto">
          <a:xfrm>
            <a:off x="18253868" y="9611942"/>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76" name="Picture 24" descr="Belgium">
            <a:extLst>
              <a:ext uri="{FF2B5EF4-FFF2-40B4-BE49-F238E27FC236}">
                <a16:creationId xmlns:a16="http://schemas.microsoft.com/office/drawing/2014/main" id="{7E2845A2-5719-7DDF-4AA7-BA6498379FD3}"/>
              </a:ext>
            </a:extLst>
          </p:cNvPr>
          <p:cNvPicPr>
            <a:picLocks noChangeAspect="1" noChangeArrowheads="1"/>
          </p:cNvPicPr>
          <p:nvPr/>
        </p:nvPicPr>
        <p:blipFill>
          <a:blip r:embed="rId30" cstate="email">
            <a:extLst>
              <a:ext uri="{28A0092B-C50C-407E-A947-70E740481C1C}">
                <a14:useLocalDpi xmlns:a14="http://schemas.microsoft.com/office/drawing/2010/main"/>
              </a:ext>
            </a:extLst>
          </a:blip>
          <a:srcRect/>
          <a:stretch>
            <a:fillRect/>
          </a:stretch>
        </p:blipFill>
        <p:spPr bwMode="auto">
          <a:xfrm>
            <a:off x="20276128" y="9297232"/>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77" name="Picture 26" descr="Ireland">
            <a:extLst>
              <a:ext uri="{FF2B5EF4-FFF2-40B4-BE49-F238E27FC236}">
                <a16:creationId xmlns:a16="http://schemas.microsoft.com/office/drawing/2014/main" id="{269F5ACF-E9F0-5DCC-0BDE-3D162C57A8A6}"/>
              </a:ext>
            </a:extLst>
          </p:cNvPr>
          <p:cNvPicPr>
            <a:picLocks noChangeAspect="1" noChangeArrowheads="1"/>
          </p:cNvPicPr>
          <p:nvPr/>
        </p:nvPicPr>
        <p:blipFill>
          <a:blip r:embed="rId31" cstate="email">
            <a:extLst>
              <a:ext uri="{28A0092B-C50C-407E-A947-70E740481C1C}">
                <a14:useLocalDpi xmlns:a14="http://schemas.microsoft.com/office/drawing/2010/main"/>
              </a:ext>
            </a:extLst>
          </a:blip>
          <a:srcRect/>
          <a:stretch>
            <a:fillRect/>
          </a:stretch>
        </p:blipFill>
        <p:spPr bwMode="auto">
          <a:xfrm>
            <a:off x="20276128" y="10009688"/>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78" name="Picture 18" descr="Finland icon">
            <a:extLst>
              <a:ext uri="{FF2B5EF4-FFF2-40B4-BE49-F238E27FC236}">
                <a16:creationId xmlns:a16="http://schemas.microsoft.com/office/drawing/2014/main" id="{7CE6288E-FB00-B82D-ED67-11EAF4308938}"/>
              </a:ext>
            </a:extLst>
          </p:cNvPr>
          <p:cNvPicPr>
            <a:picLocks noChangeAspect="1" noChangeArrowheads="1"/>
          </p:cNvPicPr>
          <p:nvPr/>
        </p:nvPicPr>
        <p:blipFill>
          <a:blip r:embed="rId32" cstate="email">
            <a:extLst>
              <a:ext uri="{28A0092B-C50C-407E-A947-70E740481C1C}">
                <a14:useLocalDpi xmlns:a14="http://schemas.microsoft.com/office/drawing/2010/main"/>
              </a:ext>
            </a:extLst>
          </a:blip>
          <a:srcRect/>
          <a:stretch>
            <a:fillRect/>
          </a:stretch>
        </p:blipFill>
        <p:spPr bwMode="auto">
          <a:xfrm>
            <a:off x="18253868" y="9255714"/>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79" name="Picture 22" descr="Netherlands">
            <a:extLst>
              <a:ext uri="{FF2B5EF4-FFF2-40B4-BE49-F238E27FC236}">
                <a16:creationId xmlns:a16="http://schemas.microsoft.com/office/drawing/2014/main" id="{84EBB7C4-498F-F437-27BC-5EFA2A13344F}"/>
              </a:ext>
            </a:extLst>
          </p:cNvPr>
          <p:cNvPicPr>
            <a:picLocks noChangeAspect="1" noChangeArrowheads="1"/>
          </p:cNvPicPr>
          <p:nvPr/>
        </p:nvPicPr>
        <p:blipFill>
          <a:blip r:embed="rId33" cstate="email">
            <a:extLst>
              <a:ext uri="{28A0092B-C50C-407E-A947-70E740481C1C}">
                <a14:useLocalDpi xmlns:a14="http://schemas.microsoft.com/office/drawing/2010/main"/>
              </a:ext>
            </a:extLst>
          </a:blip>
          <a:srcRect/>
          <a:stretch>
            <a:fillRect/>
          </a:stretch>
        </p:blipFill>
        <p:spPr bwMode="auto">
          <a:xfrm>
            <a:off x="18253868" y="8879558"/>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80" name="Picture 22" descr="Netherlands">
            <a:extLst>
              <a:ext uri="{FF2B5EF4-FFF2-40B4-BE49-F238E27FC236}">
                <a16:creationId xmlns:a16="http://schemas.microsoft.com/office/drawing/2014/main" id="{EE82183F-DA37-18D4-9CBB-5747ECCDDE48}"/>
              </a:ext>
            </a:extLst>
          </p:cNvPr>
          <p:cNvPicPr>
            <a:picLocks noChangeAspect="1" noChangeArrowheads="1"/>
          </p:cNvPicPr>
          <p:nvPr/>
        </p:nvPicPr>
        <p:blipFill>
          <a:blip r:embed="rId33" cstate="email">
            <a:extLst>
              <a:ext uri="{28A0092B-C50C-407E-A947-70E740481C1C}">
                <a14:useLocalDpi xmlns:a14="http://schemas.microsoft.com/office/drawing/2010/main"/>
              </a:ext>
            </a:extLst>
          </a:blip>
          <a:srcRect/>
          <a:stretch>
            <a:fillRect/>
          </a:stretch>
        </p:blipFill>
        <p:spPr bwMode="auto">
          <a:xfrm>
            <a:off x="20276128" y="9653460"/>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81" name="Picture 18" descr="Finland icon">
            <a:extLst>
              <a:ext uri="{FF2B5EF4-FFF2-40B4-BE49-F238E27FC236}">
                <a16:creationId xmlns:a16="http://schemas.microsoft.com/office/drawing/2014/main" id="{C7E58CD9-9E67-8DDF-1538-F23456DE687A}"/>
              </a:ext>
            </a:extLst>
          </p:cNvPr>
          <p:cNvPicPr>
            <a:picLocks noChangeAspect="1" noChangeArrowheads="1"/>
          </p:cNvPicPr>
          <p:nvPr/>
        </p:nvPicPr>
        <p:blipFill>
          <a:blip r:embed="rId32" cstate="email">
            <a:extLst>
              <a:ext uri="{28A0092B-C50C-407E-A947-70E740481C1C}">
                <a14:useLocalDpi xmlns:a14="http://schemas.microsoft.com/office/drawing/2010/main"/>
              </a:ext>
            </a:extLst>
          </a:blip>
          <a:srcRect/>
          <a:stretch>
            <a:fillRect/>
          </a:stretch>
        </p:blipFill>
        <p:spPr bwMode="auto">
          <a:xfrm>
            <a:off x="20276128" y="8921076"/>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82" name="Picture 32" descr="Chile">
            <a:extLst>
              <a:ext uri="{FF2B5EF4-FFF2-40B4-BE49-F238E27FC236}">
                <a16:creationId xmlns:a16="http://schemas.microsoft.com/office/drawing/2014/main" id="{9C9DAA5F-8F04-0556-77F9-FE86DF8A982A}"/>
              </a:ext>
            </a:extLst>
          </p:cNvPr>
          <p:cNvPicPr>
            <a:picLocks noChangeAspect="1" noChangeArrowheads="1"/>
          </p:cNvPicPr>
          <p:nvPr/>
        </p:nvPicPr>
        <p:blipFill>
          <a:blip r:embed="rId34" cstate="email">
            <a:extLst>
              <a:ext uri="{28A0092B-C50C-407E-A947-70E740481C1C}">
                <a14:useLocalDpi xmlns:a14="http://schemas.microsoft.com/office/drawing/2010/main"/>
              </a:ext>
            </a:extLst>
          </a:blip>
          <a:srcRect/>
          <a:stretch>
            <a:fillRect/>
          </a:stretch>
        </p:blipFill>
        <p:spPr bwMode="auto">
          <a:xfrm>
            <a:off x="8447116" y="8911840"/>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83" name="Picture 32" descr="Chile">
            <a:extLst>
              <a:ext uri="{FF2B5EF4-FFF2-40B4-BE49-F238E27FC236}">
                <a16:creationId xmlns:a16="http://schemas.microsoft.com/office/drawing/2014/main" id="{34C86AB4-4E59-F8A0-DFD0-F3DBA988FD1C}"/>
              </a:ext>
            </a:extLst>
          </p:cNvPr>
          <p:cNvPicPr>
            <a:picLocks noChangeAspect="1" noChangeArrowheads="1"/>
          </p:cNvPicPr>
          <p:nvPr/>
        </p:nvPicPr>
        <p:blipFill>
          <a:blip r:embed="rId34" cstate="email">
            <a:extLst>
              <a:ext uri="{28A0092B-C50C-407E-A947-70E740481C1C}">
                <a14:useLocalDpi xmlns:a14="http://schemas.microsoft.com/office/drawing/2010/main"/>
              </a:ext>
            </a:extLst>
          </a:blip>
          <a:srcRect/>
          <a:stretch>
            <a:fillRect/>
          </a:stretch>
        </p:blipFill>
        <p:spPr bwMode="auto">
          <a:xfrm>
            <a:off x="8447116" y="9278760"/>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84" name="Picture 32" descr="Chile">
            <a:extLst>
              <a:ext uri="{FF2B5EF4-FFF2-40B4-BE49-F238E27FC236}">
                <a16:creationId xmlns:a16="http://schemas.microsoft.com/office/drawing/2014/main" id="{EFE55FE2-9573-7D85-FD71-7942DB15D600}"/>
              </a:ext>
            </a:extLst>
          </p:cNvPr>
          <p:cNvPicPr>
            <a:picLocks noChangeAspect="1" noChangeArrowheads="1"/>
          </p:cNvPicPr>
          <p:nvPr/>
        </p:nvPicPr>
        <p:blipFill>
          <a:blip r:embed="rId34" cstate="email">
            <a:extLst>
              <a:ext uri="{28A0092B-C50C-407E-A947-70E740481C1C}">
                <a14:useLocalDpi xmlns:a14="http://schemas.microsoft.com/office/drawing/2010/main"/>
              </a:ext>
            </a:extLst>
          </a:blip>
          <a:srcRect/>
          <a:stretch>
            <a:fillRect/>
          </a:stretch>
        </p:blipFill>
        <p:spPr bwMode="auto">
          <a:xfrm>
            <a:off x="8447116" y="9653460"/>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85" name="Picture 20" descr="Portugal">
            <a:extLst>
              <a:ext uri="{FF2B5EF4-FFF2-40B4-BE49-F238E27FC236}">
                <a16:creationId xmlns:a16="http://schemas.microsoft.com/office/drawing/2014/main" id="{21FCA478-D964-F066-2E09-59E0D386F48F}"/>
              </a:ext>
            </a:extLst>
          </p:cNvPr>
          <p:cNvPicPr>
            <a:picLocks noChangeAspect="1" noChangeArrowheads="1"/>
          </p:cNvPicPr>
          <p:nvPr/>
        </p:nvPicPr>
        <p:blipFill>
          <a:blip r:embed="rId29" cstate="email">
            <a:extLst>
              <a:ext uri="{28A0092B-C50C-407E-A947-70E740481C1C}">
                <a14:useLocalDpi xmlns:a14="http://schemas.microsoft.com/office/drawing/2010/main"/>
              </a:ext>
            </a:extLst>
          </a:blip>
          <a:srcRect/>
          <a:stretch>
            <a:fillRect/>
          </a:stretch>
        </p:blipFill>
        <p:spPr bwMode="auto">
          <a:xfrm>
            <a:off x="6576983" y="10032573"/>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86" name="Picture 22" descr="Netherlands">
            <a:extLst>
              <a:ext uri="{FF2B5EF4-FFF2-40B4-BE49-F238E27FC236}">
                <a16:creationId xmlns:a16="http://schemas.microsoft.com/office/drawing/2014/main" id="{DB0A0894-D1F1-B48A-EB66-47CFE9F14AAD}"/>
              </a:ext>
            </a:extLst>
          </p:cNvPr>
          <p:cNvPicPr>
            <a:picLocks noChangeAspect="1" noChangeArrowheads="1"/>
          </p:cNvPicPr>
          <p:nvPr/>
        </p:nvPicPr>
        <p:blipFill>
          <a:blip r:embed="rId33" cstate="email">
            <a:extLst>
              <a:ext uri="{28A0092B-C50C-407E-A947-70E740481C1C}">
                <a14:useLocalDpi xmlns:a14="http://schemas.microsoft.com/office/drawing/2010/main"/>
              </a:ext>
            </a:extLst>
          </a:blip>
          <a:srcRect/>
          <a:stretch>
            <a:fillRect/>
          </a:stretch>
        </p:blipFill>
        <p:spPr bwMode="auto">
          <a:xfrm>
            <a:off x="6576983" y="8897781"/>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87" name="Picture 18" descr="Finland icon">
            <a:extLst>
              <a:ext uri="{FF2B5EF4-FFF2-40B4-BE49-F238E27FC236}">
                <a16:creationId xmlns:a16="http://schemas.microsoft.com/office/drawing/2014/main" id="{4A4BF1FF-9375-54AF-4F8E-C211F409929E}"/>
              </a:ext>
            </a:extLst>
          </p:cNvPr>
          <p:cNvPicPr>
            <a:picLocks noChangeAspect="1" noChangeArrowheads="1"/>
          </p:cNvPicPr>
          <p:nvPr/>
        </p:nvPicPr>
        <p:blipFill>
          <a:blip r:embed="rId32" cstate="email">
            <a:extLst>
              <a:ext uri="{28A0092B-C50C-407E-A947-70E740481C1C}">
                <a14:useLocalDpi xmlns:a14="http://schemas.microsoft.com/office/drawing/2010/main"/>
              </a:ext>
            </a:extLst>
          </a:blip>
          <a:srcRect/>
          <a:stretch>
            <a:fillRect/>
          </a:stretch>
        </p:blipFill>
        <p:spPr bwMode="auto">
          <a:xfrm>
            <a:off x="6576983" y="9273937"/>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88" name="Picture 36" descr="European union">
            <a:extLst>
              <a:ext uri="{FF2B5EF4-FFF2-40B4-BE49-F238E27FC236}">
                <a16:creationId xmlns:a16="http://schemas.microsoft.com/office/drawing/2014/main" id="{4BCB6F7D-3B38-04CE-1A65-E69CA5605B66}"/>
              </a:ext>
            </a:extLst>
          </p:cNvPr>
          <p:cNvPicPr>
            <a:picLocks noChangeAspect="1" noChangeArrowheads="1"/>
          </p:cNvPicPr>
          <p:nvPr/>
        </p:nvPicPr>
        <p:blipFill>
          <a:blip r:embed="rId35" cstate="email">
            <a:extLst>
              <a:ext uri="{28A0092B-C50C-407E-A947-70E740481C1C}">
                <a14:useLocalDpi xmlns:a14="http://schemas.microsoft.com/office/drawing/2010/main"/>
              </a:ext>
            </a:extLst>
          </a:blip>
          <a:srcRect/>
          <a:stretch>
            <a:fillRect/>
          </a:stretch>
        </p:blipFill>
        <p:spPr bwMode="auto">
          <a:xfrm>
            <a:off x="6576982" y="9654482"/>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89" name="Picture 20" descr="Portugal">
            <a:extLst>
              <a:ext uri="{FF2B5EF4-FFF2-40B4-BE49-F238E27FC236}">
                <a16:creationId xmlns:a16="http://schemas.microsoft.com/office/drawing/2014/main" id="{5676468C-0F2A-4D9F-B3C5-726F72817A6C}"/>
              </a:ext>
            </a:extLst>
          </p:cNvPr>
          <p:cNvPicPr>
            <a:picLocks noChangeAspect="1" noChangeArrowheads="1"/>
          </p:cNvPicPr>
          <p:nvPr/>
        </p:nvPicPr>
        <p:blipFill>
          <a:blip r:embed="rId29" cstate="email">
            <a:extLst>
              <a:ext uri="{28A0092B-C50C-407E-A947-70E740481C1C}">
                <a14:useLocalDpi xmlns:a14="http://schemas.microsoft.com/office/drawing/2010/main"/>
              </a:ext>
            </a:extLst>
          </a:blip>
          <a:srcRect/>
          <a:stretch>
            <a:fillRect/>
          </a:stretch>
        </p:blipFill>
        <p:spPr bwMode="auto">
          <a:xfrm>
            <a:off x="10358289" y="9262772"/>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90" name="Picture 22" descr="Netherlands">
            <a:extLst>
              <a:ext uri="{FF2B5EF4-FFF2-40B4-BE49-F238E27FC236}">
                <a16:creationId xmlns:a16="http://schemas.microsoft.com/office/drawing/2014/main" id="{574FA24D-DD0E-C903-8A58-A7EEAB280213}"/>
              </a:ext>
            </a:extLst>
          </p:cNvPr>
          <p:cNvPicPr>
            <a:picLocks noChangeAspect="1" noChangeArrowheads="1"/>
          </p:cNvPicPr>
          <p:nvPr/>
        </p:nvPicPr>
        <p:blipFill>
          <a:blip r:embed="rId33" cstate="email">
            <a:extLst>
              <a:ext uri="{28A0092B-C50C-407E-A947-70E740481C1C}">
                <a14:useLocalDpi xmlns:a14="http://schemas.microsoft.com/office/drawing/2010/main"/>
              </a:ext>
            </a:extLst>
          </a:blip>
          <a:srcRect/>
          <a:stretch>
            <a:fillRect/>
          </a:stretch>
        </p:blipFill>
        <p:spPr bwMode="auto">
          <a:xfrm>
            <a:off x="10358289" y="9628236"/>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91" name="Picture 18" descr="Finland icon">
            <a:extLst>
              <a:ext uri="{FF2B5EF4-FFF2-40B4-BE49-F238E27FC236}">
                <a16:creationId xmlns:a16="http://schemas.microsoft.com/office/drawing/2014/main" id="{507D384A-69F5-ED24-1F0C-C40B181A6053}"/>
              </a:ext>
            </a:extLst>
          </p:cNvPr>
          <p:cNvPicPr>
            <a:picLocks noChangeAspect="1" noChangeArrowheads="1"/>
          </p:cNvPicPr>
          <p:nvPr/>
        </p:nvPicPr>
        <p:blipFill>
          <a:blip r:embed="rId32" cstate="email">
            <a:extLst>
              <a:ext uri="{28A0092B-C50C-407E-A947-70E740481C1C}">
                <a14:useLocalDpi xmlns:a14="http://schemas.microsoft.com/office/drawing/2010/main"/>
              </a:ext>
            </a:extLst>
          </a:blip>
          <a:srcRect/>
          <a:stretch>
            <a:fillRect/>
          </a:stretch>
        </p:blipFill>
        <p:spPr bwMode="auto">
          <a:xfrm>
            <a:off x="10358289" y="8895852"/>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92" name="Picture 26" descr="Ireland">
            <a:extLst>
              <a:ext uri="{FF2B5EF4-FFF2-40B4-BE49-F238E27FC236}">
                <a16:creationId xmlns:a16="http://schemas.microsoft.com/office/drawing/2014/main" id="{1704E7EB-FAAE-1DE0-004F-2CB778AC44DA}"/>
              </a:ext>
            </a:extLst>
          </p:cNvPr>
          <p:cNvPicPr>
            <a:picLocks noChangeAspect="1" noChangeArrowheads="1"/>
          </p:cNvPicPr>
          <p:nvPr/>
        </p:nvPicPr>
        <p:blipFill>
          <a:blip r:embed="rId31" cstate="email">
            <a:extLst>
              <a:ext uri="{28A0092B-C50C-407E-A947-70E740481C1C}">
                <a14:useLocalDpi xmlns:a14="http://schemas.microsoft.com/office/drawing/2010/main"/>
              </a:ext>
            </a:extLst>
          </a:blip>
          <a:srcRect/>
          <a:stretch>
            <a:fillRect/>
          </a:stretch>
        </p:blipFill>
        <p:spPr bwMode="auto">
          <a:xfrm>
            <a:off x="12369533" y="8921076"/>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93" name="Picture 16" descr="Denmark icon">
            <a:extLst>
              <a:ext uri="{FF2B5EF4-FFF2-40B4-BE49-F238E27FC236}">
                <a16:creationId xmlns:a16="http://schemas.microsoft.com/office/drawing/2014/main" id="{ACCA2C25-0999-CEC7-74DE-417680A7A606}"/>
              </a:ext>
            </a:extLst>
          </p:cNvPr>
          <p:cNvPicPr>
            <a:picLocks noChangeAspect="1" noChangeArrowheads="1"/>
          </p:cNvPicPr>
          <p:nvPr/>
        </p:nvPicPr>
        <p:blipFill>
          <a:blip r:embed="rId28" cstate="email">
            <a:extLst>
              <a:ext uri="{28A0092B-C50C-407E-A947-70E740481C1C}">
                <a14:useLocalDpi xmlns:a14="http://schemas.microsoft.com/office/drawing/2010/main"/>
              </a:ext>
            </a:extLst>
          </a:blip>
          <a:srcRect/>
          <a:stretch>
            <a:fillRect/>
          </a:stretch>
        </p:blipFill>
        <p:spPr bwMode="auto">
          <a:xfrm>
            <a:off x="12369533" y="9297232"/>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94" name="Picture 14" descr="Sweden">
            <a:extLst>
              <a:ext uri="{FF2B5EF4-FFF2-40B4-BE49-F238E27FC236}">
                <a16:creationId xmlns:a16="http://schemas.microsoft.com/office/drawing/2014/main" id="{C80D32A3-3068-EB60-FB62-89CF281D75B5}"/>
              </a:ext>
            </a:extLst>
          </p:cNvPr>
          <p:cNvPicPr>
            <a:picLocks noChangeAspect="1" noChangeArrowheads="1"/>
          </p:cNvPicPr>
          <p:nvPr/>
        </p:nvPicPr>
        <p:blipFill>
          <a:blip r:embed="rId36" cstate="email">
            <a:extLst>
              <a:ext uri="{28A0092B-C50C-407E-A947-70E740481C1C}">
                <a14:useLocalDpi xmlns:a14="http://schemas.microsoft.com/office/drawing/2010/main"/>
              </a:ext>
            </a:extLst>
          </a:blip>
          <a:srcRect/>
          <a:stretch>
            <a:fillRect/>
          </a:stretch>
        </p:blipFill>
        <p:spPr bwMode="auto">
          <a:xfrm>
            <a:off x="12369533" y="9653460"/>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95" name="Picture 16" descr="Denmark icon">
            <a:extLst>
              <a:ext uri="{FF2B5EF4-FFF2-40B4-BE49-F238E27FC236}">
                <a16:creationId xmlns:a16="http://schemas.microsoft.com/office/drawing/2014/main" id="{7B6915CC-D31B-E095-81F8-14F92E41D693}"/>
              </a:ext>
            </a:extLst>
          </p:cNvPr>
          <p:cNvPicPr>
            <a:picLocks noChangeAspect="1" noChangeArrowheads="1"/>
          </p:cNvPicPr>
          <p:nvPr/>
        </p:nvPicPr>
        <p:blipFill>
          <a:blip r:embed="rId28" cstate="email">
            <a:extLst>
              <a:ext uri="{28A0092B-C50C-407E-A947-70E740481C1C}">
                <a14:useLocalDpi xmlns:a14="http://schemas.microsoft.com/office/drawing/2010/main"/>
              </a:ext>
            </a:extLst>
          </a:blip>
          <a:srcRect/>
          <a:stretch>
            <a:fillRect/>
          </a:stretch>
        </p:blipFill>
        <p:spPr bwMode="auto">
          <a:xfrm>
            <a:off x="16178601" y="9273937"/>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96" name="Picture 16" descr="United Kingdom">
            <a:extLst>
              <a:ext uri="{FF2B5EF4-FFF2-40B4-BE49-F238E27FC236}">
                <a16:creationId xmlns:a16="http://schemas.microsoft.com/office/drawing/2014/main" id="{E57F20C5-FA5D-B070-4F66-AA815EF534FC}"/>
              </a:ext>
            </a:extLst>
          </p:cNvPr>
          <p:cNvPicPr>
            <a:picLocks noChangeAspect="1" noChangeArrowheads="1"/>
          </p:cNvPicPr>
          <p:nvPr/>
        </p:nvPicPr>
        <p:blipFill>
          <a:blip r:embed="rId37" cstate="email">
            <a:extLst>
              <a:ext uri="{28A0092B-C50C-407E-A947-70E740481C1C}">
                <a14:useLocalDpi xmlns:a14="http://schemas.microsoft.com/office/drawing/2010/main"/>
              </a:ext>
            </a:extLst>
          </a:blip>
          <a:srcRect/>
          <a:stretch>
            <a:fillRect/>
          </a:stretch>
        </p:blipFill>
        <p:spPr bwMode="auto">
          <a:xfrm>
            <a:off x="16178601" y="8897781"/>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397" name="Picture 24" descr="Poland">
            <a:extLst>
              <a:ext uri="{FF2B5EF4-FFF2-40B4-BE49-F238E27FC236}">
                <a16:creationId xmlns:a16="http://schemas.microsoft.com/office/drawing/2014/main" id="{F68CAF4B-CBCD-1CAD-1580-00ADEF4CEBCE}"/>
              </a:ext>
            </a:extLst>
          </p:cNvPr>
          <p:cNvPicPr>
            <a:picLocks noChangeAspect="1" noChangeArrowheads="1"/>
          </p:cNvPicPr>
          <p:nvPr/>
        </p:nvPicPr>
        <p:blipFill>
          <a:blip r:embed="rId38" cstate="email">
            <a:extLst>
              <a:ext uri="{28A0092B-C50C-407E-A947-70E740481C1C}">
                <a14:useLocalDpi xmlns:a14="http://schemas.microsoft.com/office/drawing/2010/main"/>
              </a:ext>
            </a:extLst>
          </a:blip>
          <a:srcRect/>
          <a:stretch>
            <a:fillRect/>
          </a:stretch>
        </p:blipFill>
        <p:spPr bwMode="auto">
          <a:xfrm>
            <a:off x="14416581" y="8895259"/>
            <a:ext cx="216865" cy="216865"/>
          </a:xfrm>
          <a:prstGeom prst="rect">
            <a:avLst/>
          </a:prstGeom>
          <a:noFill/>
          <a:extLst>
            <a:ext uri="{909E8E84-426E-40DD-AFC4-6F175D3DCCD1}">
              <a14:hiddenFill xmlns:a14="http://schemas.microsoft.com/office/drawing/2010/main">
                <a:solidFill>
                  <a:srgbClr val="FFFFFF"/>
                </a:solidFill>
              </a14:hiddenFill>
            </a:ext>
          </a:extLst>
        </p:spPr>
      </p:pic>
      <p:grpSp>
        <p:nvGrpSpPr>
          <p:cNvPr id="398" name="Group 397">
            <a:extLst>
              <a:ext uri="{FF2B5EF4-FFF2-40B4-BE49-F238E27FC236}">
                <a16:creationId xmlns:a16="http://schemas.microsoft.com/office/drawing/2014/main" id="{872AECA1-9EB4-7CE0-4DF6-F406807D4C4E}"/>
              </a:ext>
            </a:extLst>
          </p:cNvPr>
          <p:cNvGrpSpPr/>
          <p:nvPr/>
        </p:nvGrpSpPr>
        <p:grpSpPr>
          <a:xfrm>
            <a:off x="14331606" y="9210599"/>
            <a:ext cx="386815" cy="302226"/>
            <a:chOff x="318472" y="1505683"/>
            <a:chExt cx="256848" cy="200680"/>
          </a:xfrm>
        </p:grpSpPr>
        <p:pic>
          <p:nvPicPr>
            <p:cNvPr id="399" name="Picture 26" descr="Norway">
              <a:extLst>
                <a:ext uri="{FF2B5EF4-FFF2-40B4-BE49-F238E27FC236}">
                  <a16:creationId xmlns:a16="http://schemas.microsoft.com/office/drawing/2014/main" id="{5AD07FF2-77FC-D065-FE8E-0B7E0E6AC481}"/>
                </a:ext>
              </a:extLst>
            </p:cNvPr>
            <p:cNvPicPr>
              <a:picLocks noChangeAspect="1" noChangeArrowheads="1"/>
            </p:cNvPicPr>
            <p:nvPr/>
          </p:nvPicPr>
          <p:blipFill>
            <a:blip r:embed="rId39" cstate="email">
              <a:extLst>
                <a:ext uri="{28A0092B-C50C-407E-A947-70E740481C1C}">
                  <a14:useLocalDpi xmlns:a14="http://schemas.microsoft.com/office/drawing/2010/main"/>
                </a:ext>
              </a:extLst>
            </a:blip>
            <a:srcRect/>
            <a:stretch>
              <a:fillRect/>
            </a:stretch>
          </p:blipFill>
          <p:spPr bwMode="auto">
            <a:xfrm>
              <a:off x="318472" y="1549172"/>
              <a:ext cx="108000" cy="108000"/>
            </a:xfrm>
            <a:prstGeom prst="rect">
              <a:avLst/>
            </a:prstGeom>
            <a:noFill/>
            <a:extLst>
              <a:ext uri="{909E8E84-426E-40DD-AFC4-6F175D3DCCD1}">
                <a14:hiddenFill xmlns:a14="http://schemas.microsoft.com/office/drawing/2010/main">
                  <a:solidFill>
                    <a:srgbClr val="FFFFFF"/>
                  </a:solidFill>
                </a14:hiddenFill>
              </a:ext>
            </a:extLst>
          </p:spPr>
        </p:pic>
        <p:pic>
          <p:nvPicPr>
            <p:cNvPr id="400" name="Picture 18" descr="Finland icon">
              <a:extLst>
                <a:ext uri="{FF2B5EF4-FFF2-40B4-BE49-F238E27FC236}">
                  <a16:creationId xmlns:a16="http://schemas.microsoft.com/office/drawing/2014/main" id="{86583F11-02F1-C039-02FB-87537C13D08C}"/>
                </a:ext>
              </a:extLst>
            </p:cNvPr>
            <p:cNvPicPr>
              <a:picLocks noChangeAspect="1" noChangeArrowheads="1"/>
            </p:cNvPicPr>
            <p:nvPr/>
          </p:nvPicPr>
          <p:blipFill>
            <a:blip r:embed="rId40" cstate="email">
              <a:extLst>
                <a:ext uri="{28A0092B-C50C-407E-A947-70E740481C1C}">
                  <a14:useLocalDpi xmlns:a14="http://schemas.microsoft.com/office/drawing/2010/main"/>
                </a:ext>
              </a:extLst>
            </a:blip>
            <a:srcRect/>
            <a:stretch>
              <a:fillRect/>
            </a:stretch>
          </p:blipFill>
          <p:spPr bwMode="auto">
            <a:xfrm>
              <a:off x="392896" y="1505683"/>
              <a:ext cx="108000" cy="108000"/>
            </a:xfrm>
            <a:prstGeom prst="rect">
              <a:avLst/>
            </a:prstGeom>
            <a:noFill/>
            <a:extLst>
              <a:ext uri="{909E8E84-426E-40DD-AFC4-6F175D3DCCD1}">
                <a14:hiddenFill xmlns:a14="http://schemas.microsoft.com/office/drawing/2010/main">
                  <a:solidFill>
                    <a:srgbClr val="FFFFFF"/>
                  </a:solidFill>
                </a14:hiddenFill>
              </a:ext>
            </a:extLst>
          </p:spPr>
        </p:pic>
        <p:pic>
          <p:nvPicPr>
            <p:cNvPr id="401" name="Picture 16" descr="Denmark icon">
              <a:extLst>
                <a:ext uri="{FF2B5EF4-FFF2-40B4-BE49-F238E27FC236}">
                  <a16:creationId xmlns:a16="http://schemas.microsoft.com/office/drawing/2014/main" id="{0D0C34CB-AD45-A737-1E4E-B3D837ACF229}"/>
                </a:ext>
              </a:extLst>
            </p:cNvPr>
            <p:cNvPicPr>
              <a:picLocks noChangeAspect="1" noChangeArrowheads="1"/>
            </p:cNvPicPr>
            <p:nvPr/>
          </p:nvPicPr>
          <p:blipFill>
            <a:blip r:embed="rId41" cstate="email">
              <a:extLst>
                <a:ext uri="{28A0092B-C50C-407E-A947-70E740481C1C}">
                  <a14:useLocalDpi xmlns:a14="http://schemas.microsoft.com/office/drawing/2010/main"/>
                </a:ext>
              </a:extLst>
            </a:blip>
            <a:srcRect/>
            <a:stretch>
              <a:fillRect/>
            </a:stretch>
          </p:blipFill>
          <p:spPr bwMode="auto">
            <a:xfrm>
              <a:off x="467320" y="1552057"/>
              <a:ext cx="108000" cy="108000"/>
            </a:xfrm>
            <a:prstGeom prst="rect">
              <a:avLst/>
            </a:prstGeom>
            <a:noFill/>
            <a:extLst>
              <a:ext uri="{909E8E84-426E-40DD-AFC4-6F175D3DCCD1}">
                <a14:hiddenFill xmlns:a14="http://schemas.microsoft.com/office/drawing/2010/main">
                  <a:solidFill>
                    <a:srgbClr val="FFFFFF"/>
                  </a:solidFill>
                </a14:hiddenFill>
              </a:ext>
            </a:extLst>
          </p:spPr>
        </p:pic>
        <p:pic>
          <p:nvPicPr>
            <p:cNvPr id="402" name="Picture 14" descr="Sweden">
              <a:extLst>
                <a:ext uri="{FF2B5EF4-FFF2-40B4-BE49-F238E27FC236}">
                  <a16:creationId xmlns:a16="http://schemas.microsoft.com/office/drawing/2014/main" id="{76B28CF8-9360-8671-0B55-7FFB25730222}"/>
                </a:ext>
              </a:extLst>
            </p:cNvPr>
            <p:cNvPicPr>
              <a:picLocks noChangeAspect="1" noChangeArrowheads="1"/>
            </p:cNvPicPr>
            <p:nvPr/>
          </p:nvPicPr>
          <p:blipFill>
            <a:blip r:embed="rId42" cstate="email">
              <a:extLst>
                <a:ext uri="{28A0092B-C50C-407E-A947-70E740481C1C}">
                  <a14:useLocalDpi xmlns:a14="http://schemas.microsoft.com/office/drawing/2010/main"/>
                </a:ext>
              </a:extLst>
            </a:blip>
            <a:srcRect/>
            <a:stretch>
              <a:fillRect/>
            </a:stretch>
          </p:blipFill>
          <p:spPr bwMode="auto">
            <a:xfrm>
              <a:off x="392896" y="1598363"/>
              <a:ext cx="108000" cy="108000"/>
            </a:xfrm>
            <a:prstGeom prst="rect">
              <a:avLst/>
            </a:prstGeom>
            <a:noFill/>
            <a:extLst>
              <a:ext uri="{909E8E84-426E-40DD-AFC4-6F175D3DCCD1}">
                <a14:hiddenFill xmlns:a14="http://schemas.microsoft.com/office/drawing/2010/main">
                  <a:solidFill>
                    <a:srgbClr val="FFFFFF"/>
                  </a:solidFill>
                </a14:hiddenFill>
              </a:ext>
            </a:extLst>
          </p:spPr>
        </p:pic>
      </p:grpSp>
      <p:pic>
        <p:nvPicPr>
          <p:cNvPr id="403" name="Picture 30" descr="Spain">
            <a:extLst>
              <a:ext uri="{FF2B5EF4-FFF2-40B4-BE49-F238E27FC236}">
                <a16:creationId xmlns:a16="http://schemas.microsoft.com/office/drawing/2014/main" id="{FE2892CB-E9E5-F3D8-42E4-D2A49AAE86E9}"/>
              </a:ext>
            </a:extLst>
          </p:cNvPr>
          <p:cNvPicPr>
            <a:picLocks noChangeAspect="1" noChangeArrowheads="1"/>
          </p:cNvPicPr>
          <p:nvPr/>
        </p:nvPicPr>
        <p:blipFill>
          <a:blip r:embed="rId43" cstate="email">
            <a:extLst>
              <a:ext uri="{28A0092B-C50C-407E-A947-70E740481C1C}">
                <a14:useLocalDpi xmlns:a14="http://schemas.microsoft.com/office/drawing/2010/main"/>
              </a:ext>
            </a:extLst>
          </a:blip>
          <a:srcRect/>
          <a:stretch>
            <a:fillRect/>
          </a:stretch>
        </p:blipFill>
        <p:spPr bwMode="auto">
          <a:xfrm>
            <a:off x="14316828" y="9627643"/>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404" name="Picture 20" descr="Portugal">
            <a:extLst>
              <a:ext uri="{FF2B5EF4-FFF2-40B4-BE49-F238E27FC236}">
                <a16:creationId xmlns:a16="http://schemas.microsoft.com/office/drawing/2014/main" id="{5FE5F503-2D25-A581-9623-B01242377D12}"/>
              </a:ext>
            </a:extLst>
          </p:cNvPr>
          <p:cNvPicPr>
            <a:picLocks noChangeAspect="1" noChangeArrowheads="1"/>
          </p:cNvPicPr>
          <p:nvPr/>
        </p:nvPicPr>
        <p:blipFill>
          <a:blip r:embed="rId29" cstate="email">
            <a:extLst>
              <a:ext uri="{28A0092B-C50C-407E-A947-70E740481C1C}">
                <a14:useLocalDpi xmlns:a14="http://schemas.microsoft.com/office/drawing/2010/main"/>
              </a:ext>
            </a:extLst>
          </a:blip>
          <a:srcRect/>
          <a:stretch>
            <a:fillRect/>
          </a:stretch>
        </p:blipFill>
        <p:spPr bwMode="auto">
          <a:xfrm>
            <a:off x="14599460" y="9627643"/>
            <a:ext cx="216865" cy="216865"/>
          </a:xfrm>
          <a:prstGeom prst="rect">
            <a:avLst/>
          </a:prstGeom>
          <a:noFill/>
          <a:extLst>
            <a:ext uri="{909E8E84-426E-40DD-AFC4-6F175D3DCCD1}">
              <a14:hiddenFill xmlns:a14="http://schemas.microsoft.com/office/drawing/2010/main">
                <a:solidFill>
                  <a:srgbClr val="FFFFFF"/>
                </a:solidFill>
              </a14:hiddenFill>
            </a:ext>
          </a:extLst>
        </p:spPr>
      </p:pic>
      <p:grpSp>
        <p:nvGrpSpPr>
          <p:cNvPr id="405" name="Group 404">
            <a:extLst>
              <a:ext uri="{FF2B5EF4-FFF2-40B4-BE49-F238E27FC236}">
                <a16:creationId xmlns:a16="http://schemas.microsoft.com/office/drawing/2014/main" id="{4DC6F8B1-E58B-9A30-D228-6CBAB5EF23BD}"/>
              </a:ext>
            </a:extLst>
          </p:cNvPr>
          <p:cNvGrpSpPr/>
          <p:nvPr/>
        </p:nvGrpSpPr>
        <p:grpSpPr>
          <a:xfrm>
            <a:off x="14346954" y="10288555"/>
            <a:ext cx="356119" cy="354435"/>
            <a:chOff x="167235" y="1391288"/>
            <a:chExt cx="236466" cy="235348"/>
          </a:xfrm>
        </p:grpSpPr>
        <p:pic>
          <p:nvPicPr>
            <p:cNvPr id="406" name="Picture 28" descr="Morocco">
              <a:extLst>
                <a:ext uri="{FF2B5EF4-FFF2-40B4-BE49-F238E27FC236}">
                  <a16:creationId xmlns:a16="http://schemas.microsoft.com/office/drawing/2014/main" id="{C51C87CE-B87E-5242-90FE-D5D812BCBB76}"/>
                </a:ext>
              </a:extLst>
            </p:cNvPr>
            <p:cNvPicPr>
              <a:picLocks noChangeAspect="1" noChangeArrowheads="1"/>
            </p:cNvPicPr>
            <p:nvPr/>
          </p:nvPicPr>
          <p:blipFill>
            <a:blip r:embed="rId44" cstate="email">
              <a:extLst>
                <a:ext uri="{28A0092B-C50C-407E-A947-70E740481C1C}">
                  <a14:useLocalDpi xmlns:a14="http://schemas.microsoft.com/office/drawing/2010/main"/>
                </a:ext>
              </a:extLst>
            </a:blip>
            <a:srcRect/>
            <a:stretch>
              <a:fillRect/>
            </a:stretch>
          </p:blipFill>
          <p:spPr bwMode="auto">
            <a:xfrm>
              <a:off x="231468" y="1391288"/>
              <a:ext cx="108000" cy="108000"/>
            </a:xfrm>
            <a:prstGeom prst="rect">
              <a:avLst/>
            </a:prstGeom>
            <a:noFill/>
            <a:extLst>
              <a:ext uri="{909E8E84-426E-40DD-AFC4-6F175D3DCCD1}">
                <a14:hiddenFill xmlns:a14="http://schemas.microsoft.com/office/drawing/2010/main">
                  <a:solidFill>
                    <a:srgbClr val="FFFFFF"/>
                  </a:solidFill>
                </a14:hiddenFill>
              </a:ext>
            </a:extLst>
          </p:spPr>
        </p:pic>
        <p:pic>
          <p:nvPicPr>
            <p:cNvPr id="407" name="Picture 34" descr="Angola">
              <a:extLst>
                <a:ext uri="{FF2B5EF4-FFF2-40B4-BE49-F238E27FC236}">
                  <a16:creationId xmlns:a16="http://schemas.microsoft.com/office/drawing/2014/main" id="{7DD34220-CD51-B78E-589F-1290233CD374}"/>
                </a:ext>
              </a:extLst>
            </p:cNvPr>
            <p:cNvPicPr>
              <a:picLocks noChangeAspect="1" noChangeArrowheads="1"/>
            </p:cNvPicPr>
            <p:nvPr/>
          </p:nvPicPr>
          <p:blipFill>
            <a:blip r:embed="rId45" cstate="email">
              <a:extLst>
                <a:ext uri="{28A0092B-C50C-407E-A947-70E740481C1C}">
                  <a14:useLocalDpi xmlns:a14="http://schemas.microsoft.com/office/drawing/2010/main"/>
                </a:ext>
              </a:extLst>
            </a:blip>
            <a:srcRect/>
            <a:stretch>
              <a:fillRect/>
            </a:stretch>
          </p:blipFill>
          <p:spPr bwMode="auto">
            <a:xfrm>
              <a:off x="295701" y="1462312"/>
              <a:ext cx="108000" cy="108000"/>
            </a:xfrm>
            <a:prstGeom prst="rect">
              <a:avLst/>
            </a:prstGeom>
            <a:noFill/>
            <a:extLst>
              <a:ext uri="{909E8E84-426E-40DD-AFC4-6F175D3DCCD1}">
                <a14:hiddenFill xmlns:a14="http://schemas.microsoft.com/office/drawing/2010/main">
                  <a:solidFill>
                    <a:srgbClr val="FFFFFF"/>
                  </a:solidFill>
                </a14:hiddenFill>
              </a:ext>
            </a:extLst>
          </p:spPr>
        </p:pic>
        <p:pic>
          <p:nvPicPr>
            <p:cNvPr id="408" name="Picture 36" descr="Mozambique">
              <a:extLst>
                <a:ext uri="{FF2B5EF4-FFF2-40B4-BE49-F238E27FC236}">
                  <a16:creationId xmlns:a16="http://schemas.microsoft.com/office/drawing/2014/main" id="{FA2BDAEE-05B7-5436-98CC-45AF8A1E37F4}"/>
                </a:ext>
              </a:extLst>
            </p:cNvPr>
            <p:cNvPicPr>
              <a:picLocks noChangeAspect="1" noChangeArrowheads="1"/>
            </p:cNvPicPr>
            <p:nvPr/>
          </p:nvPicPr>
          <p:blipFill>
            <a:blip r:embed="rId46" cstate="email">
              <a:extLst>
                <a:ext uri="{28A0092B-C50C-407E-A947-70E740481C1C}">
                  <a14:useLocalDpi xmlns:a14="http://schemas.microsoft.com/office/drawing/2010/main"/>
                </a:ext>
              </a:extLst>
            </a:blip>
            <a:srcRect/>
            <a:stretch>
              <a:fillRect/>
            </a:stretch>
          </p:blipFill>
          <p:spPr bwMode="auto">
            <a:xfrm>
              <a:off x="167235" y="1462312"/>
              <a:ext cx="108000" cy="108000"/>
            </a:xfrm>
            <a:prstGeom prst="rect">
              <a:avLst/>
            </a:prstGeom>
            <a:noFill/>
            <a:extLst>
              <a:ext uri="{909E8E84-426E-40DD-AFC4-6F175D3DCCD1}">
                <a14:hiddenFill xmlns:a14="http://schemas.microsoft.com/office/drawing/2010/main">
                  <a:solidFill>
                    <a:srgbClr val="FFFFFF"/>
                  </a:solidFill>
                </a14:hiddenFill>
              </a:ext>
            </a:extLst>
          </p:spPr>
        </p:pic>
        <p:pic>
          <p:nvPicPr>
            <p:cNvPr id="409" name="Picture 40" descr="Equatorial Guinea">
              <a:extLst>
                <a:ext uri="{FF2B5EF4-FFF2-40B4-BE49-F238E27FC236}">
                  <a16:creationId xmlns:a16="http://schemas.microsoft.com/office/drawing/2014/main" id="{535AC0DB-429A-25D8-3F81-4ACCCACD7002}"/>
                </a:ext>
              </a:extLst>
            </p:cNvPr>
            <p:cNvPicPr>
              <a:picLocks noChangeAspect="1" noChangeArrowheads="1"/>
            </p:cNvPicPr>
            <p:nvPr/>
          </p:nvPicPr>
          <p:blipFill>
            <a:blip r:embed="rId47" cstate="email">
              <a:extLst>
                <a:ext uri="{28A0092B-C50C-407E-A947-70E740481C1C}">
                  <a14:useLocalDpi xmlns:a14="http://schemas.microsoft.com/office/drawing/2010/main"/>
                </a:ext>
              </a:extLst>
            </a:blip>
            <a:srcRect/>
            <a:stretch>
              <a:fillRect/>
            </a:stretch>
          </p:blipFill>
          <p:spPr bwMode="auto">
            <a:xfrm>
              <a:off x="231468" y="1518636"/>
              <a:ext cx="108000" cy="1080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10" name="Group 409">
            <a:extLst>
              <a:ext uri="{FF2B5EF4-FFF2-40B4-BE49-F238E27FC236}">
                <a16:creationId xmlns:a16="http://schemas.microsoft.com/office/drawing/2014/main" id="{7BD45332-DC63-2E54-33EC-B493D483D24F}"/>
              </a:ext>
            </a:extLst>
          </p:cNvPr>
          <p:cNvGrpSpPr/>
          <p:nvPr/>
        </p:nvGrpSpPr>
        <p:grpSpPr>
          <a:xfrm>
            <a:off x="14329428" y="9987807"/>
            <a:ext cx="391170" cy="162649"/>
            <a:chOff x="678716" y="1572686"/>
            <a:chExt cx="259740" cy="108000"/>
          </a:xfrm>
        </p:grpSpPr>
        <p:pic>
          <p:nvPicPr>
            <p:cNvPr id="411" name="Picture 32" descr="Qatar">
              <a:extLst>
                <a:ext uri="{FF2B5EF4-FFF2-40B4-BE49-F238E27FC236}">
                  <a16:creationId xmlns:a16="http://schemas.microsoft.com/office/drawing/2014/main" id="{9DBDA9F7-B8C7-87E4-E3D8-B315AD3A5E7F}"/>
                </a:ext>
              </a:extLst>
            </p:cNvPr>
            <p:cNvPicPr>
              <a:picLocks noChangeAspect="1" noChangeArrowheads="1"/>
            </p:cNvPicPr>
            <p:nvPr/>
          </p:nvPicPr>
          <p:blipFill>
            <a:blip r:embed="rId48" cstate="email">
              <a:extLst>
                <a:ext uri="{28A0092B-C50C-407E-A947-70E740481C1C}">
                  <a14:useLocalDpi xmlns:a14="http://schemas.microsoft.com/office/drawing/2010/main"/>
                </a:ext>
              </a:extLst>
            </a:blip>
            <a:srcRect/>
            <a:stretch>
              <a:fillRect/>
            </a:stretch>
          </p:blipFill>
          <p:spPr bwMode="auto">
            <a:xfrm>
              <a:off x="678716" y="1572686"/>
              <a:ext cx="108000" cy="108000"/>
            </a:xfrm>
            <a:prstGeom prst="rect">
              <a:avLst/>
            </a:prstGeom>
            <a:noFill/>
            <a:extLst>
              <a:ext uri="{909E8E84-426E-40DD-AFC4-6F175D3DCCD1}">
                <a14:hiddenFill xmlns:a14="http://schemas.microsoft.com/office/drawing/2010/main">
                  <a:solidFill>
                    <a:srgbClr val="FFFFFF"/>
                  </a:solidFill>
                </a14:hiddenFill>
              </a:ext>
            </a:extLst>
          </p:spPr>
        </p:pic>
        <p:pic>
          <p:nvPicPr>
            <p:cNvPr id="412" name="Picture 38" descr="United Arab Emirates">
              <a:extLst>
                <a:ext uri="{FF2B5EF4-FFF2-40B4-BE49-F238E27FC236}">
                  <a16:creationId xmlns:a16="http://schemas.microsoft.com/office/drawing/2014/main" id="{00DC89F6-1E05-D52B-3EAB-88F0878AE336}"/>
                </a:ext>
              </a:extLst>
            </p:cNvPr>
            <p:cNvPicPr>
              <a:picLocks noChangeAspect="1" noChangeArrowheads="1"/>
            </p:cNvPicPr>
            <p:nvPr/>
          </p:nvPicPr>
          <p:blipFill>
            <a:blip r:embed="rId49" cstate="email">
              <a:extLst>
                <a:ext uri="{28A0092B-C50C-407E-A947-70E740481C1C}">
                  <a14:useLocalDpi xmlns:a14="http://schemas.microsoft.com/office/drawing/2010/main"/>
                </a:ext>
              </a:extLst>
            </a:blip>
            <a:srcRect/>
            <a:stretch>
              <a:fillRect/>
            </a:stretch>
          </p:blipFill>
          <p:spPr bwMode="auto">
            <a:xfrm>
              <a:off x="830456" y="1572686"/>
              <a:ext cx="108000" cy="108000"/>
            </a:xfrm>
            <a:prstGeom prst="rect">
              <a:avLst/>
            </a:prstGeom>
            <a:noFill/>
            <a:extLst>
              <a:ext uri="{909E8E84-426E-40DD-AFC4-6F175D3DCCD1}">
                <a14:hiddenFill xmlns:a14="http://schemas.microsoft.com/office/drawing/2010/main">
                  <a:solidFill>
                    <a:srgbClr val="FFFFFF"/>
                  </a:solidFill>
                </a14:hiddenFill>
              </a:ext>
            </a:extLst>
          </p:spPr>
        </p:pic>
        <p:pic>
          <p:nvPicPr>
            <p:cNvPr id="413" name="Picture 42" descr="Saudi Arabia">
              <a:extLst>
                <a:ext uri="{FF2B5EF4-FFF2-40B4-BE49-F238E27FC236}">
                  <a16:creationId xmlns:a16="http://schemas.microsoft.com/office/drawing/2014/main" id="{91BD1A34-915F-584D-D818-D91D5F45467B}"/>
                </a:ext>
              </a:extLst>
            </p:cNvPr>
            <p:cNvPicPr>
              <a:picLocks noChangeAspect="1" noChangeArrowheads="1"/>
            </p:cNvPicPr>
            <p:nvPr/>
          </p:nvPicPr>
          <p:blipFill>
            <a:blip r:embed="rId50" cstate="email">
              <a:extLst>
                <a:ext uri="{28A0092B-C50C-407E-A947-70E740481C1C}">
                  <a14:useLocalDpi xmlns:a14="http://schemas.microsoft.com/office/drawing/2010/main"/>
                </a:ext>
              </a:extLst>
            </a:blip>
            <a:srcRect/>
            <a:stretch>
              <a:fillRect/>
            </a:stretch>
          </p:blipFill>
          <p:spPr bwMode="auto">
            <a:xfrm>
              <a:off x="754586" y="1572686"/>
              <a:ext cx="108000" cy="108000"/>
            </a:xfrm>
            <a:prstGeom prst="rect">
              <a:avLst/>
            </a:prstGeom>
            <a:noFill/>
            <a:extLst>
              <a:ext uri="{909E8E84-426E-40DD-AFC4-6F175D3DCCD1}">
                <a14:hiddenFill xmlns:a14="http://schemas.microsoft.com/office/drawing/2010/main">
                  <a:solidFill>
                    <a:srgbClr val="FFFFFF"/>
                  </a:solidFill>
                </a14:hiddenFill>
              </a:ext>
            </a:extLst>
          </p:spPr>
        </p:pic>
      </p:grpSp>
      <p:pic>
        <p:nvPicPr>
          <p:cNvPr id="414" name="Picture 2" descr="United Kingdom">
            <a:extLst>
              <a:ext uri="{FF2B5EF4-FFF2-40B4-BE49-F238E27FC236}">
                <a16:creationId xmlns:a16="http://schemas.microsoft.com/office/drawing/2014/main" id="{F60FD210-81F7-BF99-3E86-48E44898BD49}"/>
              </a:ext>
            </a:extLst>
          </p:cNvPr>
          <p:cNvPicPr>
            <a:picLocks noChangeAspect="1" noChangeArrowheads="1"/>
          </p:cNvPicPr>
          <p:nvPr/>
        </p:nvPicPr>
        <p:blipFill>
          <a:blip r:embed="rId37" cstate="email">
            <a:extLst>
              <a:ext uri="{28A0092B-C50C-407E-A947-70E740481C1C}">
                <a14:useLocalDpi xmlns:a14="http://schemas.microsoft.com/office/drawing/2010/main"/>
              </a:ext>
            </a:extLst>
          </a:blip>
          <a:srcRect/>
          <a:stretch>
            <a:fillRect/>
          </a:stretch>
        </p:blipFill>
        <p:spPr bwMode="auto">
          <a:xfrm>
            <a:off x="4622703" y="9657873"/>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415" name="Picture 4" descr="France">
            <a:extLst>
              <a:ext uri="{FF2B5EF4-FFF2-40B4-BE49-F238E27FC236}">
                <a16:creationId xmlns:a16="http://schemas.microsoft.com/office/drawing/2014/main" id="{852F9A63-BB98-20B1-B79F-95DE3485FD24}"/>
              </a:ext>
            </a:extLst>
          </p:cNvPr>
          <p:cNvPicPr>
            <a:picLocks noChangeAspect="1" noChangeArrowheads="1"/>
          </p:cNvPicPr>
          <p:nvPr/>
        </p:nvPicPr>
        <p:blipFill>
          <a:blip r:embed="rId51" cstate="email">
            <a:extLst>
              <a:ext uri="{28A0092B-C50C-407E-A947-70E740481C1C}">
                <a14:useLocalDpi xmlns:a14="http://schemas.microsoft.com/office/drawing/2010/main"/>
              </a:ext>
            </a:extLst>
          </a:blip>
          <a:srcRect/>
          <a:stretch>
            <a:fillRect/>
          </a:stretch>
        </p:blipFill>
        <p:spPr bwMode="auto">
          <a:xfrm>
            <a:off x="4622703" y="8897781"/>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416" name="Picture 6" descr="Germany">
            <a:extLst>
              <a:ext uri="{FF2B5EF4-FFF2-40B4-BE49-F238E27FC236}">
                <a16:creationId xmlns:a16="http://schemas.microsoft.com/office/drawing/2014/main" id="{A519EF6A-B249-2490-EB9A-C38A966D8A5B}"/>
              </a:ext>
            </a:extLst>
          </p:cNvPr>
          <p:cNvPicPr>
            <a:picLocks noChangeAspect="1" noChangeArrowheads="1"/>
          </p:cNvPicPr>
          <p:nvPr/>
        </p:nvPicPr>
        <p:blipFill>
          <a:blip r:embed="rId52" cstate="email">
            <a:extLst>
              <a:ext uri="{28A0092B-C50C-407E-A947-70E740481C1C}">
                <a14:useLocalDpi xmlns:a14="http://schemas.microsoft.com/office/drawing/2010/main"/>
              </a:ext>
            </a:extLst>
          </a:blip>
          <a:srcRect/>
          <a:stretch>
            <a:fillRect/>
          </a:stretch>
        </p:blipFill>
        <p:spPr bwMode="auto">
          <a:xfrm>
            <a:off x="4622703" y="9273937"/>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417" name="Picture 26" descr="Ireland">
            <a:extLst>
              <a:ext uri="{FF2B5EF4-FFF2-40B4-BE49-F238E27FC236}">
                <a16:creationId xmlns:a16="http://schemas.microsoft.com/office/drawing/2014/main" id="{BD116942-62A5-9DA5-8227-176C784B3C88}"/>
              </a:ext>
            </a:extLst>
          </p:cNvPr>
          <p:cNvPicPr>
            <a:picLocks noChangeAspect="1" noChangeArrowheads="1"/>
          </p:cNvPicPr>
          <p:nvPr/>
        </p:nvPicPr>
        <p:blipFill>
          <a:blip r:embed="rId31" cstate="email">
            <a:extLst>
              <a:ext uri="{28A0092B-C50C-407E-A947-70E740481C1C}">
                <a14:useLocalDpi xmlns:a14="http://schemas.microsoft.com/office/drawing/2010/main"/>
              </a:ext>
            </a:extLst>
          </a:blip>
          <a:srcRect/>
          <a:stretch>
            <a:fillRect/>
          </a:stretch>
        </p:blipFill>
        <p:spPr bwMode="auto">
          <a:xfrm>
            <a:off x="4622703" y="10023337"/>
            <a:ext cx="216865" cy="216865"/>
          </a:xfrm>
          <a:prstGeom prst="rect">
            <a:avLst/>
          </a:prstGeom>
          <a:noFill/>
          <a:extLst>
            <a:ext uri="{909E8E84-426E-40DD-AFC4-6F175D3DCCD1}">
              <a14:hiddenFill xmlns:a14="http://schemas.microsoft.com/office/drawing/2010/main">
                <a:solidFill>
                  <a:srgbClr val="FFFFFF"/>
                </a:solidFill>
              </a14:hiddenFill>
            </a:ext>
          </a:extLst>
        </p:spPr>
      </p:pic>
      <p:pic>
        <p:nvPicPr>
          <p:cNvPr id="418" name="Picture 22" descr="Netherlands">
            <a:extLst>
              <a:ext uri="{FF2B5EF4-FFF2-40B4-BE49-F238E27FC236}">
                <a16:creationId xmlns:a16="http://schemas.microsoft.com/office/drawing/2014/main" id="{04EB9707-8C7C-00BD-EB92-A12B19B80FD6}"/>
              </a:ext>
            </a:extLst>
          </p:cNvPr>
          <p:cNvPicPr>
            <a:picLocks noChangeAspect="1" noChangeArrowheads="1"/>
          </p:cNvPicPr>
          <p:nvPr/>
        </p:nvPicPr>
        <p:blipFill>
          <a:blip r:embed="rId33" cstate="email">
            <a:extLst>
              <a:ext uri="{28A0092B-C50C-407E-A947-70E740481C1C}">
                <a14:useLocalDpi xmlns:a14="http://schemas.microsoft.com/office/drawing/2010/main"/>
              </a:ext>
            </a:extLst>
          </a:blip>
          <a:srcRect/>
          <a:stretch>
            <a:fillRect/>
          </a:stretch>
        </p:blipFill>
        <p:spPr bwMode="auto">
          <a:xfrm>
            <a:off x="4622703" y="10407273"/>
            <a:ext cx="216865" cy="216865"/>
          </a:xfrm>
          <a:prstGeom prst="rect">
            <a:avLst/>
          </a:prstGeom>
          <a:noFill/>
          <a:extLst>
            <a:ext uri="{909E8E84-426E-40DD-AFC4-6F175D3DCCD1}">
              <a14:hiddenFill xmlns:a14="http://schemas.microsoft.com/office/drawing/2010/main">
                <a:solidFill>
                  <a:srgbClr val="FFFFFF"/>
                </a:solidFill>
              </a14:hiddenFill>
            </a:ext>
          </a:extLst>
        </p:spPr>
      </p:pic>
      <p:sp>
        <p:nvSpPr>
          <p:cNvPr id="420" name="TextBox 419">
            <a:extLst>
              <a:ext uri="{FF2B5EF4-FFF2-40B4-BE49-F238E27FC236}">
                <a16:creationId xmlns:a16="http://schemas.microsoft.com/office/drawing/2014/main" id="{9731E8EA-2859-FC9D-D36C-381543958B6C}"/>
              </a:ext>
            </a:extLst>
          </p:cNvPr>
          <p:cNvSpPr txBox="1"/>
          <p:nvPr/>
        </p:nvSpPr>
        <p:spPr>
          <a:xfrm>
            <a:off x="3497180" y="12252236"/>
            <a:ext cx="17109808" cy="400110"/>
          </a:xfrm>
          <a:prstGeom prst="rect">
            <a:avLst/>
          </a:prstGeom>
          <a:noFill/>
        </p:spPr>
        <p:txBody>
          <a:bodyPr wrap="square">
            <a:spAutoFit/>
          </a:bodyPr>
          <a:lstStyle/>
          <a:p>
            <a:r>
              <a:rPr lang="en-US" sz="2000" dirty="0">
                <a:solidFill>
                  <a:schemeClr val="bg1">
                    <a:lumMod val="65000"/>
                  </a:schemeClr>
                </a:solidFill>
                <a:latin typeface="Figtree Medium" pitchFamily="2" charset="0"/>
              </a:rPr>
              <a:t>SC’s technical teams have a proven track record of building world-class and mission critical facilities throughout the globe.</a:t>
            </a:r>
          </a:p>
        </p:txBody>
      </p:sp>
      <p:pic>
        <p:nvPicPr>
          <p:cNvPr id="2" name="Picture 1">
            <a:extLst>
              <a:ext uri="{FF2B5EF4-FFF2-40B4-BE49-F238E27FC236}">
                <a16:creationId xmlns:a16="http://schemas.microsoft.com/office/drawing/2014/main" id="{32858AD5-5514-F92E-B454-BD9572778566}"/>
              </a:ext>
            </a:extLst>
          </p:cNvPr>
          <p:cNvPicPr>
            <a:picLocks noChangeAspect="1"/>
          </p:cNvPicPr>
          <p:nvPr/>
        </p:nvPicPr>
        <p:blipFill>
          <a:blip r:embed="rId53" cstate="email">
            <a:extLst>
              <a:ext uri="{28A0092B-C50C-407E-A947-70E740481C1C}">
                <a14:useLocalDpi xmlns:a14="http://schemas.microsoft.com/office/drawing/2010/main"/>
              </a:ext>
            </a:extLst>
          </a:blip>
          <a:stretch>
            <a:fillRect/>
          </a:stretch>
        </p:blipFill>
        <p:spPr>
          <a:xfrm>
            <a:off x="19399058" y="7860542"/>
            <a:ext cx="693152" cy="460161"/>
          </a:xfrm>
          <a:prstGeom prst="rect">
            <a:avLst/>
          </a:prstGeom>
        </p:spPr>
      </p:pic>
    </p:spTree>
    <p:extLst>
      <p:ext uri="{BB962C8B-B14F-4D97-AF65-F5344CB8AC3E}">
        <p14:creationId xmlns:p14="http://schemas.microsoft.com/office/powerpoint/2010/main" val="10728330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C3B6-E100-7783-ECEC-FD2EA7A8B9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3446E6-FE73-FE12-E758-9B65F6650E31}"/>
              </a:ext>
            </a:extLst>
          </p:cNvPr>
          <p:cNvSpPr>
            <a:spLocks noGrp="1"/>
          </p:cNvSpPr>
          <p:nvPr>
            <p:ph type="ctrTitle"/>
          </p:nvPr>
        </p:nvSpPr>
        <p:spPr>
          <a:xfrm>
            <a:off x="1662221" y="6304002"/>
            <a:ext cx="12078812" cy="2215991"/>
          </a:xfrm>
        </p:spPr>
        <p:txBody>
          <a:bodyPr/>
          <a:lstStyle/>
          <a:p>
            <a:pPr>
              <a:spcBef>
                <a:spcPts val="0"/>
              </a:spcBef>
              <a:defRPr sz="1800" b="0" i="0" u="none" strike="noStrike" kern="0" cap="none" spc="0" baseline="0">
                <a:solidFill>
                  <a:srgbClr val="000000"/>
                </a:solidFill>
                <a:uFillTx/>
              </a:defRPr>
            </a:pPr>
            <a:r>
              <a:rPr lang="en-US" sz="8000" dirty="0">
                <a:solidFill>
                  <a:srgbClr val="12BD64"/>
                </a:solidFill>
                <a:ea typeface="Figtree Bold" pitchFamily="34"/>
                <a:cs typeface="+mn-cs"/>
              </a:rPr>
              <a:t>Site Selection</a:t>
            </a:r>
            <a:br>
              <a:rPr lang="en-US" sz="8000" dirty="0">
                <a:solidFill>
                  <a:srgbClr val="12BD64"/>
                </a:solidFill>
                <a:ea typeface="Figtree Bold" pitchFamily="34"/>
                <a:cs typeface="+mn-cs"/>
              </a:rPr>
            </a:br>
            <a:r>
              <a:rPr lang="tr-TR" sz="8000" kern="0" dirty="0" err="1">
                <a:solidFill>
                  <a:srgbClr val="FFFFFF"/>
                </a:solidFill>
                <a:ea typeface="+mn-ea"/>
                <a:cs typeface="+mn-cs"/>
              </a:rPr>
              <a:t>Why</a:t>
            </a:r>
            <a:r>
              <a:rPr lang="tr-TR" sz="8000" kern="0" dirty="0">
                <a:solidFill>
                  <a:srgbClr val="FFFFFF"/>
                </a:solidFill>
                <a:ea typeface="+mn-ea"/>
                <a:cs typeface="+mn-cs"/>
              </a:rPr>
              <a:t> </a:t>
            </a:r>
            <a:r>
              <a:rPr lang="tr-TR" sz="8000" kern="0" dirty="0" err="1">
                <a:solidFill>
                  <a:srgbClr val="FFFFFF"/>
                </a:solidFill>
                <a:ea typeface="+mn-ea"/>
                <a:cs typeface="+mn-cs"/>
              </a:rPr>
              <a:t>Portugal</a:t>
            </a:r>
            <a:r>
              <a:rPr lang="tr-TR" sz="8000" kern="0" dirty="0">
                <a:solidFill>
                  <a:srgbClr val="FFFFFF"/>
                </a:solidFill>
                <a:ea typeface="+mn-ea"/>
                <a:cs typeface="+mn-cs"/>
              </a:rPr>
              <a:t> ?</a:t>
            </a:r>
            <a:endParaRPr lang="en-US" sz="8000" dirty="0">
              <a:solidFill>
                <a:srgbClr val="FFFFFF"/>
              </a:solidFill>
              <a:ea typeface="+mn-ea"/>
              <a:cs typeface="+mn-cs"/>
            </a:endParaRPr>
          </a:p>
        </p:txBody>
      </p:sp>
      <p:pic>
        <p:nvPicPr>
          <p:cNvPr id="5" name="Picture 4" descr="A green and grey map of the world&#10;&#10;Description automatically generated">
            <a:extLst>
              <a:ext uri="{FF2B5EF4-FFF2-40B4-BE49-F238E27FC236}">
                <a16:creationId xmlns:a16="http://schemas.microsoft.com/office/drawing/2014/main" id="{A5503B31-FC9C-7D20-108C-69A16C064FA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t="-813"/>
          <a:stretch/>
        </p:blipFill>
        <p:spPr>
          <a:xfrm>
            <a:off x="17937047" y="-134755"/>
            <a:ext cx="6448540" cy="13850754"/>
          </a:xfrm>
          <a:prstGeom prst="rect">
            <a:avLst/>
          </a:prstGeom>
        </p:spPr>
      </p:pic>
    </p:spTree>
    <p:extLst>
      <p:ext uri="{BB962C8B-B14F-4D97-AF65-F5344CB8AC3E}">
        <p14:creationId xmlns:p14="http://schemas.microsoft.com/office/powerpoint/2010/main" val="37574929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BD009-6832-D214-9450-FA324957B11F}"/>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FE002C43-3EA5-EEFA-4FA5-110EBAEBEA73}"/>
              </a:ext>
            </a:extLst>
          </p:cNvPr>
          <p:cNvSpPr/>
          <p:nvPr/>
        </p:nvSpPr>
        <p:spPr>
          <a:xfrm>
            <a:off x="15682822" y="1155940"/>
            <a:ext cx="7056408" cy="2932981"/>
          </a:xfrm>
          <a:prstGeom prst="rect">
            <a:avLst/>
          </a:prstGeom>
          <a:solidFill>
            <a:srgbClr val="F4F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6" name="TextBox 5">
            <a:extLst>
              <a:ext uri="{FF2B5EF4-FFF2-40B4-BE49-F238E27FC236}">
                <a16:creationId xmlns:a16="http://schemas.microsoft.com/office/drawing/2014/main" id="{949F0FFC-CC0D-9B58-440D-746F07A1ACCB}"/>
              </a:ext>
            </a:extLst>
          </p:cNvPr>
          <p:cNvSpPr txBox="1"/>
          <p:nvPr/>
        </p:nvSpPr>
        <p:spPr>
          <a:xfrm>
            <a:off x="1508481" y="1959829"/>
            <a:ext cx="13086184" cy="1323439"/>
          </a:xfrm>
          <a:prstGeom prst="rect">
            <a:avLst/>
          </a:prstGeom>
          <a:noFill/>
        </p:spPr>
        <p:txBody>
          <a:bodyPr wrap="square">
            <a:spAutoFit/>
          </a:bodyPr>
          <a:lstStyle/>
          <a:p>
            <a:r>
              <a:rPr lang="en-US" sz="4000" b="1" dirty="0">
                <a:solidFill>
                  <a:srgbClr val="00C159"/>
                </a:solidFill>
                <a:latin typeface="Figtree SemiBold" pitchFamily="2" charset="0"/>
              </a:rPr>
              <a:t>Portugal: </a:t>
            </a:r>
            <a:r>
              <a:rPr lang="en-US" sz="4000" b="1" dirty="0">
                <a:latin typeface="Figtree SemiBold" pitchFamily="2" charset="0"/>
              </a:rPr>
              <a:t>a world-leading submarine cable network</a:t>
            </a:r>
            <a:br>
              <a:rPr lang="en-US" sz="4000" b="1" dirty="0">
                <a:latin typeface="Figtree SemiBold" pitchFamily="2" charset="0"/>
              </a:rPr>
            </a:br>
            <a:r>
              <a:rPr lang="en-US" sz="4000" b="1" dirty="0">
                <a:solidFill>
                  <a:srgbClr val="00C159"/>
                </a:solidFill>
                <a:latin typeface="Figtree SemiBold" pitchFamily="2" charset="0"/>
              </a:rPr>
              <a:t>connecting the global Internet </a:t>
            </a:r>
            <a:r>
              <a:rPr lang="en-US" sz="4000" b="1" dirty="0">
                <a:latin typeface="Figtree SemiBold" pitchFamily="2" charset="0"/>
              </a:rPr>
              <a:t>ecosystem…</a:t>
            </a:r>
            <a:endParaRPr lang="en-PT" sz="4000" b="1" dirty="0">
              <a:latin typeface="Figtree SemiBold" pitchFamily="2" charset="0"/>
            </a:endParaRPr>
          </a:p>
        </p:txBody>
      </p:sp>
      <p:sp>
        <p:nvSpPr>
          <p:cNvPr id="4" name="Rectangle 3">
            <a:extLst>
              <a:ext uri="{FF2B5EF4-FFF2-40B4-BE49-F238E27FC236}">
                <a16:creationId xmlns:a16="http://schemas.microsoft.com/office/drawing/2014/main" id="{2E3FA76C-4CA4-8D91-5BBC-85CD41C068CE}"/>
              </a:ext>
            </a:extLst>
          </p:cNvPr>
          <p:cNvSpPr/>
          <p:nvPr/>
        </p:nvSpPr>
        <p:spPr>
          <a:xfrm>
            <a:off x="1445174" y="6258296"/>
            <a:ext cx="6464386" cy="532696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defTabSz="2971876" hangingPunct="1">
              <a:lnSpc>
                <a:spcPct val="120000"/>
              </a:lnSpc>
              <a:buClr>
                <a:srgbClr val="00B050"/>
              </a:buClr>
              <a:defRPr/>
            </a:pPr>
            <a:r>
              <a:rPr lang="en-GB" sz="2800" b="1" dirty="0">
                <a:solidFill>
                  <a:prstClr val="black"/>
                </a:solidFill>
                <a:latin typeface="Figtree" pitchFamily="2" charset="0"/>
              </a:rPr>
              <a:t>Prime geographical position</a:t>
            </a:r>
            <a:r>
              <a:rPr lang="en-GB" sz="2800" dirty="0">
                <a:solidFill>
                  <a:prstClr val="black"/>
                </a:solidFill>
                <a:latin typeface="Figtree" pitchFamily="2" charset="0"/>
              </a:rPr>
              <a:t>, acting as a gateway between Africa, the Americas, the Middle East, Europe </a:t>
            </a:r>
          </a:p>
          <a:p>
            <a:pPr defTabSz="2971876" hangingPunct="1">
              <a:lnSpc>
                <a:spcPct val="120000"/>
              </a:lnSpc>
              <a:buClr>
                <a:srgbClr val="00B050"/>
              </a:buClr>
              <a:defRPr/>
            </a:pPr>
            <a:r>
              <a:rPr lang="en-GB" sz="2800" dirty="0">
                <a:solidFill>
                  <a:prstClr val="black"/>
                </a:solidFill>
                <a:latin typeface="Figtree" pitchFamily="2" charset="0"/>
              </a:rPr>
              <a:t>and beyond</a:t>
            </a:r>
          </a:p>
          <a:p>
            <a:pPr marL="557228" indent="-557228" defTabSz="2971876" hangingPunct="1">
              <a:lnSpc>
                <a:spcPct val="120000"/>
              </a:lnSpc>
              <a:buClr>
                <a:srgbClr val="00B050"/>
              </a:buClr>
              <a:buFont typeface="Wingdings" panose="05000000000000000000" pitchFamily="2" charset="2"/>
              <a:buChar char="ü"/>
              <a:defRPr/>
            </a:pPr>
            <a:endParaRPr lang="en-GB" sz="2800" dirty="0">
              <a:solidFill>
                <a:prstClr val="black"/>
              </a:solidFill>
              <a:latin typeface="Figtree" pitchFamily="2" charset="0"/>
            </a:endParaRPr>
          </a:p>
          <a:p>
            <a:pPr defTabSz="2971876" hangingPunct="1">
              <a:lnSpc>
                <a:spcPct val="120000"/>
              </a:lnSpc>
              <a:buClr>
                <a:srgbClr val="00B050"/>
              </a:buClr>
              <a:defRPr/>
            </a:pPr>
            <a:r>
              <a:rPr lang="en-GB" sz="2800" b="1" dirty="0">
                <a:solidFill>
                  <a:prstClr val="black"/>
                </a:solidFill>
                <a:latin typeface="Figtree" pitchFamily="2" charset="0"/>
              </a:rPr>
              <a:t>Shortest ‘as the crow flies’ distance </a:t>
            </a:r>
            <a:r>
              <a:rPr lang="en-GB" sz="2800" dirty="0">
                <a:solidFill>
                  <a:prstClr val="black"/>
                </a:solidFill>
                <a:latin typeface="Figtree" pitchFamily="2" charset="0"/>
              </a:rPr>
              <a:t>of all global connectivity hubs </a:t>
            </a:r>
            <a:r>
              <a:rPr lang="en-GB" sz="2800" b="1" dirty="0">
                <a:solidFill>
                  <a:prstClr val="black"/>
                </a:solidFill>
                <a:latin typeface="Figtree" pitchFamily="2" charset="0"/>
              </a:rPr>
              <a:t>to main economic and population centres </a:t>
            </a:r>
            <a:r>
              <a:rPr lang="en-GB" sz="2800" dirty="0">
                <a:solidFill>
                  <a:prstClr val="black"/>
                </a:solidFill>
                <a:latin typeface="Figtree" pitchFamily="2" charset="0"/>
              </a:rPr>
              <a:t>globally – average c. 7,000 km distance </a:t>
            </a:r>
          </a:p>
        </p:txBody>
      </p:sp>
      <p:sp>
        <p:nvSpPr>
          <p:cNvPr id="12" name="TextBox 11">
            <a:extLst>
              <a:ext uri="{FF2B5EF4-FFF2-40B4-BE49-F238E27FC236}">
                <a16:creationId xmlns:a16="http://schemas.microsoft.com/office/drawing/2014/main" id="{503F6369-8E04-0FF1-C46A-99A30E287523}"/>
              </a:ext>
            </a:extLst>
          </p:cNvPr>
          <p:cNvSpPr txBox="1"/>
          <p:nvPr/>
        </p:nvSpPr>
        <p:spPr>
          <a:xfrm>
            <a:off x="8886825" y="6258296"/>
            <a:ext cx="6886575" cy="4706417"/>
          </a:xfrm>
          <a:prstGeom prst="rect">
            <a:avLst/>
          </a:prstGeom>
          <a:noFill/>
        </p:spPr>
        <p:txBody>
          <a:bodyPr wrap="square">
            <a:spAutoFit/>
          </a:bodyPr>
          <a:lstStyle/>
          <a:p>
            <a:pPr defTabSz="2971876" hangingPunct="1">
              <a:lnSpc>
                <a:spcPct val="120000"/>
              </a:lnSpc>
              <a:buClr>
                <a:srgbClr val="00B050"/>
              </a:buClr>
              <a:defRPr/>
            </a:pPr>
            <a:r>
              <a:rPr lang="en-GB" sz="2800" b="1" dirty="0">
                <a:solidFill>
                  <a:prstClr val="black"/>
                </a:solidFill>
                <a:latin typeface="Figtree" pitchFamily="2" charset="0"/>
              </a:rPr>
              <a:t>Extensive submarine cable network </a:t>
            </a:r>
            <a:r>
              <a:rPr lang="en-GB" sz="2800" dirty="0">
                <a:solidFill>
                  <a:prstClr val="black"/>
                </a:solidFill>
                <a:latin typeface="Figtree" pitchFamily="2" charset="0"/>
              </a:rPr>
              <a:t>connecting Portugal to all inhabited continents, with soon to be established cable to North America</a:t>
            </a:r>
          </a:p>
          <a:p>
            <a:pPr marL="557228" indent="-557228" defTabSz="2971876" hangingPunct="1">
              <a:lnSpc>
                <a:spcPct val="120000"/>
              </a:lnSpc>
              <a:buClr>
                <a:srgbClr val="00B050"/>
              </a:buClr>
              <a:buFont typeface="Wingdings" panose="05000000000000000000" pitchFamily="2" charset="2"/>
              <a:buChar char="ü"/>
              <a:defRPr/>
            </a:pPr>
            <a:endParaRPr lang="en-GB" sz="2800" dirty="0">
              <a:solidFill>
                <a:prstClr val="black"/>
              </a:solidFill>
              <a:latin typeface="Figtree" pitchFamily="2" charset="0"/>
            </a:endParaRPr>
          </a:p>
          <a:p>
            <a:pPr defTabSz="2971876" hangingPunct="1">
              <a:lnSpc>
                <a:spcPct val="120000"/>
              </a:lnSpc>
              <a:buClr>
                <a:srgbClr val="00B050"/>
              </a:buClr>
              <a:defRPr/>
            </a:pPr>
            <a:r>
              <a:rPr lang="en-GB" sz="2800" dirty="0">
                <a:solidFill>
                  <a:prstClr val="black"/>
                </a:solidFill>
                <a:latin typeface="Figtree" pitchFamily="2" charset="0"/>
              </a:rPr>
              <a:t>Ongoing initiatives (incl. Google’s </a:t>
            </a:r>
            <a:r>
              <a:rPr lang="en-GB" sz="2800" dirty="0" err="1">
                <a:solidFill>
                  <a:prstClr val="black"/>
                </a:solidFill>
                <a:latin typeface="Figtree" pitchFamily="2" charset="0"/>
              </a:rPr>
              <a:t>Nuvem</a:t>
            </a:r>
            <a:r>
              <a:rPr lang="en-GB" sz="2800" dirty="0">
                <a:solidFill>
                  <a:prstClr val="black"/>
                </a:solidFill>
                <a:latin typeface="Figtree" pitchFamily="2" charset="0"/>
              </a:rPr>
              <a:t>) will </a:t>
            </a:r>
            <a:r>
              <a:rPr lang="en-GB" sz="2800" b="1" dirty="0">
                <a:solidFill>
                  <a:prstClr val="black"/>
                </a:solidFill>
                <a:latin typeface="Figtree" pitchFamily="2" charset="0"/>
              </a:rPr>
              <a:t>extend access to 124 cable landing stations globally</a:t>
            </a:r>
            <a:r>
              <a:rPr lang="en-GB" sz="2800" dirty="0">
                <a:solidFill>
                  <a:prstClr val="black"/>
                </a:solidFill>
                <a:latin typeface="Figtree" pitchFamily="2" charset="0"/>
              </a:rPr>
              <a:t>, establishing connections with 75 countries, by 2026</a:t>
            </a:r>
          </a:p>
        </p:txBody>
      </p:sp>
      <p:sp>
        <p:nvSpPr>
          <p:cNvPr id="14" name="TextBox 13">
            <a:extLst>
              <a:ext uri="{FF2B5EF4-FFF2-40B4-BE49-F238E27FC236}">
                <a16:creationId xmlns:a16="http://schemas.microsoft.com/office/drawing/2014/main" id="{C8524D8D-4E16-E2E6-C501-59DED8908007}"/>
              </a:ext>
            </a:extLst>
          </p:cNvPr>
          <p:cNvSpPr txBox="1"/>
          <p:nvPr/>
        </p:nvSpPr>
        <p:spPr>
          <a:xfrm>
            <a:off x="16064865" y="6258296"/>
            <a:ext cx="7412355" cy="5223481"/>
          </a:xfrm>
          <a:prstGeom prst="rect">
            <a:avLst/>
          </a:prstGeom>
          <a:noFill/>
        </p:spPr>
        <p:txBody>
          <a:bodyPr wrap="square">
            <a:spAutoFit/>
          </a:bodyPr>
          <a:lstStyle/>
          <a:p>
            <a:pPr defTabSz="2971876" hangingPunct="1">
              <a:lnSpc>
                <a:spcPct val="120000"/>
              </a:lnSpc>
              <a:buClr>
                <a:srgbClr val="00B050"/>
              </a:buClr>
              <a:defRPr/>
            </a:pPr>
            <a:r>
              <a:rPr lang="en-GB" sz="2800" b="1" dirty="0">
                <a:solidFill>
                  <a:prstClr val="black"/>
                </a:solidFill>
                <a:latin typeface="Figtree" pitchFamily="2" charset="0"/>
              </a:rPr>
              <a:t>Strategically located cable landing stations </a:t>
            </a:r>
            <a:r>
              <a:rPr lang="en-GB" sz="2800" dirty="0">
                <a:solidFill>
                  <a:prstClr val="black"/>
                </a:solidFill>
                <a:latin typeface="Figtree" pitchFamily="2" charset="0"/>
              </a:rPr>
              <a:t>in </a:t>
            </a:r>
            <a:r>
              <a:rPr lang="en-GB" sz="2800" b="1" dirty="0">
                <a:solidFill>
                  <a:prstClr val="black"/>
                </a:solidFill>
                <a:latin typeface="Figtree" pitchFamily="2" charset="0"/>
              </a:rPr>
              <a:t>four diverse locations </a:t>
            </a:r>
            <a:r>
              <a:rPr lang="en-GB" sz="2800" dirty="0">
                <a:solidFill>
                  <a:prstClr val="black"/>
                </a:solidFill>
                <a:latin typeface="Figtree" pitchFamily="2" charset="0"/>
              </a:rPr>
              <a:t>along expansive 1,800 km coastline, including in Sines, fortifying redundancy and resiliency</a:t>
            </a:r>
          </a:p>
          <a:p>
            <a:pPr marL="557228" indent="-557228" defTabSz="2971876" hangingPunct="1">
              <a:lnSpc>
                <a:spcPct val="120000"/>
              </a:lnSpc>
              <a:buClr>
                <a:srgbClr val="00B050"/>
              </a:buClr>
              <a:buFont typeface="Wingdings" panose="05000000000000000000" pitchFamily="2" charset="2"/>
              <a:buChar char="ü"/>
              <a:defRPr/>
            </a:pPr>
            <a:endParaRPr lang="en-GB" sz="2800" dirty="0">
              <a:solidFill>
                <a:prstClr val="black"/>
              </a:solidFill>
              <a:latin typeface="Figtree" pitchFamily="2" charset="0"/>
            </a:endParaRPr>
          </a:p>
          <a:p>
            <a:pPr defTabSz="2971876" hangingPunct="1">
              <a:lnSpc>
                <a:spcPct val="120000"/>
              </a:lnSpc>
              <a:buClr>
                <a:srgbClr val="00B050"/>
              </a:buClr>
              <a:defRPr/>
            </a:pPr>
            <a:r>
              <a:rPr lang="en-GB" sz="2800" dirty="0">
                <a:solidFill>
                  <a:prstClr val="black"/>
                </a:solidFill>
                <a:latin typeface="Figtree" pitchFamily="2" charset="0"/>
              </a:rPr>
              <a:t>Portugal’s membership within NATO and its EEZ being </a:t>
            </a:r>
            <a:r>
              <a:rPr lang="en-GB" sz="2800" b="1" dirty="0">
                <a:solidFill>
                  <a:prstClr val="black"/>
                </a:solidFill>
                <a:latin typeface="Figtree" pitchFamily="2" charset="0"/>
              </a:rPr>
              <a:t>the EU’s largest</a:t>
            </a:r>
            <a:r>
              <a:rPr lang="en-GB" sz="2800" dirty="0">
                <a:solidFill>
                  <a:prstClr val="black"/>
                </a:solidFill>
                <a:latin typeface="Figtree" pitchFamily="2" charset="0"/>
              </a:rPr>
              <a:t> (c. 1.7mm m²) </a:t>
            </a:r>
            <a:r>
              <a:rPr lang="en-GB" sz="2800" b="1" dirty="0">
                <a:solidFill>
                  <a:prstClr val="black"/>
                </a:solidFill>
                <a:latin typeface="Figtree" pitchFamily="2" charset="0"/>
              </a:rPr>
              <a:t>significantly bolster security </a:t>
            </a:r>
            <a:r>
              <a:rPr lang="en-GB" sz="2800" dirty="0">
                <a:solidFill>
                  <a:prstClr val="black"/>
                </a:solidFill>
                <a:latin typeface="Figtree" pitchFamily="2" charset="0"/>
              </a:rPr>
              <a:t>of cables landing on its shores or traversing this zone (c. 10% to 15% of all global cables today)</a:t>
            </a:r>
          </a:p>
        </p:txBody>
      </p:sp>
      <p:sp>
        <p:nvSpPr>
          <p:cNvPr id="16" name="TextBox 15">
            <a:extLst>
              <a:ext uri="{FF2B5EF4-FFF2-40B4-BE49-F238E27FC236}">
                <a16:creationId xmlns:a16="http://schemas.microsoft.com/office/drawing/2014/main" id="{40B53781-5641-3FA0-6242-9A2DB22EBD6C}"/>
              </a:ext>
            </a:extLst>
          </p:cNvPr>
          <p:cNvSpPr txBox="1"/>
          <p:nvPr/>
        </p:nvSpPr>
        <p:spPr>
          <a:xfrm>
            <a:off x="1428750" y="4904627"/>
            <a:ext cx="5246370" cy="706347"/>
          </a:xfrm>
          <a:prstGeom prst="rect">
            <a:avLst/>
          </a:prstGeom>
          <a:noFill/>
        </p:spPr>
        <p:txBody>
          <a:bodyPr wrap="square">
            <a:spAutoFit/>
          </a:bodyPr>
          <a:lstStyle/>
          <a:p>
            <a:pPr defTabSz="2971876" hangingPunct="1">
              <a:lnSpc>
                <a:spcPct val="120000"/>
              </a:lnSpc>
              <a:buClr>
                <a:srgbClr val="00B050"/>
              </a:buClr>
              <a:defRPr/>
            </a:pPr>
            <a:r>
              <a:rPr lang="en-GB" sz="3600" b="1" dirty="0">
                <a:solidFill>
                  <a:srgbClr val="00C159"/>
                </a:solidFill>
                <a:latin typeface="Figtree" pitchFamily="2" charset="0"/>
              </a:rPr>
              <a:t>Geographic advantage </a:t>
            </a:r>
          </a:p>
        </p:txBody>
      </p:sp>
      <p:sp>
        <p:nvSpPr>
          <p:cNvPr id="18" name="TextBox 17">
            <a:extLst>
              <a:ext uri="{FF2B5EF4-FFF2-40B4-BE49-F238E27FC236}">
                <a16:creationId xmlns:a16="http://schemas.microsoft.com/office/drawing/2014/main" id="{85E21E96-AEA6-7488-1DF5-4C978C170E86}"/>
              </a:ext>
            </a:extLst>
          </p:cNvPr>
          <p:cNvSpPr txBox="1"/>
          <p:nvPr/>
        </p:nvSpPr>
        <p:spPr>
          <a:xfrm>
            <a:off x="8886825" y="4904627"/>
            <a:ext cx="12195810" cy="706347"/>
          </a:xfrm>
          <a:prstGeom prst="rect">
            <a:avLst/>
          </a:prstGeom>
          <a:noFill/>
        </p:spPr>
        <p:txBody>
          <a:bodyPr wrap="square">
            <a:spAutoFit/>
          </a:bodyPr>
          <a:lstStyle/>
          <a:p>
            <a:pPr defTabSz="2971876" hangingPunct="1">
              <a:lnSpc>
                <a:spcPct val="120000"/>
              </a:lnSpc>
              <a:buClr>
                <a:srgbClr val="00B050"/>
              </a:buClr>
              <a:defRPr/>
            </a:pPr>
            <a:r>
              <a:rPr lang="en-GB" sz="3600" b="1" dirty="0">
                <a:solidFill>
                  <a:srgbClr val="00C159"/>
                </a:solidFill>
                <a:latin typeface="Figtree" pitchFamily="2" charset="0"/>
              </a:rPr>
              <a:t>At the crossroads of international subsea routes</a:t>
            </a:r>
          </a:p>
        </p:txBody>
      </p:sp>
      <p:cxnSp>
        <p:nvCxnSpPr>
          <p:cNvPr id="19" name="Straight Connector 18">
            <a:extLst>
              <a:ext uri="{FF2B5EF4-FFF2-40B4-BE49-F238E27FC236}">
                <a16:creationId xmlns:a16="http://schemas.microsoft.com/office/drawing/2014/main" id="{EEBDF2E1-D955-8C51-3869-935CF645E37B}"/>
              </a:ext>
            </a:extLst>
          </p:cNvPr>
          <p:cNvCxnSpPr>
            <a:cxnSpLocks/>
          </p:cNvCxnSpPr>
          <p:nvPr/>
        </p:nvCxnSpPr>
        <p:spPr>
          <a:xfrm>
            <a:off x="0" y="4006514"/>
            <a:ext cx="8310622" cy="0"/>
          </a:xfrm>
          <a:prstGeom prst="line">
            <a:avLst/>
          </a:prstGeom>
          <a:ln w="38100">
            <a:solidFill>
              <a:srgbClr val="12BD64"/>
            </a:solidFill>
            <a:tailEnd type="oval" w="med" len="med"/>
          </a:ln>
        </p:spPr>
        <p:style>
          <a:lnRef idx="1">
            <a:schemeClr val="accent6"/>
          </a:lnRef>
          <a:fillRef idx="0">
            <a:schemeClr val="accent6"/>
          </a:fillRef>
          <a:effectRef idx="0">
            <a:schemeClr val="accent6"/>
          </a:effectRef>
          <a:fontRef idx="minor">
            <a:schemeClr val="tx1"/>
          </a:fontRef>
        </p:style>
      </p:cxnSp>
      <p:sp>
        <p:nvSpPr>
          <p:cNvPr id="21" name="TextBox 20">
            <a:extLst>
              <a:ext uri="{FF2B5EF4-FFF2-40B4-BE49-F238E27FC236}">
                <a16:creationId xmlns:a16="http://schemas.microsoft.com/office/drawing/2014/main" id="{F5A9B4E4-D437-8D5D-16B6-73982B1C38C7}"/>
              </a:ext>
            </a:extLst>
          </p:cNvPr>
          <p:cNvSpPr txBox="1"/>
          <p:nvPr/>
        </p:nvSpPr>
        <p:spPr>
          <a:xfrm>
            <a:off x="15950242" y="1304367"/>
            <a:ext cx="6616459" cy="2246769"/>
          </a:xfrm>
          <a:prstGeom prst="rect">
            <a:avLst/>
          </a:prstGeom>
          <a:noFill/>
        </p:spPr>
        <p:txBody>
          <a:bodyPr wrap="square">
            <a:spAutoFit/>
          </a:bodyPr>
          <a:lstStyle/>
          <a:p>
            <a:pPr algn="ctr" defTabSz="5201920" hangingPunct="1">
              <a:defRPr/>
            </a:pPr>
            <a:br>
              <a:rPr lang="en-US" sz="2800" dirty="0">
                <a:latin typeface="Figtree" pitchFamily="2" charset="0"/>
              </a:rPr>
            </a:br>
            <a:r>
              <a:rPr lang="en-US" sz="2800" b="1" dirty="0">
                <a:solidFill>
                  <a:schemeClr val="tx1"/>
                </a:solidFill>
                <a:latin typeface="Figtree SemiBold" pitchFamily="2" charset="0"/>
              </a:rPr>
              <a:t>SINES DC </a:t>
            </a:r>
            <a:r>
              <a:rPr lang="en-US" sz="2800" b="1" dirty="0">
                <a:latin typeface="Figtree SemiBold" pitchFamily="2" charset="0"/>
              </a:rPr>
              <a:t>is connected to the </a:t>
            </a:r>
            <a:r>
              <a:rPr lang="en-US" sz="2800" b="1" dirty="0" err="1">
                <a:solidFill>
                  <a:srgbClr val="00C159"/>
                </a:solidFill>
                <a:latin typeface="Figtree SemiBold" pitchFamily="2" charset="0"/>
              </a:rPr>
              <a:t>Ellalink</a:t>
            </a:r>
            <a:r>
              <a:rPr lang="en-US" sz="2800" b="1" dirty="0">
                <a:solidFill>
                  <a:srgbClr val="00C159"/>
                </a:solidFill>
                <a:latin typeface="Figtree SemiBold" pitchFamily="2" charset="0"/>
              </a:rPr>
              <a:t> Cable Landing Station</a:t>
            </a:r>
            <a:r>
              <a:rPr lang="en-US" sz="2800" b="1" dirty="0">
                <a:latin typeface="Figtree SemiBold" pitchFamily="2" charset="0"/>
              </a:rPr>
              <a:t>, with multiple planned other cables (</a:t>
            </a:r>
            <a:r>
              <a:rPr lang="en-US" sz="2800" b="1" dirty="0">
                <a:solidFill>
                  <a:srgbClr val="00C159"/>
                </a:solidFill>
                <a:latin typeface="Figtree SemiBold" pitchFamily="2" charset="0"/>
              </a:rPr>
              <a:t>Google’s Nuvem</a:t>
            </a:r>
            <a:r>
              <a:rPr lang="en-US" sz="2800" b="1" baseline="30000" dirty="0">
                <a:solidFill>
                  <a:srgbClr val="00C159"/>
                </a:solidFill>
                <a:latin typeface="Figtree SemiBold" pitchFamily="2" charset="0"/>
              </a:rPr>
              <a:t>1</a:t>
            </a:r>
            <a:r>
              <a:rPr lang="en-US" sz="2800" b="1" dirty="0">
                <a:latin typeface="Figtree SemiBold" pitchFamily="2" charset="0"/>
              </a:rPr>
              <a:t>, </a:t>
            </a:r>
            <a:r>
              <a:rPr lang="en-US" sz="2800" b="1" dirty="0" err="1">
                <a:latin typeface="Figtree SemiBold" pitchFamily="2" charset="0"/>
              </a:rPr>
              <a:t>Olisipo</a:t>
            </a:r>
            <a:r>
              <a:rPr lang="en-US" sz="2800" b="1" dirty="0">
                <a:latin typeface="Figtree SemiBold" pitchFamily="2" charset="0"/>
              </a:rPr>
              <a:t>, Medusa, CAM, etc.)</a:t>
            </a:r>
          </a:p>
        </p:txBody>
      </p:sp>
    </p:spTree>
    <p:extLst>
      <p:ext uri="{BB962C8B-B14F-4D97-AF65-F5344CB8AC3E}">
        <p14:creationId xmlns:p14="http://schemas.microsoft.com/office/powerpoint/2010/main" val="1386386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12C26-47C3-F288-7CEA-45BA74E8F7E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18B4F0F3-BD66-A963-02DF-F3B5A1A84A04}"/>
              </a:ext>
            </a:extLst>
          </p:cNvPr>
          <p:cNvSpPr txBox="1"/>
          <p:nvPr/>
        </p:nvSpPr>
        <p:spPr>
          <a:xfrm>
            <a:off x="1508481" y="1959829"/>
            <a:ext cx="12207519" cy="1323439"/>
          </a:xfrm>
          <a:prstGeom prst="rect">
            <a:avLst/>
          </a:prstGeom>
          <a:noFill/>
        </p:spPr>
        <p:txBody>
          <a:bodyPr wrap="square">
            <a:spAutoFit/>
          </a:bodyPr>
          <a:lstStyle/>
          <a:p>
            <a:r>
              <a:rPr lang="en-US" sz="4000" b="1" dirty="0">
                <a:solidFill>
                  <a:srgbClr val="00C159"/>
                </a:solidFill>
                <a:latin typeface="Figtree SemiBold" pitchFamily="2" charset="0"/>
              </a:rPr>
              <a:t>Portugal: </a:t>
            </a:r>
            <a:r>
              <a:rPr lang="en-US" sz="4000" b="1" dirty="0">
                <a:latin typeface="Figtree SemiBold" pitchFamily="2" charset="0"/>
              </a:rPr>
              <a:t>a world-leading submarine cable network</a:t>
            </a:r>
            <a:br>
              <a:rPr lang="en-US" sz="4000" b="1" dirty="0">
                <a:latin typeface="Figtree SemiBold" pitchFamily="2" charset="0"/>
              </a:rPr>
            </a:br>
            <a:r>
              <a:rPr lang="en-US" sz="4000" b="1" dirty="0">
                <a:solidFill>
                  <a:srgbClr val="00C159"/>
                </a:solidFill>
                <a:latin typeface="Figtree SemiBold" pitchFamily="2" charset="0"/>
              </a:rPr>
              <a:t>connecting the global Internet </a:t>
            </a:r>
            <a:r>
              <a:rPr lang="en-US" sz="4000" b="1" dirty="0">
                <a:latin typeface="Figtree SemiBold" pitchFamily="2" charset="0"/>
              </a:rPr>
              <a:t>ecosystem…</a:t>
            </a:r>
            <a:endParaRPr lang="en-PT" sz="4000" b="1" dirty="0">
              <a:latin typeface="Figtree SemiBold" pitchFamily="2" charset="0"/>
            </a:endParaRPr>
          </a:p>
        </p:txBody>
      </p:sp>
      <p:pic>
        <p:nvPicPr>
          <p:cNvPr id="3" name="Picture 2">
            <a:extLst>
              <a:ext uri="{FF2B5EF4-FFF2-40B4-BE49-F238E27FC236}">
                <a16:creationId xmlns:a16="http://schemas.microsoft.com/office/drawing/2014/main" id="{0F78DA65-1A47-6342-92AD-D341BCC945BC}"/>
              </a:ext>
            </a:extLst>
          </p:cNvPr>
          <p:cNvPicPr>
            <a:picLocks noChangeAspect="1"/>
          </p:cNvPicPr>
          <p:nvPr/>
        </p:nvPicPr>
        <p:blipFill rotWithShape="1">
          <a:blip r:embed="rId2"/>
          <a:srcRect l="9514" r="11393"/>
          <a:stretch/>
        </p:blipFill>
        <p:spPr>
          <a:xfrm>
            <a:off x="9095133" y="3955774"/>
            <a:ext cx="15292042" cy="9760226"/>
          </a:xfrm>
          <a:prstGeom prst="rect">
            <a:avLst/>
          </a:prstGeom>
        </p:spPr>
      </p:pic>
      <p:sp>
        <p:nvSpPr>
          <p:cNvPr id="11" name="TextBox 10">
            <a:extLst>
              <a:ext uri="{FF2B5EF4-FFF2-40B4-BE49-F238E27FC236}">
                <a16:creationId xmlns:a16="http://schemas.microsoft.com/office/drawing/2014/main" id="{3BBB96A8-1878-3C68-D515-23BA3F9E89A0}"/>
              </a:ext>
            </a:extLst>
          </p:cNvPr>
          <p:cNvSpPr txBox="1"/>
          <p:nvPr/>
        </p:nvSpPr>
        <p:spPr>
          <a:xfrm>
            <a:off x="2750657" y="5477261"/>
            <a:ext cx="4008472" cy="954107"/>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defTabSz="2971800" hangingPunct="1"/>
            <a:r>
              <a:rPr lang="en-GB" sz="2800" dirty="0">
                <a:solidFill>
                  <a:schemeClr val="tx1"/>
                </a:solidFill>
                <a:latin typeface="Figtree" pitchFamily="2" charset="0"/>
              </a:rPr>
              <a:t>Country connected to all inhabited continents</a:t>
            </a:r>
          </a:p>
        </p:txBody>
      </p:sp>
      <p:sp>
        <p:nvSpPr>
          <p:cNvPr id="12" name="TextBox 11">
            <a:extLst>
              <a:ext uri="{FF2B5EF4-FFF2-40B4-BE49-F238E27FC236}">
                <a16:creationId xmlns:a16="http://schemas.microsoft.com/office/drawing/2014/main" id="{64789605-B1DE-2A3D-390A-7AF66B986676}"/>
              </a:ext>
            </a:extLst>
          </p:cNvPr>
          <p:cNvSpPr txBox="1"/>
          <p:nvPr/>
        </p:nvSpPr>
        <p:spPr>
          <a:xfrm>
            <a:off x="2750657" y="6990490"/>
            <a:ext cx="5864460" cy="954107"/>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defTabSz="2971800" hangingPunct="1"/>
            <a:r>
              <a:rPr lang="en-GB" sz="2800" dirty="0">
                <a:solidFill>
                  <a:schemeClr val="tx1"/>
                </a:solidFill>
                <a:latin typeface="Figtree" pitchFamily="2" charset="0"/>
              </a:rPr>
              <a:t>Submarine cables moored in Portugal’s waters</a:t>
            </a:r>
          </a:p>
        </p:txBody>
      </p:sp>
      <p:sp>
        <p:nvSpPr>
          <p:cNvPr id="13" name="TextBox 12">
            <a:extLst>
              <a:ext uri="{FF2B5EF4-FFF2-40B4-BE49-F238E27FC236}">
                <a16:creationId xmlns:a16="http://schemas.microsoft.com/office/drawing/2014/main" id="{3337BC29-4BB2-E5CD-07F2-85FB25B457C1}"/>
              </a:ext>
            </a:extLst>
          </p:cNvPr>
          <p:cNvSpPr txBox="1"/>
          <p:nvPr/>
        </p:nvSpPr>
        <p:spPr>
          <a:xfrm>
            <a:off x="2750657" y="8370122"/>
            <a:ext cx="5864460" cy="954107"/>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defTabSz="2971800" hangingPunct="1"/>
            <a:r>
              <a:rPr lang="en-GB" sz="2800" dirty="0">
                <a:solidFill>
                  <a:schemeClr val="tx1"/>
                </a:solidFill>
                <a:latin typeface="Figtree" pitchFamily="2" charset="0"/>
              </a:rPr>
              <a:t>New cables announced,</a:t>
            </a:r>
          </a:p>
          <a:p>
            <a:pPr defTabSz="2971800" hangingPunct="1"/>
            <a:r>
              <a:rPr lang="en-GB" sz="2800" dirty="0">
                <a:solidFill>
                  <a:schemeClr val="tx1"/>
                </a:solidFill>
                <a:latin typeface="Figtree" pitchFamily="2" charset="0"/>
              </a:rPr>
              <a:t>incl. Google’s </a:t>
            </a:r>
            <a:r>
              <a:rPr lang="en-GB" sz="2800" dirty="0" err="1">
                <a:solidFill>
                  <a:schemeClr val="tx1"/>
                </a:solidFill>
                <a:latin typeface="Figtree" pitchFamily="2" charset="0"/>
              </a:rPr>
              <a:t>Nuvem</a:t>
            </a:r>
            <a:r>
              <a:rPr lang="en-GB" sz="2800" dirty="0">
                <a:solidFill>
                  <a:schemeClr val="tx1"/>
                </a:solidFill>
                <a:latin typeface="Figtree" pitchFamily="2" charset="0"/>
              </a:rPr>
              <a:t> </a:t>
            </a:r>
          </a:p>
        </p:txBody>
      </p:sp>
      <p:sp>
        <p:nvSpPr>
          <p:cNvPr id="14" name="TextBox 13">
            <a:extLst>
              <a:ext uri="{FF2B5EF4-FFF2-40B4-BE49-F238E27FC236}">
                <a16:creationId xmlns:a16="http://schemas.microsoft.com/office/drawing/2014/main" id="{4452A6CA-A59E-E0D8-0001-CBF01C3DDCD5}"/>
              </a:ext>
            </a:extLst>
          </p:cNvPr>
          <p:cNvSpPr txBox="1"/>
          <p:nvPr/>
        </p:nvSpPr>
        <p:spPr>
          <a:xfrm>
            <a:off x="3542753" y="9773528"/>
            <a:ext cx="5864460" cy="954107"/>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defTabSz="2971800" hangingPunct="1"/>
            <a:r>
              <a:rPr lang="en-GB" sz="2800" dirty="0">
                <a:solidFill>
                  <a:schemeClr val="tx1"/>
                </a:solidFill>
                <a:latin typeface="Figtree" pitchFamily="2" charset="0"/>
              </a:rPr>
              <a:t>Growth in internet capacity in Southern Europe, 2016-2020</a:t>
            </a:r>
          </a:p>
        </p:txBody>
      </p:sp>
      <p:sp>
        <p:nvSpPr>
          <p:cNvPr id="15" name="TextBox 14">
            <a:extLst>
              <a:ext uri="{FF2B5EF4-FFF2-40B4-BE49-F238E27FC236}">
                <a16:creationId xmlns:a16="http://schemas.microsoft.com/office/drawing/2014/main" id="{114BDE1F-35C7-F533-E745-4C314ABFA1A3}"/>
              </a:ext>
            </a:extLst>
          </p:cNvPr>
          <p:cNvSpPr txBox="1"/>
          <p:nvPr/>
        </p:nvSpPr>
        <p:spPr>
          <a:xfrm>
            <a:off x="1288473" y="11529212"/>
            <a:ext cx="7284027" cy="1178976"/>
          </a:xfrm>
          <a:prstGeom prst="rect">
            <a:avLst/>
          </a:prstGeom>
        </p:spPr>
        <p:txBody>
          <a:bodyPr vert="horz" lIns="365760" tIns="182880" rIns="365760" bIns="182880"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endParaRPr lang="en-US" sz="1600" dirty="0"/>
          </a:p>
          <a:p>
            <a:pPr defTabSz="2971800" hangingPunct="1"/>
            <a:r>
              <a:rPr lang="en-GB" sz="1600" dirty="0">
                <a:solidFill>
                  <a:prstClr val="white">
                    <a:lumMod val="65000"/>
                  </a:prstClr>
                </a:solidFill>
              </a:rPr>
              <a:t>Source: public information, </a:t>
            </a:r>
            <a:r>
              <a:rPr lang="en-GB" sz="1600" dirty="0" err="1">
                <a:solidFill>
                  <a:prstClr val="white">
                    <a:lumMod val="65000"/>
                  </a:prstClr>
                </a:solidFill>
              </a:rPr>
              <a:t>Telegeography</a:t>
            </a:r>
            <a:r>
              <a:rPr lang="en-GB" sz="1600" dirty="0">
                <a:solidFill>
                  <a:prstClr val="white">
                    <a:lumMod val="65000"/>
                  </a:prstClr>
                </a:solidFill>
              </a:rPr>
              <a:t>, DE-CIX’s study: “Portugal: a global interconnection hub, a gateway to Europe, a gateway to the world”</a:t>
            </a:r>
          </a:p>
          <a:p>
            <a:pPr defTabSz="2971800" hangingPunct="1"/>
            <a:r>
              <a:rPr lang="en-GB" sz="1600" dirty="0">
                <a:solidFill>
                  <a:prstClr val="white">
                    <a:lumMod val="65000"/>
                  </a:prstClr>
                </a:solidFill>
              </a:rPr>
              <a:t>1 As per Google’s FCC filing, publicly available</a:t>
            </a:r>
          </a:p>
          <a:p>
            <a:pPr defTabSz="2971800" hangingPunct="1"/>
            <a:r>
              <a:rPr lang="en-GB" sz="1600" dirty="0">
                <a:solidFill>
                  <a:prstClr val="white">
                    <a:lumMod val="65000"/>
                  </a:prstClr>
                </a:solidFill>
              </a:rPr>
              <a:t>Note: </a:t>
            </a:r>
            <a:r>
              <a:rPr lang="en-GB" sz="1600" b="1" dirty="0">
                <a:solidFill>
                  <a:prstClr val="white">
                    <a:lumMod val="65000"/>
                  </a:prstClr>
                </a:solidFill>
              </a:rPr>
              <a:t>EEZ</a:t>
            </a:r>
            <a:r>
              <a:rPr lang="en-GB" sz="1600" dirty="0">
                <a:solidFill>
                  <a:prstClr val="white">
                    <a:lumMod val="65000"/>
                  </a:prstClr>
                </a:solidFill>
              </a:rPr>
              <a:t> stands for Exclusive Economic Zone </a:t>
            </a:r>
          </a:p>
          <a:p>
            <a:endParaRPr lang="pt-BR" sz="1600" dirty="0"/>
          </a:p>
        </p:txBody>
      </p:sp>
      <p:sp>
        <p:nvSpPr>
          <p:cNvPr id="17" name="TextBox 16">
            <a:extLst>
              <a:ext uri="{FF2B5EF4-FFF2-40B4-BE49-F238E27FC236}">
                <a16:creationId xmlns:a16="http://schemas.microsoft.com/office/drawing/2014/main" id="{EBE9C4EF-CAC3-DE5B-0B4F-8629FB0E0E4B}"/>
              </a:ext>
            </a:extLst>
          </p:cNvPr>
          <p:cNvSpPr txBox="1"/>
          <p:nvPr/>
        </p:nvSpPr>
        <p:spPr>
          <a:xfrm>
            <a:off x="1664779" y="5596684"/>
            <a:ext cx="1102178" cy="892552"/>
          </a:xfrm>
          <a:prstGeom prst="rect">
            <a:avLst/>
          </a:prstGeom>
          <a:noFill/>
        </p:spPr>
        <p:txBody>
          <a:bodyPr wrap="square">
            <a:spAutoFit/>
          </a:bodyPr>
          <a:lstStyle/>
          <a:p>
            <a:pPr defTabSz="2971800" hangingPunct="1"/>
            <a:r>
              <a:rPr lang="en-GB" sz="5200" b="1" dirty="0">
                <a:solidFill>
                  <a:srgbClr val="00C159"/>
                </a:solidFill>
                <a:latin typeface="Figtree" pitchFamily="2" charset="0"/>
              </a:rPr>
              <a:t>#1</a:t>
            </a:r>
            <a:endParaRPr lang="en-GB" sz="5200" dirty="0">
              <a:solidFill>
                <a:srgbClr val="00C159"/>
              </a:solidFill>
              <a:latin typeface="Figtree" pitchFamily="2" charset="0"/>
            </a:endParaRPr>
          </a:p>
        </p:txBody>
      </p:sp>
      <p:sp>
        <p:nvSpPr>
          <p:cNvPr id="19" name="TextBox 18">
            <a:extLst>
              <a:ext uri="{FF2B5EF4-FFF2-40B4-BE49-F238E27FC236}">
                <a16:creationId xmlns:a16="http://schemas.microsoft.com/office/drawing/2014/main" id="{FE330FEA-B8E2-09FA-5B13-ACADF2305458}"/>
              </a:ext>
            </a:extLst>
          </p:cNvPr>
          <p:cNvSpPr txBox="1"/>
          <p:nvPr/>
        </p:nvSpPr>
        <p:spPr>
          <a:xfrm>
            <a:off x="1664779" y="7129892"/>
            <a:ext cx="1020535" cy="892552"/>
          </a:xfrm>
          <a:prstGeom prst="rect">
            <a:avLst/>
          </a:prstGeom>
          <a:noFill/>
        </p:spPr>
        <p:txBody>
          <a:bodyPr wrap="square">
            <a:spAutoFit/>
          </a:bodyPr>
          <a:lstStyle/>
          <a:p>
            <a:pPr defTabSz="2971800" hangingPunct="1"/>
            <a:r>
              <a:rPr lang="en-GB" sz="5200" b="1" dirty="0">
                <a:solidFill>
                  <a:srgbClr val="00C159"/>
                </a:solidFill>
                <a:latin typeface="Figtree" pitchFamily="2" charset="0"/>
              </a:rPr>
              <a:t>17</a:t>
            </a:r>
            <a:endParaRPr lang="en-GB" sz="5200" dirty="0">
              <a:solidFill>
                <a:srgbClr val="00C159"/>
              </a:solidFill>
              <a:latin typeface="Figtree" pitchFamily="2" charset="0"/>
            </a:endParaRPr>
          </a:p>
        </p:txBody>
      </p:sp>
      <p:sp>
        <p:nvSpPr>
          <p:cNvPr id="21" name="TextBox 20">
            <a:extLst>
              <a:ext uri="{FF2B5EF4-FFF2-40B4-BE49-F238E27FC236}">
                <a16:creationId xmlns:a16="http://schemas.microsoft.com/office/drawing/2014/main" id="{4F7F5FA6-9744-FBD7-B16C-D8108151A438}"/>
              </a:ext>
            </a:extLst>
          </p:cNvPr>
          <p:cNvSpPr txBox="1"/>
          <p:nvPr/>
        </p:nvSpPr>
        <p:spPr>
          <a:xfrm>
            <a:off x="1682032" y="8532272"/>
            <a:ext cx="1134835" cy="892552"/>
          </a:xfrm>
          <a:prstGeom prst="rect">
            <a:avLst/>
          </a:prstGeom>
          <a:noFill/>
        </p:spPr>
        <p:txBody>
          <a:bodyPr wrap="square">
            <a:spAutoFit/>
          </a:bodyPr>
          <a:lstStyle/>
          <a:p>
            <a:pPr defTabSz="2971800" hangingPunct="1"/>
            <a:r>
              <a:rPr lang="en-GB" sz="5200" b="1" dirty="0">
                <a:solidFill>
                  <a:srgbClr val="00C159"/>
                </a:solidFill>
                <a:latin typeface="Figtree" pitchFamily="2" charset="0"/>
              </a:rPr>
              <a:t>5+ </a:t>
            </a:r>
          </a:p>
        </p:txBody>
      </p:sp>
      <p:sp>
        <p:nvSpPr>
          <p:cNvPr id="23" name="TextBox 22">
            <a:extLst>
              <a:ext uri="{FF2B5EF4-FFF2-40B4-BE49-F238E27FC236}">
                <a16:creationId xmlns:a16="http://schemas.microsoft.com/office/drawing/2014/main" id="{D3491594-2B8B-3F45-1D2C-070ECA37CDA5}"/>
              </a:ext>
            </a:extLst>
          </p:cNvPr>
          <p:cNvSpPr txBox="1"/>
          <p:nvPr/>
        </p:nvSpPr>
        <p:spPr>
          <a:xfrm>
            <a:off x="1664779" y="9897037"/>
            <a:ext cx="1869621" cy="892552"/>
          </a:xfrm>
          <a:prstGeom prst="rect">
            <a:avLst/>
          </a:prstGeom>
          <a:noFill/>
        </p:spPr>
        <p:txBody>
          <a:bodyPr wrap="square">
            <a:spAutoFit/>
          </a:bodyPr>
          <a:lstStyle/>
          <a:p>
            <a:pPr defTabSz="2971800" hangingPunct="1"/>
            <a:r>
              <a:rPr lang="en-GB" sz="5200" b="1" dirty="0">
                <a:solidFill>
                  <a:srgbClr val="00C159"/>
                </a:solidFill>
                <a:latin typeface="Figtree" pitchFamily="2" charset="0"/>
              </a:rPr>
              <a:t>2.75x</a:t>
            </a:r>
            <a:endParaRPr lang="en-GB" sz="5200" dirty="0">
              <a:solidFill>
                <a:srgbClr val="00C159"/>
              </a:solidFill>
              <a:latin typeface="Figtree" pitchFamily="2" charset="0"/>
            </a:endParaRPr>
          </a:p>
        </p:txBody>
      </p:sp>
      <p:sp>
        <p:nvSpPr>
          <p:cNvPr id="24" name="Rectangular Callout 23">
            <a:extLst>
              <a:ext uri="{FF2B5EF4-FFF2-40B4-BE49-F238E27FC236}">
                <a16:creationId xmlns:a16="http://schemas.microsoft.com/office/drawing/2014/main" id="{B6DE30DB-8406-EAC0-056A-BFE5DBFBE38F}"/>
              </a:ext>
            </a:extLst>
          </p:cNvPr>
          <p:cNvSpPr/>
          <p:nvPr/>
        </p:nvSpPr>
        <p:spPr>
          <a:xfrm>
            <a:off x="9879401" y="4986068"/>
            <a:ext cx="3812875" cy="1259457"/>
          </a:xfrm>
          <a:prstGeom prst="wedgeRectCallout">
            <a:avLst>
              <a:gd name="adj1" fmla="val -15027"/>
              <a:gd name="adj2" fmla="val 85509"/>
            </a:avLst>
          </a:prstGeom>
          <a:solidFill>
            <a:srgbClr val="F4F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2971800" hangingPunct="1"/>
            <a:r>
              <a:rPr lang="en-GB" sz="2400" b="1" dirty="0">
                <a:solidFill>
                  <a:srgbClr val="272726"/>
                </a:solidFill>
                <a:latin typeface="Figtree SemiBold" pitchFamily="2" charset="0"/>
                <a:sym typeface="BryantPro-Medium"/>
              </a:rPr>
              <a:t>Recently announced Google’s </a:t>
            </a:r>
            <a:r>
              <a:rPr lang="en-GB" sz="2400" b="1" dirty="0" err="1">
                <a:solidFill>
                  <a:srgbClr val="00C159"/>
                </a:solidFill>
                <a:latin typeface="Figtree SemiBold" pitchFamily="2" charset="0"/>
                <a:sym typeface="BryantPro-Medium"/>
              </a:rPr>
              <a:t>Nuvem</a:t>
            </a:r>
            <a:r>
              <a:rPr lang="en-GB" sz="2400" b="1" dirty="0">
                <a:solidFill>
                  <a:srgbClr val="00C159"/>
                </a:solidFill>
                <a:latin typeface="Figtree SemiBold" pitchFamily="2" charset="0"/>
                <a:sym typeface="BryantPro-Medium"/>
              </a:rPr>
              <a:t> </a:t>
            </a:r>
            <a:r>
              <a:rPr lang="en-GB" sz="2400" b="1" dirty="0">
                <a:solidFill>
                  <a:srgbClr val="272726"/>
                </a:solidFill>
                <a:latin typeface="Figtree SemiBold" pitchFamily="2" charset="0"/>
                <a:sym typeface="BryantPro-Medium"/>
              </a:rPr>
              <a:t>cable </a:t>
            </a:r>
          </a:p>
        </p:txBody>
      </p:sp>
    </p:spTree>
    <p:extLst>
      <p:ext uri="{BB962C8B-B14F-4D97-AF65-F5344CB8AC3E}">
        <p14:creationId xmlns:p14="http://schemas.microsoft.com/office/powerpoint/2010/main" val="1737819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8D1F1D45-7C6F-BB2C-9B8C-C5F9482AF5A3}"/>
              </a:ext>
            </a:extLst>
          </p:cNvPr>
          <p:cNvSpPr txBox="1"/>
          <p:nvPr/>
        </p:nvSpPr>
        <p:spPr>
          <a:xfrm>
            <a:off x="1508482" y="1959829"/>
            <a:ext cx="7874058" cy="1938992"/>
          </a:xfrm>
          <a:prstGeom prst="rect">
            <a:avLst/>
          </a:prstGeom>
          <a:noFill/>
        </p:spPr>
        <p:txBody>
          <a:bodyPr wrap="square">
            <a:spAutoFit/>
          </a:bodyPr>
          <a:lstStyle/>
          <a:p>
            <a:r>
              <a:rPr lang="en-US" sz="4000" b="1" dirty="0">
                <a:latin typeface="Figtree SemiBold" pitchFamily="2" charset="0"/>
              </a:rPr>
              <a:t>… with robust and growing terrestrial network, resulting in low and </a:t>
            </a:r>
            <a:r>
              <a:rPr lang="en-US" sz="4000" b="1" dirty="0">
                <a:solidFill>
                  <a:srgbClr val="00C159"/>
                </a:solidFill>
                <a:latin typeface="Figtree SemiBold" pitchFamily="2" charset="0"/>
              </a:rPr>
              <a:t>ultra-low latencies </a:t>
            </a:r>
            <a:endParaRPr lang="en-PT" sz="4000" b="1" dirty="0">
              <a:solidFill>
                <a:srgbClr val="00C159"/>
              </a:solidFill>
              <a:latin typeface="Figtree SemiBold" pitchFamily="2" charset="0"/>
            </a:endParaRPr>
          </a:p>
        </p:txBody>
      </p:sp>
      <p:pic>
        <p:nvPicPr>
          <p:cNvPr id="8" name="Picture 7">
            <a:extLst>
              <a:ext uri="{FF2B5EF4-FFF2-40B4-BE49-F238E27FC236}">
                <a16:creationId xmlns:a16="http://schemas.microsoft.com/office/drawing/2014/main" id="{89E04517-F57A-0452-45FF-A6239D8DD3BB}"/>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9642475" y="0"/>
            <a:ext cx="14744700" cy="13716000"/>
          </a:xfrm>
          <a:prstGeom prst="rect">
            <a:avLst/>
          </a:prstGeom>
        </p:spPr>
      </p:pic>
      <p:sp>
        <p:nvSpPr>
          <p:cNvPr id="10" name="Rectangle 9">
            <a:extLst>
              <a:ext uri="{FF2B5EF4-FFF2-40B4-BE49-F238E27FC236}">
                <a16:creationId xmlns:a16="http://schemas.microsoft.com/office/drawing/2014/main" id="{59E25741-8E16-F283-EBD9-8B519909B6E6}"/>
              </a:ext>
            </a:extLst>
          </p:cNvPr>
          <p:cNvSpPr/>
          <p:nvPr/>
        </p:nvSpPr>
        <p:spPr>
          <a:xfrm>
            <a:off x="1486585" y="4566672"/>
            <a:ext cx="7041190" cy="3538840"/>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defTabSz="2971876" hangingPunct="1">
              <a:buClr>
                <a:srgbClr val="00B050"/>
              </a:buClr>
              <a:defRPr/>
            </a:pPr>
            <a:r>
              <a:rPr lang="en-GB" sz="2800" b="1" dirty="0">
                <a:solidFill>
                  <a:srgbClr val="00C159"/>
                </a:solidFill>
                <a:latin typeface="Figtree" pitchFamily="2" charset="0"/>
              </a:rPr>
              <a:t>Robust and growing network of terrestrial cables facilitating connections for Europe </a:t>
            </a:r>
          </a:p>
          <a:p>
            <a:pPr defTabSz="2971876" hangingPunct="1">
              <a:buClr>
                <a:srgbClr val="00B050"/>
              </a:buClr>
              <a:defRPr/>
            </a:pPr>
            <a:r>
              <a:rPr lang="en-GB" sz="2400" b="1" dirty="0">
                <a:solidFill>
                  <a:srgbClr val="548235"/>
                </a:solidFill>
                <a:latin typeface="Figtree" pitchFamily="2" charset="0"/>
              </a:rPr>
              <a:t> </a:t>
            </a:r>
            <a:endParaRPr lang="en-GB" sz="2400" dirty="0">
              <a:solidFill>
                <a:prstClr val="black"/>
              </a:solidFill>
              <a:latin typeface="Figtree" pitchFamily="2" charset="0"/>
            </a:endParaRPr>
          </a:p>
          <a:p>
            <a:pPr defTabSz="2971876" hangingPunct="1">
              <a:buClr>
                <a:srgbClr val="00B050"/>
              </a:buClr>
              <a:defRPr/>
            </a:pPr>
            <a:r>
              <a:rPr lang="en-GB" sz="2800" b="1" dirty="0">
                <a:solidFill>
                  <a:prstClr val="black"/>
                </a:solidFill>
                <a:latin typeface="Figtree" pitchFamily="2" charset="0"/>
              </a:rPr>
              <a:t>&gt;12 links </a:t>
            </a:r>
            <a:r>
              <a:rPr lang="en-GB" sz="2800" dirty="0">
                <a:solidFill>
                  <a:prstClr val="black"/>
                </a:solidFill>
                <a:latin typeface="Figtree" pitchFamily="2" charset="0"/>
              </a:rPr>
              <a:t>to Spain, with most of them </a:t>
            </a:r>
            <a:r>
              <a:rPr lang="en-GB" sz="2800" b="1" dirty="0">
                <a:solidFill>
                  <a:prstClr val="black"/>
                </a:solidFill>
                <a:latin typeface="Figtree" pitchFamily="2" charset="0"/>
              </a:rPr>
              <a:t>extending further into France and beyond</a:t>
            </a:r>
            <a:br>
              <a:rPr lang="en-GB" sz="2800" b="1" dirty="0">
                <a:solidFill>
                  <a:prstClr val="black"/>
                </a:solidFill>
                <a:latin typeface="Figtree" pitchFamily="2" charset="0"/>
              </a:rPr>
            </a:br>
            <a:endParaRPr lang="en-GB" sz="2800" b="1" dirty="0">
              <a:solidFill>
                <a:prstClr val="black"/>
              </a:solidFill>
              <a:latin typeface="Figtree" pitchFamily="2" charset="0"/>
            </a:endParaRPr>
          </a:p>
          <a:p>
            <a:pPr defTabSz="2971876" hangingPunct="1">
              <a:buClr>
                <a:srgbClr val="00B050"/>
              </a:buClr>
              <a:defRPr/>
            </a:pPr>
            <a:r>
              <a:rPr lang="en-GB" sz="2800" dirty="0">
                <a:solidFill>
                  <a:prstClr val="black"/>
                </a:solidFill>
                <a:latin typeface="Figtree" pitchFamily="2" charset="0"/>
              </a:rPr>
              <a:t>c. </a:t>
            </a:r>
            <a:r>
              <a:rPr lang="en-GB" sz="2800" b="1" dirty="0">
                <a:solidFill>
                  <a:prstClr val="black"/>
                </a:solidFill>
                <a:latin typeface="Figtree" pitchFamily="2" charset="0"/>
              </a:rPr>
              <a:t>10 major backbone infrastructure players </a:t>
            </a:r>
            <a:r>
              <a:rPr lang="en-GB" sz="2800" dirty="0">
                <a:solidFill>
                  <a:prstClr val="black"/>
                </a:solidFill>
                <a:latin typeface="Figtree" pitchFamily="2" charset="0"/>
              </a:rPr>
              <a:t>in the country </a:t>
            </a:r>
          </a:p>
          <a:p>
            <a:pPr marL="557228" indent="-557228" defTabSz="2971876" hangingPunct="1">
              <a:buClr>
                <a:srgbClr val="00B050"/>
              </a:buClr>
              <a:buFont typeface="Wingdings" panose="05000000000000000000" pitchFamily="2" charset="2"/>
              <a:buChar char="ü"/>
              <a:defRPr/>
            </a:pPr>
            <a:endParaRPr lang="en-GB" sz="2400" b="1" dirty="0">
              <a:solidFill>
                <a:prstClr val="black"/>
              </a:solidFill>
              <a:latin typeface="Figtree" pitchFamily="2" charset="0"/>
            </a:endParaRPr>
          </a:p>
          <a:p>
            <a:pPr defTabSz="2971876" hangingPunct="1">
              <a:buClr>
                <a:srgbClr val="00B050"/>
              </a:buClr>
              <a:defRPr/>
            </a:pPr>
            <a:endParaRPr lang="en-GB" sz="2400" dirty="0">
              <a:solidFill>
                <a:prstClr val="black"/>
              </a:solidFill>
              <a:latin typeface="Figtree" pitchFamily="2" charset="0"/>
            </a:endParaRPr>
          </a:p>
        </p:txBody>
      </p:sp>
      <p:pic>
        <p:nvPicPr>
          <p:cNvPr id="11" name="Picture 10">
            <a:extLst>
              <a:ext uri="{FF2B5EF4-FFF2-40B4-BE49-F238E27FC236}">
                <a16:creationId xmlns:a16="http://schemas.microsoft.com/office/drawing/2014/main" id="{42BC0E2A-6F0D-59A7-1EF4-9C23906A115D}"/>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5192127" y="9438527"/>
            <a:ext cx="2466064" cy="2900758"/>
          </a:xfrm>
          <a:prstGeom prst="rect">
            <a:avLst/>
          </a:prstGeom>
        </p:spPr>
      </p:pic>
      <p:sp>
        <p:nvSpPr>
          <p:cNvPr id="12" name="TextBox 11">
            <a:extLst>
              <a:ext uri="{FF2B5EF4-FFF2-40B4-BE49-F238E27FC236}">
                <a16:creationId xmlns:a16="http://schemas.microsoft.com/office/drawing/2014/main" id="{D984AE25-24A0-642E-E851-85BB8F9B8F0D}"/>
              </a:ext>
            </a:extLst>
          </p:cNvPr>
          <p:cNvSpPr txBox="1"/>
          <p:nvPr/>
        </p:nvSpPr>
        <p:spPr>
          <a:xfrm>
            <a:off x="1541216" y="9569920"/>
            <a:ext cx="4024696" cy="1200329"/>
          </a:xfrm>
          <a:prstGeom prst="rect">
            <a:avLst/>
          </a:prstGeom>
          <a:noFill/>
        </p:spPr>
        <p:txBody>
          <a:bodyPr wrap="square">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defTabSz="2971800" hangingPunct="1"/>
            <a:r>
              <a:rPr lang="en-GB" sz="2400" dirty="0">
                <a:solidFill>
                  <a:prstClr val="black"/>
                </a:solidFill>
                <a:latin typeface="Figtree Medium" pitchFamily="2" charset="0"/>
              </a:rPr>
              <a:t>Main international</a:t>
            </a:r>
          </a:p>
          <a:p>
            <a:pPr defTabSz="2971800" hangingPunct="1"/>
            <a:r>
              <a:rPr lang="en-GB" sz="2400" dirty="0">
                <a:solidFill>
                  <a:prstClr val="black"/>
                </a:solidFill>
                <a:latin typeface="Figtree Medium" pitchFamily="2" charset="0"/>
              </a:rPr>
              <a:t>terrestrial links between Portugal and Spain</a:t>
            </a:r>
          </a:p>
        </p:txBody>
      </p:sp>
    </p:spTree>
    <p:extLst>
      <p:ext uri="{BB962C8B-B14F-4D97-AF65-F5344CB8AC3E}">
        <p14:creationId xmlns:p14="http://schemas.microsoft.com/office/powerpoint/2010/main" val="36147892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DFEA77-225C-F5F6-3699-FA559F45E36B}"/>
            </a:ext>
          </a:extLst>
        </p:cNvPr>
        <p:cNvGrpSpPr/>
        <p:nvPr/>
      </p:nvGrpSpPr>
      <p:grpSpPr>
        <a:xfrm>
          <a:off x="0" y="0"/>
          <a:ext cx="0" cy="0"/>
          <a:chOff x="0" y="0"/>
          <a:chExt cx="0" cy="0"/>
        </a:xfrm>
      </p:grpSpPr>
      <p:pic>
        <p:nvPicPr>
          <p:cNvPr id="4098" name="Picture 2">
            <a:extLst>
              <a:ext uri="{FF2B5EF4-FFF2-40B4-BE49-F238E27FC236}">
                <a16:creationId xmlns:a16="http://schemas.microsoft.com/office/drawing/2014/main" id="{AA6F90EF-F0F9-EE88-5C18-29598B95226B}"/>
              </a:ext>
            </a:extLst>
          </p:cNvPr>
          <p:cNvPicPr>
            <a:picLocks noChangeAspect="1" noChangeArrowheads="1"/>
          </p:cNvPicPr>
          <p:nvPr/>
        </p:nvPicPr>
        <p:blipFill rotWithShape="1">
          <a:blip r:embed="rId3" cstate="email">
            <a:duotone>
              <a:schemeClr val="bg2">
                <a:shade val="45000"/>
                <a:satMod val="135000"/>
              </a:schemeClr>
              <a:prstClr val="white"/>
            </a:duotone>
            <a:extLst>
              <a:ext uri="{28A0092B-C50C-407E-A947-70E740481C1C}">
                <a14:useLocalDpi xmlns:a14="http://schemas.microsoft.com/office/drawing/2010/main"/>
              </a:ext>
            </a:extLst>
          </a:blip>
          <a:srcRect/>
          <a:stretch/>
        </p:blipFill>
        <p:spPr bwMode="auto">
          <a:xfrm>
            <a:off x="13812692" y="1"/>
            <a:ext cx="10572894" cy="12912362"/>
          </a:xfrm>
          <a:prstGeom prst="rect">
            <a:avLst/>
          </a:prstGeom>
          <a:noFill/>
          <a:extLst>
            <a:ext uri="{909E8E84-426E-40DD-AFC4-6F175D3DCCD1}">
              <a14:hiddenFill xmlns:a14="http://schemas.microsoft.com/office/drawing/2010/main">
                <a:solidFill>
                  <a:srgbClr val="FFFFFF"/>
                </a:solidFill>
              </a14:hiddenFill>
            </a:ext>
          </a:extLst>
        </p:spPr>
      </p:pic>
      <p:sp>
        <p:nvSpPr>
          <p:cNvPr id="15" name="Oval 14">
            <a:extLst>
              <a:ext uri="{FF2B5EF4-FFF2-40B4-BE49-F238E27FC236}">
                <a16:creationId xmlns:a16="http://schemas.microsoft.com/office/drawing/2014/main" id="{80D96E27-9DC2-07D4-A495-04D81BA7FC29}"/>
              </a:ext>
            </a:extLst>
          </p:cNvPr>
          <p:cNvSpPr/>
          <p:nvPr/>
        </p:nvSpPr>
        <p:spPr>
          <a:xfrm>
            <a:off x="15977487" y="10241384"/>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Madrid</a:t>
            </a:r>
            <a:br>
              <a:rPr lang="en-US" sz="1800">
                <a:solidFill>
                  <a:schemeClr val="tx1"/>
                </a:solidFill>
                <a:latin typeface="Figtree" pitchFamily="2" charset="0"/>
              </a:rPr>
            </a:br>
            <a:r>
              <a:rPr lang="en-US" sz="1800">
                <a:solidFill>
                  <a:schemeClr val="tx1"/>
                </a:solidFill>
                <a:latin typeface="Figtree" pitchFamily="2" charset="0"/>
              </a:rPr>
              <a:t>8ms</a:t>
            </a:r>
            <a:endParaRPr lang="en-GB" sz="1800">
              <a:solidFill>
                <a:schemeClr val="tx1"/>
              </a:solidFill>
              <a:latin typeface="Figtree" pitchFamily="2" charset="0"/>
            </a:endParaRPr>
          </a:p>
        </p:txBody>
      </p:sp>
      <p:sp>
        <p:nvSpPr>
          <p:cNvPr id="17" name="Oval 16">
            <a:extLst>
              <a:ext uri="{FF2B5EF4-FFF2-40B4-BE49-F238E27FC236}">
                <a16:creationId xmlns:a16="http://schemas.microsoft.com/office/drawing/2014/main" id="{D748C77F-9610-DCC9-C6BE-75B3B394080C}"/>
              </a:ext>
            </a:extLst>
          </p:cNvPr>
          <p:cNvSpPr/>
          <p:nvPr/>
        </p:nvSpPr>
        <p:spPr>
          <a:xfrm>
            <a:off x="16443385" y="9134784"/>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Bilbao</a:t>
            </a:r>
          </a:p>
          <a:p>
            <a:pPr>
              <a:lnSpc>
                <a:spcPct val="80000"/>
              </a:lnSpc>
            </a:pPr>
            <a:r>
              <a:rPr lang="en-US" sz="1800">
                <a:solidFill>
                  <a:schemeClr val="tx1"/>
                </a:solidFill>
                <a:latin typeface="Figtree" pitchFamily="2" charset="0"/>
              </a:rPr>
              <a:t>11ms</a:t>
            </a:r>
            <a:endParaRPr lang="en-GB" sz="1800">
              <a:solidFill>
                <a:schemeClr val="tx1"/>
              </a:solidFill>
              <a:latin typeface="Figtree" pitchFamily="2" charset="0"/>
            </a:endParaRPr>
          </a:p>
        </p:txBody>
      </p:sp>
      <p:sp>
        <p:nvSpPr>
          <p:cNvPr id="18" name="Oval 17">
            <a:extLst>
              <a:ext uri="{FF2B5EF4-FFF2-40B4-BE49-F238E27FC236}">
                <a16:creationId xmlns:a16="http://schemas.microsoft.com/office/drawing/2014/main" id="{33E7B3F6-D024-D202-957D-F0F4CF56A856}"/>
              </a:ext>
            </a:extLst>
          </p:cNvPr>
          <p:cNvSpPr/>
          <p:nvPr/>
        </p:nvSpPr>
        <p:spPr>
          <a:xfrm>
            <a:off x="17517997" y="10143900"/>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Barcelona</a:t>
            </a:r>
          </a:p>
          <a:p>
            <a:pPr>
              <a:lnSpc>
                <a:spcPct val="80000"/>
              </a:lnSpc>
            </a:pPr>
            <a:r>
              <a:rPr lang="en-US" sz="1800">
                <a:solidFill>
                  <a:schemeClr val="tx1"/>
                </a:solidFill>
                <a:latin typeface="Figtree" pitchFamily="2" charset="0"/>
              </a:rPr>
              <a:t>16ms</a:t>
            </a:r>
            <a:endParaRPr lang="en-GB" sz="1800">
              <a:solidFill>
                <a:schemeClr val="tx1"/>
              </a:solidFill>
              <a:latin typeface="Figtree" pitchFamily="2" charset="0"/>
            </a:endParaRPr>
          </a:p>
        </p:txBody>
      </p:sp>
      <p:sp>
        <p:nvSpPr>
          <p:cNvPr id="19" name="Oval 18">
            <a:extLst>
              <a:ext uri="{FF2B5EF4-FFF2-40B4-BE49-F238E27FC236}">
                <a16:creationId xmlns:a16="http://schemas.microsoft.com/office/drawing/2014/main" id="{2E848E00-239B-6619-5BE8-A27D837B3C18}"/>
              </a:ext>
            </a:extLst>
          </p:cNvPr>
          <p:cNvSpPr/>
          <p:nvPr/>
        </p:nvSpPr>
        <p:spPr>
          <a:xfrm>
            <a:off x="18882137" y="9294334"/>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Marseille</a:t>
            </a:r>
            <a:endParaRPr lang="en-GB" sz="1800">
              <a:solidFill>
                <a:schemeClr val="tx1"/>
              </a:solidFill>
              <a:latin typeface="Figtree" pitchFamily="2" charset="0"/>
            </a:endParaRPr>
          </a:p>
          <a:p>
            <a:pPr>
              <a:lnSpc>
                <a:spcPct val="80000"/>
              </a:lnSpc>
            </a:pPr>
            <a:r>
              <a:rPr lang="en-GB" sz="1800">
                <a:solidFill>
                  <a:schemeClr val="tx1"/>
                </a:solidFill>
                <a:latin typeface="Figtree" pitchFamily="2" charset="0"/>
              </a:rPr>
              <a:t>23ms</a:t>
            </a:r>
          </a:p>
        </p:txBody>
      </p:sp>
      <p:sp>
        <p:nvSpPr>
          <p:cNvPr id="20" name="Oval 19">
            <a:extLst>
              <a:ext uri="{FF2B5EF4-FFF2-40B4-BE49-F238E27FC236}">
                <a16:creationId xmlns:a16="http://schemas.microsoft.com/office/drawing/2014/main" id="{FE4BD5C5-4D84-FF0D-F0C6-980BFB4A5049}"/>
              </a:ext>
            </a:extLst>
          </p:cNvPr>
          <p:cNvSpPr/>
          <p:nvPr/>
        </p:nvSpPr>
        <p:spPr>
          <a:xfrm>
            <a:off x="18246661" y="7066714"/>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0" tIns="1008000" bIns="72000" rtlCol="0" anchor="ctr"/>
          <a:lstStyle/>
          <a:p>
            <a:pPr>
              <a:lnSpc>
                <a:spcPct val="80000"/>
              </a:lnSpc>
            </a:pPr>
            <a:r>
              <a:rPr lang="en-US" sz="1800">
                <a:solidFill>
                  <a:schemeClr val="tx1"/>
                </a:solidFill>
                <a:latin typeface="Figtree" pitchFamily="2" charset="0"/>
              </a:rPr>
              <a:t>Paris</a:t>
            </a:r>
          </a:p>
          <a:p>
            <a:pPr>
              <a:lnSpc>
                <a:spcPct val="80000"/>
              </a:lnSpc>
            </a:pPr>
            <a:r>
              <a:rPr lang="en-US" sz="1800">
                <a:solidFill>
                  <a:schemeClr val="tx1"/>
                </a:solidFill>
                <a:latin typeface="Figtree" pitchFamily="2" charset="0"/>
              </a:rPr>
              <a:t>24ms</a:t>
            </a:r>
            <a:endParaRPr lang="en-GB" sz="1800">
              <a:solidFill>
                <a:schemeClr val="tx1"/>
              </a:solidFill>
              <a:latin typeface="Figtree" pitchFamily="2" charset="0"/>
            </a:endParaRPr>
          </a:p>
        </p:txBody>
      </p:sp>
      <p:sp>
        <p:nvSpPr>
          <p:cNvPr id="21" name="Oval 20">
            <a:extLst>
              <a:ext uri="{FF2B5EF4-FFF2-40B4-BE49-F238E27FC236}">
                <a16:creationId xmlns:a16="http://schemas.microsoft.com/office/drawing/2014/main" id="{97C9D525-9BEE-4CCD-41E9-5587CDB72EC0}"/>
              </a:ext>
            </a:extLst>
          </p:cNvPr>
          <p:cNvSpPr/>
          <p:nvPr/>
        </p:nvSpPr>
        <p:spPr>
          <a:xfrm>
            <a:off x="20174967" y="8708588"/>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Milan</a:t>
            </a:r>
          </a:p>
          <a:p>
            <a:pPr>
              <a:lnSpc>
                <a:spcPct val="80000"/>
              </a:lnSpc>
            </a:pPr>
            <a:r>
              <a:rPr lang="en-US" sz="1800">
                <a:solidFill>
                  <a:schemeClr val="tx1"/>
                </a:solidFill>
                <a:latin typeface="Figtree" pitchFamily="2" charset="0"/>
              </a:rPr>
              <a:t>29ms</a:t>
            </a:r>
            <a:endParaRPr lang="en-GB" sz="1800">
              <a:solidFill>
                <a:schemeClr val="tx1"/>
              </a:solidFill>
              <a:latin typeface="Figtree" pitchFamily="2" charset="0"/>
            </a:endParaRPr>
          </a:p>
        </p:txBody>
      </p:sp>
      <p:sp>
        <p:nvSpPr>
          <p:cNvPr id="22" name="Oval 21">
            <a:extLst>
              <a:ext uri="{FF2B5EF4-FFF2-40B4-BE49-F238E27FC236}">
                <a16:creationId xmlns:a16="http://schemas.microsoft.com/office/drawing/2014/main" id="{E0BF0E95-76B7-AFBA-C258-B7084E41906C}"/>
              </a:ext>
            </a:extLst>
          </p:cNvPr>
          <p:cNvSpPr/>
          <p:nvPr/>
        </p:nvSpPr>
        <p:spPr>
          <a:xfrm>
            <a:off x="17791783" y="5995836"/>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London</a:t>
            </a:r>
          </a:p>
          <a:p>
            <a:pPr>
              <a:lnSpc>
                <a:spcPct val="80000"/>
              </a:lnSpc>
            </a:pPr>
            <a:r>
              <a:rPr lang="en-US" sz="1800">
                <a:solidFill>
                  <a:schemeClr val="tx1"/>
                </a:solidFill>
                <a:latin typeface="Figtree" pitchFamily="2" charset="0"/>
              </a:rPr>
              <a:t>31ms</a:t>
            </a:r>
            <a:endParaRPr lang="en-GB" sz="1800">
              <a:solidFill>
                <a:schemeClr val="tx1"/>
              </a:solidFill>
              <a:latin typeface="Figtree" pitchFamily="2" charset="0"/>
            </a:endParaRPr>
          </a:p>
        </p:txBody>
      </p:sp>
      <p:sp>
        <p:nvSpPr>
          <p:cNvPr id="24" name="Oval 23">
            <a:extLst>
              <a:ext uri="{FF2B5EF4-FFF2-40B4-BE49-F238E27FC236}">
                <a16:creationId xmlns:a16="http://schemas.microsoft.com/office/drawing/2014/main" id="{D9A6859F-D904-FD00-6A56-620E9C2FEA37}"/>
              </a:ext>
            </a:extLst>
          </p:cNvPr>
          <p:cNvSpPr/>
          <p:nvPr/>
        </p:nvSpPr>
        <p:spPr>
          <a:xfrm>
            <a:off x="20050195" y="6594734"/>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Frankfurt</a:t>
            </a:r>
          </a:p>
          <a:p>
            <a:pPr>
              <a:lnSpc>
                <a:spcPct val="80000"/>
              </a:lnSpc>
            </a:pPr>
            <a:r>
              <a:rPr lang="en-US" sz="1800">
                <a:solidFill>
                  <a:schemeClr val="tx1"/>
                </a:solidFill>
                <a:latin typeface="Figtree" pitchFamily="2" charset="0"/>
              </a:rPr>
              <a:t>33ms</a:t>
            </a:r>
            <a:endParaRPr lang="en-GB" sz="1800">
              <a:solidFill>
                <a:schemeClr val="tx1"/>
              </a:solidFill>
              <a:latin typeface="Figtree" pitchFamily="2" charset="0"/>
            </a:endParaRPr>
          </a:p>
        </p:txBody>
      </p:sp>
      <p:sp>
        <p:nvSpPr>
          <p:cNvPr id="25" name="Oval 24">
            <a:extLst>
              <a:ext uri="{FF2B5EF4-FFF2-40B4-BE49-F238E27FC236}">
                <a16:creationId xmlns:a16="http://schemas.microsoft.com/office/drawing/2014/main" id="{21DDFEA4-B9CC-8C0F-4121-89BCBC161AE5}"/>
              </a:ext>
            </a:extLst>
          </p:cNvPr>
          <p:cNvSpPr/>
          <p:nvPr/>
        </p:nvSpPr>
        <p:spPr>
          <a:xfrm>
            <a:off x="19286913" y="5719372"/>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Amsterdam</a:t>
            </a:r>
          </a:p>
          <a:p>
            <a:pPr>
              <a:lnSpc>
                <a:spcPct val="80000"/>
              </a:lnSpc>
            </a:pPr>
            <a:r>
              <a:rPr lang="en-US" sz="1800">
                <a:solidFill>
                  <a:schemeClr val="tx1"/>
                </a:solidFill>
                <a:latin typeface="Figtree" pitchFamily="2" charset="0"/>
              </a:rPr>
              <a:t>35ms</a:t>
            </a:r>
            <a:endParaRPr lang="en-GB" sz="1800">
              <a:solidFill>
                <a:schemeClr val="tx1"/>
              </a:solidFill>
              <a:latin typeface="Figtree" pitchFamily="2" charset="0"/>
            </a:endParaRPr>
          </a:p>
        </p:txBody>
      </p:sp>
      <p:sp>
        <p:nvSpPr>
          <p:cNvPr id="26" name="Oval 25">
            <a:extLst>
              <a:ext uri="{FF2B5EF4-FFF2-40B4-BE49-F238E27FC236}">
                <a16:creationId xmlns:a16="http://schemas.microsoft.com/office/drawing/2014/main" id="{280C3373-E185-BE51-E2EE-E1988EA2DE5F}"/>
              </a:ext>
            </a:extLst>
          </p:cNvPr>
          <p:cNvSpPr/>
          <p:nvPr/>
        </p:nvSpPr>
        <p:spPr>
          <a:xfrm>
            <a:off x="21252179" y="10171292"/>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Rome</a:t>
            </a:r>
          </a:p>
          <a:p>
            <a:pPr>
              <a:lnSpc>
                <a:spcPct val="80000"/>
              </a:lnSpc>
            </a:pPr>
            <a:r>
              <a:rPr lang="en-US" sz="1800">
                <a:solidFill>
                  <a:schemeClr val="tx1"/>
                </a:solidFill>
                <a:latin typeface="Figtree" pitchFamily="2" charset="0"/>
              </a:rPr>
              <a:t>40ms</a:t>
            </a:r>
            <a:endParaRPr lang="en-GB" sz="1800">
              <a:solidFill>
                <a:schemeClr val="tx1"/>
              </a:solidFill>
              <a:latin typeface="Figtree" pitchFamily="2" charset="0"/>
            </a:endParaRPr>
          </a:p>
        </p:txBody>
      </p:sp>
      <p:sp>
        <p:nvSpPr>
          <p:cNvPr id="2" name="Title 1">
            <a:extLst>
              <a:ext uri="{FF2B5EF4-FFF2-40B4-BE49-F238E27FC236}">
                <a16:creationId xmlns:a16="http://schemas.microsoft.com/office/drawing/2014/main" id="{C9BA25CD-5DB7-6673-8F68-F3A410052518}"/>
              </a:ext>
            </a:extLst>
          </p:cNvPr>
          <p:cNvSpPr>
            <a:spLocks noGrp="1"/>
          </p:cNvSpPr>
          <p:nvPr>
            <p:ph type="title"/>
          </p:nvPr>
        </p:nvSpPr>
        <p:spPr>
          <a:xfrm>
            <a:off x="1025403" y="736601"/>
            <a:ext cx="22266028" cy="1653786"/>
          </a:xfrm>
        </p:spPr>
        <p:txBody>
          <a:bodyPr/>
          <a:lstStyle/>
          <a:p>
            <a:r>
              <a:rPr lang="en-US">
                <a:solidFill>
                  <a:schemeClr val="tx1"/>
                </a:solidFill>
              </a:rPr>
              <a:t>Portugal </a:t>
            </a:r>
            <a:r>
              <a:rPr lang="en-US">
                <a:solidFill>
                  <a:schemeClr val="tx1"/>
                </a:solidFill>
                <a:ea typeface="Tahoma" panose="020B0604030504040204" pitchFamily="34" charset="0"/>
                <a:cs typeface="Tahoma" panose="020B0604030504040204" pitchFamily="34" charset="0"/>
              </a:rPr>
              <a:t>offers </a:t>
            </a:r>
            <a:r>
              <a:rPr lang="en-US">
                <a:solidFill>
                  <a:srgbClr val="00C058"/>
                </a:solidFill>
                <a:ea typeface="Tahoma" panose="020B0604030504040204" pitchFamily="34" charset="0"/>
                <a:cs typeface="Tahoma" panose="020B0604030504040204" pitchFamily="34" charset="0"/>
              </a:rPr>
              <a:t>low and ultra-low latencies </a:t>
            </a:r>
            <a:r>
              <a:rPr lang="en-US">
                <a:solidFill>
                  <a:schemeClr val="tx1"/>
                </a:solidFill>
                <a:ea typeface="Tahoma" panose="020B0604030504040204" pitchFamily="34" charset="0"/>
                <a:cs typeface="Tahoma" panose="020B0604030504040204" pitchFamily="34" charset="0"/>
              </a:rPr>
              <a:t>to Europe </a:t>
            </a:r>
            <a:br>
              <a:rPr lang="en-US">
                <a:solidFill>
                  <a:schemeClr val="tx1"/>
                </a:solidFill>
                <a:ea typeface="Tahoma" panose="020B0604030504040204" pitchFamily="34" charset="0"/>
                <a:cs typeface="Tahoma" panose="020B0604030504040204" pitchFamily="34" charset="0"/>
              </a:rPr>
            </a:br>
            <a:r>
              <a:rPr lang="en-US">
                <a:solidFill>
                  <a:schemeClr val="tx1"/>
                </a:solidFill>
                <a:ea typeface="Tahoma" panose="020B0604030504040204" pitchFamily="34" charset="0"/>
                <a:cs typeface="Tahoma" panose="020B0604030504040204" pitchFamily="34" charset="0"/>
              </a:rPr>
              <a:t>and the </a:t>
            </a:r>
            <a:r>
              <a:rPr lang="en-US">
                <a:solidFill>
                  <a:srgbClr val="00C159"/>
                </a:solidFill>
                <a:ea typeface="Tahoma" panose="020B0604030504040204" pitchFamily="34" charset="0"/>
                <a:cs typeface="Tahoma" panose="020B0604030504040204" pitchFamily="34" charset="0"/>
              </a:rPr>
              <a:t>rest of the world</a:t>
            </a:r>
            <a:endParaRPr lang="en-GB">
              <a:solidFill>
                <a:srgbClr val="00C159"/>
              </a:solidFill>
              <a:ea typeface="Tahoma" panose="020B0604030504040204" pitchFamily="34" charset="0"/>
              <a:cs typeface="Tahoma" panose="020B0604030504040204" pitchFamily="34" charset="0"/>
            </a:endParaRPr>
          </a:p>
        </p:txBody>
      </p:sp>
      <p:sp>
        <p:nvSpPr>
          <p:cNvPr id="5" name="Text Placeholder 4">
            <a:extLst>
              <a:ext uri="{FF2B5EF4-FFF2-40B4-BE49-F238E27FC236}">
                <a16:creationId xmlns:a16="http://schemas.microsoft.com/office/drawing/2014/main" id="{C1519A61-37A9-E2F8-755B-88C351D047FF}"/>
              </a:ext>
            </a:extLst>
          </p:cNvPr>
          <p:cNvSpPr>
            <a:spLocks noGrp="1"/>
          </p:cNvSpPr>
          <p:nvPr>
            <p:ph type="body" idx="10"/>
          </p:nvPr>
        </p:nvSpPr>
        <p:spPr>
          <a:xfrm>
            <a:off x="3842849" y="12716321"/>
            <a:ext cx="18557240" cy="609458"/>
          </a:xfrm>
        </p:spPr>
        <p:txBody>
          <a:bodyPr/>
          <a:lstStyle/>
          <a:p>
            <a:r>
              <a:rPr lang="en-US"/>
              <a:t>Source: Company information </a:t>
            </a:r>
          </a:p>
        </p:txBody>
      </p:sp>
      <p:sp>
        <p:nvSpPr>
          <p:cNvPr id="12" name="Rectangle 11">
            <a:extLst>
              <a:ext uri="{FF2B5EF4-FFF2-40B4-BE49-F238E27FC236}">
                <a16:creationId xmlns:a16="http://schemas.microsoft.com/office/drawing/2014/main" id="{B52209B0-529A-B5F4-7233-56E8A3782AC2}"/>
              </a:ext>
            </a:extLst>
          </p:cNvPr>
          <p:cNvSpPr/>
          <p:nvPr/>
        </p:nvSpPr>
        <p:spPr>
          <a:xfrm>
            <a:off x="11454348" y="14171376"/>
            <a:ext cx="5283914" cy="166234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1485938">
              <a:buClr>
                <a:srgbClr val="00B050"/>
              </a:buClr>
              <a:defRPr/>
            </a:pPr>
            <a:r>
              <a:rPr lang="en-GB" sz="2400" b="1">
                <a:solidFill>
                  <a:srgbClr val="00C159"/>
                </a:solidFill>
                <a:latin typeface="Tahoma" panose="020B0604030504040204" pitchFamily="34" charset="0"/>
                <a:ea typeface="Tahoma" panose="020B0604030504040204" pitchFamily="34" charset="0"/>
                <a:cs typeface="Tahoma" panose="020B0604030504040204" pitchFamily="34" charset="0"/>
              </a:rPr>
              <a:t>Europe</a:t>
            </a:r>
          </a:p>
          <a:p>
            <a:pPr marL="278614" indent="-278614" defTabSz="1485938">
              <a:buClr>
                <a:srgbClr val="00B050"/>
              </a:buClr>
              <a:buFont typeface="Wingdings" panose="05000000000000000000" pitchFamily="2" charset="2"/>
              <a:buChar char="ü"/>
              <a:defRPr/>
            </a:pPr>
            <a:r>
              <a:rPr lang="en-GB" sz="2200">
                <a:solidFill>
                  <a:prstClr val="black"/>
                </a:solidFill>
                <a:latin typeface="Tahoma" panose="020B0604030504040204" pitchFamily="34" charset="0"/>
                <a:ea typeface="Tahoma" panose="020B0604030504040204" pitchFamily="34" charset="0"/>
                <a:cs typeface="Tahoma" panose="020B0604030504040204" pitchFamily="34" charset="0"/>
              </a:rPr>
              <a:t>Iberian Peninsula within </a:t>
            </a:r>
            <a:r>
              <a:rPr lang="en-GB" sz="2200" b="1">
                <a:solidFill>
                  <a:prstClr val="black"/>
                </a:solidFill>
                <a:latin typeface="Tahoma" panose="020B0604030504040204" pitchFamily="34" charset="0"/>
                <a:ea typeface="Tahoma" panose="020B0604030504040204" pitchFamily="34" charset="0"/>
                <a:cs typeface="Tahoma" panose="020B0604030504040204" pitchFamily="34" charset="0"/>
              </a:rPr>
              <a:t>16ms RTD </a:t>
            </a:r>
          </a:p>
          <a:p>
            <a:pPr marL="278614" indent="-278614" defTabSz="1485938">
              <a:buClr>
                <a:srgbClr val="00B050"/>
              </a:buClr>
              <a:buFont typeface="Wingdings" panose="05000000000000000000" pitchFamily="2" charset="2"/>
              <a:buChar char="ü"/>
              <a:defRPr/>
            </a:pPr>
            <a:r>
              <a:rPr lang="en-GB" sz="2200">
                <a:solidFill>
                  <a:prstClr val="black"/>
                </a:solidFill>
                <a:latin typeface="Tahoma" panose="020B0604030504040204" pitchFamily="34" charset="0"/>
                <a:ea typeface="Tahoma" panose="020B0604030504040204" pitchFamily="34" charset="0"/>
                <a:cs typeface="Tahoma" panose="020B0604030504040204" pitchFamily="34" charset="0"/>
              </a:rPr>
              <a:t>FLAP-D markets within </a:t>
            </a:r>
            <a:r>
              <a:rPr lang="en-GB" sz="2200" b="1">
                <a:solidFill>
                  <a:prstClr val="black"/>
                </a:solidFill>
                <a:latin typeface="Tahoma" panose="020B0604030504040204" pitchFamily="34" charset="0"/>
                <a:ea typeface="Tahoma" panose="020B0604030504040204" pitchFamily="34" charset="0"/>
                <a:cs typeface="Tahoma" panose="020B0604030504040204" pitchFamily="34" charset="0"/>
              </a:rPr>
              <a:t>35ms RTD</a:t>
            </a:r>
            <a:endParaRPr lang="en-GB" sz="2200">
              <a:solidFill>
                <a:prstClr val="black"/>
              </a:solidFill>
              <a:latin typeface="Tahoma" panose="020B0604030504040204" pitchFamily="34" charset="0"/>
              <a:ea typeface="Tahoma" panose="020B0604030504040204" pitchFamily="34" charset="0"/>
              <a:cs typeface="Tahoma" panose="020B0604030504040204" pitchFamily="34" charset="0"/>
            </a:endParaRPr>
          </a:p>
        </p:txBody>
      </p:sp>
      <p:sp>
        <p:nvSpPr>
          <p:cNvPr id="13" name="Rectangle 12">
            <a:extLst>
              <a:ext uri="{FF2B5EF4-FFF2-40B4-BE49-F238E27FC236}">
                <a16:creationId xmlns:a16="http://schemas.microsoft.com/office/drawing/2014/main" id="{32E76EAC-B44B-40BB-865B-B1C1BABEA880}"/>
              </a:ext>
            </a:extLst>
          </p:cNvPr>
          <p:cNvSpPr/>
          <p:nvPr/>
        </p:nvSpPr>
        <p:spPr>
          <a:xfrm>
            <a:off x="16738262" y="14044268"/>
            <a:ext cx="7077242" cy="2653648"/>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defTabSz="1485938">
              <a:buClr>
                <a:srgbClr val="00B050"/>
              </a:buClr>
              <a:defRPr/>
            </a:pPr>
            <a:r>
              <a:rPr lang="en-GB" sz="2800" b="1">
                <a:solidFill>
                  <a:srgbClr val="00C159"/>
                </a:solidFill>
                <a:latin typeface="Tahoma" panose="020B0604030504040204" pitchFamily="34" charset="0"/>
                <a:ea typeface="Tahoma" panose="020B0604030504040204" pitchFamily="34" charset="0"/>
                <a:cs typeface="Tahoma" panose="020B0604030504040204" pitchFamily="34" charset="0"/>
              </a:rPr>
              <a:t>Intercontinental</a:t>
            </a:r>
          </a:p>
          <a:p>
            <a:pPr marL="278614" indent="-278614" defTabSz="1485938">
              <a:buClr>
                <a:srgbClr val="00B050"/>
              </a:buClr>
              <a:buFont typeface="Wingdings" panose="05000000000000000000" pitchFamily="2" charset="2"/>
              <a:buChar char="ü"/>
              <a:defRPr/>
            </a:pP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North America from c. </a:t>
            </a:r>
            <a:r>
              <a:rPr lang="en-GB" sz="2400" b="1">
                <a:solidFill>
                  <a:prstClr val="black"/>
                </a:solidFill>
                <a:latin typeface="Tahoma" panose="020B0604030504040204" pitchFamily="34" charset="0"/>
                <a:ea typeface="Tahoma" panose="020B0604030504040204" pitchFamily="34" charset="0"/>
                <a:cs typeface="Tahoma" panose="020B0604030504040204" pitchFamily="34" charset="0"/>
              </a:rPr>
              <a:t>66ms RTD </a:t>
            </a:r>
          </a:p>
          <a:p>
            <a:pPr marL="278614" indent="-278614" defTabSz="1485938">
              <a:buClr>
                <a:srgbClr val="00B050"/>
              </a:buClr>
              <a:buFont typeface="Wingdings" panose="05000000000000000000" pitchFamily="2" charset="2"/>
              <a:buChar char="ü"/>
              <a:defRPr/>
            </a:pP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South America from </a:t>
            </a:r>
            <a:r>
              <a:rPr lang="en-GB" sz="2400" b="1">
                <a:solidFill>
                  <a:prstClr val="black"/>
                </a:solidFill>
                <a:latin typeface="Tahoma" panose="020B0604030504040204" pitchFamily="34" charset="0"/>
                <a:ea typeface="Tahoma" panose="020B0604030504040204" pitchFamily="34" charset="0"/>
                <a:cs typeface="Tahoma" panose="020B0604030504040204" pitchFamily="34" charset="0"/>
              </a:rPr>
              <a:t>c. 57s RTD </a:t>
            </a:r>
          </a:p>
          <a:p>
            <a:pPr marL="278614" indent="-278614" defTabSz="1485938">
              <a:buClr>
                <a:srgbClr val="00B050"/>
              </a:buClr>
              <a:buFont typeface="Wingdings" panose="05000000000000000000" pitchFamily="2" charset="2"/>
              <a:buChar char="ü"/>
              <a:defRPr/>
            </a:pP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Africa within </a:t>
            </a:r>
            <a:r>
              <a:rPr lang="en-GB" sz="2400" b="1">
                <a:solidFill>
                  <a:prstClr val="black"/>
                </a:solidFill>
                <a:latin typeface="Tahoma" panose="020B0604030504040204" pitchFamily="34" charset="0"/>
                <a:ea typeface="Tahoma" panose="020B0604030504040204" pitchFamily="34" charset="0"/>
                <a:cs typeface="Tahoma" panose="020B0604030504040204" pitchFamily="34" charset="0"/>
              </a:rPr>
              <a:t>154ms RTD </a:t>
            </a: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(Johannesburg) </a:t>
            </a:r>
          </a:p>
          <a:p>
            <a:pPr marL="278614" indent="-278614" defTabSz="1485938">
              <a:buClr>
                <a:srgbClr val="00B050"/>
              </a:buClr>
              <a:buFont typeface="Wingdings" panose="05000000000000000000" pitchFamily="2" charset="2"/>
              <a:buChar char="ü"/>
              <a:defRPr/>
            </a:pP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Middle East within </a:t>
            </a:r>
            <a:r>
              <a:rPr lang="en-GB" sz="2400" b="1">
                <a:solidFill>
                  <a:prstClr val="black"/>
                </a:solidFill>
                <a:latin typeface="Tahoma" panose="020B0604030504040204" pitchFamily="34" charset="0"/>
                <a:ea typeface="Tahoma" panose="020B0604030504040204" pitchFamily="34" charset="0"/>
                <a:cs typeface="Tahoma" panose="020B0604030504040204" pitchFamily="34" charset="0"/>
              </a:rPr>
              <a:t>73ms RTD</a:t>
            </a: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 (Dubai)</a:t>
            </a:r>
          </a:p>
          <a:p>
            <a:pPr marL="278614" indent="-278614" defTabSz="1485938">
              <a:buClr>
                <a:srgbClr val="00B050"/>
              </a:buClr>
              <a:buFont typeface="Wingdings" panose="05000000000000000000" pitchFamily="2" charset="2"/>
              <a:buChar char="ü"/>
              <a:defRPr/>
            </a:pP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Asia within </a:t>
            </a:r>
            <a:r>
              <a:rPr lang="en-GB" sz="2400" b="1">
                <a:solidFill>
                  <a:prstClr val="black"/>
                </a:solidFill>
                <a:latin typeface="Tahoma" panose="020B0604030504040204" pitchFamily="34" charset="0"/>
                <a:ea typeface="Tahoma" panose="020B0604030504040204" pitchFamily="34" charset="0"/>
                <a:cs typeface="Tahoma" panose="020B0604030504040204" pitchFamily="34" charset="0"/>
              </a:rPr>
              <a:t>158ms RTD </a:t>
            </a:r>
            <a:r>
              <a:rPr lang="en-GB" sz="2400">
                <a:solidFill>
                  <a:prstClr val="black"/>
                </a:solidFill>
                <a:latin typeface="Tahoma" panose="020B0604030504040204" pitchFamily="34" charset="0"/>
                <a:ea typeface="Tahoma" panose="020B0604030504040204" pitchFamily="34" charset="0"/>
                <a:cs typeface="Tahoma" panose="020B0604030504040204" pitchFamily="34" charset="0"/>
              </a:rPr>
              <a:t>(Singapore</a:t>
            </a:r>
            <a:r>
              <a:rPr lang="en-GB" sz="2200">
                <a:solidFill>
                  <a:prstClr val="black"/>
                </a:solidFill>
                <a:latin typeface="Tahoma" panose="020B0604030504040204" pitchFamily="34" charset="0"/>
                <a:ea typeface="Tahoma" panose="020B0604030504040204" pitchFamily="34" charset="0"/>
                <a:cs typeface="Tahoma" panose="020B0604030504040204" pitchFamily="34" charset="0"/>
              </a:rPr>
              <a:t>)</a:t>
            </a:r>
          </a:p>
        </p:txBody>
      </p:sp>
      <p:pic>
        <p:nvPicPr>
          <p:cNvPr id="16" name="Picture 15">
            <a:extLst>
              <a:ext uri="{FF2B5EF4-FFF2-40B4-BE49-F238E27FC236}">
                <a16:creationId xmlns:a16="http://schemas.microsoft.com/office/drawing/2014/main" id="{3E5A5A74-D39F-FD7C-1E33-8AB568CCE47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5019675" y="3434285"/>
            <a:ext cx="7623724" cy="4298202"/>
          </a:xfrm>
          <a:prstGeom prst="rect">
            <a:avLst/>
          </a:prstGeom>
        </p:spPr>
      </p:pic>
      <p:sp>
        <p:nvSpPr>
          <p:cNvPr id="23" name="TextBox 22">
            <a:extLst>
              <a:ext uri="{FF2B5EF4-FFF2-40B4-BE49-F238E27FC236}">
                <a16:creationId xmlns:a16="http://schemas.microsoft.com/office/drawing/2014/main" id="{9CE8437F-1ED9-18DE-64B2-ECF904E5E4A8}"/>
              </a:ext>
            </a:extLst>
          </p:cNvPr>
          <p:cNvSpPr txBox="1"/>
          <p:nvPr/>
        </p:nvSpPr>
        <p:spPr>
          <a:xfrm>
            <a:off x="1025403" y="2811616"/>
            <a:ext cx="2880360" cy="369332"/>
          </a:xfrm>
          <a:prstGeom prst="rect">
            <a:avLst/>
          </a:prstGeom>
          <a:noFill/>
        </p:spPr>
        <p:txBody>
          <a:bodyPr wrap="square">
            <a:spAutoFit/>
          </a:bodyPr>
          <a:lstStyle/>
          <a:p>
            <a:r>
              <a:rPr lang="en-US" sz="1800">
                <a:solidFill>
                  <a:prstClr val="black"/>
                </a:solidFill>
                <a:latin typeface="Tahoma" panose="020B0604030504040204" pitchFamily="34" charset="0"/>
                <a:ea typeface="Tahoma" panose="020B0604030504040204" pitchFamily="34" charset="0"/>
                <a:cs typeface="Tahoma" panose="020B0604030504040204" pitchFamily="34" charset="0"/>
              </a:rPr>
              <a:t>RTD latencies (</a:t>
            </a:r>
            <a:r>
              <a:rPr lang="en-US" sz="1800" err="1">
                <a:solidFill>
                  <a:prstClr val="black"/>
                </a:solidFill>
                <a:latin typeface="Tahoma" panose="020B0604030504040204" pitchFamily="34" charset="0"/>
                <a:ea typeface="Tahoma" panose="020B0604030504040204" pitchFamily="34" charset="0"/>
                <a:cs typeface="Tahoma" panose="020B0604030504040204" pitchFamily="34" charset="0"/>
              </a:rPr>
              <a:t>ms</a:t>
            </a:r>
            <a:r>
              <a:rPr lang="en-US" sz="1800">
                <a:solidFill>
                  <a:prstClr val="black"/>
                </a:solidFill>
                <a:latin typeface="Tahoma" panose="020B0604030504040204" pitchFamily="34" charset="0"/>
                <a:ea typeface="Tahoma" panose="020B0604030504040204" pitchFamily="34" charset="0"/>
                <a:cs typeface="Tahoma" panose="020B0604030504040204" pitchFamily="34" charset="0"/>
              </a:rPr>
              <a:t>)</a:t>
            </a:r>
            <a:endParaRPr lang="en-GB" sz="1800">
              <a:latin typeface="Tahoma" panose="020B0604030504040204" pitchFamily="34" charset="0"/>
              <a:ea typeface="Tahoma" panose="020B0604030504040204" pitchFamily="34" charset="0"/>
              <a:cs typeface="Tahoma" panose="020B0604030504040204" pitchFamily="34" charset="0"/>
            </a:endParaRPr>
          </a:p>
        </p:txBody>
      </p:sp>
      <p:sp>
        <p:nvSpPr>
          <p:cNvPr id="9" name="Slide Number Placeholder 5">
            <a:extLst>
              <a:ext uri="{FF2B5EF4-FFF2-40B4-BE49-F238E27FC236}">
                <a16:creationId xmlns:a16="http://schemas.microsoft.com/office/drawing/2014/main" id="{32644698-7EE3-E9AD-1A76-B4EA77DB4922}"/>
              </a:ext>
            </a:extLst>
          </p:cNvPr>
          <p:cNvSpPr>
            <a:spLocks noGrp="1"/>
          </p:cNvSpPr>
          <p:nvPr>
            <p:ph type="sldNum" sz="quarter" idx="12"/>
          </p:nvPr>
        </p:nvSpPr>
        <p:spPr>
          <a:xfrm>
            <a:off x="22400098" y="12617453"/>
            <a:ext cx="871798" cy="730250"/>
          </a:xfrm>
          <a:prstGeom prst="rect">
            <a:avLst/>
          </a:prstGeom>
        </p:spPr>
        <p:txBody>
          <a:bodyPr anchor="ctr"/>
          <a:lstStyle>
            <a:lvl1pPr algn="r">
              <a:defRPr sz="2000">
                <a:solidFill>
                  <a:srgbClr val="272726"/>
                </a:solidFill>
                <a:latin typeface="Figtree" pitchFamily="2" charset="0"/>
              </a:defRPr>
            </a:lvl1pPr>
          </a:lstStyle>
          <a:p>
            <a:fld id="{5F99CA44-E461-4342-8946-62027848508A}" type="slidenum">
              <a:rPr lang="en-PT" smtClean="0"/>
              <a:pPr/>
              <a:t>16</a:t>
            </a:fld>
            <a:endParaRPr lang="en-PT"/>
          </a:p>
        </p:txBody>
      </p:sp>
      <p:sp>
        <p:nvSpPr>
          <p:cNvPr id="28" name="Oval 27">
            <a:extLst>
              <a:ext uri="{FF2B5EF4-FFF2-40B4-BE49-F238E27FC236}">
                <a16:creationId xmlns:a16="http://schemas.microsoft.com/office/drawing/2014/main" id="{B494830A-0CC7-F2F8-2044-46749CDD2CFC}"/>
              </a:ext>
            </a:extLst>
          </p:cNvPr>
          <p:cNvSpPr/>
          <p:nvPr/>
        </p:nvSpPr>
        <p:spPr>
          <a:xfrm>
            <a:off x="14433321" y="10901838"/>
            <a:ext cx="360000" cy="360000"/>
          </a:xfrm>
          <a:prstGeom prst="ellipse">
            <a:avLst/>
          </a:prstGeom>
          <a:solidFill>
            <a:srgbClr val="0A363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Sines</a:t>
            </a:r>
            <a:endParaRPr lang="en-GB" sz="1800">
              <a:solidFill>
                <a:schemeClr val="tx1"/>
              </a:solidFill>
              <a:latin typeface="Figtree" pitchFamily="2" charset="0"/>
            </a:endParaRPr>
          </a:p>
        </p:txBody>
      </p:sp>
      <p:sp>
        <p:nvSpPr>
          <p:cNvPr id="30" name="Oval 29">
            <a:extLst>
              <a:ext uri="{FF2B5EF4-FFF2-40B4-BE49-F238E27FC236}">
                <a16:creationId xmlns:a16="http://schemas.microsoft.com/office/drawing/2014/main" id="{DE4388F6-E5CF-E15B-6289-92128B8A1B84}"/>
              </a:ext>
            </a:extLst>
          </p:cNvPr>
          <p:cNvSpPr/>
          <p:nvPr/>
        </p:nvSpPr>
        <p:spPr>
          <a:xfrm>
            <a:off x="16443385" y="4899690"/>
            <a:ext cx="360000" cy="360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720000" bIns="72000" rtlCol="0" anchor="ctr"/>
          <a:lstStyle/>
          <a:p>
            <a:pPr>
              <a:lnSpc>
                <a:spcPct val="80000"/>
              </a:lnSpc>
            </a:pPr>
            <a:r>
              <a:rPr lang="en-US" sz="1800">
                <a:solidFill>
                  <a:schemeClr val="tx1"/>
                </a:solidFill>
                <a:latin typeface="Figtree" pitchFamily="2" charset="0"/>
              </a:rPr>
              <a:t>Dublin</a:t>
            </a:r>
            <a:br>
              <a:rPr lang="en-US" sz="1800">
                <a:solidFill>
                  <a:schemeClr val="tx1"/>
                </a:solidFill>
                <a:latin typeface="Figtree" pitchFamily="2" charset="0"/>
              </a:rPr>
            </a:br>
            <a:r>
              <a:rPr lang="en-US" sz="1800">
                <a:solidFill>
                  <a:schemeClr val="tx1"/>
                </a:solidFill>
                <a:latin typeface="Figtree" pitchFamily="2" charset="0"/>
              </a:rPr>
              <a:t>41ms</a:t>
            </a:r>
            <a:endParaRPr lang="en-GB" sz="1800">
              <a:solidFill>
                <a:schemeClr val="tx1"/>
              </a:solidFill>
              <a:latin typeface="Figtree" pitchFamily="2" charset="0"/>
            </a:endParaRPr>
          </a:p>
        </p:txBody>
      </p:sp>
      <p:sp>
        <p:nvSpPr>
          <p:cNvPr id="31" name="Arc 30">
            <a:extLst>
              <a:ext uri="{FF2B5EF4-FFF2-40B4-BE49-F238E27FC236}">
                <a16:creationId xmlns:a16="http://schemas.microsoft.com/office/drawing/2014/main" id="{EE211D05-105D-5573-1E93-64B856B54473}"/>
              </a:ext>
            </a:extLst>
          </p:cNvPr>
          <p:cNvSpPr/>
          <p:nvPr/>
        </p:nvSpPr>
        <p:spPr>
          <a:xfrm>
            <a:off x="13485045" y="8267922"/>
            <a:ext cx="5616000" cy="5616000"/>
          </a:xfrm>
          <a:prstGeom prst="arc">
            <a:avLst>
              <a:gd name="adj1" fmla="val 15401090"/>
              <a:gd name="adj2" fmla="val 0"/>
            </a:avLst>
          </a:prstGeom>
          <a:ln>
            <a:solidFill>
              <a:srgbClr val="F9C817"/>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7200"/>
          </a:p>
        </p:txBody>
      </p:sp>
      <p:sp>
        <p:nvSpPr>
          <p:cNvPr id="32" name="Arc 31">
            <a:extLst>
              <a:ext uri="{FF2B5EF4-FFF2-40B4-BE49-F238E27FC236}">
                <a16:creationId xmlns:a16="http://schemas.microsoft.com/office/drawing/2014/main" id="{7889131E-2A76-219C-EC31-7D77B821E264}"/>
              </a:ext>
            </a:extLst>
          </p:cNvPr>
          <p:cNvSpPr/>
          <p:nvPr/>
        </p:nvSpPr>
        <p:spPr>
          <a:xfrm>
            <a:off x="13908430" y="6537519"/>
            <a:ext cx="6321766" cy="6321766"/>
          </a:xfrm>
          <a:prstGeom prst="arc">
            <a:avLst>
              <a:gd name="adj1" fmla="val 16160760"/>
              <a:gd name="adj2" fmla="val 0"/>
            </a:avLst>
          </a:prstGeom>
          <a:ln>
            <a:solidFill>
              <a:srgbClr val="F9C817"/>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7200"/>
          </a:p>
        </p:txBody>
      </p:sp>
      <p:sp>
        <p:nvSpPr>
          <p:cNvPr id="33" name="Arc 32">
            <a:extLst>
              <a:ext uri="{FF2B5EF4-FFF2-40B4-BE49-F238E27FC236}">
                <a16:creationId xmlns:a16="http://schemas.microsoft.com/office/drawing/2014/main" id="{7D4E3101-4C5B-3AE9-70E0-6224EECFC1EF}"/>
              </a:ext>
            </a:extLst>
          </p:cNvPr>
          <p:cNvSpPr/>
          <p:nvPr/>
        </p:nvSpPr>
        <p:spPr>
          <a:xfrm>
            <a:off x="14900000" y="4839475"/>
            <a:ext cx="7850662" cy="7850662"/>
          </a:xfrm>
          <a:prstGeom prst="arc">
            <a:avLst>
              <a:gd name="adj1" fmla="val 16160760"/>
              <a:gd name="adj2" fmla="val 0"/>
            </a:avLst>
          </a:prstGeom>
          <a:ln>
            <a:solidFill>
              <a:srgbClr val="F9C817"/>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sz="7200"/>
          </a:p>
        </p:txBody>
      </p:sp>
      <p:grpSp>
        <p:nvGrpSpPr>
          <p:cNvPr id="45" name="Group 44">
            <a:extLst>
              <a:ext uri="{FF2B5EF4-FFF2-40B4-BE49-F238E27FC236}">
                <a16:creationId xmlns:a16="http://schemas.microsoft.com/office/drawing/2014/main" id="{6DD64468-A782-5DA9-4532-B6FD23238EE3}"/>
              </a:ext>
            </a:extLst>
          </p:cNvPr>
          <p:cNvGrpSpPr/>
          <p:nvPr/>
        </p:nvGrpSpPr>
        <p:grpSpPr>
          <a:xfrm>
            <a:off x="17339633" y="11803416"/>
            <a:ext cx="1759504" cy="379542"/>
            <a:chOff x="8669023" y="5901708"/>
            <a:chExt cx="879752" cy="189771"/>
          </a:xfrm>
        </p:grpSpPr>
        <p:cxnSp>
          <p:nvCxnSpPr>
            <p:cNvPr id="35" name="Straight Arrow Connector 34">
              <a:extLst>
                <a:ext uri="{FF2B5EF4-FFF2-40B4-BE49-F238E27FC236}">
                  <a16:creationId xmlns:a16="http://schemas.microsoft.com/office/drawing/2014/main" id="{91EBB9BD-9DDD-5B40-6001-37DFB98D2533}"/>
                </a:ext>
              </a:extLst>
            </p:cNvPr>
            <p:cNvCxnSpPr>
              <a:cxnSpLocks/>
            </p:cNvCxnSpPr>
            <p:nvPr/>
          </p:nvCxnSpPr>
          <p:spPr>
            <a:xfrm>
              <a:off x="8669023" y="6091479"/>
              <a:ext cx="879752" cy="0"/>
            </a:xfrm>
            <a:prstGeom prst="straightConnector1">
              <a:avLst/>
            </a:prstGeom>
            <a:ln w="9525">
              <a:solidFill>
                <a:srgbClr val="F9C817"/>
              </a:solidFill>
              <a:tailEnd type="triangle"/>
            </a:ln>
          </p:spPr>
          <p:style>
            <a:lnRef idx="2">
              <a:schemeClr val="accent1"/>
            </a:lnRef>
            <a:fillRef idx="0">
              <a:schemeClr val="accent1"/>
            </a:fillRef>
            <a:effectRef idx="1">
              <a:schemeClr val="accent1"/>
            </a:effectRef>
            <a:fontRef idx="minor">
              <a:schemeClr val="tx1"/>
            </a:fontRef>
          </p:style>
        </p:cxnSp>
        <p:sp>
          <p:nvSpPr>
            <p:cNvPr id="36" name="TextBox 35">
              <a:extLst>
                <a:ext uri="{FF2B5EF4-FFF2-40B4-BE49-F238E27FC236}">
                  <a16:creationId xmlns:a16="http://schemas.microsoft.com/office/drawing/2014/main" id="{DFF62597-472D-9EA6-441F-DEFD328AF44E}"/>
                </a:ext>
              </a:extLst>
            </p:cNvPr>
            <p:cNvSpPr txBox="1"/>
            <p:nvPr/>
          </p:nvSpPr>
          <p:spPr>
            <a:xfrm>
              <a:off x="8758205" y="5901708"/>
              <a:ext cx="656590" cy="169277"/>
            </a:xfrm>
            <a:prstGeom prst="rect">
              <a:avLst/>
            </a:prstGeom>
            <a:noFill/>
          </p:spPr>
          <p:txBody>
            <a:bodyPr wrap="none" rtlCol="0">
              <a:spAutoFit/>
            </a:bodyPr>
            <a:lstStyle/>
            <a:p>
              <a:r>
                <a:rPr lang="en-US" sz="1600">
                  <a:solidFill>
                    <a:srgbClr val="F9C817"/>
                  </a:solidFill>
                  <a:latin typeface="Figtree" pitchFamily="2" charset="0"/>
                </a:rPr>
                <a:t>Under 20ms</a:t>
              </a:r>
              <a:endParaRPr lang="en-GB" sz="1600">
                <a:solidFill>
                  <a:srgbClr val="F9C817"/>
                </a:solidFill>
                <a:latin typeface="Figtree" pitchFamily="2" charset="0"/>
              </a:endParaRPr>
            </a:p>
          </p:txBody>
        </p:sp>
      </p:grpSp>
      <p:grpSp>
        <p:nvGrpSpPr>
          <p:cNvPr id="46" name="Group 45">
            <a:extLst>
              <a:ext uri="{FF2B5EF4-FFF2-40B4-BE49-F238E27FC236}">
                <a16:creationId xmlns:a16="http://schemas.microsoft.com/office/drawing/2014/main" id="{01041F1B-8AD1-ED54-A1B9-003FCD57670E}"/>
              </a:ext>
            </a:extLst>
          </p:cNvPr>
          <p:cNvGrpSpPr/>
          <p:nvPr/>
        </p:nvGrpSpPr>
        <p:grpSpPr>
          <a:xfrm>
            <a:off x="18966483" y="11803416"/>
            <a:ext cx="1759504" cy="379542"/>
            <a:chOff x="8669023" y="5901708"/>
            <a:chExt cx="879752" cy="189771"/>
          </a:xfrm>
        </p:grpSpPr>
        <p:cxnSp>
          <p:nvCxnSpPr>
            <p:cNvPr id="47" name="Straight Arrow Connector 46">
              <a:extLst>
                <a:ext uri="{FF2B5EF4-FFF2-40B4-BE49-F238E27FC236}">
                  <a16:creationId xmlns:a16="http://schemas.microsoft.com/office/drawing/2014/main" id="{F41F5CED-BE7E-E8EC-575E-98B2047B7D68}"/>
                </a:ext>
              </a:extLst>
            </p:cNvPr>
            <p:cNvCxnSpPr>
              <a:cxnSpLocks/>
            </p:cNvCxnSpPr>
            <p:nvPr/>
          </p:nvCxnSpPr>
          <p:spPr>
            <a:xfrm>
              <a:off x="8669023" y="6091479"/>
              <a:ext cx="879752" cy="0"/>
            </a:xfrm>
            <a:prstGeom prst="straightConnector1">
              <a:avLst/>
            </a:prstGeom>
            <a:ln w="9525">
              <a:solidFill>
                <a:srgbClr val="F9C817"/>
              </a:solidFill>
              <a:tailEnd type="triangle"/>
            </a:ln>
          </p:spPr>
          <p:style>
            <a:lnRef idx="2">
              <a:schemeClr val="accent1"/>
            </a:lnRef>
            <a:fillRef idx="0">
              <a:schemeClr val="accent1"/>
            </a:fillRef>
            <a:effectRef idx="1">
              <a:schemeClr val="accent1"/>
            </a:effectRef>
            <a:fontRef idx="minor">
              <a:schemeClr val="tx1"/>
            </a:fontRef>
          </p:style>
        </p:cxnSp>
        <p:sp>
          <p:nvSpPr>
            <p:cNvPr id="48" name="TextBox 47">
              <a:extLst>
                <a:ext uri="{FF2B5EF4-FFF2-40B4-BE49-F238E27FC236}">
                  <a16:creationId xmlns:a16="http://schemas.microsoft.com/office/drawing/2014/main" id="{FFA01187-46DD-2331-C7C1-310B39667EAB}"/>
                </a:ext>
              </a:extLst>
            </p:cNvPr>
            <p:cNvSpPr txBox="1"/>
            <p:nvPr/>
          </p:nvSpPr>
          <p:spPr>
            <a:xfrm>
              <a:off x="8758205" y="5901708"/>
              <a:ext cx="650178" cy="169277"/>
            </a:xfrm>
            <a:prstGeom prst="rect">
              <a:avLst/>
            </a:prstGeom>
            <a:noFill/>
          </p:spPr>
          <p:txBody>
            <a:bodyPr wrap="none" rtlCol="0">
              <a:spAutoFit/>
            </a:bodyPr>
            <a:lstStyle/>
            <a:p>
              <a:r>
                <a:rPr lang="en-US" sz="1600">
                  <a:solidFill>
                    <a:srgbClr val="F9C817"/>
                  </a:solidFill>
                  <a:latin typeface="Figtree" pitchFamily="2" charset="0"/>
                </a:rPr>
                <a:t>Under 25ms</a:t>
              </a:r>
              <a:endParaRPr lang="en-GB" sz="1600">
                <a:solidFill>
                  <a:srgbClr val="F9C817"/>
                </a:solidFill>
                <a:latin typeface="Figtree" pitchFamily="2" charset="0"/>
              </a:endParaRPr>
            </a:p>
          </p:txBody>
        </p:sp>
      </p:grpSp>
      <p:grpSp>
        <p:nvGrpSpPr>
          <p:cNvPr id="49" name="Group 48">
            <a:extLst>
              <a:ext uri="{FF2B5EF4-FFF2-40B4-BE49-F238E27FC236}">
                <a16:creationId xmlns:a16="http://schemas.microsoft.com/office/drawing/2014/main" id="{654115E0-DE84-BA81-C362-CF7A25CD8677}"/>
              </a:ext>
            </a:extLst>
          </p:cNvPr>
          <p:cNvGrpSpPr/>
          <p:nvPr/>
        </p:nvGrpSpPr>
        <p:grpSpPr>
          <a:xfrm>
            <a:off x="20856595" y="11803416"/>
            <a:ext cx="1759504" cy="379542"/>
            <a:chOff x="8669023" y="5901708"/>
            <a:chExt cx="879752" cy="189771"/>
          </a:xfrm>
        </p:grpSpPr>
        <p:cxnSp>
          <p:nvCxnSpPr>
            <p:cNvPr id="50" name="Straight Arrow Connector 49">
              <a:extLst>
                <a:ext uri="{FF2B5EF4-FFF2-40B4-BE49-F238E27FC236}">
                  <a16:creationId xmlns:a16="http://schemas.microsoft.com/office/drawing/2014/main" id="{203D7850-8AE3-9762-6F7F-F7CF755A87F1}"/>
                </a:ext>
              </a:extLst>
            </p:cNvPr>
            <p:cNvCxnSpPr>
              <a:cxnSpLocks/>
            </p:cNvCxnSpPr>
            <p:nvPr/>
          </p:nvCxnSpPr>
          <p:spPr>
            <a:xfrm>
              <a:off x="8669023" y="6091479"/>
              <a:ext cx="879752" cy="0"/>
            </a:xfrm>
            <a:prstGeom prst="straightConnector1">
              <a:avLst/>
            </a:prstGeom>
            <a:ln w="9525">
              <a:solidFill>
                <a:srgbClr val="F9C817"/>
              </a:solidFill>
              <a:tailEnd type="triangle"/>
            </a:ln>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B8BBC5EF-FCD1-ED5D-9B85-2C44232DD13C}"/>
                </a:ext>
              </a:extLst>
            </p:cNvPr>
            <p:cNvSpPr txBox="1"/>
            <p:nvPr/>
          </p:nvSpPr>
          <p:spPr>
            <a:xfrm>
              <a:off x="8758205" y="5901708"/>
              <a:ext cx="648575" cy="169277"/>
            </a:xfrm>
            <a:prstGeom prst="rect">
              <a:avLst/>
            </a:prstGeom>
            <a:noFill/>
          </p:spPr>
          <p:txBody>
            <a:bodyPr wrap="none" rtlCol="0">
              <a:spAutoFit/>
            </a:bodyPr>
            <a:lstStyle/>
            <a:p>
              <a:r>
                <a:rPr lang="en-US" sz="1600">
                  <a:solidFill>
                    <a:srgbClr val="F9C817"/>
                  </a:solidFill>
                  <a:latin typeface="Figtree" pitchFamily="2" charset="0"/>
                </a:rPr>
                <a:t>Under 35ms</a:t>
              </a:r>
              <a:endParaRPr lang="en-GB" sz="1600">
                <a:solidFill>
                  <a:srgbClr val="F9C817"/>
                </a:solidFill>
                <a:latin typeface="Figtree" pitchFamily="2" charset="0"/>
              </a:endParaRPr>
            </a:p>
          </p:txBody>
        </p:sp>
      </p:grpSp>
      <p:pic>
        <p:nvPicPr>
          <p:cNvPr id="6146" name="Picture 2">
            <a:extLst>
              <a:ext uri="{FF2B5EF4-FFF2-40B4-BE49-F238E27FC236}">
                <a16:creationId xmlns:a16="http://schemas.microsoft.com/office/drawing/2014/main" id="{F9D78D6C-B49C-4C71-052E-18BA24391DE6}"/>
              </a:ext>
            </a:extLst>
          </p:cNvPr>
          <p:cNvPicPr>
            <a:picLocks noChangeAspect="1" noChangeArrowheads="1"/>
          </p:cNvPicPr>
          <p:nvPr/>
        </p:nvPicPr>
        <p:blipFill>
          <a:blip r:embed="rId5">
            <a:extLst>
              <a:ext uri="{28A0092B-C50C-407E-A947-70E740481C1C}">
                <a14:useLocalDpi xmlns:a14="http://schemas.microsoft.com/office/drawing/2010/main"/>
              </a:ext>
            </a:extLst>
          </a:blip>
          <a:srcRect/>
          <a:stretch>
            <a:fillRect/>
          </a:stretch>
        </p:blipFill>
        <p:spPr bwMode="auto">
          <a:xfrm>
            <a:off x="-322" y="3743631"/>
            <a:ext cx="14583750" cy="7413406"/>
          </a:xfrm>
          <a:prstGeom prst="rect">
            <a:avLst/>
          </a:prstGeom>
          <a:noFill/>
          <a:extLst>
            <a:ext uri="{909E8E84-426E-40DD-AFC4-6F175D3DCCD1}">
              <a14:hiddenFill xmlns:a14="http://schemas.microsoft.com/office/drawing/2010/main">
                <a:solidFill>
                  <a:srgbClr val="FFFFFF"/>
                </a:solidFill>
              </a14:hiddenFill>
            </a:ext>
          </a:extLst>
        </p:spPr>
      </p:pic>
      <p:sp>
        <p:nvSpPr>
          <p:cNvPr id="52" name="Oval 51">
            <a:extLst>
              <a:ext uri="{FF2B5EF4-FFF2-40B4-BE49-F238E27FC236}">
                <a16:creationId xmlns:a16="http://schemas.microsoft.com/office/drawing/2014/main" id="{12893909-D0EF-158B-FDF0-6BEFEDD78E13}"/>
              </a:ext>
            </a:extLst>
          </p:cNvPr>
          <p:cNvSpPr/>
          <p:nvPr/>
        </p:nvSpPr>
        <p:spPr>
          <a:xfrm>
            <a:off x="6457625" y="5614676"/>
            <a:ext cx="144000" cy="144000"/>
          </a:xfrm>
          <a:prstGeom prst="ellipse">
            <a:avLst/>
          </a:prstGeom>
          <a:solidFill>
            <a:srgbClr val="0A363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Sines</a:t>
            </a:r>
            <a:endParaRPr lang="en-GB" sz="1600">
              <a:solidFill>
                <a:schemeClr val="tx1"/>
              </a:solidFill>
              <a:latin typeface="Figtree" pitchFamily="2" charset="0"/>
            </a:endParaRPr>
          </a:p>
        </p:txBody>
      </p:sp>
      <p:sp>
        <p:nvSpPr>
          <p:cNvPr id="53" name="Oval 52">
            <a:extLst>
              <a:ext uri="{FF2B5EF4-FFF2-40B4-BE49-F238E27FC236}">
                <a16:creationId xmlns:a16="http://schemas.microsoft.com/office/drawing/2014/main" id="{BB8F4C3D-8FFD-B597-58DE-1F803CC4FA45}"/>
              </a:ext>
            </a:extLst>
          </p:cNvPr>
          <p:cNvSpPr/>
          <p:nvPr/>
        </p:nvSpPr>
        <p:spPr>
          <a:xfrm>
            <a:off x="5196203" y="7493700"/>
            <a:ext cx="216000" cy="216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Fortaleza</a:t>
            </a:r>
            <a:br>
              <a:rPr lang="en-US" sz="1600">
                <a:solidFill>
                  <a:schemeClr val="tx1"/>
                </a:solidFill>
                <a:latin typeface="Figtree" pitchFamily="2" charset="0"/>
              </a:rPr>
            </a:br>
            <a:r>
              <a:rPr lang="en-US" sz="1600">
                <a:solidFill>
                  <a:schemeClr val="tx1"/>
                </a:solidFill>
                <a:latin typeface="Figtree" pitchFamily="2" charset="0"/>
              </a:rPr>
              <a:t>57ms</a:t>
            </a:r>
            <a:endParaRPr lang="en-GB" sz="1600">
              <a:solidFill>
                <a:schemeClr val="tx1"/>
              </a:solidFill>
              <a:latin typeface="Figtree" pitchFamily="2" charset="0"/>
            </a:endParaRPr>
          </a:p>
        </p:txBody>
      </p:sp>
      <p:pic>
        <p:nvPicPr>
          <p:cNvPr id="55" name="Picture 54">
            <a:extLst>
              <a:ext uri="{FF2B5EF4-FFF2-40B4-BE49-F238E27FC236}">
                <a16:creationId xmlns:a16="http://schemas.microsoft.com/office/drawing/2014/main" id="{B561EC00-1AD6-2992-F012-401F8E2348AE}"/>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25019675" y="8026276"/>
            <a:ext cx="10141502" cy="4867228"/>
          </a:xfrm>
          <a:prstGeom prst="rect">
            <a:avLst/>
          </a:prstGeom>
        </p:spPr>
      </p:pic>
      <p:sp>
        <p:nvSpPr>
          <p:cNvPr id="57" name="Oval 56">
            <a:extLst>
              <a:ext uri="{FF2B5EF4-FFF2-40B4-BE49-F238E27FC236}">
                <a16:creationId xmlns:a16="http://schemas.microsoft.com/office/drawing/2014/main" id="{D1EB6381-64D3-E515-8B2D-B6FD7A5324AB}"/>
              </a:ext>
            </a:extLst>
          </p:cNvPr>
          <p:cNvSpPr/>
          <p:nvPr/>
        </p:nvSpPr>
        <p:spPr>
          <a:xfrm>
            <a:off x="7882057" y="5480868"/>
            <a:ext cx="216000" cy="216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Istanbul </a:t>
            </a:r>
          </a:p>
          <a:p>
            <a:pPr>
              <a:lnSpc>
                <a:spcPct val="80000"/>
              </a:lnSpc>
            </a:pPr>
            <a:r>
              <a:rPr lang="en-US" sz="1600">
                <a:solidFill>
                  <a:schemeClr val="tx1"/>
                </a:solidFill>
                <a:latin typeface="Figtree" pitchFamily="2" charset="0"/>
              </a:rPr>
              <a:t>66ms</a:t>
            </a:r>
            <a:endParaRPr lang="en-GB" sz="1600">
              <a:solidFill>
                <a:schemeClr val="tx1"/>
              </a:solidFill>
              <a:latin typeface="Figtree" pitchFamily="2" charset="0"/>
            </a:endParaRPr>
          </a:p>
        </p:txBody>
      </p:sp>
      <p:sp>
        <p:nvSpPr>
          <p:cNvPr id="58" name="Oval 57">
            <a:extLst>
              <a:ext uri="{FF2B5EF4-FFF2-40B4-BE49-F238E27FC236}">
                <a16:creationId xmlns:a16="http://schemas.microsoft.com/office/drawing/2014/main" id="{E1040C78-29CC-5C69-9EF2-A60ABDC9D294}"/>
              </a:ext>
            </a:extLst>
          </p:cNvPr>
          <p:cNvSpPr/>
          <p:nvPr/>
        </p:nvSpPr>
        <p:spPr>
          <a:xfrm>
            <a:off x="3740369" y="5830372"/>
            <a:ext cx="216000" cy="216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Myrtle Beach</a:t>
            </a:r>
          </a:p>
          <a:p>
            <a:pPr>
              <a:lnSpc>
                <a:spcPct val="80000"/>
              </a:lnSpc>
            </a:pPr>
            <a:r>
              <a:rPr lang="en-US" sz="1600">
                <a:solidFill>
                  <a:schemeClr val="tx1"/>
                </a:solidFill>
                <a:latin typeface="Figtree" pitchFamily="2" charset="0"/>
              </a:rPr>
              <a:t>66ms</a:t>
            </a:r>
            <a:endParaRPr lang="en-GB" sz="1600">
              <a:solidFill>
                <a:schemeClr val="tx1"/>
              </a:solidFill>
              <a:latin typeface="Figtree" pitchFamily="2" charset="0"/>
            </a:endParaRPr>
          </a:p>
        </p:txBody>
      </p:sp>
      <p:sp>
        <p:nvSpPr>
          <p:cNvPr id="60" name="Oval 59">
            <a:extLst>
              <a:ext uri="{FF2B5EF4-FFF2-40B4-BE49-F238E27FC236}">
                <a16:creationId xmlns:a16="http://schemas.microsoft.com/office/drawing/2014/main" id="{7BB25187-11DF-B32A-7CFE-0D47FC03CD36}"/>
              </a:ext>
            </a:extLst>
          </p:cNvPr>
          <p:cNvSpPr/>
          <p:nvPr/>
        </p:nvSpPr>
        <p:spPr>
          <a:xfrm>
            <a:off x="8967333" y="6208358"/>
            <a:ext cx="216000" cy="216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Dubai</a:t>
            </a:r>
          </a:p>
          <a:p>
            <a:pPr>
              <a:lnSpc>
                <a:spcPct val="80000"/>
              </a:lnSpc>
            </a:pPr>
            <a:r>
              <a:rPr lang="en-US" sz="1600">
                <a:solidFill>
                  <a:schemeClr val="tx1"/>
                </a:solidFill>
                <a:latin typeface="Figtree" pitchFamily="2" charset="0"/>
              </a:rPr>
              <a:t>73ms</a:t>
            </a:r>
            <a:endParaRPr lang="en-GB" sz="1600">
              <a:solidFill>
                <a:schemeClr val="tx1"/>
              </a:solidFill>
              <a:latin typeface="Figtree" pitchFamily="2" charset="0"/>
            </a:endParaRPr>
          </a:p>
        </p:txBody>
      </p:sp>
      <p:sp>
        <p:nvSpPr>
          <p:cNvPr id="61" name="Oval 60">
            <a:extLst>
              <a:ext uri="{FF2B5EF4-FFF2-40B4-BE49-F238E27FC236}">
                <a16:creationId xmlns:a16="http://schemas.microsoft.com/office/drawing/2014/main" id="{DE893DBA-42E8-58D6-5A82-D42D2228C2A1}"/>
              </a:ext>
            </a:extLst>
          </p:cNvPr>
          <p:cNvSpPr/>
          <p:nvPr/>
        </p:nvSpPr>
        <p:spPr>
          <a:xfrm>
            <a:off x="10938373" y="7201720"/>
            <a:ext cx="216000" cy="216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Singapore</a:t>
            </a:r>
          </a:p>
          <a:p>
            <a:pPr>
              <a:lnSpc>
                <a:spcPct val="80000"/>
              </a:lnSpc>
            </a:pPr>
            <a:r>
              <a:rPr lang="en-US" sz="1600">
                <a:solidFill>
                  <a:schemeClr val="tx1"/>
                </a:solidFill>
                <a:latin typeface="Figtree" pitchFamily="2" charset="0"/>
              </a:rPr>
              <a:t>158ms</a:t>
            </a:r>
            <a:endParaRPr lang="en-GB" sz="1600">
              <a:solidFill>
                <a:schemeClr val="tx1"/>
              </a:solidFill>
              <a:latin typeface="Figtree" pitchFamily="2" charset="0"/>
            </a:endParaRPr>
          </a:p>
        </p:txBody>
      </p:sp>
      <p:sp>
        <p:nvSpPr>
          <p:cNvPr id="62" name="Oval 61">
            <a:extLst>
              <a:ext uri="{FF2B5EF4-FFF2-40B4-BE49-F238E27FC236}">
                <a16:creationId xmlns:a16="http://schemas.microsoft.com/office/drawing/2014/main" id="{01A3F757-86FD-EF37-601A-1A0DA81C183F}"/>
              </a:ext>
            </a:extLst>
          </p:cNvPr>
          <p:cNvSpPr/>
          <p:nvPr/>
        </p:nvSpPr>
        <p:spPr>
          <a:xfrm>
            <a:off x="4908717" y="8489262"/>
            <a:ext cx="216000" cy="216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Sao Paulo</a:t>
            </a:r>
          </a:p>
          <a:p>
            <a:pPr>
              <a:lnSpc>
                <a:spcPct val="80000"/>
              </a:lnSpc>
            </a:pPr>
            <a:r>
              <a:rPr lang="en-US" sz="1600">
                <a:solidFill>
                  <a:schemeClr val="tx1"/>
                </a:solidFill>
                <a:latin typeface="Figtree" pitchFamily="2" charset="0"/>
              </a:rPr>
              <a:t>96ms</a:t>
            </a:r>
            <a:endParaRPr lang="en-GB" sz="1600">
              <a:solidFill>
                <a:schemeClr val="tx1"/>
              </a:solidFill>
              <a:latin typeface="Figtree" pitchFamily="2" charset="0"/>
            </a:endParaRPr>
          </a:p>
        </p:txBody>
      </p:sp>
      <p:sp>
        <p:nvSpPr>
          <p:cNvPr id="63" name="Oval 62">
            <a:extLst>
              <a:ext uri="{FF2B5EF4-FFF2-40B4-BE49-F238E27FC236}">
                <a16:creationId xmlns:a16="http://schemas.microsoft.com/office/drawing/2014/main" id="{692485F7-FA12-1CFE-BDE6-8A2AD4D89BED}"/>
              </a:ext>
            </a:extLst>
          </p:cNvPr>
          <p:cNvSpPr/>
          <p:nvPr/>
        </p:nvSpPr>
        <p:spPr>
          <a:xfrm>
            <a:off x="7509677" y="8849942"/>
            <a:ext cx="216000" cy="216000"/>
          </a:xfrm>
          <a:prstGeom prst="ellipse">
            <a:avLst/>
          </a:prstGeom>
          <a:solidFill>
            <a:srgbClr val="00C058"/>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lIns="432000" rIns="72000" bIns="72000" rtlCol="0" anchor="ctr"/>
          <a:lstStyle/>
          <a:p>
            <a:pPr>
              <a:lnSpc>
                <a:spcPct val="80000"/>
              </a:lnSpc>
            </a:pPr>
            <a:r>
              <a:rPr lang="en-US" sz="1600">
                <a:solidFill>
                  <a:schemeClr val="tx1"/>
                </a:solidFill>
                <a:latin typeface="Figtree" pitchFamily="2" charset="0"/>
              </a:rPr>
              <a:t>Cape Town</a:t>
            </a:r>
          </a:p>
          <a:p>
            <a:pPr>
              <a:lnSpc>
                <a:spcPct val="80000"/>
              </a:lnSpc>
            </a:pPr>
            <a:r>
              <a:rPr lang="en-US" sz="1600">
                <a:solidFill>
                  <a:schemeClr val="tx1"/>
                </a:solidFill>
                <a:latin typeface="Figtree" pitchFamily="2" charset="0"/>
              </a:rPr>
              <a:t>135ms</a:t>
            </a:r>
            <a:endParaRPr lang="en-GB" sz="1600">
              <a:solidFill>
                <a:schemeClr val="tx1"/>
              </a:solidFill>
              <a:latin typeface="Figtree" pitchFamily="2" charset="0"/>
            </a:endParaRPr>
          </a:p>
        </p:txBody>
      </p:sp>
      <p:sp>
        <p:nvSpPr>
          <p:cNvPr id="4096" name="Rectangle: Rounded Corners 4095">
            <a:extLst>
              <a:ext uri="{FF2B5EF4-FFF2-40B4-BE49-F238E27FC236}">
                <a16:creationId xmlns:a16="http://schemas.microsoft.com/office/drawing/2014/main" id="{CD705DBC-E943-F3D0-93BF-5BEDB1E68214}"/>
              </a:ext>
            </a:extLst>
          </p:cNvPr>
          <p:cNvSpPr/>
          <p:nvPr/>
        </p:nvSpPr>
        <p:spPr>
          <a:xfrm>
            <a:off x="15515781" y="2734580"/>
            <a:ext cx="4621280" cy="1163004"/>
          </a:xfrm>
          <a:prstGeom prst="roundRect">
            <a:avLst/>
          </a:prstGeom>
          <a:solidFill>
            <a:srgbClr val="EDEBEB"/>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defTabSz="1485900">
              <a:lnSpc>
                <a:spcPct val="90000"/>
              </a:lnSpc>
            </a:pPr>
            <a:r>
              <a:rPr lang="en-US" sz="2000" b="1">
                <a:solidFill>
                  <a:srgbClr val="272726"/>
                </a:solidFill>
                <a:latin typeface="Figtree" pitchFamily="2" charset="0"/>
                <a:ea typeface="Tahoma" panose="020B0604030504040204" pitchFamily="34" charset="0"/>
                <a:cs typeface="Tahoma" panose="020B0604030504040204" pitchFamily="34" charset="0"/>
                <a:sym typeface="Helvetica"/>
              </a:rPr>
              <a:t>Did you know? </a:t>
            </a:r>
            <a:r>
              <a:rPr lang="en-US" sz="2000">
                <a:solidFill>
                  <a:srgbClr val="272726"/>
                </a:solidFill>
                <a:latin typeface="Figtree" pitchFamily="2" charset="0"/>
                <a:ea typeface="Tahoma" panose="020B0604030504040204" pitchFamily="34" charset="0"/>
                <a:cs typeface="Tahoma" panose="020B0604030504040204" pitchFamily="34" charset="0"/>
                <a:sym typeface="Helvetica"/>
              </a:rPr>
              <a:t>Portugal outperforms Stockholm in latency to and from </a:t>
            </a:r>
            <a:br>
              <a:rPr lang="en-US" sz="2000">
                <a:solidFill>
                  <a:srgbClr val="272726"/>
                </a:solidFill>
                <a:latin typeface="Figtree" pitchFamily="2" charset="0"/>
                <a:ea typeface="Tahoma" panose="020B0604030504040204" pitchFamily="34" charset="0"/>
                <a:cs typeface="Tahoma" panose="020B0604030504040204" pitchFamily="34" charset="0"/>
                <a:sym typeface="Helvetica"/>
              </a:rPr>
            </a:br>
            <a:r>
              <a:rPr lang="en-US" sz="2000">
                <a:solidFill>
                  <a:srgbClr val="272726"/>
                </a:solidFill>
                <a:latin typeface="Figtree" pitchFamily="2" charset="0"/>
                <a:ea typeface="Tahoma" panose="020B0604030504040204" pitchFamily="34" charset="0"/>
                <a:cs typeface="Tahoma" panose="020B0604030504040204" pitchFamily="34" charset="0"/>
                <a:sym typeface="Helvetica"/>
              </a:rPr>
              <a:t>nearly all major cities in Europe</a:t>
            </a:r>
          </a:p>
        </p:txBody>
      </p:sp>
      <p:pic>
        <p:nvPicPr>
          <p:cNvPr id="4099" name="Graphic 4098" descr="Lights On outline">
            <a:extLst>
              <a:ext uri="{FF2B5EF4-FFF2-40B4-BE49-F238E27FC236}">
                <a16:creationId xmlns:a16="http://schemas.microsoft.com/office/drawing/2014/main" id="{6D82E346-4AA7-F4B7-D243-127025C8A59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562665" y="2866792"/>
            <a:ext cx="898580" cy="898580"/>
          </a:xfrm>
          <a:prstGeom prst="rect">
            <a:avLst/>
          </a:prstGeom>
        </p:spPr>
      </p:pic>
      <p:sp>
        <p:nvSpPr>
          <p:cNvPr id="4100" name="Rectangle: Rounded Corners 4099">
            <a:extLst>
              <a:ext uri="{FF2B5EF4-FFF2-40B4-BE49-F238E27FC236}">
                <a16:creationId xmlns:a16="http://schemas.microsoft.com/office/drawing/2014/main" id="{9623CFCD-A515-4814-2EB6-EBCA90CE0732}"/>
              </a:ext>
            </a:extLst>
          </p:cNvPr>
          <p:cNvSpPr/>
          <p:nvPr/>
        </p:nvSpPr>
        <p:spPr>
          <a:xfrm>
            <a:off x="4848264" y="11407578"/>
            <a:ext cx="4899206" cy="1163004"/>
          </a:xfrm>
          <a:prstGeom prst="roundRect">
            <a:avLst/>
          </a:prstGeom>
          <a:solidFill>
            <a:srgbClr val="EDEBEB"/>
          </a:solidFill>
          <a:ln w="1270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rIns="72000" rtlCol="0" anchor="ctr"/>
          <a:lstStyle/>
          <a:p>
            <a:pPr defTabSz="1485900">
              <a:lnSpc>
                <a:spcPct val="90000"/>
              </a:lnSpc>
            </a:pPr>
            <a:r>
              <a:rPr lang="en-US" sz="2000" b="1">
                <a:solidFill>
                  <a:srgbClr val="272726"/>
                </a:solidFill>
                <a:latin typeface="Figtree" pitchFamily="2" charset="0"/>
                <a:ea typeface="Tahoma" panose="020B0604030504040204" pitchFamily="34" charset="0"/>
                <a:cs typeface="Tahoma" panose="020B0604030504040204" pitchFamily="34" charset="0"/>
                <a:sym typeface="Helvetica"/>
              </a:rPr>
              <a:t>Did you know? </a:t>
            </a:r>
            <a:r>
              <a:rPr lang="en-US" sz="2000">
                <a:solidFill>
                  <a:srgbClr val="272726"/>
                </a:solidFill>
                <a:latin typeface="Figtree" pitchFamily="2" charset="0"/>
                <a:ea typeface="Tahoma" panose="020B0604030504040204" pitchFamily="34" charset="0"/>
                <a:cs typeface="Tahoma" panose="020B0604030504040204" pitchFamily="34" charset="0"/>
                <a:sym typeface="Helvetica"/>
              </a:rPr>
              <a:t>Portugal has an undisputed advantage for latency to and from the Americas and the rest of the world compared to any city in Europe</a:t>
            </a:r>
          </a:p>
        </p:txBody>
      </p:sp>
      <p:pic>
        <p:nvPicPr>
          <p:cNvPr id="4101" name="Graphic 4100" descr="Lights On outline">
            <a:extLst>
              <a:ext uri="{FF2B5EF4-FFF2-40B4-BE49-F238E27FC236}">
                <a16:creationId xmlns:a16="http://schemas.microsoft.com/office/drawing/2014/main" id="{1F8AC5B8-2C29-7A31-6D17-7D13CD4F861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895149" y="11539790"/>
            <a:ext cx="898580" cy="898580"/>
          </a:xfrm>
          <a:prstGeom prst="rect">
            <a:avLst/>
          </a:prstGeom>
        </p:spPr>
      </p:pic>
    </p:spTree>
    <p:extLst>
      <p:ext uri="{BB962C8B-B14F-4D97-AF65-F5344CB8AC3E}">
        <p14:creationId xmlns:p14="http://schemas.microsoft.com/office/powerpoint/2010/main" val="1780102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60230-C620-F560-4BF9-07E3D98A4CF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C81E1FC-7B68-DA82-D1DA-1BB195F2A7A5}"/>
              </a:ext>
            </a:extLst>
          </p:cNvPr>
          <p:cNvPicPr>
            <a:picLocks noChangeAspect="1"/>
          </p:cNvPicPr>
          <p:nvPr/>
        </p:nvPicPr>
        <p:blipFill>
          <a:blip r:embed="rId2"/>
          <a:srcRect/>
          <a:stretch/>
        </p:blipFill>
        <p:spPr>
          <a:xfrm>
            <a:off x="10911562" y="0"/>
            <a:ext cx="13457477" cy="13716000"/>
          </a:xfrm>
          <a:prstGeom prst="rect">
            <a:avLst/>
          </a:prstGeom>
        </p:spPr>
      </p:pic>
      <p:sp>
        <p:nvSpPr>
          <p:cNvPr id="6" name="TextBox 5">
            <a:extLst>
              <a:ext uri="{FF2B5EF4-FFF2-40B4-BE49-F238E27FC236}">
                <a16:creationId xmlns:a16="http://schemas.microsoft.com/office/drawing/2014/main" id="{0606AB33-9310-5A10-E897-53C9D71DE4BE}"/>
              </a:ext>
            </a:extLst>
          </p:cNvPr>
          <p:cNvSpPr txBox="1"/>
          <p:nvPr/>
        </p:nvSpPr>
        <p:spPr>
          <a:xfrm>
            <a:off x="1508481" y="1959829"/>
            <a:ext cx="10239571" cy="1323439"/>
          </a:xfrm>
          <a:prstGeom prst="rect">
            <a:avLst/>
          </a:prstGeom>
          <a:noFill/>
        </p:spPr>
        <p:txBody>
          <a:bodyPr wrap="square">
            <a:spAutoFit/>
          </a:bodyPr>
          <a:lstStyle/>
          <a:p>
            <a:pPr defTabSz="1485938" hangingPunct="1">
              <a:buClr>
                <a:srgbClr val="00B050"/>
              </a:buClr>
              <a:defRPr/>
            </a:pPr>
            <a:r>
              <a:rPr lang="en-GB" sz="4000" b="1" kern="1200">
                <a:solidFill>
                  <a:srgbClr val="00C159"/>
                </a:solidFill>
                <a:latin typeface="Figtree SemiBold" pitchFamily="2" charset="0"/>
              </a:rPr>
              <a:t>Low and ultra-low latencies </a:t>
            </a:r>
            <a:r>
              <a:rPr lang="en-GB" sz="4000" b="1" kern="1200">
                <a:latin typeface="Figtree SemiBold" pitchFamily="2" charset="0"/>
              </a:rPr>
              <a:t>from Portugal to Europe and rest of the world </a:t>
            </a:r>
          </a:p>
        </p:txBody>
      </p:sp>
      <p:sp>
        <p:nvSpPr>
          <p:cNvPr id="7" name="Rectangle 6">
            <a:extLst>
              <a:ext uri="{FF2B5EF4-FFF2-40B4-BE49-F238E27FC236}">
                <a16:creationId xmlns:a16="http://schemas.microsoft.com/office/drawing/2014/main" id="{C17FDC5E-6533-84EE-C96B-D6A753273A88}"/>
              </a:ext>
            </a:extLst>
          </p:cNvPr>
          <p:cNvSpPr/>
          <p:nvPr/>
        </p:nvSpPr>
        <p:spPr>
          <a:xfrm>
            <a:off x="1605170" y="8050695"/>
            <a:ext cx="7352248" cy="2484783"/>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defTabSz="2971876" hangingPunct="1">
              <a:lnSpc>
                <a:spcPct val="130000"/>
              </a:lnSpc>
              <a:buClr>
                <a:srgbClr val="00B050"/>
              </a:buClr>
              <a:defRPr/>
            </a:pPr>
            <a:r>
              <a:rPr lang="en-GB" sz="2800" dirty="0">
                <a:solidFill>
                  <a:prstClr val="black"/>
                </a:solidFill>
                <a:latin typeface="Figtree" pitchFamily="2" charset="0"/>
              </a:rPr>
              <a:t>North America from c. </a:t>
            </a:r>
            <a:r>
              <a:rPr lang="en-GB" sz="2800" b="1" dirty="0">
                <a:solidFill>
                  <a:prstClr val="black"/>
                </a:solidFill>
                <a:latin typeface="Figtree" pitchFamily="2" charset="0"/>
              </a:rPr>
              <a:t>62ms RTD </a:t>
            </a:r>
          </a:p>
          <a:p>
            <a:pPr defTabSz="2971876" hangingPunct="1">
              <a:lnSpc>
                <a:spcPct val="130000"/>
              </a:lnSpc>
              <a:buClr>
                <a:srgbClr val="00B050"/>
              </a:buClr>
              <a:defRPr/>
            </a:pPr>
            <a:r>
              <a:rPr lang="en-GB" sz="2800" dirty="0">
                <a:solidFill>
                  <a:prstClr val="black"/>
                </a:solidFill>
                <a:latin typeface="Figtree" pitchFamily="2" charset="0"/>
              </a:rPr>
              <a:t>South America from </a:t>
            </a:r>
            <a:r>
              <a:rPr lang="en-GB" sz="2800" b="1" dirty="0">
                <a:solidFill>
                  <a:prstClr val="black"/>
                </a:solidFill>
                <a:latin typeface="Figtree" pitchFamily="2" charset="0"/>
              </a:rPr>
              <a:t>c. 57s RTD </a:t>
            </a:r>
          </a:p>
          <a:p>
            <a:pPr defTabSz="2971876" hangingPunct="1">
              <a:lnSpc>
                <a:spcPct val="130000"/>
              </a:lnSpc>
              <a:buClr>
                <a:srgbClr val="00B050"/>
              </a:buClr>
              <a:defRPr/>
            </a:pPr>
            <a:r>
              <a:rPr lang="en-GB" sz="2800" dirty="0">
                <a:solidFill>
                  <a:prstClr val="black"/>
                </a:solidFill>
                <a:latin typeface="Figtree" pitchFamily="2" charset="0"/>
              </a:rPr>
              <a:t>Africa within </a:t>
            </a:r>
            <a:r>
              <a:rPr lang="en-GB" sz="2800" b="1" dirty="0">
                <a:solidFill>
                  <a:prstClr val="black"/>
                </a:solidFill>
                <a:latin typeface="Figtree" pitchFamily="2" charset="0"/>
              </a:rPr>
              <a:t>154ms RTD </a:t>
            </a:r>
            <a:r>
              <a:rPr lang="en-GB" sz="2800" dirty="0">
                <a:solidFill>
                  <a:prstClr val="black"/>
                </a:solidFill>
                <a:latin typeface="Figtree" pitchFamily="2" charset="0"/>
              </a:rPr>
              <a:t>(Johannesburg) </a:t>
            </a:r>
          </a:p>
          <a:p>
            <a:pPr defTabSz="2971876" hangingPunct="1">
              <a:lnSpc>
                <a:spcPct val="130000"/>
              </a:lnSpc>
              <a:buClr>
                <a:srgbClr val="00B050"/>
              </a:buClr>
              <a:defRPr/>
            </a:pPr>
            <a:r>
              <a:rPr lang="en-GB" sz="2800" dirty="0">
                <a:solidFill>
                  <a:prstClr val="black"/>
                </a:solidFill>
                <a:latin typeface="Figtree" pitchFamily="2" charset="0"/>
              </a:rPr>
              <a:t>Middle East within </a:t>
            </a:r>
            <a:r>
              <a:rPr lang="en-GB" sz="2800" b="1" dirty="0">
                <a:solidFill>
                  <a:prstClr val="black"/>
                </a:solidFill>
                <a:latin typeface="Figtree" pitchFamily="2" charset="0"/>
              </a:rPr>
              <a:t>73ms RTD</a:t>
            </a:r>
            <a:r>
              <a:rPr lang="en-GB" sz="2800" dirty="0">
                <a:solidFill>
                  <a:prstClr val="black"/>
                </a:solidFill>
                <a:latin typeface="Figtree" pitchFamily="2" charset="0"/>
              </a:rPr>
              <a:t> (Dubai)</a:t>
            </a:r>
          </a:p>
          <a:p>
            <a:pPr defTabSz="2971876" hangingPunct="1">
              <a:lnSpc>
                <a:spcPct val="130000"/>
              </a:lnSpc>
              <a:buClr>
                <a:srgbClr val="00B050"/>
              </a:buClr>
              <a:defRPr/>
            </a:pPr>
            <a:r>
              <a:rPr lang="en-GB" sz="2800" dirty="0">
                <a:solidFill>
                  <a:prstClr val="black"/>
                </a:solidFill>
                <a:latin typeface="Figtree" pitchFamily="2" charset="0"/>
              </a:rPr>
              <a:t>Asia within </a:t>
            </a:r>
            <a:r>
              <a:rPr lang="en-GB" sz="2800" b="1" dirty="0">
                <a:solidFill>
                  <a:prstClr val="black"/>
                </a:solidFill>
                <a:latin typeface="Figtree" pitchFamily="2" charset="0"/>
              </a:rPr>
              <a:t>158ms RTD </a:t>
            </a:r>
            <a:r>
              <a:rPr lang="en-GB" sz="2800" dirty="0">
                <a:solidFill>
                  <a:prstClr val="black"/>
                </a:solidFill>
                <a:latin typeface="Figtree" pitchFamily="2" charset="0"/>
              </a:rPr>
              <a:t>(Singapore)</a:t>
            </a:r>
          </a:p>
        </p:txBody>
      </p:sp>
      <p:sp>
        <p:nvSpPr>
          <p:cNvPr id="14" name="TextBox 13">
            <a:extLst>
              <a:ext uri="{FF2B5EF4-FFF2-40B4-BE49-F238E27FC236}">
                <a16:creationId xmlns:a16="http://schemas.microsoft.com/office/drawing/2014/main" id="{269C66AF-EFBB-A9AF-2667-D12E9263DCC3}"/>
              </a:ext>
            </a:extLst>
          </p:cNvPr>
          <p:cNvSpPr txBox="1"/>
          <p:nvPr/>
        </p:nvSpPr>
        <p:spPr>
          <a:xfrm>
            <a:off x="1605170" y="4527130"/>
            <a:ext cx="1674743" cy="646331"/>
          </a:xfrm>
          <a:prstGeom prst="rect">
            <a:avLst/>
          </a:prstGeom>
          <a:noFill/>
        </p:spPr>
        <p:txBody>
          <a:bodyPr wrap="square">
            <a:spAutoFit/>
          </a:bodyPr>
          <a:lstStyle/>
          <a:p>
            <a:pPr defTabSz="2971876" hangingPunct="1">
              <a:buClr>
                <a:srgbClr val="00B050"/>
              </a:buClr>
              <a:defRPr/>
            </a:pPr>
            <a:r>
              <a:rPr lang="en-GB" sz="3600" b="1">
                <a:solidFill>
                  <a:srgbClr val="00C159"/>
                </a:solidFill>
                <a:latin typeface="Figtree SemiBold" pitchFamily="2" charset="0"/>
              </a:rPr>
              <a:t>Europe</a:t>
            </a:r>
          </a:p>
        </p:txBody>
      </p:sp>
      <p:sp>
        <p:nvSpPr>
          <p:cNvPr id="16" name="TextBox 15">
            <a:extLst>
              <a:ext uri="{FF2B5EF4-FFF2-40B4-BE49-F238E27FC236}">
                <a16:creationId xmlns:a16="http://schemas.microsoft.com/office/drawing/2014/main" id="{B3E6217F-48AF-22ED-E406-C0A43D801287}"/>
              </a:ext>
            </a:extLst>
          </p:cNvPr>
          <p:cNvSpPr txBox="1"/>
          <p:nvPr/>
        </p:nvSpPr>
        <p:spPr>
          <a:xfrm>
            <a:off x="1605170" y="5482584"/>
            <a:ext cx="5849178" cy="1162369"/>
          </a:xfrm>
          <a:prstGeom prst="rect">
            <a:avLst/>
          </a:prstGeom>
          <a:noFill/>
        </p:spPr>
        <p:txBody>
          <a:bodyPr wrap="square">
            <a:spAutoFit/>
          </a:bodyPr>
          <a:lstStyle/>
          <a:p>
            <a:pPr defTabSz="2971876" hangingPunct="1">
              <a:lnSpc>
                <a:spcPct val="130000"/>
              </a:lnSpc>
              <a:buClr>
                <a:srgbClr val="00B050"/>
              </a:buClr>
              <a:defRPr/>
            </a:pPr>
            <a:r>
              <a:rPr lang="en-GB" sz="2800">
                <a:solidFill>
                  <a:prstClr val="black"/>
                </a:solidFill>
                <a:latin typeface="Figtree" pitchFamily="2" charset="0"/>
              </a:rPr>
              <a:t>Iberian peninsula within </a:t>
            </a:r>
            <a:r>
              <a:rPr lang="en-GB" sz="2800" b="1">
                <a:solidFill>
                  <a:prstClr val="black"/>
                </a:solidFill>
                <a:latin typeface="Figtree" pitchFamily="2" charset="0"/>
              </a:rPr>
              <a:t>16ms RTD </a:t>
            </a:r>
          </a:p>
          <a:p>
            <a:pPr defTabSz="2971876" hangingPunct="1">
              <a:lnSpc>
                <a:spcPct val="130000"/>
              </a:lnSpc>
              <a:buClr>
                <a:srgbClr val="00B050"/>
              </a:buClr>
              <a:defRPr/>
            </a:pPr>
            <a:r>
              <a:rPr lang="en-GB" sz="2800">
                <a:solidFill>
                  <a:prstClr val="black"/>
                </a:solidFill>
                <a:latin typeface="Figtree" pitchFamily="2" charset="0"/>
              </a:rPr>
              <a:t>FLAP-D markets within </a:t>
            </a:r>
            <a:r>
              <a:rPr lang="en-GB" sz="2800" b="1">
                <a:solidFill>
                  <a:prstClr val="black"/>
                </a:solidFill>
                <a:latin typeface="Figtree" pitchFamily="2" charset="0"/>
              </a:rPr>
              <a:t>35ms RTD</a:t>
            </a:r>
            <a:endParaRPr lang="en-GB" sz="2800">
              <a:solidFill>
                <a:prstClr val="black"/>
              </a:solidFill>
              <a:latin typeface="Figtree" pitchFamily="2" charset="0"/>
            </a:endParaRPr>
          </a:p>
        </p:txBody>
      </p:sp>
      <p:sp>
        <p:nvSpPr>
          <p:cNvPr id="17" name="TextBox 16">
            <a:extLst>
              <a:ext uri="{FF2B5EF4-FFF2-40B4-BE49-F238E27FC236}">
                <a16:creationId xmlns:a16="http://schemas.microsoft.com/office/drawing/2014/main" id="{E5C10186-BB5F-99AB-6F8A-C98FFBE445BB}"/>
              </a:ext>
            </a:extLst>
          </p:cNvPr>
          <p:cNvSpPr txBox="1"/>
          <p:nvPr/>
        </p:nvSpPr>
        <p:spPr>
          <a:xfrm>
            <a:off x="1605170" y="7184191"/>
            <a:ext cx="3549926" cy="646331"/>
          </a:xfrm>
          <a:prstGeom prst="rect">
            <a:avLst/>
          </a:prstGeom>
          <a:noFill/>
        </p:spPr>
        <p:txBody>
          <a:bodyPr wrap="square">
            <a:spAutoFit/>
          </a:bodyPr>
          <a:lstStyle/>
          <a:p>
            <a:pPr defTabSz="2971876">
              <a:buClr>
                <a:srgbClr val="00B050"/>
              </a:buClr>
              <a:defRPr/>
            </a:pPr>
            <a:r>
              <a:rPr lang="en-GB" sz="3600" b="1">
                <a:solidFill>
                  <a:srgbClr val="00C159"/>
                </a:solidFill>
                <a:latin typeface="Figtree SemiBold" pitchFamily="2" charset="0"/>
              </a:rPr>
              <a:t>Intercontinental</a:t>
            </a:r>
          </a:p>
        </p:txBody>
      </p:sp>
      <p:grpSp>
        <p:nvGrpSpPr>
          <p:cNvPr id="10" name="Group 9">
            <a:extLst>
              <a:ext uri="{FF2B5EF4-FFF2-40B4-BE49-F238E27FC236}">
                <a16:creationId xmlns:a16="http://schemas.microsoft.com/office/drawing/2014/main" id="{2B802053-EE4F-2A13-F9CA-CD8E64B723D1}"/>
              </a:ext>
            </a:extLst>
          </p:cNvPr>
          <p:cNvGrpSpPr/>
          <p:nvPr/>
        </p:nvGrpSpPr>
        <p:grpSpPr>
          <a:xfrm>
            <a:off x="19253200" y="330965"/>
            <a:ext cx="4712422" cy="3671844"/>
            <a:chOff x="18166272" y="244701"/>
            <a:chExt cx="4712422" cy="3671844"/>
          </a:xfrm>
        </p:grpSpPr>
        <p:graphicFrame>
          <p:nvGraphicFramePr>
            <p:cNvPr id="9" name="Table 7">
              <a:extLst>
                <a:ext uri="{FF2B5EF4-FFF2-40B4-BE49-F238E27FC236}">
                  <a16:creationId xmlns:a16="http://schemas.microsoft.com/office/drawing/2014/main" id="{7042873D-08F3-631A-D3B0-29E5D90DA6A2}"/>
                </a:ext>
              </a:extLst>
            </p:cNvPr>
            <p:cNvGraphicFramePr>
              <a:graphicFrameLocks/>
            </p:cNvGraphicFramePr>
            <p:nvPr>
              <p:extLst>
                <p:ext uri="{D42A27DB-BD31-4B8C-83A1-F6EECF244321}">
                  <p14:modId xmlns:p14="http://schemas.microsoft.com/office/powerpoint/2010/main" val="1041041532"/>
                </p:ext>
              </p:extLst>
            </p:nvPr>
          </p:nvGraphicFramePr>
          <p:xfrm>
            <a:off x="18166272" y="244701"/>
            <a:ext cx="2072122" cy="3671844"/>
          </p:xfrm>
          <a:graphic>
            <a:graphicData uri="http://schemas.openxmlformats.org/drawingml/2006/table">
              <a:tbl>
                <a:tblPr firstRow="1" bandRow="1">
                  <a:tableStyleId>{5C22544A-7EE6-4342-B048-85BDC9FD1C3A}</a:tableStyleId>
                </a:tblPr>
                <a:tblGrid>
                  <a:gridCol w="884122">
                    <a:extLst>
                      <a:ext uri="{9D8B030D-6E8A-4147-A177-3AD203B41FA5}">
                        <a16:colId xmlns:a16="http://schemas.microsoft.com/office/drawing/2014/main" val="1496365837"/>
                      </a:ext>
                    </a:extLst>
                  </a:gridCol>
                  <a:gridCol w="1188000">
                    <a:extLst>
                      <a:ext uri="{9D8B030D-6E8A-4147-A177-3AD203B41FA5}">
                        <a16:colId xmlns:a16="http://schemas.microsoft.com/office/drawing/2014/main" val="1100773559"/>
                      </a:ext>
                    </a:extLst>
                  </a:gridCol>
                </a:tblGrid>
                <a:tr h="943436">
                  <a:tc>
                    <a:txBody>
                      <a:bodyPr/>
                      <a:lstStyle/>
                      <a:p>
                        <a:pPr algn="l"/>
                        <a:r>
                          <a:rPr lang="en-GB" sz="1600" dirty="0">
                            <a:latin typeface="Figtree" pitchFamily="2" charset="0"/>
                          </a:rPr>
                          <a:t>City</a:t>
                        </a:r>
                      </a:p>
                    </a:txBody>
                    <a:tcPr marL="124280" marR="31070" marT="31070" marB="31070" anchor="ctr">
                      <a:lnT w="12700" cap="flat" cmpd="sng" algn="ctr">
                        <a:solidFill>
                          <a:srgbClr val="728E3B"/>
                        </a:solidFill>
                        <a:prstDash val="solid"/>
                        <a:round/>
                        <a:headEnd type="none" w="med" len="med"/>
                        <a:tailEnd type="none" w="med" len="med"/>
                      </a:lnT>
                      <a:solidFill>
                        <a:srgbClr val="0A3638"/>
                      </a:solidFill>
                    </a:tcPr>
                  </a:tc>
                  <a:tc>
                    <a:txBody>
                      <a:bodyPr/>
                      <a:lstStyle/>
                      <a:p>
                        <a:pPr algn="ctr"/>
                        <a:r>
                          <a:rPr lang="en-GB" sz="1600">
                            <a:latin typeface="Figtree" pitchFamily="2" charset="0"/>
                          </a:rPr>
                          <a:t>Latency </a:t>
                        </a:r>
                        <a:br>
                          <a:rPr lang="en-GB" sz="1600">
                            <a:latin typeface="Figtree" pitchFamily="2" charset="0"/>
                          </a:rPr>
                        </a:br>
                        <a:r>
                          <a:rPr lang="en-GB" sz="1600">
                            <a:latin typeface="Figtree" pitchFamily="2" charset="0"/>
                          </a:rPr>
                          <a:t>(in </a:t>
                        </a:r>
                        <a:r>
                          <a:rPr lang="en-GB" sz="1600" err="1">
                            <a:latin typeface="Figtree" pitchFamily="2" charset="0"/>
                          </a:rPr>
                          <a:t>ms</a:t>
                        </a:r>
                        <a:r>
                          <a:rPr lang="en-GB" sz="1600">
                            <a:latin typeface="Figtree" pitchFamily="2" charset="0"/>
                          </a:rPr>
                          <a:t> RTD)</a:t>
                        </a:r>
                      </a:p>
                    </a:txBody>
                    <a:tcPr marL="124280" marR="31070" marT="31070" marB="31070" anchor="ctr">
                      <a:lnR w="12700" cap="flat" cmpd="sng" algn="ctr">
                        <a:solidFill>
                          <a:srgbClr val="728E3B"/>
                        </a:solidFill>
                        <a:prstDash val="solid"/>
                        <a:round/>
                        <a:headEnd type="none" w="med" len="med"/>
                        <a:tailEnd type="none" w="med" len="med"/>
                      </a:lnR>
                      <a:lnT w="12700" cap="flat" cmpd="sng" algn="ctr">
                        <a:solidFill>
                          <a:srgbClr val="728E3B"/>
                        </a:solidFill>
                        <a:prstDash val="solid"/>
                        <a:round/>
                        <a:headEnd type="none" w="med" len="med"/>
                        <a:tailEnd type="none" w="med" len="med"/>
                      </a:lnT>
                      <a:solidFill>
                        <a:srgbClr val="0A3638"/>
                      </a:solidFill>
                    </a:tcPr>
                  </a:tc>
                  <a:extLst>
                    <a:ext uri="{0D108BD9-81ED-4DB2-BD59-A6C34878D82A}">
                      <a16:rowId xmlns:a16="http://schemas.microsoft.com/office/drawing/2014/main" val="2328712980"/>
                    </a:ext>
                  </a:extLst>
                </a:tr>
                <a:tr h="341051">
                  <a:tc>
                    <a:txBody>
                      <a:bodyPr/>
                      <a:lstStyle/>
                      <a:p>
                        <a:pPr algn="l"/>
                        <a:r>
                          <a:rPr lang="en-GB" sz="1200" dirty="0">
                            <a:latin typeface="Ubuntu" panose="020B0504030602030204" pitchFamily="34" charset="0"/>
                          </a:rPr>
                          <a:t>Madrid </a:t>
                        </a:r>
                      </a:p>
                    </a:txBody>
                    <a:tcPr marL="124280" marR="31070" marT="31070" marB="31070" anchor="ctr">
                      <a:solidFill>
                        <a:schemeClr val="bg1"/>
                      </a:solidFill>
                    </a:tcPr>
                  </a:tc>
                  <a:tc>
                    <a:txBody>
                      <a:bodyPr/>
                      <a:lstStyle/>
                      <a:p>
                        <a:pPr algn="ctr"/>
                        <a:r>
                          <a:rPr lang="en-GB" sz="1200">
                            <a:latin typeface="Ubuntu" panose="020B0504030602030204" pitchFamily="34" charset="0"/>
                          </a:rPr>
                          <a:t>8ms </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2700500508"/>
                    </a:ext>
                  </a:extLst>
                </a:tr>
                <a:tr h="341051">
                  <a:tc>
                    <a:txBody>
                      <a:bodyPr/>
                      <a:lstStyle/>
                      <a:p>
                        <a:pPr algn="l"/>
                        <a:r>
                          <a:rPr lang="en-GB" sz="1200" dirty="0">
                            <a:latin typeface="Ubuntu" panose="020B0504030602030204" pitchFamily="34" charset="0"/>
                          </a:rPr>
                          <a:t>Bilbao </a:t>
                        </a:r>
                      </a:p>
                    </a:txBody>
                    <a:tcPr marL="124280" marR="31070" marT="31070" marB="31070" anchor="ctr">
                      <a:solidFill>
                        <a:schemeClr val="bg1"/>
                      </a:solidFill>
                    </a:tcPr>
                  </a:tc>
                  <a:tc>
                    <a:txBody>
                      <a:bodyPr/>
                      <a:lstStyle/>
                      <a:p>
                        <a:pPr algn="ctr"/>
                        <a:r>
                          <a:rPr lang="en-GB" sz="1200">
                            <a:latin typeface="Ubuntu" panose="020B0504030602030204" pitchFamily="34" charset="0"/>
                          </a:rPr>
                          <a:t>11ms</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514132822"/>
                    </a:ext>
                  </a:extLst>
                </a:tr>
                <a:tr h="341051">
                  <a:tc>
                    <a:txBody>
                      <a:bodyPr/>
                      <a:lstStyle/>
                      <a:p>
                        <a:pPr algn="l"/>
                        <a:r>
                          <a:rPr lang="en-GB" sz="1200" dirty="0">
                            <a:latin typeface="Ubuntu" panose="020B0504030602030204" pitchFamily="34" charset="0"/>
                          </a:rPr>
                          <a:t>Barcelona </a:t>
                        </a:r>
                      </a:p>
                    </a:txBody>
                    <a:tcPr marL="124280" marR="31070" marT="31070" marB="31070" anchor="ctr">
                      <a:solidFill>
                        <a:schemeClr val="bg1"/>
                      </a:solidFill>
                    </a:tcPr>
                  </a:tc>
                  <a:tc>
                    <a:txBody>
                      <a:bodyPr/>
                      <a:lstStyle/>
                      <a:p>
                        <a:pPr algn="ctr"/>
                        <a:r>
                          <a:rPr lang="en-GB" sz="1200" dirty="0">
                            <a:latin typeface="Ubuntu" panose="020B0504030602030204" pitchFamily="34" charset="0"/>
                          </a:rPr>
                          <a:t>16ms</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416382890"/>
                    </a:ext>
                  </a:extLst>
                </a:tr>
                <a:tr h="341051">
                  <a:tc>
                    <a:txBody>
                      <a:bodyPr/>
                      <a:lstStyle/>
                      <a:p>
                        <a:pPr algn="l"/>
                        <a:r>
                          <a:rPr lang="en-GB" sz="1400">
                            <a:latin typeface="Figtree" pitchFamily="2" charset="0"/>
                          </a:rPr>
                          <a:t>Marseille</a:t>
                        </a:r>
                        <a:r>
                          <a:rPr lang="en-GB" sz="1200">
                            <a:latin typeface="Ubuntu" panose="020B0504030602030204" pitchFamily="34" charset="0"/>
                          </a:rPr>
                          <a:t> </a:t>
                        </a:r>
                      </a:p>
                    </a:txBody>
                    <a:tcPr marL="124280" marR="31070" marT="31070" marB="31070" anchor="ctr">
                      <a:solidFill>
                        <a:schemeClr val="bg1"/>
                      </a:solidFill>
                    </a:tcPr>
                  </a:tc>
                  <a:tc>
                    <a:txBody>
                      <a:bodyPr/>
                      <a:lstStyle/>
                      <a:p>
                        <a:pPr algn="ctr"/>
                        <a:r>
                          <a:rPr lang="en-GB" sz="1200" dirty="0">
                            <a:latin typeface="Ubuntu" panose="020B0504030602030204" pitchFamily="34" charset="0"/>
                          </a:rPr>
                          <a:t>23ms</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3085486036"/>
                    </a:ext>
                  </a:extLst>
                </a:tr>
                <a:tr h="341051">
                  <a:tc>
                    <a:txBody>
                      <a:bodyPr/>
                      <a:lstStyle/>
                      <a:p>
                        <a:pPr algn="l"/>
                        <a:r>
                          <a:rPr lang="en-GB" sz="1200">
                            <a:latin typeface="Ubuntu" panose="020B0504030602030204" pitchFamily="34" charset="0"/>
                          </a:rPr>
                          <a:t>Paris</a:t>
                        </a:r>
                      </a:p>
                    </a:txBody>
                    <a:tcPr marL="124280" marR="31070" marT="31070" marB="31070" anchor="ctr">
                      <a:solidFill>
                        <a:schemeClr val="bg1"/>
                      </a:solidFill>
                    </a:tcPr>
                  </a:tc>
                  <a:tc>
                    <a:txBody>
                      <a:bodyPr/>
                      <a:lstStyle/>
                      <a:p>
                        <a:pPr algn="ctr"/>
                        <a:r>
                          <a:rPr lang="en-GB" sz="1200" dirty="0">
                            <a:latin typeface="Ubuntu" panose="020B0504030602030204" pitchFamily="34" charset="0"/>
                          </a:rPr>
                          <a:t>24ms</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1260175359"/>
                    </a:ext>
                  </a:extLst>
                </a:tr>
                <a:tr h="341051">
                  <a:tc>
                    <a:txBody>
                      <a:bodyPr/>
                      <a:lstStyle/>
                      <a:p>
                        <a:pPr algn="l"/>
                        <a:r>
                          <a:rPr lang="en-GB" sz="1200">
                            <a:latin typeface="Ubuntu" panose="020B0504030602030204" pitchFamily="34" charset="0"/>
                          </a:rPr>
                          <a:t>Milan </a:t>
                        </a:r>
                      </a:p>
                    </a:txBody>
                    <a:tcPr marL="124280" marR="31070" marT="31070" marB="31070" anchor="ctr">
                      <a:solidFill>
                        <a:schemeClr val="bg1"/>
                      </a:solidFill>
                    </a:tcPr>
                  </a:tc>
                  <a:tc>
                    <a:txBody>
                      <a:bodyPr/>
                      <a:lstStyle/>
                      <a:p>
                        <a:pPr algn="ctr"/>
                        <a:r>
                          <a:rPr lang="en-GB" sz="1200" dirty="0">
                            <a:latin typeface="Ubuntu" panose="020B0504030602030204" pitchFamily="34" charset="0"/>
                          </a:rPr>
                          <a:t>29ms</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3777426704"/>
                    </a:ext>
                  </a:extLst>
                </a:tr>
                <a:tr h="341051">
                  <a:tc>
                    <a:txBody>
                      <a:bodyPr/>
                      <a:lstStyle/>
                      <a:p>
                        <a:pPr algn="l"/>
                        <a:r>
                          <a:rPr lang="en-GB" sz="1200">
                            <a:latin typeface="Ubuntu" panose="020B0504030602030204" pitchFamily="34" charset="0"/>
                          </a:rPr>
                          <a:t>London</a:t>
                        </a:r>
                      </a:p>
                    </a:txBody>
                    <a:tcPr marL="124280" marR="31070" marT="31070" marB="31070" anchor="ctr">
                      <a:solidFill>
                        <a:schemeClr val="bg1"/>
                      </a:solidFill>
                    </a:tcPr>
                  </a:tc>
                  <a:tc>
                    <a:txBody>
                      <a:bodyPr/>
                      <a:lstStyle/>
                      <a:p>
                        <a:pPr algn="ctr"/>
                        <a:r>
                          <a:rPr lang="en-GB" sz="1200" dirty="0">
                            <a:latin typeface="Ubuntu" panose="020B0504030602030204" pitchFamily="34" charset="0"/>
                          </a:rPr>
                          <a:t>31ms</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2775983117"/>
                    </a:ext>
                  </a:extLst>
                </a:tr>
                <a:tr h="341051">
                  <a:tc>
                    <a:txBody>
                      <a:bodyPr/>
                      <a:lstStyle/>
                      <a:p>
                        <a:pPr algn="l"/>
                        <a:r>
                          <a:rPr lang="en-GB" sz="1200">
                            <a:latin typeface="Ubuntu" panose="020B0504030602030204" pitchFamily="34" charset="0"/>
                          </a:rPr>
                          <a:t>Frankfurt</a:t>
                        </a:r>
                      </a:p>
                    </a:txBody>
                    <a:tcPr marL="124280" marR="31070" marT="31070" marB="31070" anchor="ctr">
                      <a:solidFill>
                        <a:schemeClr val="bg1"/>
                      </a:solidFill>
                    </a:tcPr>
                  </a:tc>
                  <a:tc>
                    <a:txBody>
                      <a:bodyPr/>
                      <a:lstStyle/>
                      <a:p>
                        <a:pPr algn="ctr"/>
                        <a:r>
                          <a:rPr lang="en-GB" sz="1200" dirty="0">
                            <a:latin typeface="Ubuntu" panose="020B0504030602030204" pitchFamily="34" charset="0"/>
                          </a:rPr>
                          <a:t>33ms</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1405844473"/>
                    </a:ext>
                  </a:extLst>
                </a:tr>
              </a:tbl>
            </a:graphicData>
          </a:graphic>
        </p:graphicFrame>
        <p:graphicFrame>
          <p:nvGraphicFramePr>
            <p:cNvPr id="8" name="Table 7">
              <a:extLst>
                <a:ext uri="{FF2B5EF4-FFF2-40B4-BE49-F238E27FC236}">
                  <a16:creationId xmlns:a16="http://schemas.microsoft.com/office/drawing/2014/main" id="{75383FD5-31E2-D2BE-178F-4C0D9DB11D04}"/>
                </a:ext>
              </a:extLst>
            </p:cNvPr>
            <p:cNvGraphicFramePr>
              <a:graphicFrameLocks/>
            </p:cNvGraphicFramePr>
            <p:nvPr/>
          </p:nvGraphicFramePr>
          <p:xfrm>
            <a:off x="20502694" y="244701"/>
            <a:ext cx="2376000" cy="3671844"/>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1496365837"/>
                      </a:ext>
                    </a:extLst>
                  </a:gridCol>
                  <a:gridCol w="1188000">
                    <a:extLst>
                      <a:ext uri="{9D8B030D-6E8A-4147-A177-3AD203B41FA5}">
                        <a16:colId xmlns:a16="http://schemas.microsoft.com/office/drawing/2014/main" val="1100773559"/>
                      </a:ext>
                    </a:extLst>
                  </a:gridCol>
                </a:tblGrid>
                <a:tr h="943436">
                  <a:tc>
                    <a:txBody>
                      <a:bodyPr/>
                      <a:lstStyle/>
                      <a:p>
                        <a:pPr algn="l"/>
                        <a:r>
                          <a:rPr lang="en-GB" sz="1600">
                            <a:latin typeface="Figtree" pitchFamily="2" charset="0"/>
                          </a:rPr>
                          <a:t>City</a:t>
                        </a:r>
                      </a:p>
                    </a:txBody>
                    <a:tcPr marL="124280" marR="31070" marT="31070" marB="31070" anchor="ctr">
                      <a:lnT w="12700" cap="flat" cmpd="sng" algn="ctr">
                        <a:solidFill>
                          <a:srgbClr val="728E3B"/>
                        </a:solidFill>
                        <a:prstDash val="solid"/>
                        <a:round/>
                        <a:headEnd type="none" w="med" len="med"/>
                        <a:tailEnd type="none" w="med" len="med"/>
                      </a:lnT>
                      <a:solidFill>
                        <a:srgbClr val="0A3638"/>
                      </a:solidFill>
                    </a:tcPr>
                  </a:tc>
                  <a:tc>
                    <a:txBody>
                      <a:bodyPr/>
                      <a:lstStyle/>
                      <a:p>
                        <a:pPr algn="ctr"/>
                        <a:r>
                          <a:rPr lang="en-GB" sz="1600">
                            <a:latin typeface="Figtree" pitchFamily="2" charset="0"/>
                          </a:rPr>
                          <a:t>Latency </a:t>
                        </a:r>
                        <a:br>
                          <a:rPr lang="en-GB" sz="1600">
                            <a:latin typeface="Figtree" pitchFamily="2" charset="0"/>
                          </a:rPr>
                        </a:br>
                        <a:r>
                          <a:rPr lang="en-GB" sz="1600">
                            <a:latin typeface="Figtree" pitchFamily="2" charset="0"/>
                          </a:rPr>
                          <a:t>(in </a:t>
                        </a:r>
                        <a:r>
                          <a:rPr lang="en-GB" sz="1600" err="1">
                            <a:latin typeface="Figtree" pitchFamily="2" charset="0"/>
                          </a:rPr>
                          <a:t>ms</a:t>
                        </a:r>
                        <a:r>
                          <a:rPr lang="en-GB" sz="1600">
                            <a:latin typeface="Figtree" pitchFamily="2" charset="0"/>
                          </a:rPr>
                          <a:t> RTD)</a:t>
                        </a:r>
                      </a:p>
                    </a:txBody>
                    <a:tcPr marL="124280" marR="31070" marT="31070" marB="31070" anchor="ctr">
                      <a:lnR w="12700" cap="flat" cmpd="sng" algn="ctr">
                        <a:solidFill>
                          <a:srgbClr val="728E3B"/>
                        </a:solidFill>
                        <a:prstDash val="solid"/>
                        <a:round/>
                        <a:headEnd type="none" w="med" len="med"/>
                        <a:tailEnd type="none" w="med" len="med"/>
                      </a:lnR>
                      <a:lnT w="12700" cap="flat" cmpd="sng" algn="ctr">
                        <a:solidFill>
                          <a:srgbClr val="728E3B"/>
                        </a:solidFill>
                        <a:prstDash val="solid"/>
                        <a:round/>
                        <a:headEnd type="none" w="med" len="med"/>
                        <a:tailEnd type="none" w="med" len="med"/>
                      </a:lnT>
                      <a:solidFill>
                        <a:srgbClr val="0A3638"/>
                      </a:solidFill>
                    </a:tcPr>
                  </a:tc>
                  <a:extLst>
                    <a:ext uri="{0D108BD9-81ED-4DB2-BD59-A6C34878D82A}">
                      <a16:rowId xmlns:a16="http://schemas.microsoft.com/office/drawing/2014/main" val="2328712980"/>
                    </a:ext>
                  </a:extLst>
                </a:tr>
                <a:tr h="341051">
                  <a:tc>
                    <a:txBody>
                      <a:bodyPr/>
                      <a:lstStyle/>
                      <a:p>
                        <a:pPr algn="l"/>
                        <a:r>
                          <a:rPr lang="en-GB" sz="1200">
                            <a:latin typeface="Ubuntu" panose="020B0504030602030204" pitchFamily="34" charset="0"/>
                          </a:rPr>
                          <a:t>Myrtle Beach</a:t>
                        </a:r>
                      </a:p>
                    </a:txBody>
                    <a:tcPr marL="124280" marR="31070" marT="31070" marB="31070" anchor="ctr">
                      <a:solidFill>
                        <a:schemeClr val="bg1"/>
                      </a:solidFill>
                    </a:tcPr>
                  </a:tc>
                  <a:tc>
                    <a:txBody>
                      <a:bodyPr/>
                      <a:lstStyle/>
                      <a:p>
                        <a:pPr algn="ctr"/>
                        <a:r>
                          <a:rPr lang="en-GB" sz="1200">
                            <a:latin typeface="Ubuntu" panose="020B0504030602030204" pitchFamily="34" charset="0"/>
                          </a:rPr>
                          <a:t>66ms </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3704340825"/>
                    </a:ext>
                  </a:extLst>
                </a:tr>
                <a:tr h="341051">
                  <a:tc>
                    <a:txBody>
                      <a:bodyPr/>
                      <a:lstStyle/>
                      <a:p>
                        <a:pPr algn="l"/>
                        <a:r>
                          <a:rPr lang="en-GB" sz="1200">
                            <a:latin typeface="Ubuntu" panose="020B0504030602030204" pitchFamily="34" charset="0"/>
                          </a:rPr>
                          <a:t>Fortaleza</a:t>
                        </a:r>
                      </a:p>
                    </a:txBody>
                    <a:tcPr marL="124280" marR="31070" marT="31070" marB="31070" anchor="ctr">
                      <a:solidFill>
                        <a:schemeClr val="bg1"/>
                      </a:solidFill>
                    </a:tcPr>
                  </a:tc>
                  <a:tc>
                    <a:txBody>
                      <a:bodyPr/>
                      <a:lstStyle/>
                      <a:p>
                        <a:pPr algn="ctr"/>
                        <a:r>
                          <a:rPr lang="en-GB" sz="1200">
                            <a:latin typeface="Ubuntu" panose="020B0504030602030204" pitchFamily="34" charset="0"/>
                          </a:rPr>
                          <a:t>57ms</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1326038381"/>
                    </a:ext>
                  </a:extLst>
                </a:tr>
                <a:tr h="341051">
                  <a:tc>
                    <a:txBody>
                      <a:bodyPr/>
                      <a:lstStyle/>
                      <a:p>
                        <a:pPr algn="l"/>
                        <a:r>
                          <a:rPr lang="en-GB" sz="1200">
                            <a:latin typeface="Ubuntu" panose="020B0504030602030204" pitchFamily="34" charset="0"/>
                          </a:rPr>
                          <a:t>Washington</a:t>
                        </a:r>
                      </a:p>
                    </a:txBody>
                    <a:tcPr marL="124280" marR="31070" marT="31070" marB="31070" anchor="ctr">
                      <a:solidFill>
                        <a:schemeClr val="bg1"/>
                      </a:solidFill>
                    </a:tcPr>
                  </a:tc>
                  <a:tc>
                    <a:txBody>
                      <a:bodyPr/>
                      <a:lstStyle/>
                      <a:p>
                        <a:pPr algn="ctr"/>
                        <a:r>
                          <a:rPr lang="en-GB" sz="1200">
                            <a:latin typeface="Ubuntu" panose="020B0504030602030204" pitchFamily="34" charset="0"/>
                          </a:rPr>
                          <a:t>60ms</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2318049378"/>
                    </a:ext>
                  </a:extLst>
                </a:tr>
                <a:tr h="341051">
                  <a:tc>
                    <a:txBody>
                      <a:bodyPr/>
                      <a:lstStyle/>
                      <a:p>
                        <a:pPr algn="l"/>
                        <a:r>
                          <a:rPr lang="en-GB" sz="1200">
                            <a:latin typeface="Ubuntu" panose="020B0504030602030204" pitchFamily="34" charset="0"/>
                          </a:rPr>
                          <a:t>Dubai</a:t>
                        </a:r>
                      </a:p>
                    </a:txBody>
                    <a:tcPr marL="124280" marR="31070" marT="31070" marB="31070" anchor="ctr">
                      <a:solidFill>
                        <a:schemeClr val="bg1"/>
                      </a:solidFill>
                    </a:tcPr>
                  </a:tc>
                  <a:tc>
                    <a:txBody>
                      <a:bodyPr/>
                      <a:lstStyle/>
                      <a:p>
                        <a:pPr algn="ctr"/>
                        <a:r>
                          <a:rPr lang="en-GB" sz="1200">
                            <a:latin typeface="Ubuntu" panose="020B0504030602030204" pitchFamily="34" charset="0"/>
                          </a:rPr>
                          <a:t>73ms</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3697200616"/>
                    </a:ext>
                  </a:extLst>
                </a:tr>
                <a:tr h="341051">
                  <a:tc>
                    <a:txBody>
                      <a:bodyPr/>
                      <a:lstStyle/>
                      <a:p>
                        <a:pPr algn="l"/>
                        <a:r>
                          <a:rPr lang="en-GB" sz="1200">
                            <a:latin typeface="Ubuntu" panose="020B0504030602030204" pitchFamily="34" charset="0"/>
                          </a:rPr>
                          <a:t>Johannesburg</a:t>
                        </a:r>
                      </a:p>
                    </a:txBody>
                    <a:tcPr marL="124280" marR="31070" marT="31070" marB="31070" anchor="ctr">
                      <a:solidFill>
                        <a:schemeClr val="bg1"/>
                      </a:solidFill>
                    </a:tcPr>
                  </a:tc>
                  <a:tc>
                    <a:txBody>
                      <a:bodyPr/>
                      <a:lstStyle/>
                      <a:p>
                        <a:pPr algn="ctr"/>
                        <a:r>
                          <a:rPr lang="en-GB" sz="1200">
                            <a:latin typeface="Ubuntu" panose="020B0504030602030204" pitchFamily="34" charset="0"/>
                          </a:rPr>
                          <a:t>154ms</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3529724013"/>
                    </a:ext>
                  </a:extLst>
                </a:tr>
                <a:tr h="341051">
                  <a:tc>
                    <a:txBody>
                      <a:bodyPr/>
                      <a:lstStyle/>
                      <a:p>
                        <a:pPr algn="l"/>
                        <a:r>
                          <a:rPr lang="en-GB" sz="1200">
                            <a:latin typeface="Ubuntu" panose="020B0504030602030204" pitchFamily="34" charset="0"/>
                          </a:rPr>
                          <a:t>São Paulo</a:t>
                        </a:r>
                      </a:p>
                    </a:txBody>
                    <a:tcPr marL="124280" marR="31070" marT="31070" marB="31070" anchor="ctr">
                      <a:solidFill>
                        <a:schemeClr val="bg1"/>
                      </a:solidFill>
                    </a:tcPr>
                  </a:tc>
                  <a:tc>
                    <a:txBody>
                      <a:bodyPr/>
                      <a:lstStyle/>
                      <a:p>
                        <a:pPr algn="ctr"/>
                        <a:r>
                          <a:rPr lang="en-GB" sz="1200">
                            <a:latin typeface="Ubuntu" panose="020B0504030602030204" pitchFamily="34" charset="0"/>
                          </a:rPr>
                          <a:t>96ms</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846967365"/>
                    </a:ext>
                  </a:extLst>
                </a:tr>
                <a:tr h="341051">
                  <a:tc>
                    <a:txBody>
                      <a:bodyPr/>
                      <a:lstStyle/>
                      <a:p>
                        <a:pPr algn="l"/>
                        <a:r>
                          <a:rPr lang="en-GB" sz="1200">
                            <a:latin typeface="Ubuntu" panose="020B0504030602030204" pitchFamily="34" charset="0"/>
                          </a:rPr>
                          <a:t>Cape Town </a:t>
                        </a:r>
                      </a:p>
                    </a:txBody>
                    <a:tcPr marL="124280" marR="31070" marT="31070" marB="31070" anchor="ctr">
                      <a:solidFill>
                        <a:schemeClr val="bg1"/>
                      </a:solidFill>
                    </a:tcPr>
                  </a:tc>
                  <a:tc>
                    <a:txBody>
                      <a:bodyPr/>
                      <a:lstStyle/>
                      <a:p>
                        <a:pPr algn="ctr"/>
                        <a:r>
                          <a:rPr lang="en-GB" sz="1200">
                            <a:latin typeface="Ubuntu" panose="020B0504030602030204" pitchFamily="34" charset="0"/>
                          </a:rPr>
                          <a:t>135ms</a:t>
                        </a:r>
                      </a:p>
                    </a:txBody>
                    <a:tcPr marL="124280" marR="31070" marT="31070" marB="31070" anchor="ctr">
                      <a:lnR w="12700" cap="flat" cmpd="sng" algn="ctr">
                        <a:solidFill>
                          <a:srgbClr val="728E3B"/>
                        </a:solidFill>
                        <a:prstDash val="solid"/>
                        <a:round/>
                        <a:headEnd type="none" w="med" len="med"/>
                        <a:tailEnd type="none" w="med" len="med"/>
                      </a:lnR>
                      <a:solidFill>
                        <a:schemeClr val="bg1"/>
                      </a:solidFill>
                    </a:tcPr>
                  </a:tc>
                  <a:extLst>
                    <a:ext uri="{0D108BD9-81ED-4DB2-BD59-A6C34878D82A}">
                      <a16:rowId xmlns:a16="http://schemas.microsoft.com/office/drawing/2014/main" val="1387779761"/>
                    </a:ext>
                  </a:extLst>
                </a:tr>
                <a:tr h="341051">
                  <a:tc>
                    <a:txBody>
                      <a:bodyPr/>
                      <a:lstStyle/>
                      <a:p>
                        <a:pPr algn="l"/>
                        <a:r>
                          <a:rPr lang="en-GB" sz="1200">
                            <a:latin typeface="Ubuntu" panose="020B0504030602030204" pitchFamily="34" charset="0"/>
                          </a:rPr>
                          <a:t>Singapore </a:t>
                        </a:r>
                      </a:p>
                    </a:txBody>
                    <a:tcPr marL="124280" marR="31070" marT="31070" marB="31070" anchor="ctr">
                      <a:lnB w="12700" cap="flat" cmpd="sng" algn="ctr">
                        <a:solidFill>
                          <a:srgbClr val="728E3B"/>
                        </a:solidFill>
                        <a:prstDash val="solid"/>
                        <a:round/>
                        <a:headEnd type="none" w="med" len="med"/>
                        <a:tailEnd type="none" w="med" len="med"/>
                      </a:lnB>
                      <a:solidFill>
                        <a:schemeClr val="bg1"/>
                      </a:solidFill>
                    </a:tcPr>
                  </a:tc>
                  <a:tc>
                    <a:txBody>
                      <a:bodyPr/>
                      <a:lstStyle/>
                      <a:p>
                        <a:pPr algn="ctr"/>
                        <a:r>
                          <a:rPr lang="en-GB" sz="1200">
                            <a:latin typeface="Ubuntu" panose="020B0504030602030204" pitchFamily="34" charset="0"/>
                          </a:rPr>
                          <a:t>158ms</a:t>
                        </a:r>
                      </a:p>
                    </a:txBody>
                    <a:tcPr marL="124280" marR="31070" marT="31070" marB="31070" anchor="ctr">
                      <a:lnR w="12700" cap="flat" cmpd="sng" algn="ctr">
                        <a:solidFill>
                          <a:srgbClr val="728E3B"/>
                        </a:solidFill>
                        <a:prstDash val="solid"/>
                        <a:round/>
                        <a:headEnd type="none" w="med" len="med"/>
                        <a:tailEnd type="none" w="med" len="med"/>
                      </a:lnR>
                      <a:lnB w="12700" cap="flat" cmpd="sng" algn="ctr">
                        <a:solidFill>
                          <a:srgbClr val="728E3B"/>
                        </a:solidFill>
                        <a:prstDash val="solid"/>
                        <a:round/>
                        <a:headEnd type="none" w="med" len="med"/>
                        <a:tailEnd type="none" w="med" len="med"/>
                      </a:lnB>
                      <a:solidFill>
                        <a:schemeClr val="bg1"/>
                      </a:solidFill>
                    </a:tcPr>
                  </a:tc>
                  <a:extLst>
                    <a:ext uri="{0D108BD9-81ED-4DB2-BD59-A6C34878D82A}">
                      <a16:rowId xmlns:a16="http://schemas.microsoft.com/office/drawing/2014/main" val="2825293269"/>
                    </a:ext>
                  </a:extLst>
                </a:tr>
              </a:tbl>
            </a:graphicData>
          </a:graphic>
        </p:graphicFrame>
      </p:grpSp>
    </p:spTree>
    <p:extLst>
      <p:ext uri="{BB962C8B-B14F-4D97-AF65-F5344CB8AC3E}">
        <p14:creationId xmlns:p14="http://schemas.microsoft.com/office/powerpoint/2010/main" val="2711346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Flowchart: Manual Input 71">
            <a:extLst>
              <a:ext uri="{FF2B5EF4-FFF2-40B4-BE49-F238E27FC236}">
                <a16:creationId xmlns:a16="http://schemas.microsoft.com/office/drawing/2014/main" id="{1FB4ACE3-BC69-F7D1-65DD-C87D6228AA87}"/>
              </a:ext>
            </a:extLst>
          </p:cNvPr>
          <p:cNvSpPr/>
          <p:nvPr/>
        </p:nvSpPr>
        <p:spPr>
          <a:xfrm>
            <a:off x="18813005" y="5436687"/>
            <a:ext cx="2898808" cy="3991047"/>
          </a:xfrm>
          <a:custGeom>
            <a:avLst/>
            <a:gdLst>
              <a:gd name="f0" fmla="val 10800000"/>
              <a:gd name="f1" fmla="val 5400000"/>
              <a:gd name="f2" fmla="val 180"/>
              <a:gd name="f3" fmla="val w"/>
              <a:gd name="f4" fmla="val h"/>
              <a:gd name="f5" fmla="val 0"/>
              <a:gd name="f6" fmla="val 10066"/>
              <a:gd name="f7" fmla="val 98155"/>
              <a:gd name="f8" fmla="val 86768"/>
              <a:gd name="f9" fmla="val 10000"/>
              <a:gd name="f10" fmla="val 9978"/>
              <a:gd name="f11" fmla="val 1710"/>
              <a:gd name="f12" fmla="val 10086"/>
              <a:gd name="f13" fmla="val 68994"/>
              <a:gd name="f14" fmla="val 10064"/>
              <a:gd name="f15" fmla="val 70703"/>
              <a:gd name="f16" fmla="+- 0 0 -90"/>
              <a:gd name="f17" fmla="*/ f3 1 10066"/>
              <a:gd name="f18" fmla="*/ f4 1 98155"/>
              <a:gd name="f19" fmla="val f5"/>
              <a:gd name="f20" fmla="val f6"/>
              <a:gd name="f21" fmla="val f7"/>
              <a:gd name="f22" fmla="*/ f16 f0 1"/>
              <a:gd name="f23" fmla="+- f21 0 f19"/>
              <a:gd name="f24" fmla="+- f20 0 f19"/>
              <a:gd name="f25" fmla="*/ f22 1 f2"/>
              <a:gd name="f26" fmla="*/ f24 1 10066"/>
              <a:gd name="f27" fmla="*/ f23 1 98155"/>
              <a:gd name="f28" fmla="*/ 86768 f23 1"/>
              <a:gd name="f29" fmla="*/ 0 f23 1"/>
              <a:gd name="f30" fmla="*/ 98155 f23 1"/>
              <a:gd name="f31" fmla="*/ 0 f24 1"/>
              <a:gd name="f32" fmla="*/ 10000 f24 1"/>
              <a:gd name="f33" fmla="*/ 10064 f24 1"/>
              <a:gd name="f34" fmla="*/ 70703 f23 1"/>
              <a:gd name="f35" fmla="+- f25 0 f1"/>
              <a:gd name="f36" fmla="*/ f28 1 98155"/>
              <a:gd name="f37" fmla="*/ f29 1 98155"/>
              <a:gd name="f38" fmla="*/ f30 1 98155"/>
              <a:gd name="f39" fmla="*/ f31 1 10066"/>
              <a:gd name="f40" fmla="*/ f32 1 10066"/>
              <a:gd name="f41" fmla="*/ f33 1 10066"/>
              <a:gd name="f42" fmla="*/ f34 1 98155"/>
              <a:gd name="f43" fmla="*/ f19 1 f26"/>
              <a:gd name="f44" fmla="*/ f20 1 f26"/>
              <a:gd name="f45" fmla="*/ f19 1 f27"/>
              <a:gd name="f46" fmla="*/ f21 1 f27"/>
              <a:gd name="f47" fmla="*/ f39 1 f26"/>
              <a:gd name="f48" fmla="*/ f36 1 f27"/>
              <a:gd name="f49" fmla="*/ f40 1 f26"/>
              <a:gd name="f50" fmla="*/ f37 1 f27"/>
              <a:gd name="f51" fmla="*/ f41 1 f26"/>
              <a:gd name="f52" fmla="*/ f42 1 f27"/>
              <a:gd name="f53" fmla="*/ f38 1 f27"/>
              <a:gd name="f54" fmla="*/ f43 f17 1"/>
              <a:gd name="f55" fmla="*/ f44 f17 1"/>
              <a:gd name="f56" fmla="*/ f46 f18 1"/>
              <a:gd name="f57" fmla="*/ f45 f18 1"/>
              <a:gd name="f58" fmla="*/ f47 f17 1"/>
              <a:gd name="f59" fmla="*/ f48 f18 1"/>
              <a:gd name="f60" fmla="*/ f49 f17 1"/>
              <a:gd name="f61" fmla="*/ f50 f18 1"/>
              <a:gd name="f62" fmla="*/ f51 f17 1"/>
              <a:gd name="f63" fmla="*/ f52 f18 1"/>
              <a:gd name="f64" fmla="*/ f53 f18 1"/>
            </a:gdLst>
            <a:ahLst/>
            <a:cxnLst>
              <a:cxn ang="3cd4">
                <a:pos x="hc" y="t"/>
              </a:cxn>
              <a:cxn ang="0">
                <a:pos x="r" y="vc"/>
              </a:cxn>
              <a:cxn ang="cd4">
                <a:pos x="hc" y="b"/>
              </a:cxn>
              <a:cxn ang="cd2">
                <a:pos x="l" y="vc"/>
              </a:cxn>
              <a:cxn ang="f35">
                <a:pos x="f58" y="f59"/>
              </a:cxn>
              <a:cxn ang="f35">
                <a:pos x="f60" y="f61"/>
              </a:cxn>
              <a:cxn ang="f35">
                <a:pos x="f62" y="f63"/>
              </a:cxn>
              <a:cxn ang="f35">
                <a:pos x="f58" y="f64"/>
              </a:cxn>
              <a:cxn ang="f35">
                <a:pos x="f58" y="f59"/>
              </a:cxn>
            </a:cxnLst>
            <a:rect l="f54" t="f57" r="f55" b="f56"/>
            <a:pathLst>
              <a:path w="10066" h="98155">
                <a:moveTo>
                  <a:pt x="f5" y="f8"/>
                </a:moveTo>
                <a:lnTo>
                  <a:pt x="f9" y="f5"/>
                </a:lnTo>
                <a:cubicBezTo>
                  <a:pt x="f10" y="f11"/>
                  <a:pt x="f12" y="f13"/>
                  <a:pt x="f14" y="f15"/>
                </a:cubicBezTo>
                <a:lnTo>
                  <a:pt x="f5" y="f7"/>
                </a:lnTo>
                <a:lnTo>
                  <a:pt x="f5" y="f8"/>
                </a:lnTo>
                <a:close/>
              </a:path>
            </a:pathLst>
          </a:custGeom>
          <a:solidFill>
            <a:srgbClr val="0A3638">
              <a:alpha val="29804"/>
            </a:srgbClr>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88" name="Flowchart: Manual Input 71">
            <a:extLst>
              <a:ext uri="{FF2B5EF4-FFF2-40B4-BE49-F238E27FC236}">
                <a16:creationId xmlns:a16="http://schemas.microsoft.com/office/drawing/2014/main" id="{FA1BE584-4B8C-7C9B-AA09-DF1FFD930248}"/>
              </a:ext>
            </a:extLst>
          </p:cNvPr>
          <p:cNvSpPr/>
          <p:nvPr/>
        </p:nvSpPr>
        <p:spPr>
          <a:xfrm>
            <a:off x="18700751" y="8096250"/>
            <a:ext cx="3333746" cy="2152650"/>
          </a:xfrm>
          <a:custGeom>
            <a:avLst/>
            <a:gdLst>
              <a:gd name="f0" fmla="val 10800000"/>
              <a:gd name="f1" fmla="val 5400000"/>
              <a:gd name="f2" fmla="val 180"/>
              <a:gd name="f3" fmla="val w"/>
              <a:gd name="f4" fmla="val h"/>
              <a:gd name="f5" fmla="val 0"/>
              <a:gd name="f6" fmla="val 10104"/>
              <a:gd name="f7" fmla="val 98155"/>
              <a:gd name="f8" fmla="val 38"/>
              <a:gd name="f9" fmla="val 60942"/>
              <a:gd name="f10" fmla="val 10000"/>
              <a:gd name="f11" fmla="val 9978"/>
              <a:gd name="f12" fmla="val 1710"/>
              <a:gd name="f13" fmla="val 10124"/>
              <a:gd name="f14" fmla="val 93721"/>
              <a:gd name="f15" fmla="val 10102"/>
              <a:gd name="f16" fmla="val 95430"/>
              <a:gd name="f17" fmla="val 13"/>
              <a:gd name="f18" fmla="val 85751"/>
              <a:gd name="f19" fmla="val 25"/>
              <a:gd name="f20" fmla="val 73346"/>
              <a:gd name="f21" fmla="+- 0 0 -90"/>
              <a:gd name="f22" fmla="*/ f3 1 10104"/>
              <a:gd name="f23" fmla="*/ f4 1 98155"/>
              <a:gd name="f24" fmla="val f5"/>
              <a:gd name="f25" fmla="val f6"/>
              <a:gd name="f26" fmla="val f7"/>
              <a:gd name="f27" fmla="*/ f21 f0 1"/>
              <a:gd name="f28" fmla="+- f26 0 f24"/>
              <a:gd name="f29" fmla="+- f25 0 f24"/>
              <a:gd name="f30" fmla="*/ f27 1 f2"/>
              <a:gd name="f31" fmla="*/ f29 1 10104"/>
              <a:gd name="f32" fmla="*/ f28 1 98155"/>
              <a:gd name="f33" fmla="*/ 0 f28 1"/>
              <a:gd name="f34" fmla="*/ 98155 f28 1"/>
              <a:gd name="f35" fmla="*/ 60942 f28 1"/>
              <a:gd name="f36" fmla="*/ 38 f29 1"/>
              <a:gd name="f37" fmla="*/ 10000 f29 1"/>
              <a:gd name="f38" fmla="*/ 10102 f29 1"/>
              <a:gd name="f39" fmla="*/ 95430 f28 1"/>
              <a:gd name="f40" fmla="*/ 0 f29 1"/>
              <a:gd name="f41" fmla="+- f30 0 f1"/>
              <a:gd name="f42" fmla="*/ f33 1 98155"/>
              <a:gd name="f43" fmla="*/ f34 1 98155"/>
              <a:gd name="f44" fmla="*/ f35 1 98155"/>
              <a:gd name="f45" fmla="*/ f36 1 10104"/>
              <a:gd name="f46" fmla="*/ f37 1 10104"/>
              <a:gd name="f47" fmla="*/ f38 1 10104"/>
              <a:gd name="f48" fmla="*/ f39 1 98155"/>
              <a:gd name="f49" fmla="*/ f40 1 10104"/>
              <a:gd name="f50" fmla="*/ f24 1 f31"/>
              <a:gd name="f51" fmla="*/ f25 1 f31"/>
              <a:gd name="f52" fmla="*/ f24 1 f32"/>
              <a:gd name="f53" fmla="*/ f26 1 f32"/>
              <a:gd name="f54" fmla="*/ f45 1 f31"/>
              <a:gd name="f55" fmla="*/ f44 1 f32"/>
              <a:gd name="f56" fmla="*/ f46 1 f31"/>
              <a:gd name="f57" fmla="*/ f42 1 f32"/>
              <a:gd name="f58" fmla="*/ f47 1 f31"/>
              <a:gd name="f59" fmla="*/ f48 1 f32"/>
              <a:gd name="f60" fmla="*/ f49 1 f31"/>
              <a:gd name="f61" fmla="*/ f43 1 f32"/>
              <a:gd name="f62" fmla="*/ f50 f22 1"/>
              <a:gd name="f63" fmla="*/ f51 f22 1"/>
              <a:gd name="f64" fmla="*/ f53 f23 1"/>
              <a:gd name="f65" fmla="*/ f52 f23 1"/>
              <a:gd name="f66" fmla="*/ f54 f22 1"/>
              <a:gd name="f67" fmla="*/ f55 f23 1"/>
              <a:gd name="f68" fmla="*/ f56 f22 1"/>
              <a:gd name="f69" fmla="*/ f57 f23 1"/>
              <a:gd name="f70" fmla="*/ f58 f22 1"/>
              <a:gd name="f71" fmla="*/ f59 f23 1"/>
              <a:gd name="f72" fmla="*/ f60 f22 1"/>
              <a:gd name="f73" fmla="*/ f61 f23 1"/>
            </a:gdLst>
            <a:ahLst/>
            <a:cxnLst>
              <a:cxn ang="3cd4">
                <a:pos x="hc" y="t"/>
              </a:cxn>
              <a:cxn ang="0">
                <a:pos x="r" y="vc"/>
              </a:cxn>
              <a:cxn ang="cd4">
                <a:pos x="hc" y="b"/>
              </a:cxn>
              <a:cxn ang="cd2">
                <a:pos x="l" y="vc"/>
              </a:cxn>
              <a:cxn ang="f41">
                <a:pos x="f66" y="f67"/>
              </a:cxn>
              <a:cxn ang="f41">
                <a:pos x="f68" y="f69"/>
              </a:cxn>
              <a:cxn ang="f41">
                <a:pos x="f70" y="f71"/>
              </a:cxn>
              <a:cxn ang="f41">
                <a:pos x="f72" y="f73"/>
              </a:cxn>
              <a:cxn ang="f41">
                <a:pos x="f66" y="f67"/>
              </a:cxn>
            </a:cxnLst>
            <a:rect l="f62" t="f65" r="f63" b="f64"/>
            <a:pathLst>
              <a:path w="10104" h="98155">
                <a:moveTo>
                  <a:pt x="f8" y="f9"/>
                </a:moveTo>
                <a:lnTo>
                  <a:pt x="f10" y="f5"/>
                </a:lnTo>
                <a:cubicBezTo>
                  <a:pt x="f11" y="f12"/>
                  <a:pt x="f13" y="f14"/>
                  <a:pt x="f15" y="f16"/>
                </a:cubicBezTo>
                <a:lnTo>
                  <a:pt x="f5" y="f7"/>
                </a:lnTo>
                <a:cubicBezTo>
                  <a:pt x="f17" y="f18"/>
                  <a:pt x="f19" y="f20"/>
                  <a:pt x="f8" y="f9"/>
                </a:cubicBezTo>
                <a:close/>
              </a:path>
            </a:pathLst>
          </a:custGeom>
          <a:solidFill>
            <a:srgbClr val="B8FAD6"/>
          </a:solid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89" name="Isosceles Triangle 9">
            <a:extLst>
              <a:ext uri="{FF2B5EF4-FFF2-40B4-BE49-F238E27FC236}">
                <a16:creationId xmlns:a16="http://schemas.microsoft.com/office/drawing/2014/main" id="{A82CC8F1-9F29-CC1E-6165-D75DACE1D4F7}"/>
              </a:ext>
            </a:extLst>
          </p:cNvPr>
          <p:cNvSpPr/>
          <p:nvPr/>
        </p:nvSpPr>
        <p:spPr>
          <a:xfrm rot="10800000">
            <a:off x="18389599" y="10109094"/>
            <a:ext cx="3644899" cy="800100"/>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graphicFrame>
        <p:nvGraphicFramePr>
          <p:cNvPr id="90" name="Chart 31">
            <a:extLst>
              <a:ext uri="{FF2B5EF4-FFF2-40B4-BE49-F238E27FC236}">
                <a16:creationId xmlns:a16="http://schemas.microsoft.com/office/drawing/2014/main" id="{2172477C-386E-CC0F-A93D-DE547138B3B8}"/>
              </a:ext>
            </a:extLst>
          </p:cNvPr>
          <p:cNvGraphicFramePr/>
          <p:nvPr>
            <p:extLst>
              <p:ext uri="{D42A27DB-BD31-4B8C-83A1-F6EECF244321}">
                <p14:modId xmlns:p14="http://schemas.microsoft.com/office/powerpoint/2010/main" val="3251111786"/>
              </p:ext>
            </p:extLst>
          </p:nvPr>
        </p:nvGraphicFramePr>
        <p:xfrm>
          <a:off x="12021218" y="3359828"/>
          <a:ext cx="10990666" cy="8644603"/>
        </p:xfrm>
        <a:graphic>
          <a:graphicData uri="http://schemas.openxmlformats.org/drawingml/2006/chart">
            <c:chart xmlns:c="http://schemas.openxmlformats.org/drawingml/2006/chart" xmlns:r="http://schemas.openxmlformats.org/officeDocument/2006/relationships" r:id="rId2"/>
          </a:graphicData>
        </a:graphic>
      </p:graphicFrame>
      <p:sp>
        <p:nvSpPr>
          <p:cNvPr id="91" name="TextBox 90">
            <a:extLst>
              <a:ext uri="{FF2B5EF4-FFF2-40B4-BE49-F238E27FC236}">
                <a16:creationId xmlns:a16="http://schemas.microsoft.com/office/drawing/2014/main" id="{A95041B5-73D2-9ED5-369D-418E2FD4EBC8}"/>
              </a:ext>
            </a:extLst>
          </p:cNvPr>
          <p:cNvSpPr txBox="1"/>
          <p:nvPr/>
        </p:nvSpPr>
        <p:spPr>
          <a:xfrm>
            <a:off x="14347257" y="3316168"/>
            <a:ext cx="6729406"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2800" b="1" i="0" u="none" strike="noStrike" kern="1200" cap="none" spc="0" normalizeH="0" baseline="0" noProof="0" dirty="0">
                <a:ln>
                  <a:noFill/>
                </a:ln>
                <a:solidFill>
                  <a:schemeClr val="bg1">
                    <a:lumMod val="75000"/>
                  </a:schemeClr>
                </a:solidFill>
                <a:effectLst/>
                <a:uLnTx/>
                <a:uFillTx/>
                <a:latin typeface="Calibri"/>
                <a:ea typeface="+mn-ea"/>
                <a:cs typeface="+mn-cs"/>
              </a:rPr>
              <a:t>Fast growth of installed renewable capacity </a:t>
            </a:r>
          </a:p>
        </p:txBody>
      </p:sp>
      <p:grpSp>
        <p:nvGrpSpPr>
          <p:cNvPr id="93" name="Group 92">
            <a:extLst>
              <a:ext uri="{FF2B5EF4-FFF2-40B4-BE49-F238E27FC236}">
                <a16:creationId xmlns:a16="http://schemas.microsoft.com/office/drawing/2014/main" id="{EE7A83E4-E44A-3B03-8456-D5B4FF9BA926}"/>
              </a:ext>
            </a:extLst>
          </p:cNvPr>
          <p:cNvGrpSpPr/>
          <p:nvPr/>
        </p:nvGrpSpPr>
        <p:grpSpPr>
          <a:xfrm>
            <a:off x="2564624" y="3532899"/>
            <a:ext cx="8960850" cy="8700347"/>
            <a:chOff x="763702" y="3492196"/>
            <a:chExt cx="8960850" cy="8700347"/>
          </a:xfrm>
        </p:grpSpPr>
        <p:graphicFrame>
          <p:nvGraphicFramePr>
            <p:cNvPr id="94" name="Chart 93">
              <a:extLst>
                <a:ext uri="{FF2B5EF4-FFF2-40B4-BE49-F238E27FC236}">
                  <a16:creationId xmlns:a16="http://schemas.microsoft.com/office/drawing/2014/main" id="{AC61C1AE-578F-CA02-92A1-834CDCBC9FAE}"/>
                </a:ext>
              </a:extLst>
            </p:cNvPr>
            <p:cNvGraphicFramePr/>
            <p:nvPr>
              <p:extLst>
                <p:ext uri="{D42A27DB-BD31-4B8C-83A1-F6EECF244321}">
                  <p14:modId xmlns:p14="http://schemas.microsoft.com/office/powerpoint/2010/main" val="3940880747"/>
                </p:ext>
              </p:extLst>
            </p:nvPr>
          </p:nvGraphicFramePr>
          <p:xfrm>
            <a:off x="1213034" y="3949301"/>
            <a:ext cx="8511518" cy="8243242"/>
          </p:xfrm>
          <a:graphic>
            <a:graphicData uri="http://schemas.openxmlformats.org/drawingml/2006/chart">
              <c:chart xmlns:c="http://schemas.openxmlformats.org/drawingml/2006/chart" xmlns:r="http://schemas.openxmlformats.org/officeDocument/2006/relationships" r:id="rId3"/>
            </a:graphicData>
          </a:graphic>
        </p:graphicFrame>
        <p:sp>
          <p:nvSpPr>
            <p:cNvPr id="95" name="Arc 13">
              <a:extLst>
                <a:ext uri="{FF2B5EF4-FFF2-40B4-BE49-F238E27FC236}">
                  <a16:creationId xmlns:a16="http://schemas.microsoft.com/office/drawing/2014/main" id="{AE663AFF-8081-14EF-3595-56733FD78B1C}"/>
                </a:ext>
              </a:extLst>
            </p:cNvPr>
            <p:cNvSpPr/>
            <p:nvPr/>
          </p:nvSpPr>
          <p:spPr>
            <a:xfrm>
              <a:off x="1865439" y="4725794"/>
              <a:ext cx="7164819" cy="7163053"/>
            </a:xfrm>
            <a:custGeom>
              <a:avLst>
                <a:gd name="f12" fmla="val 180"/>
                <a:gd name="f13" fmla="val 108"/>
              </a:avLst>
              <a:gdLst>
                <a:gd name="f2" fmla="val 10800000"/>
                <a:gd name="f3" fmla="val 5400000"/>
                <a:gd name="f4" fmla="val 16200000"/>
                <a:gd name="f5" fmla="val 180"/>
                <a:gd name="f6" fmla="val w"/>
                <a:gd name="f7" fmla="val h"/>
                <a:gd name="f8" fmla="val ss"/>
                <a:gd name="f9" fmla="val 0"/>
                <a:gd name="f10" fmla="*/ 5419351 1 1725033"/>
                <a:gd name="f11" fmla="+- 0 0 1"/>
                <a:gd name="f12" fmla="val 180"/>
                <a:gd name="f13" fmla="val 108"/>
                <a:gd name="f14" fmla="+- 0 0 -270"/>
                <a:gd name="f15" fmla="+- 0 0 -324"/>
                <a:gd name="f16" fmla="+- 0 0 -378"/>
                <a:gd name="f17" fmla="abs f6"/>
                <a:gd name="f18" fmla="abs f7"/>
                <a:gd name="f19" fmla="abs f8"/>
                <a:gd name="f20" fmla="val f9"/>
                <a:gd name="f21" fmla="+- 0 0 f12"/>
                <a:gd name="f22" fmla="+- 0 0 f13"/>
                <a:gd name="f23" fmla="*/ f14 f2 1"/>
                <a:gd name="f24" fmla="*/ f15 f2 1"/>
                <a:gd name="f25" fmla="*/ f16 f2 1"/>
                <a:gd name="f26" fmla="?: f17 f6 1"/>
                <a:gd name="f27" fmla="?: f18 f7 1"/>
                <a:gd name="f28" fmla="?: f19 f8 1"/>
                <a:gd name="f29" fmla="*/ f21 f2 1"/>
                <a:gd name="f30" fmla="*/ f22 f2 1"/>
                <a:gd name="f31" fmla="*/ f23 1 f5"/>
                <a:gd name="f32" fmla="*/ f24 1 f5"/>
                <a:gd name="f33" fmla="*/ f25 1 f5"/>
                <a:gd name="f34" fmla="*/ f26 1 21600"/>
                <a:gd name="f35" fmla="*/ f27 1 21600"/>
                <a:gd name="f36" fmla="*/ 21600 f26 1"/>
                <a:gd name="f37" fmla="*/ 21600 f27 1"/>
                <a:gd name="f38" fmla="*/ f29 1 f5"/>
                <a:gd name="f39" fmla="*/ f30 1 f5"/>
                <a:gd name="f40" fmla="+- f31 0 f3"/>
                <a:gd name="f41" fmla="+- f32 0 f3"/>
                <a:gd name="f42" fmla="+- f33 0 f3"/>
                <a:gd name="f43" fmla="min f35 f34"/>
                <a:gd name="f44" fmla="*/ f36 1 f28"/>
                <a:gd name="f45" fmla="*/ f37 1 f28"/>
                <a:gd name="f46" fmla="+- f38 0 f3"/>
                <a:gd name="f47" fmla="+- f39 0 f3"/>
                <a:gd name="f48" fmla="val f44"/>
                <a:gd name="f49" fmla="val f45"/>
                <a:gd name="f50" fmla="+- 0 0 f46"/>
                <a:gd name="f51" fmla="+- 0 0 f47"/>
                <a:gd name="f52" fmla="+- f49 0 f20"/>
                <a:gd name="f53" fmla="+- f48 0 f20"/>
                <a:gd name="f54" fmla="val f50"/>
                <a:gd name="f55" fmla="val f51"/>
                <a:gd name="f56" fmla="*/ f52 1 2"/>
                <a:gd name="f57" fmla="*/ f53 1 2"/>
                <a:gd name="f58" fmla="+- f55 0 f54"/>
                <a:gd name="f59" fmla="+- f54 f3 0"/>
                <a:gd name="f60" fmla="+- f55 f3 0"/>
                <a:gd name="f61" fmla="+- 21600000 0 f54"/>
                <a:gd name="f62" fmla="+- f3 0 f54"/>
                <a:gd name="f63" fmla="+- 27000000 0 f54"/>
                <a:gd name="f64" fmla="+- f2 0 f54"/>
                <a:gd name="f65" fmla="+- 32400000 0 f54"/>
                <a:gd name="f66" fmla="+- f4 0 f54"/>
                <a:gd name="f67" fmla="+- 37800000 0 f54"/>
                <a:gd name="f68" fmla="+- f20 f56 0"/>
                <a:gd name="f69" fmla="+- f20 f57 0"/>
                <a:gd name="f70" fmla="+- f58 21600000 0"/>
                <a:gd name="f71" fmla="*/ f59 f10 1"/>
                <a:gd name="f72" fmla="*/ f60 f10 1"/>
                <a:gd name="f73" fmla="?: f62 f62 f63"/>
                <a:gd name="f74" fmla="?: f64 f64 f65"/>
                <a:gd name="f75" fmla="?: f66 f66 f67"/>
                <a:gd name="f76" fmla="*/ f57 f43 1"/>
                <a:gd name="f77" fmla="*/ f56 f43 1"/>
                <a:gd name="f78" fmla="?: f58 f58 f70"/>
                <a:gd name="f79" fmla="*/ f71 1 f2"/>
                <a:gd name="f80" fmla="*/ f72 1 f2"/>
                <a:gd name="f81" fmla="*/ f69 f43 1"/>
                <a:gd name="f82" fmla="*/ f68 f43 1"/>
                <a:gd name="f83" fmla="+- 0 0 f79"/>
                <a:gd name="f84" fmla="+- 0 0 f80"/>
                <a:gd name="f85" fmla="+- f78 0 f61"/>
                <a:gd name="f86" fmla="+- f78 0 f73"/>
                <a:gd name="f87" fmla="+- f78 0 f74"/>
                <a:gd name="f88" fmla="+- f78 0 f75"/>
                <a:gd name="f89" fmla="+- 0 0 f83"/>
                <a:gd name="f90" fmla="+- 0 0 f84"/>
                <a:gd name="f91" fmla="*/ f89 f2 1"/>
                <a:gd name="f92" fmla="*/ f90 f2 1"/>
                <a:gd name="f93" fmla="*/ f91 1 f10"/>
                <a:gd name="f94" fmla="*/ f92 1 f10"/>
                <a:gd name="f95" fmla="+- f93 0 f3"/>
                <a:gd name="f96" fmla="+- f94 0 f3"/>
                <a:gd name="f97" fmla="sin 1 f95"/>
                <a:gd name="f98" fmla="cos 1 f95"/>
                <a:gd name="f99" fmla="sin 1 f96"/>
                <a:gd name="f100" fmla="cos 1 f96"/>
                <a:gd name="f101" fmla="+- 0 0 f97"/>
                <a:gd name="f102" fmla="+- 0 0 f98"/>
                <a:gd name="f103" fmla="+- 0 0 f99"/>
                <a:gd name="f104" fmla="+- 0 0 f100"/>
                <a:gd name="f105" fmla="+- 0 0 f101"/>
                <a:gd name="f106" fmla="+- 0 0 f102"/>
                <a:gd name="f107" fmla="+- 0 0 f103"/>
                <a:gd name="f108" fmla="+- 0 0 f104"/>
                <a:gd name="f109" fmla="*/ f105 f57 1"/>
                <a:gd name="f110" fmla="*/ f106 f56 1"/>
                <a:gd name="f111" fmla="*/ f107 f57 1"/>
                <a:gd name="f112" fmla="*/ f108 f56 1"/>
                <a:gd name="f113" fmla="+- 0 0 f110"/>
                <a:gd name="f114" fmla="+- 0 0 f109"/>
                <a:gd name="f115" fmla="+- 0 0 f112"/>
                <a:gd name="f116" fmla="+- 0 0 f111"/>
                <a:gd name="f117" fmla="+- 0 0 f113"/>
                <a:gd name="f118" fmla="+- 0 0 f114"/>
                <a:gd name="f119" fmla="+- 0 0 f115"/>
                <a:gd name="f120" fmla="+- 0 0 f116"/>
                <a:gd name="f121" fmla="at2 f117 f118"/>
                <a:gd name="f122" fmla="at2 f119 f120"/>
                <a:gd name="f123" fmla="+- f121 f3 0"/>
                <a:gd name="f124" fmla="+- f122 f3 0"/>
                <a:gd name="f125" fmla="*/ f123 f10 1"/>
                <a:gd name="f126" fmla="*/ f124 f10 1"/>
                <a:gd name="f127" fmla="*/ f125 1 f2"/>
                <a:gd name="f128" fmla="*/ f126 1 f2"/>
                <a:gd name="f129" fmla="+- 0 0 f127"/>
                <a:gd name="f130" fmla="+- 0 0 f128"/>
                <a:gd name="f131" fmla="val f129"/>
                <a:gd name="f132" fmla="val f130"/>
                <a:gd name="f133" fmla="+- 0 0 f131"/>
                <a:gd name="f134" fmla="+- 0 0 f132"/>
                <a:gd name="f135" fmla="*/ f133 f2 1"/>
                <a:gd name="f136" fmla="*/ f134 f2 1"/>
                <a:gd name="f137" fmla="*/ f135 1 f10"/>
                <a:gd name="f138" fmla="*/ f136 1 f10"/>
                <a:gd name="f139" fmla="+- f137 0 f3"/>
                <a:gd name="f140" fmla="+- f138 0 f3"/>
                <a:gd name="f141" fmla="cos 1 f139"/>
                <a:gd name="f142" fmla="sin 1 f139"/>
                <a:gd name="f143" fmla="cos 1 f140"/>
                <a:gd name="f144" fmla="sin 1 f140"/>
                <a:gd name="f145" fmla="+- 0 0 f141"/>
                <a:gd name="f146" fmla="+- 0 0 f142"/>
                <a:gd name="f147" fmla="+- 0 0 f143"/>
                <a:gd name="f148" fmla="+- 0 0 f144"/>
                <a:gd name="f149" fmla="*/ f11 f145 1"/>
                <a:gd name="f150" fmla="*/ f11 f146 1"/>
                <a:gd name="f151" fmla="*/ f11 f147 1"/>
                <a:gd name="f152" fmla="*/ f11 f148 1"/>
                <a:gd name="f153" fmla="*/ f149 f57 1"/>
                <a:gd name="f154" fmla="*/ f150 f56 1"/>
                <a:gd name="f155" fmla="*/ f151 f57 1"/>
                <a:gd name="f156" fmla="*/ f152 f56 1"/>
                <a:gd name="f157" fmla="+- f69 f153 0"/>
                <a:gd name="f158" fmla="+- f68 f154 0"/>
                <a:gd name="f159" fmla="+- f69 f155 0"/>
                <a:gd name="f160" fmla="+- f68 f156 0"/>
                <a:gd name="f161" fmla="max f157 f159"/>
                <a:gd name="f162" fmla="max f158 f160"/>
                <a:gd name="f163" fmla="min f157 f159"/>
                <a:gd name="f164" fmla="min f158 f160"/>
                <a:gd name="f165" fmla="*/ f157 f43 1"/>
                <a:gd name="f166" fmla="*/ f158 f43 1"/>
                <a:gd name="f167" fmla="*/ f159 f43 1"/>
                <a:gd name="f168" fmla="*/ f160 f43 1"/>
                <a:gd name="f169" fmla="?: f85 f48 f161"/>
                <a:gd name="f170" fmla="?: f86 f49 f162"/>
                <a:gd name="f171" fmla="?: f87 f20 f163"/>
                <a:gd name="f172" fmla="?: f88 f20 f164"/>
                <a:gd name="f173" fmla="*/ f171 f43 1"/>
                <a:gd name="f174" fmla="*/ f172 f43 1"/>
                <a:gd name="f175" fmla="*/ f169 f43 1"/>
                <a:gd name="f176" fmla="*/ f170 f43 1"/>
              </a:gdLst>
              <a:ahLst/>
              <a:cxnLst>
                <a:cxn ang="3cd4">
                  <a:pos x="hc" y="t"/>
                </a:cxn>
                <a:cxn ang="0">
                  <a:pos x="r" y="vc"/>
                </a:cxn>
                <a:cxn ang="cd4">
                  <a:pos x="hc" y="b"/>
                </a:cxn>
                <a:cxn ang="cd2">
                  <a:pos x="l" y="vc"/>
                </a:cxn>
                <a:cxn ang="f40">
                  <a:pos x="f165" y="f166"/>
                </a:cxn>
                <a:cxn ang="f41">
                  <a:pos x="f81" y="f82"/>
                </a:cxn>
                <a:cxn ang="f42">
                  <a:pos x="f167" y="f168"/>
                </a:cxn>
              </a:cxnLst>
              <a:rect l="f173" t="f174" r="f175" b="f176"/>
              <a:pathLst>
                <a:path stroke="0">
                  <a:moveTo>
                    <a:pt x="f165" y="f166"/>
                  </a:moveTo>
                  <a:arcTo wR="f76" hR="f77" stAng="f54" swAng="f78"/>
                  <a:lnTo>
                    <a:pt x="f81" y="f82"/>
                  </a:lnTo>
                  <a:close/>
                </a:path>
                <a:path fill="none">
                  <a:moveTo>
                    <a:pt x="f165" y="f166"/>
                  </a:moveTo>
                  <a:arcTo wR="f76" hR="f77" stAng="f54" swAng="f78"/>
                </a:path>
              </a:pathLst>
            </a:custGeom>
            <a:noFill/>
            <a:ln w="76196" cap="flat">
              <a:solidFill>
                <a:srgbClr val="12BD64"/>
              </a:solidFill>
              <a:prstDash val="solid"/>
              <a:miter/>
              <a:tailEnd type="oval"/>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1800" b="0" i="0" u="none" strike="noStrike" kern="1200" cap="none" spc="0" normalizeH="0" baseline="0" noProof="0" dirty="0">
                <a:ln>
                  <a:noFill/>
                </a:ln>
                <a:solidFill>
                  <a:srgbClr val="000000"/>
                </a:solidFill>
                <a:effectLst/>
                <a:uLnTx/>
                <a:uFillTx/>
                <a:latin typeface="Calibri"/>
                <a:ea typeface="+mn-ea"/>
                <a:cs typeface="+mn-cs"/>
              </a:endParaRPr>
            </a:p>
          </p:txBody>
        </p:sp>
        <p:sp>
          <p:nvSpPr>
            <p:cNvPr id="96" name="TextBox 22">
              <a:extLst>
                <a:ext uri="{FF2B5EF4-FFF2-40B4-BE49-F238E27FC236}">
                  <a16:creationId xmlns:a16="http://schemas.microsoft.com/office/drawing/2014/main" id="{60F5F29C-11C3-7891-33E2-38F4422F205A}"/>
                </a:ext>
              </a:extLst>
            </p:cNvPr>
            <p:cNvSpPr txBox="1"/>
            <p:nvPr/>
          </p:nvSpPr>
          <p:spPr>
            <a:xfrm>
              <a:off x="763702" y="6215792"/>
              <a:ext cx="1619354" cy="923330"/>
            </a:xfrm>
            <a:prstGeom prst="rect">
              <a:avLst/>
            </a:prstGeom>
            <a:noFill/>
            <a:ln cap="flat">
              <a:noFill/>
            </a:ln>
          </p:spPr>
          <p:txBody>
            <a:bodyPr vert="horz" wrap="non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5400" b="1" i="0" u="none" strike="noStrike" kern="1200" cap="none" spc="0" normalizeH="0" baseline="0" noProof="0">
                  <a:ln>
                    <a:noFill/>
                  </a:ln>
                  <a:solidFill>
                    <a:srgbClr val="12BD64"/>
                  </a:solidFill>
                  <a:effectLst/>
                  <a:uLnTx/>
                  <a:uFillTx/>
                  <a:latin typeface="Figtree"/>
                  <a:ea typeface="+mn-ea"/>
                  <a:cs typeface="+mn-cs"/>
                </a:rPr>
                <a:t>80%</a:t>
              </a:r>
              <a:endParaRPr kumimoji="0" lang="en-GB" sz="5400" b="1" i="0" u="none" strike="noStrike" kern="1200" cap="none" spc="0" normalizeH="0" baseline="0" noProof="0">
                <a:ln>
                  <a:noFill/>
                </a:ln>
                <a:solidFill>
                  <a:srgbClr val="12BD64"/>
                </a:solidFill>
                <a:effectLst/>
                <a:uLnTx/>
                <a:uFillTx/>
                <a:latin typeface="Figtree"/>
                <a:ea typeface="+mn-ea"/>
                <a:cs typeface="+mn-cs"/>
              </a:endParaRPr>
            </a:p>
          </p:txBody>
        </p:sp>
        <p:grpSp>
          <p:nvGrpSpPr>
            <p:cNvPr id="97" name="Group 96">
              <a:extLst>
                <a:ext uri="{FF2B5EF4-FFF2-40B4-BE49-F238E27FC236}">
                  <a16:creationId xmlns:a16="http://schemas.microsoft.com/office/drawing/2014/main" id="{AC8B2515-81BE-B75C-FE9B-2A0329A4FAAD}"/>
                </a:ext>
              </a:extLst>
            </p:cNvPr>
            <p:cNvGrpSpPr/>
            <p:nvPr/>
          </p:nvGrpSpPr>
          <p:grpSpPr>
            <a:xfrm>
              <a:off x="3748474" y="7676781"/>
              <a:ext cx="3561948" cy="1791613"/>
              <a:chOff x="3748474" y="7721639"/>
              <a:chExt cx="3561948" cy="1791613"/>
            </a:xfrm>
          </p:grpSpPr>
          <p:sp>
            <p:nvSpPr>
              <p:cNvPr id="103" name="TextBox 102">
                <a:extLst>
                  <a:ext uri="{FF2B5EF4-FFF2-40B4-BE49-F238E27FC236}">
                    <a16:creationId xmlns:a16="http://schemas.microsoft.com/office/drawing/2014/main" id="{9E46C754-1E3D-E4F1-E4BB-18B2DFDA956D}"/>
                  </a:ext>
                </a:extLst>
              </p:cNvPr>
              <p:cNvSpPr txBox="1"/>
              <p:nvPr/>
            </p:nvSpPr>
            <p:spPr>
              <a:xfrm>
                <a:off x="3748474" y="7721639"/>
                <a:ext cx="3561948" cy="689420"/>
              </a:xfrm>
              <a:prstGeom prst="rect">
                <a:avLst/>
              </a:prstGeom>
              <a:noFill/>
              <a:ln cap="flat">
                <a:noFill/>
              </a:ln>
            </p:spPr>
            <p:txBody>
              <a:bodyPr vert="horz" wrap="square" lIns="91440" tIns="45720" rIns="91440" bIns="45720" anchor="t" anchorCtr="1" compatLnSpc="1">
                <a:spAutoFit/>
              </a:bodyPr>
              <a:lstStyle/>
              <a:p>
                <a:pPr marL="0" marR="0" lvl="0" indent="0" algn="r" defTabSz="914400" rtl="0" eaLnBrk="1" fontAlgn="auto" latinLnBrk="0" hangingPunct="1">
                  <a:lnSpc>
                    <a:spcPct val="80000"/>
                  </a:lnSpc>
                  <a:spcBef>
                    <a:spcPts val="0"/>
                  </a:spcBef>
                  <a:spcAft>
                    <a:spcPts val="0"/>
                  </a:spcAft>
                  <a:buClrTx/>
                  <a:buSzTx/>
                  <a:buFontTx/>
                  <a:buNone/>
                  <a:tabLst/>
                  <a:defRPr sz="1800" b="0" i="0" u="none" strike="noStrike" kern="0" cap="none" spc="0" baseline="0">
                    <a:solidFill>
                      <a:srgbClr val="000000"/>
                    </a:solidFill>
                    <a:uFillTx/>
                  </a:defRPr>
                </a:pPr>
                <a:r>
                  <a:rPr kumimoji="0" lang="en-US" sz="4800" b="1" i="0" u="none" strike="noStrike" kern="0" cap="none" spc="0" normalizeH="0" baseline="0" noProof="0" dirty="0">
                    <a:ln>
                      <a:noFill/>
                    </a:ln>
                    <a:solidFill>
                      <a:srgbClr val="12BD64"/>
                    </a:solidFill>
                    <a:effectLst/>
                    <a:uLnTx/>
                    <a:uFillTx/>
                    <a:latin typeface="Figtree"/>
                    <a:ea typeface="+mn-ea"/>
                    <a:cs typeface="+mn-cs"/>
                  </a:rPr>
                  <a:t>17.8 </a:t>
                </a:r>
                <a:r>
                  <a:rPr kumimoji="0" lang="en-US" sz="4800" b="1" i="0" u="none" strike="noStrike" kern="0" cap="none" spc="0" normalizeH="0" baseline="0" noProof="0" dirty="0">
                    <a:ln>
                      <a:noFill/>
                    </a:ln>
                    <a:solidFill>
                      <a:srgbClr val="000000"/>
                    </a:solidFill>
                    <a:effectLst/>
                    <a:uLnTx/>
                    <a:uFillTx/>
                    <a:latin typeface="Figtree"/>
                    <a:ea typeface="+mn-ea"/>
                    <a:cs typeface="+mn-cs"/>
                  </a:rPr>
                  <a:t>GW</a:t>
                </a:r>
                <a:endParaRPr kumimoji="0" lang="en-GB" sz="4800" b="1" i="0" u="none" strike="noStrike" kern="0" cap="none" spc="0" normalizeH="0" baseline="0" noProof="0" dirty="0">
                  <a:ln>
                    <a:noFill/>
                  </a:ln>
                  <a:solidFill>
                    <a:srgbClr val="000000"/>
                  </a:solidFill>
                  <a:effectLst/>
                  <a:uLnTx/>
                  <a:uFillTx/>
                  <a:latin typeface="Figtree"/>
                  <a:ea typeface="+mn-ea"/>
                  <a:cs typeface="+mn-cs"/>
                </a:endParaRPr>
              </a:p>
            </p:txBody>
          </p:sp>
          <p:sp>
            <p:nvSpPr>
              <p:cNvPr id="104" name="TextBox 52">
                <a:extLst>
                  <a:ext uri="{FF2B5EF4-FFF2-40B4-BE49-F238E27FC236}">
                    <a16:creationId xmlns:a16="http://schemas.microsoft.com/office/drawing/2014/main" id="{6B7851CA-4A26-2829-7217-81163633300B}"/>
                  </a:ext>
                </a:extLst>
              </p:cNvPr>
              <p:cNvSpPr txBox="1"/>
              <p:nvPr/>
            </p:nvSpPr>
            <p:spPr>
              <a:xfrm>
                <a:off x="4493743" y="8312923"/>
                <a:ext cx="2071410" cy="1200329"/>
              </a:xfrm>
              <a:prstGeom prst="rect">
                <a:avLst/>
              </a:prstGeom>
              <a:solidFill>
                <a:srgbClr val="FFFFFF"/>
              </a:solidFill>
              <a:ln cap="flat">
                <a:noFill/>
              </a:ln>
            </p:spPr>
            <p:txBody>
              <a:bodyPr vert="horz" wrap="square" lIns="91440" tIns="45720" rIns="91440" bIns="45720" anchor="t" anchorCtr="1"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400" b="1" i="0" u="none" strike="noStrike" kern="1200" cap="none" spc="0" normalizeH="0" baseline="0" noProof="0" dirty="0">
                    <a:ln>
                      <a:noFill/>
                    </a:ln>
                    <a:solidFill>
                      <a:srgbClr val="000000"/>
                    </a:solidFill>
                    <a:effectLst/>
                    <a:uLnTx/>
                    <a:uFillTx/>
                    <a:latin typeface="Figtree"/>
                    <a:ea typeface="+mn-ea"/>
                    <a:cs typeface="+mn-cs"/>
                  </a:rPr>
                  <a:t>Installed </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400" b="1" i="0" u="none" strike="noStrike" kern="1200" cap="none" spc="0" normalizeH="0" baseline="0" noProof="0" dirty="0">
                    <a:ln>
                      <a:noFill/>
                    </a:ln>
                    <a:solidFill>
                      <a:srgbClr val="000000"/>
                    </a:solidFill>
                    <a:effectLst/>
                    <a:uLnTx/>
                    <a:uFillTx/>
                    <a:latin typeface="Figtree"/>
                    <a:ea typeface="+mn-ea"/>
                    <a:cs typeface="+mn-cs"/>
                  </a:rPr>
                  <a:t>Renewable </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400" b="1" i="0" u="none" strike="noStrike" kern="1200" cap="none" spc="0" normalizeH="0" baseline="0" noProof="0" dirty="0">
                    <a:ln>
                      <a:noFill/>
                    </a:ln>
                    <a:solidFill>
                      <a:srgbClr val="000000"/>
                    </a:solidFill>
                    <a:effectLst/>
                    <a:uLnTx/>
                    <a:uFillTx/>
                    <a:latin typeface="Figtree"/>
                    <a:ea typeface="+mn-ea"/>
                    <a:cs typeface="+mn-cs"/>
                  </a:rPr>
                  <a:t>Capacity</a:t>
                </a:r>
              </a:p>
            </p:txBody>
          </p:sp>
        </p:grpSp>
        <p:pic>
          <p:nvPicPr>
            <p:cNvPr id="98" name="Graphic 97">
              <a:extLst>
                <a:ext uri="{FF2B5EF4-FFF2-40B4-BE49-F238E27FC236}">
                  <a16:creationId xmlns:a16="http://schemas.microsoft.com/office/drawing/2014/main" id="{87412A0D-1AB5-CE46-2D06-CBE2791684AF}"/>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654554" y="8530612"/>
              <a:ext cx="457200" cy="457200"/>
            </a:xfrm>
            <a:prstGeom prst="rect">
              <a:avLst/>
            </a:prstGeom>
          </p:spPr>
        </p:pic>
        <p:pic>
          <p:nvPicPr>
            <p:cNvPr id="99" name="Graphic 98">
              <a:extLst>
                <a:ext uri="{FF2B5EF4-FFF2-40B4-BE49-F238E27FC236}">
                  <a16:creationId xmlns:a16="http://schemas.microsoft.com/office/drawing/2014/main" id="{441370D4-0B5B-1105-21A7-C6960EDF07A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65442" y="6649533"/>
              <a:ext cx="457200" cy="457200"/>
            </a:xfrm>
            <a:prstGeom prst="rect">
              <a:avLst/>
            </a:prstGeom>
          </p:spPr>
        </p:pic>
        <p:pic>
          <p:nvPicPr>
            <p:cNvPr id="100" name="Graphic 99">
              <a:extLst>
                <a:ext uri="{FF2B5EF4-FFF2-40B4-BE49-F238E27FC236}">
                  <a16:creationId xmlns:a16="http://schemas.microsoft.com/office/drawing/2014/main" id="{7CB3C546-CEAC-902E-5E0D-3EA85547849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5881334" y="10727774"/>
              <a:ext cx="457200" cy="457200"/>
            </a:xfrm>
            <a:prstGeom prst="rect">
              <a:avLst/>
            </a:prstGeom>
          </p:spPr>
        </p:pic>
        <p:pic>
          <p:nvPicPr>
            <p:cNvPr id="101" name="Graphic 100">
              <a:extLst>
                <a:ext uri="{FF2B5EF4-FFF2-40B4-BE49-F238E27FC236}">
                  <a16:creationId xmlns:a16="http://schemas.microsoft.com/office/drawing/2014/main" id="{92BEBFFA-66EE-131C-14A5-6486AFFF5C2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232214" y="5679791"/>
              <a:ext cx="457200" cy="457200"/>
            </a:xfrm>
            <a:prstGeom prst="rect">
              <a:avLst/>
            </a:prstGeom>
          </p:spPr>
        </p:pic>
        <p:sp>
          <p:nvSpPr>
            <p:cNvPr id="102" name="TextBox 101">
              <a:extLst>
                <a:ext uri="{FF2B5EF4-FFF2-40B4-BE49-F238E27FC236}">
                  <a16:creationId xmlns:a16="http://schemas.microsoft.com/office/drawing/2014/main" id="{96EEBE4E-56AD-D428-DE2F-0DCE32C27644}"/>
                </a:ext>
              </a:extLst>
            </p:cNvPr>
            <p:cNvSpPr txBox="1"/>
            <p:nvPr/>
          </p:nvSpPr>
          <p:spPr>
            <a:xfrm>
              <a:off x="3189384" y="3492196"/>
              <a:ext cx="4928722" cy="523220"/>
            </a:xfrm>
            <a:prstGeom prst="rect">
              <a:avLst/>
            </a:prstGeom>
            <a:noFill/>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2800" b="1" i="0" u="none" strike="noStrike" kern="1200" cap="none" spc="0" normalizeH="0" baseline="0" noProof="0" dirty="0">
                  <a:ln>
                    <a:noFill/>
                  </a:ln>
                  <a:solidFill>
                    <a:schemeClr val="bg1">
                      <a:lumMod val="75000"/>
                    </a:schemeClr>
                  </a:solidFill>
                  <a:effectLst/>
                  <a:uLnTx/>
                  <a:uFillTx/>
                  <a:latin typeface="Calibri"/>
                  <a:ea typeface="+mn-ea"/>
                  <a:cs typeface="+mn-cs"/>
                </a:rPr>
                <a:t>Renewable capacity in Portugal </a:t>
              </a:r>
            </a:p>
          </p:txBody>
        </p:sp>
      </p:grpSp>
      <p:sp>
        <p:nvSpPr>
          <p:cNvPr id="105" name="Rectangle 36">
            <a:extLst>
              <a:ext uri="{FF2B5EF4-FFF2-40B4-BE49-F238E27FC236}">
                <a16:creationId xmlns:a16="http://schemas.microsoft.com/office/drawing/2014/main" id="{8460107F-C442-8884-3A36-305A539F56DB}"/>
              </a:ext>
            </a:extLst>
          </p:cNvPr>
          <p:cNvSpPr/>
          <p:nvPr/>
        </p:nvSpPr>
        <p:spPr>
          <a:xfrm>
            <a:off x="12485759" y="8834877"/>
            <a:ext cx="1422984" cy="47263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06" name="Rectangle 39">
            <a:extLst>
              <a:ext uri="{FF2B5EF4-FFF2-40B4-BE49-F238E27FC236}">
                <a16:creationId xmlns:a16="http://schemas.microsoft.com/office/drawing/2014/main" id="{95BA9343-1FF2-3E30-4254-89FD5F1EC3B9}"/>
              </a:ext>
            </a:extLst>
          </p:cNvPr>
          <p:cNvSpPr/>
          <p:nvPr/>
        </p:nvSpPr>
        <p:spPr>
          <a:xfrm>
            <a:off x="17854809" y="8424886"/>
            <a:ext cx="1422984" cy="472632"/>
          </a:xfrm>
          <a:prstGeom prst="rect">
            <a:avLst/>
          </a:prstGeom>
          <a:noFill/>
          <a:ln cap="flat">
            <a:noFill/>
            <a:prstDash val="solid"/>
          </a:ln>
        </p:spPr>
        <p:txBody>
          <a:bodyPr vert="horz" wrap="square" lIns="91440" tIns="45720" rIns="91440" bIns="45720" anchor="ctr" anchorCtr="1" compatLnSpc="1">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endParaRPr kumimoji="0" lang="en-GB" sz="1800" b="0" i="0" u="none" strike="noStrike" kern="1200" cap="none" spc="0" normalizeH="0" baseline="0" noProof="0">
              <a:ln>
                <a:noFill/>
              </a:ln>
              <a:solidFill>
                <a:srgbClr val="FFFFFF"/>
              </a:solidFill>
              <a:effectLst/>
              <a:uLnTx/>
              <a:uFillTx/>
              <a:latin typeface="Calibri"/>
              <a:ea typeface="+mn-ea"/>
              <a:cs typeface="+mn-cs"/>
            </a:endParaRPr>
          </a:p>
        </p:txBody>
      </p:sp>
      <p:sp>
        <p:nvSpPr>
          <p:cNvPr id="107" name="TextBox 75">
            <a:extLst>
              <a:ext uri="{FF2B5EF4-FFF2-40B4-BE49-F238E27FC236}">
                <a16:creationId xmlns:a16="http://schemas.microsoft.com/office/drawing/2014/main" id="{41D26BBB-5E40-5034-02C7-A505B14EC46C}"/>
              </a:ext>
            </a:extLst>
          </p:cNvPr>
          <p:cNvSpPr txBox="1"/>
          <p:nvPr/>
        </p:nvSpPr>
        <p:spPr>
          <a:xfrm>
            <a:off x="19874523" y="7789435"/>
            <a:ext cx="1338828" cy="707886"/>
          </a:xfrm>
          <a:prstGeom prst="rect">
            <a:avLst/>
          </a:prstGeom>
          <a:noFill/>
          <a:ln cap="flat">
            <a:noFill/>
          </a:ln>
        </p:spPr>
        <p:txBody>
          <a:bodyPr vert="horz" wrap="non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4000" b="1" i="0" u="none" strike="noStrike" kern="1200" cap="none" spc="0" normalizeH="0" baseline="0" noProof="0" dirty="0">
                <a:ln>
                  <a:noFill/>
                </a:ln>
                <a:solidFill>
                  <a:srgbClr val="0A3638"/>
                </a:solidFill>
                <a:effectLst/>
                <a:uLnTx/>
                <a:uFillTx/>
                <a:latin typeface="Figtree" pitchFamily="2" charset="0"/>
                <a:ea typeface="+mn-ea"/>
                <a:cs typeface="+mn-cs"/>
              </a:rPr>
              <a:t>6.0 x</a:t>
            </a:r>
            <a:endParaRPr kumimoji="0" lang="en-GB" sz="4000" b="1" i="0" u="none" strike="noStrike" kern="1200" cap="none" spc="0" normalizeH="0" baseline="0" noProof="0" dirty="0">
              <a:ln>
                <a:noFill/>
              </a:ln>
              <a:solidFill>
                <a:srgbClr val="0A3638"/>
              </a:solidFill>
              <a:effectLst/>
              <a:uLnTx/>
              <a:uFillTx/>
              <a:latin typeface="Figtree" pitchFamily="2" charset="0"/>
              <a:ea typeface="+mn-ea"/>
              <a:cs typeface="+mn-cs"/>
            </a:endParaRPr>
          </a:p>
        </p:txBody>
      </p:sp>
      <p:sp>
        <p:nvSpPr>
          <p:cNvPr id="108" name="TextBox 8">
            <a:extLst>
              <a:ext uri="{FF2B5EF4-FFF2-40B4-BE49-F238E27FC236}">
                <a16:creationId xmlns:a16="http://schemas.microsoft.com/office/drawing/2014/main" id="{04AEA434-7DED-96D4-5775-2E5CD29D2D21}"/>
              </a:ext>
            </a:extLst>
          </p:cNvPr>
          <p:cNvSpPr txBox="1"/>
          <p:nvPr/>
        </p:nvSpPr>
        <p:spPr>
          <a:xfrm>
            <a:off x="19874523" y="9267448"/>
            <a:ext cx="1303562" cy="707886"/>
          </a:xfrm>
          <a:prstGeom prst="rect">
            <a:avLst/>
          </a:prstGeom>
          <a:noFill/>
          <a:ln cap="flat">
            <a:noFill/>
          </a:ln>
        </p:spPr>
        <p:txBody>
          <a:bodyPr vert="horz" wrap="none" lIns="91440" tIns="45720" rIns="91440" bIns="45720" anchor="t" anchorCtr="0"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4000" b="1" i="0" u="none" strike="noStrike" kern="1200" cap="none" spc="0" normalizeH="0" baseline="0" noProof="0">
                <a:ln>
                  <a:noFill/>
                </a:ln>
                <a:solidFill>
                  <a:srgbClr val="12BD64"/>
                </a:solidFill>
                <a:effectLst/>
                <a:uLnTx/>
                <a:uFillTx/>
                <a:latin typeface="Figtree" pitchFamily="2" charset="0"/>
                <a:ea typeface="+mn-ea"/>
                <a:cs typeface="+mn-cs"/>
              </a:rPr>
              <a:t>2.5 x</a:t>
            </a:r>
            <a:endParaRPr kumimoji="0" lang="en-GB" sz="4000" b="1" i="0" u="none" strike="noStrike" kern="1200" cap="none" spc="0" normalizeH="0" baseline="0" noProof="0">
              <a:ln>
                <a:noFill/>
              </a:ln>
              <a:solidFill>
                <a:srgbClr val="12BD64"/>
              </a:solidFill>
              <a:effectLst/>
              <a:uLnTx/>
              <a:uFillTx/>
              <a:latin typeface="Figtree" pitchFamily="2" charset="0"/>
              <a:ea typeface="+mn-ea"/>
              <a:cs typeface="+mn-cs"/>
            </a:endParaRPr>
          </a:p>
        </p:txBody>
      </p:sp>
      <p:sp>
        <p:nvSpPr>
          <p:cNvPr id="109" name="TextBox 108">
            <a:extLst>
              <a:ext uri="{FF2B5EF4-FFF2-40B4-BE49-F238E27FC236}">
                <a16:creationId xmlns:a16="http://schemas.microsoft.com/office/drawing/2014/main" id="{BDFC226C-4E8A-67E7-144E-F576647B22D1}"/>
              </a:ext>
            </a:extLst>
          </p:cNvPr>
          <p:cNvSpPr txBox="1"/>
          <p:nvPr/>
        </p:nvSpPr>
        <p:spPr>
          <a:xfrm>
            <a:off x="14355051" y="5979572"/>
            <a:ext cx="2898807" cy="597087"/>
          </a:xfrm>
          <a:prstGeom prst="rect">
            <a:avLst/>
          </a:prstGeom>
          <a:noFill/>
          <a:ln cap="flat">
            <a:noFill/>
          </a:ln>
        </p:spPr>
        <p:txBody>
          <a:bodyPr vert="horz" wrap="none" lIns="91440" tIns="45720" rIns="91440" bIns="45720" anchor="t" anchorCtr="1" compatLnSpc="1">
            <a:spAutoFit/>
          </a:bodyPr>
          <a:lstStyle/>
          <a:p>
            <a:pPr marL="0" marR="0" lvl="0" indent="0" algn="ctr" defTabSz="914400" rtl="0" eaLnBrk="1" fontAlgn="auto" latinLnBrk="0" hangingPunct="1">
              <a:lnSpc>
                <a:spcPct val="80000"/>
              </a:lnSpc>
              <a:spcBef>
                <a:spcPts val="0"/>
              </a:spcBef>
              <a:spcAft>
                <a:spcPts val="0"/>
              </a:spcAft>
              <a:buClrTx/>
              <a:buSzTx/>
              <a:buFontTx/>
              <a:buNone/>
              <a:tabLst/>
              <a:defRPr sz="1800" b="0" i="0" u="none" strike="noStrike" kern="0" cap="none" spc="0" baseline="0">
                <a:solidFill>
                  <a:srgbClr val="000000"/>
                </a:solidFill>
                <a:uFillTx/>
              </a:defRPr>
            </a:pPr>
            <a:r>
              <a:rPr kumimoji="0" lang="en-US" sz="4000" b="1" i="0" u="none" strike="noStrike" kern="1200" cap="none" spc="0" normalizeH="0" baseline="0" noProof="0">
                <a:ln>
                  <a:noFill/>
                </a:ln>
                <a:solidFill>
                  <a:srgbClr val="000000"/>
                </a:solidFill>
                <a:effectLst/>
                <a:uLnTx/>
                <a:uFillTx/>
                <a:latin typeface="Figtree"/>
                <a:ea typeface="+mn-ea"/>
                <a:cs typeface="+mn-cs"/>
              </a:rPr>
              <a:t>1.1 </a:t>
            </a:r>
            <a:r>
              <a:rPr kumimoji="0" lang="en-US" sz="4000" b="1" i="0" u="none" strike="noStrike" kern="1200" cap="none" spc="0" normalizeH="0" baseline="0" noProof="0">
                <a:ln>
                  <a:noFill/>
                </a:ln>
                <a:solidFill>
                  <a:srgbClr val="12BD64"/>
                </a:solidFill>
                <a:effectLst/>
                <a:uLnTx/>
                <a:uFillTx/>
                <a:latin typeface="Figtree"/>
                <a:ea typeface="+mn-ea"/>
                <a:cs typeface="+mn-cs"/>
              </a:rPr>
              <a:t>GW</a:t>
            </a:r>
            <a:r>
              <a:rPr kumimoji="0" lang="en-US" sz="4000" b="1" i="0" u="none" strike="noStrike" kern="1200" cap="none" spc="0" normalizeH="0" baseline="0" noProof="0">
                <a:ln>
                  <a:noFill/>
                </a:ln>
                <a:solidFill>
                  <a:srgbClr val="000000"/>
                </a:solidFill>
                <a:effectLst/>
                <a:uLnTx/>
                <a:uFillTx/>
                <a:latin typeface="Figtree"/>
                <a:ea typeface="+mn-ea"/>
                <a:cs typeface="+mn-cs"/>
              </a:rPr>
              <a:t>/year</a:t>
            </a:r>
            <a:endParaRPr kumimoji="0" lang="en-GB" sz="4000" b="0" i="0" u="none" strike="noStrike" kern="1200" cap="none" spc="0" normalizeH="0" baseline="0" noProof="0">
              <a:ln>
                <a:noFill/>
              </a:ln>
              <a:solidFill>
                <a:srgbClr val="000000"/>
              </a:solidFill>
              <a:effectLst/>
              <a:uLnTx/>
              <a:uFillTx/>
              <a:latin typeface="Figtree"/>
              <a:ea typeface="+mn-ea"/>
              <a:cs typeface="+mn-cs"/>
            </a:endParaRPr>
          </a:p>
        </p:txBody>
      </p:sp>
      <p:sp>
        <p:nvSpPr>
          <p:cNvPr id="110" name="TextBox 52">
            <a:extLst>
              <a:ext uri="{FF2B5EF4-FFF2-40B4-BE49-F238E27FC236}">
                <a16:creationId xmlns:a16="http://schemas.microsoft.com/office/drawing/2014/main" id="{49CA4CAA-429D-EDEF-CF66-7B0CCD68690B}"/>
              </a:ext>
            </a:extLst>
          </p:cNvPr>
          <p:cNvSpPr txBox="1"/>
          <p:nvPr/>
        </p:nvSpPr>
        <p:spPr>
          <a:xfrm>
            <a:off x="13854965" y="6489513"/>
            <a:ext cx="3771213" cy="720073"/>
          </a:xfrm>
          <a:prstGeom prst="rect">
            <a:avLst/>
          </a:prstGeom>
          <a:noFill/>
          <a:ln cap="flat">
            <a:noFill/>
          </a:ln>
        </p:spPr>
        <p:txBody>
          <a:bodyPr vert="horz" wrap="square" lIns="91440" tIns="45720" rIns="91440" bIns="45720" anchor="t" anchorCtr="1"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000" b="0" i="0" u="none" strike="noStrike" kern="1200" cap="none" spc="0" normalizeH="0" baseline="0" noProof="0">
                <a:ln>
                  <a:noFill/>
                </a:ln>
                <a:solidFill>
                  <a:srgbClr val="000000"/>
                </a:solidFill>
                <a:effectLst/>
                <a:uLnTx/>
                <a:uFillTx/>
                <a:latin typeface="Figtree"/>
                <a:ea typeface="+mn-ea"/>
                <a:cs typeface="+mn-cs"/>
              </a:rPr>
              <a:t>Renewable </a:t>
            </a:r>
            <a:r>
              <a:rPr kumimoji="0" lang="en-GB" sz="2000" b="0" i="0" u="none" strike="noStrike" kern="0" cap="none" spc="0" normalizeH="0" baseline="0" noProof="0">
                <a:ln>
                  <a:noFill/>
                </a:ln>
                <a:solidFill>
                  <a:srgbClr val="000000"/>
                </a:solidFill>
                <a:effectLst/>
                <a:uLnTx/>
                <a:uFillTx/>
                <a:latin typeface="Figtree"/>
                <a:ea typeface="+mn-ea"/>
                <a:cs typeface="+mn-cs"/>
              </a:rPr>
              <a:t>i</a:t>
            </a:r>
            <a:r>
              <a:rPr kumimoji="0" lang="en-GB" sz="2000" b="0" i="0" u="none" strike="noStrike" kern="1200" cap="none" spc="0" normalizeH="0" baseline="0" noProof="0">
                <a:ln>
                  <a:noFill/>
                </a:ln>
                <a:solidFill>
                  <a:srgbClr val="000000"/>
                </a:solidFill>
                <a:effectLst/>
                <a:uLnTx/>
                <a:uFillTx/>
                <a:latin typeface="Figtree"/>
                <a:ea typeface="+mn-ea"/>
                <a:cs typeface="+mn-cs"/>
              </a:rPr>
              <a:t>nstalled capacity </a:t>
            </a:r>
            <a:r>
              <a:rPr kumimoji="0" lang="en-GB" sz="2000" b="0" i="0" u="none" strike="noStrike" kern="0" cap="none" spc="0" normalizeH="0" baseline="0" noProof="0">
                <a:ln>
                  <a:noFill/>
                </a:ln>
                <a:solidFill>
                  <a:srgbClr val="000000"/>
                </a:solidFill>
                <a:effectLst/>
                <a:uLnTx/>
                <a:uFillTx/>
                <a:latin typeface="Figtree"/>
                <a:ea typeface="+mn-ea"/>
                <a:cs typeface="+mn-cs"/>
              </a:rPr>
              <a:t>g</a:t>
            </a:r>
            <a:r>
              <a:rPr kumimoji="0" lang="en-GB" sz="2000" b="0" i="0" u="none" strike="noStrike" kern="1200" cap="none" spc="0" normalizeH="0" baseline="0" noProof="0">
                <a:ln>
                  <a:noFill/>
                </a:ln>
                <a:solidFill>
                  <a:srgbClr val="000000"/>
                </a:solidFill>
                <a:effectLst/>
                <a:uLnTx/>
                <a:uFillTx/>
                <a:latin typeface="Figtree"/>
                <a:ea typeface="+mn-ea"/>
                <a:cs typeface="+mn-cs"/>
              </a:rPr>
              <a:t>rowing on average</a:t>
            </a:r>
          </a:p>
        </p:txBody>
      </p:sp>
      <p:sp>
        <p:nvSpPr>
          <p:cNvPr id="111" name="TextBox 110">
            <a:extLst>
              <a:ext uri="{FF2B5EF4-FFF2-40B4-BE49-F238E27FC236}">
                <a16:creationId xmlns:a16="http://schemas.microsoft.com/office/drawing/2014/main" id="{5A8F07FD-15BC-CF8E-9837-E2EA4017FB51}"/>
              </a:ext>
            </a:extLst>
          </p:cNvPr>
          <p:cNvSpPr txBox="1"/>
          <p:nvPr/>
        </p:nvSpPr>
        <p:spPr>
          <a:xfrm>
            <a:off x="21183297" y="4723762"/>
            <a:ext cx="1678665" cy="584775"/>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404040"/>
                </a:solidFill>
                <a:effectLst/>
                <a:uLnTx/>
                <a:uFillTx/>
                <a:latin typeface="Figtree" pitchFamily="2" charset="0"/>
                <a:ea typeface="+mn-ea"/>
                <a:cs typeface="+mn-cs"/>
              </a:rPr>
              <a:t>&gt;40GW</a:t>
            </a:r>
            <a:endParaRPr kumimoji="0" lang="en-PT" sz="3200" b="0" i="0" u="none" strike="noStrike" kern="1200" cap="none" spc="0" normalizeH="0" baseline="0" noProof="0" dirty="0">
              <a:ln>
                <a:noFill/>
              </a:ln>
              <a:solidFill>
                <a:prstClr val="black"/>
              </a:solidFill>
              <a:effectLst/>
              <a:uLnTx/>
              <a:uFillTx/>
              <a:latin typeface="Figtree" pitchFamily="2" charset="0"/>
              <a:ea typeface="+mn-ea"/>
              <a:cs typeface="+mn-cs"/>
            </a:endParaRPr>
          </a:p>
        </p:txBody>
      </p:sp>
      <p:cxnSp>
        <p:nvCxnSpPr>
          <p:cNvPr id="112" name="Straight Connector 111">
            <a:extLst>
              <a:ext uri="{FF2B5EF4-FFF2-40B4-BE49-F238E27FC236}">
                <a16:creationId xmlns:a16="http://schemas.microsoft.com/office/drawing/2014/main" id="{849D14C5-14D3-902C-776D-810CF79F3565}"/>
              </a:ext>
            </a:extLst>
          </p:cNvPr>
          <p:cNvCxnSpPr>
            <a:cxnSpLocks/>
          </p:cNvCxnSpPr>
          <p:nvPr/>
        </p:nvCxnSpPr>
        <p:spPr>
          <a:xfrm>
            <a:off x="17854809" y="6278115"/>
            <a:ext cx="666465" cy="0"/>
          </a:xfrm>
          <a:prstGeom prst="line">
            <a:avLst/>
          </a:prstGeom>
          <a:ln>
            <a:solidFill>
              <a:srgbClr val="12BD64"/>
            </a:solidFill>
            <a:headEnd type="oval" w="lg" len="lg"/>
          </a:ln>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27E259DB-AA66-34C3-DB4B-428B158F0B5F}"/>
              </a:ext>
            </a:extLst>
          </p:cNvPr>
          <p:cNvCxnSpPr>
            <a:cxnSpLocks/>
          </p:cNvCxnSpPr>
          <p:nvPr/>
        </p:nvCxnSpPr>
        <p:spPr>
          <a:xfrm flipV="1">
            <a:off x="18521274" y="6242542"/>
            <a:ext cx="0" cy="1700639"/>
          </a:xfrm>
          <a:prstGeom prst="line">
            <a:avLst/>
          </a:prstGeom>
          <a:ln>
            <a:solidFill>
              <a:srgbClr val="12BD64"/>
            </a:solidFill>
          </a:ln>
        </p:spPr>
        <p:style>
          <a:lnRef idx="2">
            <a:schemeClr val="accent1"/>
          </a:lnRef>
          <a:fillRef idx="0">
            <a:schemeClr val="accent1"/>
          </a:fillRef>
          <a:effectRef idx="1">
            <a:schemeClr val="accent1"/>
          </a:effectRef>
          <a:fontRef idx="minor">
            <a:schemeClr val="tx1"/>
          </a:fontRef>
        </p:style>
      </p:cxnSp>
      <p:sp>
        <p:nvSpPr>
          <p:cNvPr id="114" name="TextBox 113">
            <a:extLst>
              <a:ext uri="{FF2B5EF4-FFF2-40B4-BE49-F238E27FC236}">
                <a16:creationId xmlns:a16="http://schemas.microsoft.com/office/drawing/2014/main" id="{E35C75D1-189C-2854-4444-473BCCE80EC7}"/>
              </a:ext>
            </a:extLst>
          </p:cNvPr>
          <p:cNvSpPr txBox="1"/>
          <p:nvPr/>
        </p:nvSpPr>
        <p:spPr>
          <a:xfrm>
            <a:off x="20088667" y="10959887"/>
            <a:ext cx="502061" cy="584775"/>
          </a:xfrm>
          <a:prstGeom prst="rect">
            <a:avLst/>
          </a:prstGeom>
          <a:solidFill>
            <a:schemeClr val="bg1"/>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a:ln>
                  <a:noFill/>
                </a:ln>
                <a:solidFill>
                  <a:srgbClr val="D9D9D9"/>
                </a:solidFill>
                <a:effectLst/>
                <a:uLnTx/>
                <a:uFillTx/>
                <a:latin typeface="Aptos" panose="02110004020202020204"/>
                <a:ea typeface="+mn-ea"/>
                <a:cs typeface="+mn-cs"/>
              </a:rPr>
              <a:t>//</a:t>
            </a:r>
            <a:endParaRPr kumimoji="0" lang="en-GB" sz="3200" b="1" i="0" u="none" strike="noStrike" kern="1200" cap="none" spc="0" normalizeH="0" baseline="0" noProof="0">
              <a:ln>
                <a:noFill/>
              </a:ln>
              <a:solidFill>
                <a:srgbClr val="D9D9D9"/>
              </a:solidFill>
              <a:effectLst/>
              <a:uLnTx/>
              <a:uFillTx/>
              <a:latin typeface="Aptos" panose="02110004020202020204"/>
              <a:ea typeface="+mn-ea"/>
              <a:cs typeface="+mn-cs"/>
            </a:endParaRPr>
          </a:p>
        </p:txBody>
      </p:sp>
      <p:cxnSp>
        <p:nvCxnSpPr>
          <p:cNvPr id="115" name="Straight Connector 114">
            <a:extLst>
              <a:ext uri="{FF2B5EF4-FFF2-40B4-BE49-F238E27FC236}">
                <a16:creationId xmlns:a16="http://schemas.microsoft.com/office/drawing/2014/main" id="{3C1CA770-E168-C974-DB65-13EB6A38A45C}"/>
              </a:ext>
            </a:extLst>
          </p:cNvPr>
          <p:cNvCxnSpPr>
            <a:cxnSpLocks/>
          </p:cNvCxnSpPr>
          <p:nvPr/>
        </p:nvCxnSpPr>
        <p:spPr>
          <a:xfrm flipH="1">
            <a:off x="13168224" y="6278115"/>
            <a:ext cx="585876" cy="0"/>
          </a:xfrm>
          <a:prstGeom prst="line">
            <a:avLst/>
          </a:prstGeom>
          <a:ln>
            <a:solidFill>
              <a:srgbClr val="12BD64"/>
            </a:solidFill>
            <a:headEnd type="oval" w="lg" len="lg"/>
          </a:ln>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41FEFBC9-324D-E25F-AEEB-C656D3990770}"/>
              </a:ext>
            </a:extLst>
          </p:cNvPr>
          <p:cNvCxnSpPr>
            <a:cxnSpLocks/>
          </p:cNvCxnSpPr>
          <p:nvPr/>
        </p:nvCxnSpPr>
        <p:spPr>
          <a:xfrm flipV="1">
            <a:off x="13168224" y="6242542"/>
            <a:ext cx="0" cy="2316097"/>
          </a:xfrm>
          <a:prstGeom prst="line">
            <a:avLst/>
          </a:prstGeom>
          <a:ln>
            <a:solidFill>
              <a:srgbClr val="12BD64"/>
            </a:solidFill>
          </a:ln>
        </p:spPr>
        <p:style>
          <a:lnRef idx="2">
            <a:schemeClr val="accent1"/>
          </a:lnRef>
          <a:fillRef idx="0">
            <a:schemeClr val="accent1"/>
          </a:fillRef>
          <a:effectRef idx="1">
            <a:schemeClr val="accent1"/>
          </a:effectRef>
          <a:fontRef idx="minor">
            <a:schemeClr val="tx1"/>
          </a:fontRef>
        </p:style>
      </p:cxnSp>
      <p:sp>
        <p:nvSpPr>
          <p:cNvPr id="117" name="TextBox 116">
            <a:extLst>
              <a:ext uri="{FF2B5EF4-FFF2-40B4-BE49-F238E27FC236}">
                <a16:creationId xmlns:a16="http://schemas.microsoft.com/office/drawing/2014/main" id="{7FFA446D-2B51-79F3-C1C6-2965F11BCD7C}"/>
              </a:ext>
            </a:extLst>
          </p:cNvPr>
          <p:cNvSpPr txBox="1"/>
          <p:nvPr/>
        </p:nvSpPr>
        <p:spPr>
          <a:xfrm>
            <a:off x="1508481" y="1959829"/>
            <a:ext cx="13086184" cy="707886"/>
          </a:xfrm>
          <a:prstGeom prst="rect">
            <a:avLst/>
          </a:prstGeom>
          <a:noFill/>
        </p:spPr>
        <p:txBody>
          <a:bodyPr wrap="square">
            <a:spAutoFit/>
          </a:bodyPr>
          <a:lstStyle/>
          <a:p>
            <a:r>
              <a:rPr lang="en-US" sz="4000" b="1" dirty="0">
                <a:solidFill>
                  <a:srgbClr val="00C159"/>
                </a:solidFill>
                <a:latin typeface="Figtree SemiBold" pitchFamily="2" charset="0"/>
              </a:rPr>
              <a:t>Renewable Power </a:t>
            </a:r>
            <a:r>
              <a:rPr lang="en-US" sz="4000" b="1" dirty="0">
                <a:latin typeface="Figtree SemiBold" pitchFamily="2" charset="0"/>
              </a:rPr>
              <a:t>at Scale</a:t>
            </a:r>
            <a:endParaRPr lang="en-PT" sz="4000" b="1" dirty="0">
              <a:latin typeface="Figtree SemiBold" pitchFamily="2" charset="0"/>
            </a:endParaRPr>
          </a:p>
        </p:txBody>
      </p:sp>
    </p:spTree>
    <p:extLst>
      <p:ext uri="{BB962C8B-B14F-4D97-AF65-F5344CB8AC3E}">
        <p14:creationId xmlns:p14="http://schemas.microsoft.com/office/powerpoint/2010/main" val="15491759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60">
            <a:extLst>
              <a:ext uri="{FF2B5EF4-FFF2-40B4-BE49-F238E27FC236}">
                <a16:creationId xmlns:a16="http://schemas.microsoft.com/office/drawing/2014/main" id="{B3E94648-CF3A-12E0-012C-1F66D1334034}"/>
              </a:ext>
            </a:extLst>
          </p:cNvPr>
          <p:cNvSpPr txBox="1"/>
          <p:nvPr/>
        </p:nvSpPr>
        <p:spPr>
          <a:xfrm>
            <a:off x="3489445" y="10762995"/>
            <a:ext cx="2703337" cy="461665"/>
          </a:xfrm>
          <a:prstGeom prst="rect">
            <a:avLst/>
          </a:prstGeom>
          <a:noFill/>
          <a:ln cap="flat">
            <a:noFill/>
          </a:ln>
        </p:spPr>
        <p:txBody>
          <a:bodyPr vert="horz" wrap="square" lIns="91440" tIns="45720" rIns="91440" bIns="45720" anchor="t" anchorCtr="1"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1200" cap="none" spc="0" normalizeH="0" baseline="0" noProof="0" dirty="0">
                <a:ln>
                  <a:noFill/>
                </a:ln>
                <a:solidFill>
                  <a:srgbClr val="000000"/>
                </a:solidFill>
                <a:effectLst/>
                <a:uLnTx/>
                <a:uFillTx/>
                <a:latin typeface="Figtree" pitchFamily="2" charset="0"/>
                <a:ea typeface="+mn-ea"/>
                <a:cs typeface="+mn-cs"/>
              </a:rPr>
              <a:t>PUE =2.50 (2007)</a:t>
            </a:r>
            <a:endParaRPr kumimoji="0" lang="en-GB" sz="2400" b="1" i="0" u="none" strike="noStrike" kern="1200" cap="none" spc="0" normalizeH="0" baseline="0" noProof="0" dirty="0">
              <a:ln>
                <a:noFill/>
              </a:ln>
              <a:solidFill>
                <a:srgbClr val="000000"/>
              </a:solidFill>
              <a:effectLst/>
              <a:uLnTx/>
              <a:uFillTx/>
              <a:latin typeface="Figtree" pitchFamily="2" charset="0"/>
              <a:ea typeface="+mn-ea"/>
              <a:cs typeface="+mn-cs"/>
            </a:endParaRPr>
          </a:p>
        </p:txBody>
      </p:sp>
      <p:sp>
        <p:nvSpPr>
          <p:cNvPr id="10" name="TextBox 60">
            <a:extLst>
              <a:ext uri="{FF2B5EF4-FFF2-40B4-BE49-F238E27FC236}">
                <a16:creationId xmlns:a16="http://schemas.microsoft.com/office/drawing/2014/main" id="{298E45C7-3623-B4AF-F93D-A3A630EF16EE}"/>
              </a:ext>
            </a:extLst>
          </p:cNvPr>
          <p:cNvSpPr txBox="1"/>
          <p:nvPr/>
        </p:nvSpPr>
        <p:spPr>
          <a:xfrm>
            <a:off x="7849766" y="10762995"/>
            <a:ext cx="3493939" cy="461665"/>
          </a:xfrm>
          <a:prstGeom prst="rect">
            <a:avLst/>
          </a:prstGeom>
          <a:noFill/>
          <a:ln cap="flat">
            <a:noFill/>
          </a:ln>
        </p:spPr>
        <p:txBody>
          <a:bodyPr vert="horz" wrap="square" lIns="91440" tIns="45720" rIns="91440" bIns="45720" anchor="t" anchorCtr="1"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1200" cap="none" spc="0" normalizeH="0" baseline="0" noProof="0" dirty="0">
                <a:ln>
                  <a:noFill/>
                </a:ln>
                <a:solidFill>
                  <a:srgbClr val="000000"/>
                </a:solidFill>
                <a:effectLst/>
                <a:uLnTx/>
                <a:uFillTx/>
                <a:latin typeface="Figtree" pitchFamily="2" charset="0"/>
                <a:ea typeface="+mn-ea"/>
                <a:cs typeface="+mn-cs"/>
              </a:rPr>
              <a:t>PUE = 1.58 (2023)</a:t>
            </a:r>
          </a:p>
        </p:txBody>
      </p:sp>
      <p:sp>
        <p:nvSpPr>
          <p:cNvPr id="11" name="Text 2">
            <a:extLst>
              <a:ext uri="{FF2B5EF4-FFF2-40B4-BE49-F238E27FC236}">
                <a16:creationId xmlns:a16="http://schemas.microsoft.com/office/drawing/2014/main" id="{8B53507C-014C-AF32-15C8-5CABD5F6F0A5}"/>
              </a:ext>
            </a:extLst>
          </p:cNvPr>
          <p:cNvSpPr/>
          <p:nvPr/>
        </p:nvSpPr>
        <p:spPr>
          <a:xfrm>
            <a:off x="1376383" y="3617466"/>
            <a:ext cx="5367317" cy="748794"/>
          </a:xfrm>
          <a:prstGeom prst="rect">
            <a:avLst/>
          </a:prstGeom>
          <a:noFill/>
          <a:ln cap="flat">
            <a:noFill/>
            <a:prstDash val="solid"/>
          </a:ln>
        </p:spPr>
        <p:txBody>
          <a:bodyPr vert="horz" wrap="square" lIns="0" tIns="0" rIns="0" bIns="0" anchor="t" anchorCtr="1" compatLnSpc="1">
            <a:spAutoFit/>
          </a:bodyPr>
          <a:lstStyle/>
          <a:p>
            <a:pPr marL="0" marR="0" lvl="0" indent="0"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u="none" strike="noStrike" kern="1200" cap="none" spc="0" normalizeH="0" baseline="0" noProof="0" dirty="0">
                <a:ln>
                  <a:noFill/>
                </a:ln>
                <a:solidFill>
                  <a:srgbClr val="1C1C1C"/>
                </a:solidFill>
                <a:effectLst/>
                <a:uLnTx/>
                <a:uFillTx/>
                <a:latin typeface="Figtree" pitchFamily="2" charset="0"/>
                <a:ea typeface="Figtree Bold" pitchFamily="34"/>
              </a:rPr>
              <a:t>The industry has been focused on lowering PUE</a:t>
            </a:r>
            <a:endParaRPr kumimoji="0" lang="en-US" sz="2400" u="none" strike="noStrike" kern="1200" cap="none" spc="0" normalizeH="0" baseline="0" noProof="0" dirty="0">
              <a:ln>
                <a:noFill/>
              </a:ln>
              <a:solidFill>
                <a:srgbClr val="1C1C1C"/>
              </a:solidFill>
              <a:effectLst/>
              <a:uLnTx/>
              <a:uFillTx/>
              <a:latin typeface="Figtree" pitchFamily="2" charset="0"/>
            </a:endParaRPr>
          </a:p>
        </p:txBody>
      </p:sp>
      <p:sp>
        <p:nvSpPr>
          <p:cNvPr id="14" name="TextBox 60">
            <a:extLst>
              <a:ext uri="{FF2B5EF4-FFF2-40B4-BE49-F238E27FC236}">
                <a16:creationId xmlns:a16="http://schemas.microsoft.com/office/drawing/2014/main" id="{7AE2F196-2061-D1D4-D424-E2F02BCD9155}"/>
              </a:ext>
            </a:extLst>
          </p:cNvPr>
          <p:cNvSpPr txBox="1"/>
          <p:nvPr/>
        </p:nvSpPr>
        <p:spPr>
          <a:xfrm>
            <a:off x="17991695" y="10762995"/>
            <a:ext cx="3057247" cy="461665"/>
          </a:xfrm>
          <a:prstGeom prst="rect">
            <a:avLst/>
          </a:prstGeom>
          <a:noFill/>
          <a:ln cap="flat">
            <a:noFill/>
          </a:ln>
        </p:spPr>
        <p:txBody>
          <a:bodyPr vert="horz" wrap="none" lIns="91440" tIns="45720" rIns="91440" bIns="45720" anchor="t" anchorCtr="1"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2400" b="1" i="0" u="none" strike="noStrike" kern="1200" cap="none" spc="0" normalizeH="0" baseline="0" noProof="0" dirty="0">
                <a:ln>
                  <a:noFill/>
                </a:ln>
                <a:effectLst/>
                <a:uLnTx/>
                <a:uFillTx/>
                <a:latin typeface="Figtree" pitchFamily="2" charset="0"/>
                <a:ea typeface="+mn-ea"/>
                <a:cs typeface="+mn-cs"/>
              </a:rPr>
              <a:t>500 L / MWh (2023)</a:t>
            </a:r>
          </a:p>
        </p:txBody>
      </p:sp>
      <p:sp>
        <p:nvSpPr>
          <p:cNvPr id="16" name="TextBox 60">
            <a:extLst>
              <a:ext uri="{FF2B5EF4-FFF2-40B4-BE49-F238E27FC236}">
                <a16:creationId xmlns:a16="http://schemas.microsoft.com/office/drawing/2014/main" id="{21EA5B90-ECB7-AF12-DF3B-87C83233798F}"/>
              </a:ext>
            </a:extLst>
          </p:cNvPr>
          <p:cNvSpPr txBox="1"/>
          <p:nvPr/>
        </p:nvSpPr>
        <p:spPr>
          <a:xfrm>
            <a:off x="8657590" y="10005747"/>
            <a:ext cx="1992853" cy="584775"/>
          </a:xfrm>
          <a:prstGeom prst="rect">
            <a:avLst/>
          </a:prstGeom>
          <a:noFill/>
          <a:ln cap="flat">
            <a:noFill/>
          </a:ln>
        </p:spPr>
        <p:txBody>
          <a:bodyPr vert="horz" wrap="none" lIns="91440" tIns="45720" rIns="91440" bIns="45720" anchor="t" anchorCtr="1"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3200" b="1" i="0" u="none" strike="noStrike" kern="1200" cap="none" spc="0" normalizeH="0" baseline="0" noProof="0">
                <a:ln>
                  <a:noFill/>
                </a:ln>
                <a:solidFill>
                  <a:srgbClr val="00C159"/>
                </a:solidFill>
                <a:effectLst/>
                <a:uLnTx/>
                <a:uFillTx/>
                <a:latin typeface="Figtree" pitchFamily="2" charset="0"/>
                <a:ea typeface="+mn-ea"/>
                <a:cs typeface="+mn-cs"/>
              </a:rPr>
              <a:t>LOW PUE</a:t>
            </a:r>
          </a:p>
        </p:txBody>
      </p:sp>
      <p:sp>
        <p:nvSpPr>
          <p:cNvPr id="17" name="TextBox 60">
            <a:extLst>
              <a:ext uri="{FF2B5EF4-FFF2-40B4-BE49-F238E27FC236}">
                <a16:creationId xmlns:a16="http://schemas.microsoft.com/office/drawing/2014/main" id="{D17C186C-BCDD-2925-E270-310378C6A2DC}"/>
              </a:ext>
            </a:extLst>
          </p:cNvPr>
          <p:cNvSpPr txBox="1"/>
          <p:nvPr/>
        </p:nvSpPr>
        <p:spPr>
          <a:xfrm>
            <a:off x="3899352" y="10005747"/>
            <a:ext cx="2098651" cy="584775"/>
          </a:xfrm>
          <a:prstGeom prst="rect">
            <a:avLst/>
          </a:prstGeom>
          <a:noFill/>
          <a:ln cap="flat">
            <a:noFill/>
          </a:ln>
        </p:spPr>
        <p:txBody>
          <a:bodyPr vert="horz" wrap="none" lIns="91440" tIns="45720" rIns="91440" bIns="45720" anchor="t" anchorCtr="1"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3200" b="1" i="0" u="none" strike="noStrike" kern="0" cap="none" spc="0" normalizeH="0" baseline="0" noProof="0">
                <a:ln>
                  <a:noFill/>
                </a:ln>
                <a:solidFill>
                  <a:srgbClr val="00C159"/>
                </a:solidFill>
                <a:effectLst/>
                <a:uLnTx/>
                <a:uFillTx/>
                <a:latin typeface="Figtree" pitchFamily="2" charset="0"/>
                <a:ea typeface="+mn-ea"/>
                <a:cs typeface="+mn-cs"/>
              </a:rPr>
              <a:t>HIGH</a:t>
            </a:r>
            <a:r>
              <a:rPr kumimoji="0" lang="en-US" sz="3200" b="1" i="0" u="none" strike="noStrike" kern="1200" cap="none" spc="0" normalizeH="0" baseline="0" noProof="0">
                <a:ln>
                  <a:noFill/>
                </a:ln>
                <a:solidFill>
                  <a:srgbClr val="00C159"/>
                </a:solidFill>
                <a:effectLst/>
                <a:uLnTx/>
                <a:uFillTx/>
                <a:latin typeface="Figtree" pitchFamily="2" charset="0"/>
                <a:ea typeface="+mn-ea"/>
                <a:cs typeface="+mn-cs"/>
              </a:rPr>
              <a:t> PUE</a:t>
            </a:r>
          </a:p>
        </p:txBody>
      </p:sp>
      <p:sp>
        <p:nvSpPr>
          <p:cNvPr id="18" name="TextBox 60">
            <a:extLst>
              <a:ext uri="{FF2B5EF4-FFF2-40B4-BE49-F238E27FC236}">
                <a16:creationId xmlns:a16="http://schemas.microsoft.com/office/drawing/2014/main" id="{56A92BFF-E51F-1E8A-0BFE-241B80BCE45A}"/>
              </a:ext>
            </a:extLst>
          </p:cNvPr>
          <p:cNvSpPr txBox="1"/>
          <p:nvPr/>
        </p:nvSpPr>
        <p:spPr>
          <a:xfrm>
            <a:off x="18445422" y="10005747"/>
            <a:ext cx="2255746" cy="584775"/>
          </a:xfrm>
          <a:prstGeom prst="rect">
            <a:avLst/>
          </a:prstGeom>
          <a:noFill/>
          <a:ln cap="flat">
            <a:noFill/>
          </a:ln>
        </p:spPr>
        <p:txBody>
          <a:bodyPr vert="horz" wrap="none" lIns="91440" tIns="45720" rIns="91440" bIns="45720" anchor="t" anchorCtr="1" compatLnSpc="1">
            <a:sp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3200" b="1" i="0" u="none" strike="noStrike" kern="1200" cap="none" spc="0" normalizeH="0" baseline="0" noProof="0" dirty="0">
                <a:ln>
                  <a:noFill/>
                </a:ln>
                <a:solidFill>
                  <a:srgbClr val="00C159"/>
                </a:solidFill>
                <a:effectLst/>
                <a:uLnTx/>
                <a:uFillTx/>
                <a:latin typeface="Figtree" pitchFamily="2" charset="0"/>
                <a:ea typeface="+mn-ea"/>
                <a:cs typeface="+mn-cs"/>
              </a:rPr>
              <a:t>HIGH </a:t>
            </a:r>
            <a:r>
              <a:rPr kumimoji="0" lang="en-US" sz="3200" b="1" i="0" u="none" strike="noStrike" kern="0" cap="none" spc="0" normalizeH="0" baseline="0" noProof="0" dirty="0">
                <a:ln>
                  <a:noFill/>
                </a:ln>
                <a:solidFill>
                  <a:srgbClr val="00C159"/>
                </a:solidFill>
                <a:effectLst/>
                <a:uLnTx/>
                <a:uFillTx/>
                <a:latin typeface="Figtree" pitchFamily="2" charset="0"/>
                <a:ea typeface="+mn-ea"/>
                <a:cs typeface="+mn-cs"/>
              </a:rPr>
              <a:t>W</a:t>
            </a:r>
            <a:r>
              <a:rPr kumimoji="0" lang="en-US" sz="3200" b="1" i="0" u="none" strike="noStrike" kern="1200" cap="none" spc="0" normalizeH="0" baseline="0" noProof="0" dirty="0">
                <a:ln>
                  <a:noFill/>
                </a:ln>
                <a:solidFill>
                  <a:srgbClr val="00C159"/>
                </a:solidFill>
                <a:effectLst/>
                <a:uLnTx/>
                <a:uFillTx/>
                <a:latin typeface="Figtree" pitchFamily="2" charset="0"/>
                <a:ea typeface="+mn-ea"/>
                <a:cs typeface="+mn-cs"/>
              </a:rPr>
              <a:t>UE</a:t>
            </a:r>
          </a:p>
        </p:txBody>
      </p:sp>
      <p:sp>
        <p:nvSpPr>
          <p:cNvPr id="21" name="TextBox 60">
            <a:extLst>
              <a:ext uri="{FF2B5EF4-FFF2-40B4-BE49-F238E27FC236}">
                <a16:creationId xmlns:a16="http://schemas.microsoft.com/office/drawing/2014/main" id="{2BABB82E-3E1E-0476-48F7-2207D61D179F}"/>
              </a:ext>
            </a:extLst>
          </p:cNvPr>
          <p:cNvSpPr txBox="1"/>
          <p:nvPr/>
        </p:nvSpPr>
        <p:spPr>
          <a:xfrm>
            <a:off x="13140530" y="10005747"/>
            <a:ext cx="1992854" cy="584775"/>
          </a:xfrm>
          <a:prstGeom prst="rect">
            <a:avLst/>
          </a:prstGeom>
          <a:noFill/>
          <a:ln cap="flat">
            <a:noFill/>
          </a:ln>
        </p:spPr>
        <p:txBody>
          <a:bodyPr vert="horz" wrap="none" lIns="91440" tIns="45720" rIns="91440" bIns="45720" anchor="t" anchorCtr="1" compatLnSpc="1">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3200" b="1" i="0" u="none" strike="noStrike" kern="1200" cap="none" spc="0" normalizeH="0" baseline="0" noProof="0" dirty="0">
                <a:ln>
                  <a:noFill/>
                </a:ln>
                <a:solidFill>
                  <a:srgbClr val="00C159"/>
                </a:solidFill>
                <a:effectLst/>
                <a:uLnTx/>
                <a:uFillTx/>
                <a:latin typeface="Figtree" pitchFamily="2" charset="0"/>
                <a:ea typeface="+mn-ea"/>
                <a:cs typeface="+mn-cs"/>
              </a:rPr>
              <a:t>LOW PUE</a:t>
            </a:r>
          </a:p>
        </p:txBody>
      </p:sp>
      <p:sp>
        <p:nvSpPr>
          <p:cNvPr id="30" name="TextBox 29">
            <a:extLst>
              <a:ext uri="{FF2B5EF4-FFF2-40B4-BE49-F238E27FC236}">
                <a16:creationId xmlns:a16="http://schemas.microsoft.com/office/drawing/2014/main" id="{10775D7E-510D-A543-D758-82E9FD0E3CFB}"/>
              </a:ext>
            </a:extLst>
          </p:cNvPr>
          <p:cNvSpPr txBox="1"/>
          <p:nvPr/>
        </p:nvSpPr>
        <p:spPr>
          <a:xfrm>
            <a:off x="13136601" y="1929349"/>
            <a:ext cx="4914621" cy="707886"/>
          </a:xfrm>
          <a:prstGeom prst="rect">
            <a:avLst/>
          </a:prstGeom>
          <a:noFill/>
        </p:spPr>
        <p:txBody>
          <a:bodyPr wrap="square">
            <a:spAutoFit/>
          </a:bodyPr>
          <a:lstStyle/>
          <a:p>
            <a:r>
              <a:rPr lang="en-US" sz="4000" b="1" dirty="0">
                <a:solidFill>
                  <a:schemeClr val="bg1"/>
                </a:solidFill>
                <a:latin typeface="Figtree SemiBold" pitchFamily="2" charset="0"/>
              </a:rPr>
              <a:t>Power Efficiency</a:t>
            </a:r>
            <a:endParaRPr lang="en-PT" sz="4000" b="1" dirty="0">
              <a:solidFill>
                <a:schemeClr val="bg1"/>
              </a:solidFill>
              <a:latin typeface="Figtree SemiBold" pitchFamily="2" charset="0"/>
            </a:endParaRPr>
          </a:p>
        </p:txBody>
      </p:sp>
      <p:pic>
        <p:nvPicPr>
          <p:cNvPr id="32" name="Picture 31">
            <a:extLst>
              <a:ext uri="{FF2B5EF4-FFF2-40B4-BE49-F238E27FC236}">
                <a16:creationId xmlns:a16="http://schemas.microsoft.com/office/drawing/2014/main" id="{E7C4D0F6-2429-FEBA-F137-A9854F3260D4}"/>
              </a:ext>
            </a:extLst>
          </p:cNvPr>
          <p:cNvPicPr>
            <a:picLocks noChangeAspect="1"/>
          </p:cNvPicPr>
          <p:nvPr/>
        </p:nvPicPr>
        <p:blipFill>
          <a:blip r:embed="rId2"/>
          <a:stretch>
            <a:fillRect/>
          </a:stretch>
        </p:blipFill>
        <p:spPr>
          <a:xfrm>
            <a:off x="17824767" y="6055884"/>
            <a:ext cx="3663633" cy="3382755"/>
          </a:xfrm>
          <a:prstGeom prst="rect">
            <a:avLst/>
          </a:prstGeom>
        </p:spPr>
      </p:pic>
      <p:pic>
        <p:nvPicPr>
          <p:cNvPr id="35" name="Picture 34">
            <a:extLst>
              <a:ext uri="{FF2B5EF4-FFF2-40B4-BE49-F238E27FC236}">
                <a16:creationId xmlns:a16="http://schemas.microsoft.com/office/drawing/2014/main" id="{1B9E8ABD-0158-1F77-06AC-E12B9E4AA0F1}"/>
              </a:ext>
            </a:extLst>
          </p:cNvPr>
          <p:cNvPicPr>
            <a:picLocks noChangeAspect="1"/>
          </p:cNvPicPr>
          <p:nvPr/>
        </p:nvPicPr>
        <p:blipFill>
          <a:blip r:embed="rId3"/>
          <a:stretch>
            <a:fillRect/>
          </a:stretch>
        </p:blipFill>
        <p:spPr>
          <a:xfrm>
            <a:off x="13670597" y="7612380"/>
            <a:ext cx="1158203" cy="1849120"/>
          </a:xfrm>
          <a:prstGeom prst="rect">
            <a:avLst/>
          </a:prstGeom>
        </p:spPr>
      </p:pic>
      <p:pic>
        <p:nvPicPr>
          <p:cNvPr id="36" name="Picture 35">
            <a:extLst>
              <a:ext uri="{FF2B5EF4-FFF2-40B4-BE49-F238E27FC236}">
                <a16:creationId xmlns:a16="http://schemas.microsoft.com/office/drawing/2014/main" id="{A14E3A6A-F2E6-D0FE-93B1-4786EE9CCB4B}"/>
              </a:ext>
            </a:extLst>
          </p:cNvPr>
          <p:cNvPicPr>
            <a:picLocks noChangeAspect="1"/>
          </p:cNvPicPr>
          <p:nvPr/>
        </p:nvPicPr>
        <p:blipFill>
          <a:blip r:embed="rId4"/>
          <a:stretch>
            <a:fillRect/>
          </a:stretch>
        </p:blipFill>
        <p:spPr>
          <a:xfrm>
            <a:off x="3034348" y="6195060"/>
            <a:ext cx="3513972" cy="3256280"/>
          </a:xfrm>
          <a:prstGeom prst="rect">
            <a:avLst/>
          </a:prstGeom>
        </p:spPr>
      </p:pic>
      <p:pic>
        <p:nvPicPr>
          <p:cNvPr id="37" name="Picture 36">
            <a:extLst>
              <a:ext uri="{FF2B5EF4-FFF2-40B4-BE49-F238E27FC236}">
                <a16:creationId xmlns:a16="http://schemas.microsoft.com/office/drawing/2014/main" id="{3ECB6889-54DC-04F4-754F-FBC18FBD2858}"/>
              </a:ext>
            </a:extLst>
          </p:cNvPr>
          <p:cNvPicPr>
            <a:picLocks noChangeAspect="1"/>
          </p:cNvPicPr>
          <p:nvPr/>
        </p:nvPicPr>
        <p:blipFill>
          <a:blip r:embed="rId5"/>
          <a:stretch>
            <a:fillRect/>
          </a:stretch>
        </p:blipFill>
        <p:spPr>
          <a:xfrm>
            <a:off x="8801101" y="7494867"/>
            <a:ext cx="1440180" cy="1959589"/>
          </a:xfrm>
          <a:prstGeom prst="rect">
            <a:avLst/>
          </a:prstGeom>
        </p:spPr>
      </p:pic>
      <p:cxnSp>
        <p:nvCxnSpPr>
          <p:cNvPr id="38" name="Straight Connector 37">
            <a:extLst>
              <a:ext uri="{FF2B5EF4-FFF2-40B4-BE49-F238E27FC236}">
                <a16:creationId xmlns:a16="http://schemas.microsoft.com/office/drawing/2014/main" id="{C4C5FA5C-A856-ACF1-3100-A37CB71BB279}"/>
              </a:ext>
            </a:extLst>
          </p:cNvPr>
          <p:cNvCxnSpPr>
            <a:cxnSpLocks/>
          </p:cNvCxnSpPr>
          <p:nvPr/>
        </p:nvCxnSpPr>
        <p:spPr>
          <a:xfrm>
            <a:off x="0" y="4920914"/>
            <a:ext cx="8310622" cy="0"/>
          </a:xfrm>
          <a:prstGeom prst="line">
            <a:avLst/>
          </a:prstGeom>
          <a:ln w="38100">
            <a:solidFill>
              <a:srgbClr val="12BD64"/>
            </a:solidFill>
            <a:tailEnd type="oval" w="med" len="med"/>
          </a:ln>
        </p:spPr>
        <p:style>
          <a:lnRef idx="1">
            <a:schemeClr val="accent6"/>
          </a:lnRef>
          <a:fillRef idx="0">
            <a:schemeClr val="accent6"/>
          </a:fillRef>
          <a:effectRef idx="0">
            <a:schemeClr val="accent6"/>
          </a:effectRef>
          <a:fontRef idx="minor">
            <a:schemeClr val="tx1"/>
          </a:fontRef>
        </p:style>
      </p:cxnSp>
      <p:sp>
        <p:nvSpPr>
          <p:cNvPr id="40" name="Title 9">
            <a:extLst>
              <a:ext uri="{FF2B5EF4-FFF2-40B4-BE49-F238E27FC236}">
                <a16:creationId xmlns:a16="http://schemas.microsoft.com/office/drawing/2014/main" id="{CA99F505-63C9-C7F9-FF07-782D7B49D105}"/>
              </a:ext>
            </a:extLst>
          </p:cNvPr>
          <p:cNvSpPr>
            <a:spLocks noGrp="1"/>
          </p:cNvSpPr>
          <p:nvPr>
            <p:ph type="title"/>
          </p:nvPr>
        </p:nvSpPr>
        <p:spPr>
          <a:xfrm>
            <a:off x="1677987" y="2075574"/>
            <a:ext cx="13941972" cy="1218796"/>
          </a:xfrm>
        </p:spPr>
        <p:txBody>
          <a:bodyPr/>
          <a:lstStyle/>
          <a:p>
            <a:r>
              <a:rPr lang="en-GB" dirty="0"/>
              <a:t>Power </a:t>
            </a:r>
            <a:r>
              <a:rPr lang="en-GB" sz="8000" dirty="0">
                <a:solidFill>
                  <a:srgbClr val="00C159"/>
                </a:solidFill>
              </a:rPr>
              <a:t>Efficiency</a:t>
            </a:r>
            <a:endParaRPr lang="en-PT" sz="8000" dirty="0">
              <a:solidFill>
                <a:srgbClr val="00C159"/>
              </a:solidFill>
            </a:endParaRPr>
          </a:p>
        </p:txBody>
      </p:sp>
      <p:sp>
        <p:nvSpPr>
          <p:cNvPr id="41" name="Rectangular Callout 40">
            <a:extLst>
              <a:ext uri="{FF2B5EF4-FFF2-40B4-BE49-F238E27FC236}">
                <a16:creationId xmlns:a16="http://schemas.microsoft.com/office/drawing/2014/main" id="{EE5F018F-2BC3-7D7D-1313-18A3A967C4E4}"/>
              </a:ext>
            </a:extLst>
          </p:cNvPr>
          <p:cNvSpPr/>
          <p:nvPr/>
        </p:nvSpPr>
        <p:spPr>
          <a:xfrm>
            <a:off x="14164574" y="3001992"/>
            <a:ext cx="4295954" cy="2225615"/>
          </a:xfrm>
          <a:prstGeom prst="wedgeRectCallout">
            <a:avLst>
              <a:gd name="adj1" fmla="val 55071"/>
              <a:gd name="adj2" fmla="val 98934"/>
            </a:avLst>
          </a:prstGeom>
          <a:solidFill>
            <a:srgbClr val="F4F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400" b="0" i="0" u="none" strike="noStrike" kern="1200" cap="none" spc="0" normalizeH="0" baseline="0" noProof="0" dirty="0">
                <a:ln>
                  <a:noFill/>
                </a:ln>
                <a:solidFill>
                  <a:srgbClr val="000000"/>
                </a:solidFill>
                <a:effectLst/>
                <a:uLnTx/>
                <a:uFillTx/>
                <a:latin typeface="Figtree" pitchFamily="2" charset="0"/>
                <a:ea typeface="+mn-ea"/>
                <a:cs typeface="+mn-cs"/>
              </a:rPr>
              <a:t>US DCs consume </a:t>
            </a:r>
            <a:br>
              <a:rPr kumimoji="0" lang="en-GB" sz="2400" b="0" i="0" u="none" strike="noStrike" kern="1200" cap="none" spc="0" normalizeH="0" baseline="0" noProof="0" dirty="0">
                <a:ln>
                  <a:noFill/>
                </a:ln>
                <a:solidFill>
                  <a:srgbClr val="000000"/>
                </a:solidFill>
                <a:effectLst/>
                <a:uLnTx/>
                <a:uFillTx/>
                <a:latin typeface="Figtree" pitchFamily="2" charset="0"/>
                <a:ea typeface="+mn-ea"/>
                <a:cs typeface="+mn-cs"/>
              </a:rPr>
            </a:br>
            <a:r>
              <a:rPr kumimoji="0" lang="en-GB" sz="4000" b="1" i="0" u="none" strike="noStrike" kern="0" cap="none" spc="0" normalizeH="0" baseline="0" noProof="0" dirty="0">
                <a:ln>
                  <a:noFill/>
                </a:ln>
                <a:solidFill>
                  <a:srgbClr val="12BD64"/>
                </a:solidFill>
                <a:effectLst/>
                <a:uLnTx/>
                <a:uFillTx/>
                <a:latin typeface="Figtree"/>
                <a:ea typeface="+mn-ea"/>
                <a:cs typeface="+mn-cs"/>
              </a:rPr>
              <a:t>&gt; 75 billion </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GB" sz="2400" b="0" i="0" u="none" strike="noStrike" kern="1200" cap="none" spc="0" normalizeH="0" baseline="0" noProof="0" dirty="0">
                <a:ln>
                  <a:noFill/>
                </a:ln>
                <a:solidFill>
                  <a:srgbClr val="000000"/>
                </a:solidFill>
                <a:effectLst/>
                <a:uLnTx/>
                <a:uFillTx/>
                <a:latin typeface="Figtree" pitchFamily="2" charset="0"/>
                <a:ea typeface="+mn-ea"/>
                <a:cs typeface="+mn-cs"/>
              </a:rPr>
              <a:t>litres of water per year</a:t>
            </a:r>
          </a:p>
        </p:txBody>
      </p:sp>
      <p:pic>
        <p:nvPicPr>
          <p:cNvPr id="2" name="Picture 1">
            <a:extLst>
              <a:ext uri="{FF2B5EF4-FFF2-40B4-BE49-F238E27FC236}">
                <a16:creationId xmlns:a16="http://schemas.microsoft.com/office/drawing/2014/main" id="{71244C49-DBF8-A655-C393-7D6F8D5FFA81}"/>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586" y="0"/>
            <a:ext cx="24384000" cy="13715999"/>
          </a:xfrm>
          <a:prstGeom prst="rect">
            <a:avLst/>
          </a:prstGeom>
        </p:spPr>
      </p:pic>
    </p:spTree>
    <p:extLst>
      <p:ext uri="{BB962C8B-B14F-4D97-AF65-F5344CB8AC3E}">
        <p14:creationId xmlns:p14="http://schemas.microsoft.com/office/powerpoint/2010/main" val="1642435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7DBC7-9451-6520-63EE-4A5C77FCA339}"/>
            </a:ext>
          </a:extLst>
        </p:cNvPr>
        <p:cNvGrpSpPr/>
        <p:nvPr/>
      </p:nvGrpSpPr>
      <p:grpSpPr>
        <a:xfrm>
          <a:off x="0" y="0"/>
          <a:ext cx="0" cy="0"/>
          <a:chOff x="0" y="0"/>
          <a:chExt cx="0" cy="0"/>
        </a:xfrm>
      </p:grpSpPr>
      <p:sp>
        <p:nvSpPr>
          <p:cNvPr id="2" name="Title 9">
            <a:extLst>
              <a:ext uri="{FF2B5EF4-FFF2-40B4-BE49-F238E27FC236}">
                <a16:creationId xmlns:a16="http://schemas.microsoft.com/office/drawing/2014/main" id="{7B0D3D19-B574-1D66-51D3-F3BE9AD30D28}"/>
              </a:ext>
            </a:extLst>
          </p:cNvPr>
          <p:cNvSpPr txBox="1">
            <a:spLocks/>
          </p:cNvSpPr>
          <p:nvPr/>
        </p:nvSpPr>
        <p:spPr>
          <a:xfrm>
            <a:off x="1664130" y="1800736"/>
            <a:ext cx="13446330" cy="2462213"/>
          </a:xfrm>
          <a:prstGeom prst="rect">
            <a:avLst/>
          </a:prstGeom>
        </p:spPr>
        <p:txBody>
          <a:bodyPr vert="horz" wrap="square" lIns="0" tIns="0" rIns="0" bIns="0" rtlCol="0" anchor="ctr">
            <a:spAutoFit/>
          </a:bodyPr>
          <a:lstStyle>
            <a:lvl1pPr algn="l" defTabSz="1828800" rtl="0" eaLnBrk="1" latinLnBrk="0" hangingPunct="1">
              <a:lnSpc>
                <a:spcPct val="90000"/>
              </a:lnSpc>
              <a:spcBef>
                <a:spcPct val="0"/>
              </a:spcBef>
              <a:buNone/>
              <a:defRPr sz="8800" b="1" i="0" kern="1200">
                <a:solidFill>
                  <a:schemeClr val="tx1"/>
                </a:solidFill>
                <a:latin typeface="Figtree SemiBold" pitchFamily="2" charset="0"/>
                <a:ea typeface="+mj-ea"/>
                <a:cs typeface="+mj-cs"/>
              </a:defRPr>
            </a:lvl1pPr>
          </a:lstStyle>
          <a:p>
            <a:pPr>
              <a:lnSpc>
                <a:spcPct val="100000"/>
              </a:lnSpc>
            </a:pPr>
            <a:r>
              <a:rPr lang="en-GB" sz="8000" dirty="0"/>
              <a:t>It is possible to have both:</a:t>
            </a:r>
          </a:p>
          <a:p>
            <a:pPr>
              <a:lnSpc>
                <a:spcPct val="100000"/>
              </a:lnSpc>
            </a:pPr>
            <a:r>
              <a:rPr lang="en-GB" sz="8000" dirty="0">
                <a:solidFill>
                  <a:srgbClr val="00C159"/>
                </a:solidFill>
              </a:rPr>
              <a:t>Low PUE </a:t>
            </a:r>
            <a:r>
              <a:rPr lang="en-GB" sz="8000" dirty="0"/>
              <a:t>and </a:t>
            </a:r>
            <a:r>
              <a:rPr lang="en-GB" sz="8000" dirty="0">
                <a:solidFill>
                  <a:srgbClr val="00C159"/>
                </a:solidFill>
              </a:rPr>
              <a:t>WUE</a:t>
            </a:r>
            <a:endParaRPr lang="en-PT" sz="8000" dirty="0">
              <a:solidFill>
                <a:srgbClr val="00C159"/>
              </a:solidFill>
            </a:endParaRPr>
          </a:p>
        </p:txBody>
      </p:sp>
      <p:sp>
        <p:nvSpPr>
          <p:cNvPr id="19" name="TextBox 18">
            <a:extLst>
              <a:ext uri="{FF2B5EF4-FFF2-40B4-BE49-F238E27FC236}">
                <a16:creationId xmlns:a16="http://schemas.microsoft.com/office/drawing/2014/main" id="{35CE7347-1913-F9CD-C0C7-45DFFE3F25CF}"/>
              </a:ext>
            </a:extLst>
          </p:cNvPr>
          <p:cNvSpPr txBox="1">
            <a:spLocks noChangeAspect="1"/>
          </p:cNvSpPr>
          <p:nvPr/>
        </p:nvSpPr>
        <p:spPr>
          <a:xfrm>
            <a:off x="9143056" y="6833109"/>
            <a:ext cx="973587" cy="132343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8000" b="1" i="0" u="none" strike="noStrike" kern="0" cap="none" spc="0" normalizeH="0" baseline="0" noProof="0" dirty="0">
                <a:ln>
                  <a:noFill/>
                </a:ln>
                <a:solidFill>
                  <a:srgbClr val="00C159"/>
                </a:solidFill>
                <a:effectLst/>
                <a:uLnTx/>
                <a:uFillTx/>
                <a:latin typeface="Figtree ExtraBold" pitchFamily="2" charset="0"/>
                <a:ea typeface="+mn-ea"/>
                <a:cs typeface="+mn-cs"/>
              </a:rPr>
              <a:t>=</a:t>
            </a:r>
            <a:endParaRPr kumimoji="0" lang="en-PT" sz="8000" b="1" i="0" u="none" strike="noStrike" kern="1200" cap="none" spc="0" normalizeH="0" baseline="0" noProof="0" dirty="0">
              <a:ln>
                <a:noFill/>
              </a:ln>
              <a:solidFill>
                <a:srgbClr val="00C159"/>
              </a:solidFill>
              <a:effectLst/>
              <a:uLnTx/>
              <a:uFillTx/>
              <a:latin typeface="Figtree ExtraBold" pitchFamily="2" charset="0"/>
              <a:ea typeface="+mn-ea"/>
              <a:cs typeface="+mn-cs"/>
            </a:endParaRPr>
          </a:p>
        </p:txBody>
      </p:sp>
      <p:pic>
        <p:nvPicPr>
          <p:cNvPr id="21" name="Picture 20">
            <a:extLst>
              <a:ext uri="{FF2B5EF4-FFF2-40B4-BE49-F238E27FC236}">
                <a16:creationId xmlns:a16="http://schemas.microsoft.com/office/drawing/2014/main" id="{4D02ACED-285C-C31B-EB53-198929DB74ED}"/>
              </a:ext>
            </a:extLst>
          </p:cNvPr>
          <p:cNvPicPr>
            <a:picLocks noChangeAspect="1"/>
          </p:cNvPicPr>
          <p:nvPr/>
        </p:nvPicPr>
        <p:blipFill>
          <a:blip r:embed="rId2"/>
          <a:stretch>
            <a:fillRect/>
          </a:stretch>
        </p:blipFill>
        <p:spPr>
          <a:xfrm>
            <a:off x="4597082" y="6348487"/>
            <a:ext cx="2195633" cy="2075872"/>
          </a:xfrm>
          <a:prstGeom prst="rect">
            <a:avLst/>
          </a:prstGeom>
        </p:spPr>
      </p:pic>
      <p:pic>
        <p:nvPicPr>
          <p:cNvPr id="22" name="Picture 21">
            <a:extLst>
              <a:ext uri="{FF2B5EF4-FFF2-40B4-BE49-F238E27FC236}">
                <a16:creationId xmlns:a16="http://schemas.microsoft.com/office/drawing/2014/main" id="{DEC742AC-EA84-D479-CA37-54A186F95863}"/>
              </a:ext>
            </a:extLst>
          </p:cNvPr>
          <p:cNvPicPr>
            <a:picLocks noChangeAspect="1"/>
          </p:cNvPicPr>
          <p:nvPr/>
        </p:nvPicPr>
        <p:blipFill>
          <a:blip r:embed="rId3"/>
          <a:stretch>
            <a:fillRect/>
          </a:stretch>
        </p:blipFill>
        <p:spPr>
          <a:xfrm>
            <a:off x="12163453" y="6252571"/>
            <a:ext cx="2315857" cy="2138308"/>
          </a:xfrm>
          <a:prstGeom prst="rect">
            <a:avLst/>
          </a:prstGeom>
        </p:spPr>
      </p:pic>
      <p:pic>
        <p:nvPicPr>
          <p:cNvPr id="23" name="Picture 22">
            <a:extLst>
              <a:ext uri="{FF2B5EF4-FFF2-40B4-BE49-F238E27FC236}">
                <a16:creationId xmlns:a16="http://schemas.microsoft.com/office/drawing/2014/main" id="{EFB99084-1D4B-3A17-98EE-9E73ABE7FDB4}"/>
              </a:ext>
            </a:extLst>
          </p:cNvPr>
          <p:cNvPicPr>
            <a:picLocks noChangeAspect="1"/>
          </p:cNvPicPr>
          <p:nvPr/>
        </p:nvPicPr>
        <p:blipFill>
          <a:blip r:embed="rId4"/>
          <a:stretch>
            <a:fillRect/>
          </a:stretch>
        </p:blipFill>
        <p:spPr>
          <a:xfrm>
            <a:off x="17297930" y="6143226"/>
            <a:ext cx="2573788" cy="2385043"/>
          </a:xfrm>
          <a:prstGeom prst="rect">
            <a:avLst/>
          </a:prstGeom>
        </p:spPr>
      </p:pic>
      <p:sp>
        <p:nvSpPr>
          <p:cNvPr id="28" name="Text Placeholder 2">
            <a:extLst>
              <a:ext uri="{FF2B5EF4-FFF2-40B4-BE49-F238E27FC236}">
                <a16:creationId xmlns:a16="http://schemas.microsoft.com/office/drawing/2014/main" id="{27A014C1-0428-0D85-44EB-113FDB480787}"/>
              </a:ext>
            </a:extLst>
          </p:cNvPr>
          <p:cNvSpPr txBox="1">
            <a:spLocks noChangeAspect="1"/>
          </p:cNvSpPr>
          <p:nvPr/>
        </p:nvSpPr>
        <p:spPr>
          <a:xfrm>
            <a:off x="3133225" y="9274266"/>
            <a:ext cx="4991668" cy="2428482"/>
          </a:xfrm>
          <a:prstGeom prst="rect">
            <a:avLst/>
          </a:prstGeom>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GB" sz="4000" b="1" dirty="0">
                <a:latin typeface="Figtree SemiBold" pitchFamily="2" charset="0"/>
              </a:rPr>
              <a:t>Efficient &amp; Sustainable Cooling</a:t>
            </a:r>
          </a:p>
        </p:txBody>
      </p:sp>
      <p:sp>
        <p:nvSpPr>
          <p:cNvPr id="31" name="Text Placeholder 2">
            <a:extLst>
              <a:ext uri="{FF2B5EF4-FFF2-40B4-BE49-F238E27FC236}">
                <a16:creationId xmlns:a16="http://schemas.microsoft.com/office/drawing/2014/main" id="{48156786-E6AA-34AB-D093-6BEA610BDD06}"/>
              </a:ext>
            </a:extLst>
          </p:cNvPr>
          <p:cNvSpPr txBox="1">
            <a:spLocks noChangeAspect="1"/>
          </p:cNvSpPr>
          <p:nvPr/>
        </p:nvSpPr>
        <p:spPr>
          <a:xfrm>
            <a:off x="10316806" y="9274266"/>
            <a:ext cx="5702546" cy="2428482"/>
          </a:xfrm>
          <a:prstGeom prst="rect">
            <a:avLst/>
          </a:prstGeom>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GB" sz="4000" b="1" dirty="0">
                <a:latin typeface="Figtree SemiBold" pitchFamily="2" charset="0"/>
              </a:rPr>
              <a:t>WUE 0</a:t>
            </a:r>
          </a:p>
        </p:txBody>
      </p:sp>
      <p:sp>
        <p:nvSpPr>
          <p:cNvPr id="32" name="Text Placeholder 2">
            <a:extLst>
              <a:ext uri="{FF2B5EF4-FFF2-40B4-BE49-F238E27FC236}">
                <a16:creationId xmlns:a16="http://schemas.microsoft.com/office/drawing/2014/main" id="{847A371B-22DA-5CCA-4B34-FAFBC5E64B58}"/>
              </a:ext>
            </a:extLst>
          </p:cNvPr>
          <p:cNvSpPr txBox="1">
            <a:spLocks noChangeAspect="1"/>
          </p:cNvSpPr>
          <p:nvPr/>
        </p:nvSpPr>
        <p:spPr>
          <a:xfrm>
            <a:off x="15747788" y="9274266"/>
            <a:ext cx="5702546" cy="2428482"/>
          </a:xfrm>
          <a:prstGeom prst="rect">
            <a:avLst/>
          </a:prstGeom>
        </p:spPr>
        <p:txBody>
          <a:bodyPr/>
          <a:lst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a:lstStyle>
          <a:p>
            <a:pPr marL="0" indent="0" algn="ctr">
              <a:buNone/>
            </a:pPr>
            <a:r>
              <a:rPr lang="en-GB" sz="4000" b="1" dirty="0">
                <a:latin typeface="Figtree SemiBold" pitchFamily="2" charset="0"/>
              </a:rPr>
              <a:t>LOW PUE</a:t>
            </a:r>
          </a:p>
        </p:txBody>
      </p:sp>
      <p:cxnSp>
        <p:nvCxnSpPr>
          <p:cNvPr id="33" name="Straight Connector 32">
            <a:extLst>
              <a:ext uri="{FF2B5EF4-FFF2-40B4-BE49-F238E27FC236}">
                <a16:creationId xmlns:a16="http://schemas.microsoft.com/office/drawing/2014/main" id="{70CC380F-B6D1-2A0D-C647-9F4F42185150}"/>
              </a:ext>
            </a:extLst>
          </p:cNvPr>
          <p:cNvCxnSpPr>
            <a:cxnSpLocks/>
          </p:cNvCxnSpPr>
          <p:nvPr/>
        </p:nvCxnSpPr>
        <p:spPr>
          <a:xfrm>
            <a:off x="0" y="4806614"/>
            <a:ext cx="8310622" cy="0"/>
          </a:xfrm>
          <a:prstGeom prst="line">
            <a:avLst/>
          </a:prstGeom>
          <a:ln w="38100">
            <a:solidFill>
              <a:srgbClr val="12BD64"/>
            </a:solidFill>
            <a:tailEnd type="oval" w="med" len="med"/>
          </a:ln>
        </p:spPr>
        <p:style>
          <a:lnRef idx="1">
            <a:schemeClr val="accent6"/>
          </a:lnRef>
          <a:fillRef idx="0">
            <a:schemeClr val="accent6"/>
          </a:fillRef>
          <a:effectRef idx="0">
            <a:schemeClr val="accent6"/>
          </a:effectRef>
          <a:fontRef idx="minor">
            <a:schemeClr val="tx1"/>
          </a:fontRef>
        </p:style>
      </p:cxnSp>
      <p:pic>
        <p:nvPicPr>
          <p:cNvPr id="3" name="Picture 2">
            <a:extLst>
              <a:ext uri="{FF2B5EF4-FFF2-40B4-BE49-F238E27FC236}">
                <a16:creationId xmlns:a16="http://schemas.microsoft.com/office/drawing/2014/main" id="{782FA98D-B648-E396-6DC1-DCAF89157D0A}"/>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0" y="-892"/>
            <a:ext cx="24385587" cy="13716892"/>
          </a:xfrm>
          <a:prstGeom prst="rect">
            <a:avLst/>
          </a:prstGeom>
        </p:spPr>
      </p:pic>
    </p:spTree>
    <p:extLst>
      <p:ext uri="{BB962C8B-B14F-4D97-AF65-F5344CB8AC3E}">
        <p14:creationId xmlns:p14="http://schemas.microsoft.com/office/powerpoint/2010/main" val="28740553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C45608-7038-D9E6-9069-C215ED150F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30A8E6-E4FB-E54F-BD92-8304C6A8A739}"/>
              </a:ext>
            </a:extLst>
          </p:cNvPr>
          <p:cNvSpPr>
            <a:spLocks noGrp="1"/>
          </p:cNvSpPr>
          <p:nvPr>
            <p:ph type="ctrTitle"/>
          </p:nvPr>
        </p:nvSpPr>
        <p:spPr>
          <a:xfrm>
            <a:off x="1662221" y="6057780"/>
            <a:ext cx="12078812" cy="2462213"/>
          </a:xfrm>
        </p:spPr>
        <p:txBody>
          <a:bodyPr/>
          <a:lstStyle/>
          <a:p>
            <a:pPr>
              <a:lnSpc>
                <a:spcPct val="100000"/>
              </a:lnSpc>
              <a:spcBef>
                <a:spcPts val="0"/>
              </a:spcBef>
              <a:defRPr sz="1800" b="0" i="0" u="none" strike="noStrike" kern="0" cap="none" spc="0" baseline="0">
                <a:solidFill>
                  <a:srgbClr val="000000"/>
                </a:solidFill>
                <a:uFillTx/>
              </a:defRPr>
            </a:pPr>
            <a:r>
              <a:rPr lang="en-US" sz="8000" dirty="0">
                <a:solidFill>
                  <a:srgbClr val="00C159"/>
                </a:solidFill>
                <a:ea typeface="+mn-ea"/>
                <a:cs typeface="+mn-cs"/>
              </a:rPr>
              <a:t>Portugal </a:t>
            </a:r>
            <a:br>
              <a:rPr lang="en-US" sz="8000" dirty="0">
                <a:solidFill>
                  <a:srgbClr val="00C159"/>
                </a:solidFill>
                <a:ea typeface="+mn-ea"/>
                <a:cs typeface="+mn-cs"/>
              </a:rPr>
            </a:br>
            <a:r>
              <a:rPr lang="en-US" sz="8000" dirty="0">
                <a:solidFill>
                  <a:schemeClr val="bg1"/>
                </a:solidFill>
                <a:ea typeface="+mn-ea"/>
                <a:cs typeface="+mn-cs"/>
              </a:rPr>
              <a:t>Connecting </a:t>
            </a:r>
            <a:r>
              <a:rPr lang="en-US" sz="8000" dirty="0">
                <a:solidFill>
                  <a:srgbClr val="FFFFFF"/>
                </a:solidFill>
                <a:ea typeface="+mn-ea"/>
                <a:cs typeface="+mn-cs"/>
              </a:rPr>
              <a:t>the Globe</a:t>
            </a:r>
          </a:p>
        </p:txBody>
      </p:sp>
      <p:pic>
        <p:nvPicPr>
          <p:cNvPr id="10" name="Picture Placeholder 4">
            <a:extLst>
              <a:ext uri="{FF2B5EF4-FFF2-40B4-BE49-F238E27FC236}">
                <a16:creationId xmlns:a16="http://schemas.microsoft.com/office/drawing/2014/main" id="{1E8F32F5-51A3-DEE3-DC11-3FF83D5D29D6}"/>
              </a:ext>
            </a:extLst>
          </p:cNvPr>
          <p:cNvPicPr>
            <a:picLocks noGrp="1" noChangeAspect="1"/>
          </p:cNvPicPr>
          <p:nvPr>
            <p:ph type="pic" sz="quarter" idx="13"/>
          </p:nvPr>
        </p:nvPicPr>
        <p:blipFill>
          <a:blip r:embed="rId2" cstate="email">
            <a:extLst>
              <a:ext uri="{28A0092B-C50C-407E-A947-70E740481C1C}">
                <a14:useLocalDpi xmlns:a14="http://schemas.microsoft.com/office/drawing/2010/main"/>
              </a:ext>
            </a:extLst>
          </a:blip>
          <a:srcRect b="-1695"/>
          <a:stretch/>
        </p:blipFill>
        <p:spPr>
          <a:xfrm>
            <a:off x="17953788" y="0"/>
            <a:ext cx="6433388" cy="13716000"/>
          </a:xfrm>
          <a:prstGeom prst="rect">
            <a:avLst/>
          </a:prstGeom>
        </p:spPr>
      </p:pic>
    </p:spTree>
    <p:extLst>
      <p:ext uri="{BB962C8B-B14F-4D97-AF65-F5344CB8AC3E}">
        <p14:creationId xmlns:p14="http://schemas.microsoft.com/office/powerpoint/2010/main" val="6777450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E4C3F5-3AEB-0258-75B0-2A5F1E2E68AA}"/>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B3059E9F-29F1-C6FC-7B7B-C088DC844DA8}"/>
              </a:ext>
            </a:extLst>
          </p:cNvPr>
          <p:cNvGrpSpPr/>
          <p:nvPr/>
        </p:nvGrpSpPr>
        <p:grpSpPr>
          <a:xfrm>
            <a:off x="9840766" y="1472565"/>
            <a:ext cx="10813056" cy="10812544"/>
            <a:chOff x="10796730" y="1098492"/>
            <a:chExt cx="10813056" cy="10812544"/>
          </a:xfrm>
        </p:grpSpPr>
        <p:pic>
          <p:nvPicPr>
            <p:cNvPr id="4" name="Picture 3">
              <a:extLst>
                <a:ext uri="{FF2B5EF4-FFF2-40B4-BE49-F238E27FC236}">
                  <a16:creationId xmlns:a16="http://schemas.microsoft.com/office/drawing/2014/main" id="{68B4605B-0576-FF6A-0819-45DE2BD69BFF}"/>
                </a:ext>
              </a:extLst>
            </p:cNvPr>
            <p:cNvPicPr>
              <a:picLocks noChangeAspect="1"/>
            </p:cNvPicPr>
            <p:nvPr/>
          </p:nvPicPr>
          <p:blipFill>
            <a:blip r:embed="rId2"/>
            <a:stretch>
              <a:fillRect/>
            </a:stretch>
          </p:blipFill>
          <p:spPr>
            <a:xfrm>
              <a:off x="10796730" y="1124262"/>
              <a:ext cx="10786774" cy="10786774"/>
            </a:xfrm>
            <a:prstGeom prst="rect">
              <a:avLst/>
            </a:prstGeom>
          </p:spPr>
        </p:pic>
        <p:pic>
          <p:nvPicPr>
            <p:cNvPr id="5" name="Picture 4">
              <a:extLst>
                <a:ext uri="{FF2B5EF4-FFF2-40B4-BE49-F238E27FC236}">
                  <a16:creationId xmlns:a16="http://schemas.microsoft.com/office/drawing/2014/main" id="{2A109AB5-E5AB-06D2-5E69-53813C364084}"/>
                </a:ext>
              </a:extLst>
            </p:cNvPr>
            <p:cNvPicPr>
              <a:picLocks noChangeAspect="1"/>
            </p:cNvPicPr>
            <p:nvPr/>
          </p:nvPicPr>
          <p:blipFill>
            <a:blip r:embed="rId3"/>
            <a:stretch>
              <a:fillRect/>
            </a:stretch>
          </p:blipFill>
          <p:spPr>
            <a:xfrm>
              <a:off x="11342228" y="1133739"/>
              <a:ext cx="10253650" cy="10253650"/>
            </a:xfrm>
            <a:prstGeom prst="rect">
              <a:avLst/>
            </a:prstGeom>
          </p:spPr>
        </p:pic>
        <p:pic>
          <p:nvPicPr>
            <p:cNvPr id="6" name="Picture 5">
              <a:extLst>
                <a:ext uri="{FF2B5EF4-FFF2-40B4-BE49-F238E27FC236}">
                  <a16:creationId xmlns:a16="http://schemas.microsoft.com/office/drawing/2014/main" id="{2D8340CE-A1A1-F15E-FAAD-607C4273CD3B}"/>
                </a:ext>
              </a:extLst>
            </p:cNvPr>
            <p:cNvPicPr>
              <a:picLocks noChangeAspect="1"/>
            </p:cNvPicPr>
            <p:nvPr/>
          </p:nvPicPr>
          <p:blipFill>
            <a:blip r:embed="rId4"/>
            <a:stretch>
              <a:fillRect/>
            </a:stretch>
          </p:blipFill>
          <p:spPr>
            <a:xfrm>
              <a:off x="12937112" y="1105277"/>
              <a:ext cx="8648554" cy="6360431"/>
            </a:xfrm>
            <a:prstGeom prst="rect">
              <a:avLst/>
            </a:prstGeom>
          </p:spPr>
        </p:pic>
        <p:pic>
          <p:nvPicPr>
            <p:cNvPr id="7" name="Picture 6">
              <a:extLst>
                <a:ext uri="{FF2B5EF4-FFF2-40B4-BE49-F238E27FC236}">
                  <a16:creationId xmlns:a16="http://schemas.microsoft.com/office/drawing/2014/main" id="{90A2C57B-3F30-0894-E2BD-DED7E61B99E8}"/>
                </a:ext>
              </a:extLst>
            </p:cNvPr>
            <p:cNvPicPr>
              <a:picLocks noChangeAspect="1"/>
            </p:cNvPicPr>
            <p:nvPr/>
          </p:nvPicPr>
          <p:blipFill>
            <a:blip r:embed="rId5"/>
            <a:stretch>
              <a:fillRect/>
            </a:stretch>
          </p:blipFill>
          <p:spPr>
            <a:xfrm>
              <a:off x="17990179" y="1098492"/>
              <a:ext cx="3619607" cy="3479800"/>
            </a:xfrm>
            <a:prstGeom prst="rect">
              <a:avLst/>
            </a:prstGeom>
          </p:spPr>
        </p:pic>
        <p:pic>
          <p:nvPicPr>
            <p:cNvPr id="8" name="Picture 7">
              <a:extLst>
                <a:ext uri="{FF2B5EF4-FFF2-40B4-BE49-F238E27FC236}">
                  <a16:creationId xmlns:a16="http://schemas.microsoft.com/office/drawing/2014/main" id="{B7CE78BA-A9F1-7172-C7BB-0E1FCB33C1BA}"/>
                </a:ext>
              </a:extLst>
            </p:cNvPr>
            <p:cNvPicPr>
              <a:picLocks noChangeAspect="1"/>
            </p:cNvPicPr>
            <p:nvPr/>
          </p:nvPicPr>
          <p:blipFill>
            <a:blip r:embed="rId6"/>
            <a:stretch>
              <a:fillRect/>
            </a:stretch>
          </p:blipFill>
          <p:spPr>
            <a:xfrm>
              <a:off x="10851335" y="5174049"/>
              <a:ext cx="10741994" cy="3479800"/>
            </a:xfrm>
            <a:prstGeom prst="rect">
              <a:avLst/>
            </a:prstGeom>
          </p:spPr>
        </p:pic>
      </p:grpSp>
      <p:sp>
        <p:nvSpPr>
          <p:cNvPr id="9" name="TextBox 8">
            <a:extLst>
              <a:ext uri="{FF2B5EF4-FFF2-40B4-BE49-F238E27FC236}">
                <a16:creationId xmlns:a16="http://schemas.microsoft.com/office/drawing/2014/main" id="{1EF51A87-0842-EBD9-CAA8-CC7581613C4E}"/>
              </a:ext>
            </a:extLst>
          </p:cNvPr>
          <p:cNvSpPr txBox="1"/>
          <p:nvPr/>
        </p:nvSpPr>
        <p:spPr>
          <a:xfrm>
            <a:off x="9199540" y="782775"/>
            <a:ext cx="1310268"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T" sz="1800" b="0" i="0" u="none" strike="noStrike" kern="1200" cap="none" spc="0" normalizeH="0" baseline="0" noProof="0">
                <a:ln>
                  <a:noFill/>
                </a:ln>
                <a:solidFill>
                  <a:srgbClr val="12BD64"/>
                </a:solidFill>
                <a:effectLst/>
                <a:uLnTx/>
                <a:uFillTx/>
                <a:latin typeface="Aptos" panose="02110004020202020204"/>
                <a:ea typeface="+mn-ea"/>
                <a:cs typeface="+mn-cs"/>
              </a:rPr>
              <a:t>GROWTH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PT" sz="1800" b="0" i="0" u="none" strike="noStrike" kern="1200" cap="none" spc="0" normalizeH="0" baseline="0" noProof="0">
                <a:ln>
                  <a:noFill/>
                </a:ln>
                <a:solidFill>
                  <a:srgbClr val="12BD64"/>
                </a:solidFill>
                <a:effectLst/>
                <a:uLnTx/>
                <a:uFillTx/>
                <a:latin typeface="Aptos" panose="02110004020202020204"/>
                <a:ea typeface="+mn-ea"/>
                <a:cs typeface="+mn-cs"/>
              </a:rPr>
              <a:t>UPSIDE</a:t>
            </a:r>
          </a:p>
        </p:txBody>
      </p:sp>
      <p:sp>
        <p:nvSpPr>
          <p:cNvPr id="10" name="TextBox 9">
            <a:extLst>
              <a:ext uri="{FF2B5EF4-FFF2-40B4-BE49-F238E27FC236}">
                <a16:creationId xmlns:a16="http://schemas.microsoft.com/office/drawing/2014/main" id="{43BFA1F4-972E-1A2D-0D97-0719FD6B28D6}"/>
              </a:ext>
            </a:extLst>
          </p:cNvPr>
          <p:cNvSpPr txBox="1"/>
          <p:nvPr/>
        </p:nvSpPr>
        <p:spPr>
          <a:xfrm>
            <a:off x="20718393" y="11960409"/>
            <a:ext cx="1195199" cy="64633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12BD64"/>
                </a:solidFill>
                <a:effectLst/>
                <a:uLnTx/>
                <a:uFillTx/>
                <a:latin typeface="Aptos" panose="02110004020202020204"/>
                <a:ea typeface="+mn-ea"/>
                <a:cs typeface="+mn-cs"/>
              </a:rPr>
              <a:t>MARKET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12BD64"/>
                </a:solidFill>
                <a:effectLst/>
                <a:uLnTx/>
                <a:uFillTx/>
                <a:latin typeface="Aptos" panose="02110004020202020204"/>
                <a:ea typeface="+mn-ea"/>
                <a:cs typeface="+mn-cs"/>
              </a:rPr>
              <a:t>MATURITY</a:t>
            </a:r>
            <a:endParaRPr kumimoji="0" lang="en-PT" sz="1800" b="0" i="0" u="none" strike="noStrike" kern="1200" cap="none" spc="0" normalizeH="0" baseline="0" noProof="0">
              <a:ln>
                <a:noFill/>
              </a:ln>
              <a:solidFill>
                <a:srgbClr val="12BD64"/>
              </a:solidFill>
              <a:effectLst/>
              <a:uLnTx/>
              <a:uFillTx/>
              <a:latin typeface="Aptos" panose="02110004020202020204"/>
              <a:ea typeface="+mn-ea"/>
              <a:cs typeface="+mn-cs"/>
            </a:endParaRPr>
          </a:p>
        </p:txBody>
      </p:sp>
      <p:sp>
        <p:nvSpPr>
          <p:cNvPr id="11" name="TextBox 10">
            <a:extLst>
              <a:ext uri="{FF2B5EF4-FFF2-40B4-BE49-F238E27FC236}">
                <a16:creationId xmlns:a16="http://schemas.microsoft.com/office/drawing/2014/main" id="{0C134BAB-3184-6B14-E424-7526C6E59047}"/>
              </a:ext>
            </a:extLst>
          </p:cNvPr>
          <p:cNvSpPr txBox="1"/>
          <p:nvPr/>
        </p:nvSpPr>
        <p:spPr>
          <a:xfrm>
            <a:off x="11166186" y="12352804"/>
            <a:ext cx="1529650"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T" sz="1800" b="0" i="0" u="none" strike="noStrike" kern="1200" cap="none" spc="0" normalizeH="0" baseline="0" noProof="0">
                <a:ln>
                  <a:noFill/>
                </a:ln>
                <a:solidFill>
                  <a:prstClr val="black"/>
                </a:solidFill>
                <a:effectLst/>
                <a:uLnTx/>
                <a:uFillTx/>
                <a:latin typeface="Aptos" panose="02110004020202020204"/>
                <a:ea typeface="+mn-ea"/>
                <a:cs typeface="+mn-cs"/>
              </a:rPr>
              <a:t>DEVELOPING</a:t>
            </a:r>
          </a:p>
        </p:txBody>
      </p:sp>
      <p:sp>
        <p:nvSpPr>
          <p:cNvPr id="12" name="TextBox 11">
            <a:extLst>
              <a:ext uri="{FF2B5EF4-FFF2-40B4-BE49-F238E27FC236}">
                <a16:creationId xmlns:a16="http://schemas.microsoft.com/office/drawing/2014/main" id="{FC80CC15-436E-CC8E-3842-AAA3ABF9EF33}"/>
              </a:ext>
            </a:extLst>
          </p:cNvPr>
          <p:cNvSpPr txBox="1"/>
          <p:nvPr/>
        </p:nvSpPr>
        <p:spPr>
          <a:xfrm>
            <a:off x="14722186" y="12352804"/>
            <a:ext cx="1310359"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T" sz="1800" b="0" i="0" u="none" strike="noStrike" kern="1200" cap="none" spc="0" normalizeH="0" baseline="0" noProof="0">
                <a:ln>
                  <a:noFill/>
                </a:ln>
                <a:solidFill>
                  <a:prstClr val="black"/>
                </a:solidFill>
                <a:effectLst/>
                <a:uLnTx/>
                <a:uFillTx/>
                <a:latin typeface="Aptos" panose="02110004020202020204"/>
                <a:ea typeface="+mn-ea"/>
                <a:cs typeface="+mn-cs"/>
              </a:rPr>
              <a:t>EMERGING</a:t>
            </a:r>
          </a:p>
        </p:txBody>
      </p:sp>
      <p:sp>
        <p:nvSpPr>
          <p:cNvPr id="13" name="TextBox 12">
            <a:extLst>
              <a:ext uri="{FF2B5EF4-FFF2-40B4-BE49-F238E27FC236}">
                <a16:creationId xmlns:a16="http://schemas.microsoft.com/office/drawing/2014/main" id="{CD8F515B-D67F-6F4B-84A8-CAE40E99E64A}"/>
              </a:ext>
            </a:extLst>
          </p:cNvPr>
          <p:cNvSpPr txBox="1"/>
          <p:nvPr/>
        </p:nvSpPr>
        <p:spPr>
          <a:xfrm>
            <a:off x="18359466" y="12332484"/>
            <a:ext cx="1028487" cy="369332"/>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T" sz="1800" b="0" i="0" u="none" strike="noStrike" kern="1200" cap="none" spc="0" normalizeH="0" baseline="0" noProof="0">
                <a:ln>
                  <a:noFill/>
                </a:ln>
                <a:solidFill>
                  <a:prstClr val="black"/>
                </a:solidFill>
                <a:effectLst/>
                <a:uLnTx/>
                <a:uFillTx/>
                <a:latin typeface="Aptos" panose="02110004020202020204"/>
                <a:ea typeface="+mn-ea"/>
                <a:cs typeface="+mn-cs"/>
              </a:rPr>
              <a:t>MATURE</a:t>
            </a:r>
          </a:p>
        </p:txBody>
      </p:sp>
      <p:sp>
        <p:nvSpPr>
          <p:cNvPr id="14" name="TextBox 13">
            <a:extLst>
              <a:ext uri="{FF2B5EF4-FFF2-40B4-BE49-F238E27FC236}">
                <a16:creationId xmlns:a16="http://schemas.microsoft.com/office/drawing/2014/main" id="{F201D51A-280A-E89E-7368-468A34C4B239}"/>
              </a:ext>
            </a:extLst>
          </p:cNvPr>
          <p:cNvSpPr txBox="1"/>
          <p:nvPr/>
        </p:nvSpPr>
        <p:spPr>
          <a:xfrm rot="16200000">
            <a:off x="9146073" y="10843561"/>
            <a:ext cx="66819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T" sz="1800" b="0" i="0" u="none" strike="noStrike" kern="1200" cap="none" spc="0" normalizeH="0" baseline="0" noProof="0">
                <a:ln>
                  <a:noFill/>
                </a:ln>
                <a:solidFill>
                  <a:prstClr val="black"/>
                </a:solidFill>
                <a:effectLst/>
                <a:uLnTx/>
                <a:uFillTx/>
                <a:latin typeface="Aptos" panose="02110004020202020204"/>
                <a:ea typeface="+mn-ea"/>
                <a:cs typeface="+mn-cs"/>
              </a:rPr>
              <a:t>LOW</a:t>
            </a:r>
          </a:p>
        </p:txBody>
      </p:sp>
      <p:sp>
        <p:nvSpPr>
          <p:cNvPr id="15" name="TextBox 14">
            <a:extLst>
              <a:ext uri="{FF2B5EF4-FFF2-40B4-BE49-F238E27FC236}">
                <a16:creationId xmlns:a16="http://schemas.microsoft.com/office/drawing/2014/main" id="{8FA781B0-E6C4-2A8A-7A6D-91663216F8BB}"/>
              </a:ext>
            </a:extLst>
          </p:cNvPr>
          <p:cNvSpPr txBox="1"/>
          <p:nvPr/>
        </p:nvSpPr>
        <p:spPr>
          <a:xfrm rot="16200000">
            <a:off x="8695379" y="7287561"/>
            <a:ext cx="132574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T" sz="1800" b="0" i="0" u="none" strike="noStrike" kern="1200" cap="none" spc="0" normalizeH="0" baseline="0" noProof="0">
                <a:ln>
                  <a:noFill/>
                </a:ln>
                <a:solidFill>
                  <a:prstClr val="black"/>
                </a:solidFill>
                <a:effectLst/>
                <a:uLnTx/>
                <a:uFillTx/>
                <a:latin typeface="Aptos" panose="02110004020202020204"/>
                <a:ea typeface="+mn-ea"/>
                <a:cs typeface="+mn-cs"/>
              </a:rPr>
              <a:t>MODERATE</a:t>
            </a:r>
          </a:p>
        </p:txBody>
      </p:sp>
      <p:sp>
        <p:nvSpPr>
          <p:cNvPr id="16" name="TextBox 15">
            <a:extLst>
              <a:ext uri="{FF2B5EF4-FFF2-40B4-BE49-F238E27FC236}">
                <a16:creationId xmlns:a16="http://schemas.microsoft.com/office/drawing/2014/main" id="{AAF37E15-13D0-0FF6-11A7-D67A09F1BADA}"/>
              </a:ext>
            </a:extLst>
          </p:cNvPr>
          <p:cNvSpPr txBox="1"/>
          <p:nvPr/>
        </p:nvSpPr>
        <p:spPr>
          <a:xfrm rot="16200000">
            <a:off x="8909723" y="3426761"/>
            <a:ext cx="73449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PT" sz="1800" b="0" i="0" u="none" strike="noStrike" kern="1200" cap="none" spc="0" normalizeH="0" baseline="0" noProof="0">
                <a:ln>
                  <a:noFill/>
                </a:ln>
                <a:solidFill>
                  <a:prstClr val="black"/>
                </a:solidFill>
                <a:effectLst/>
                <a:uLnTx/>
                <a:uFillTx/>
                <a:latin typeface="Aptos" panose="02110004020202020204"/>
                <a:ea typeface="+mn-ea"/>
                <a:cs typeface="+mn-cs"/>
              </a:rPr>
              <a:t>HIGH</a:t>
            </a:r>
          </a:p>
        </p:txBody>
      </p:sp>
      <p:sp>
        <p:nvSpPr>
          <p:cNvPr id="17" name="TextBox 16">
            <a:extLst>
              <a:ext uri="{FF2B5EF4-FFF2-40B4-BE49-F238E27FC236}">
                <a16:creationId xmlns:a16="http://schemas.microsoft.com/office/drawing/2014/main" id="{9C3C790E-D128-F69C-FB1D-9E211DEE92A0}"/>
              </a:ext>
            </a:extLst>
          </p:cNvPr>
          <p:cNvSpPr txBox="1"/>
          <p:nvPr/>
        </p:nvSpPr>
        <p:spPr>
          <a:xfrm>
            <a:off x="12152315" y="1854222"/>
            <a:ext cx="205318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12BD64"/>
                </a:solidFill>
                <a:effectLst/>
                <a:uLnTx/>
                <a:uFillTx/>
                <a:latin typeface="Aptos" panose="02110004020202020204"/>
                <a:ea typeface="+mn-ea"/>
                <a:cs typeface="+mn-cs"/>
              </a:rPr>
              <a:t>OPPORTUNITY</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12BD64"/>
                </a:solidFill>
                <a:effectLst/>
                <a:uLnTx/>
                <a:uFillTx/>
                <a:latin typeface="Aptos" panose="02110004020202020204"/>
                <a:ea typeface="+mn-ea"/>
                <a:cs typeface="+mn-cs"/>
              </a:rPr>
              <a:t>QUADRANT</a:t>
            </a:r>
            <a:endParaRPr kumimoji="0" lang="en-PT" sz="1800" b="0" i="0" u="none" strike="noStrike" kern="1200" cap="none" spc="0" normalizeH="0" baseline="0" noProof="0">
              <a:ln>
                <a:noFill/>
              </a:ln>
              <a:solidFill>
                <a:srgbClr val="12BD64"/>
              </a:solidFill>
              <a:effectLst/>
              <a:uLnTx/>
              <a:uFillTx/>
              <a:latin typeface="Aptos" panose="02110004020202020204"/>
              <a:ea typeface="+mn-ea"/>
              <a:cs typeface="+mn-cs"/>
            </a:endParaRPr>
          </a:p>
        </p:txBody>
      </p:sp>
      <p:sp>
        <p:nvSpPr>
          <p:cNvPr id="18" name="TextBox 17">
            <a:extLst>
              <a:ext uri="{FF2B5EF4-FFF2-40B4-BE49-F238E27FC236}">
                <a16:creationId xmlns:a16="http://schemas.microsoft.com/office/drawing/2014/main" id="{8133A986-B449-D51F-AEF6-C0487B7471B3}"/>
              </a:ext>
            </a:extLst>
          </p:cNvPr>
          <p:cNvSpPr txBox="1"/>
          <p:nvPr/>
        </p:nvSpPr>
        <p:spPr>
          <a:xfrm>
            <a:off x="17205382" y="1838491"/>
            <a:ext cx="2053187"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12BD64"/>
                </a:solidFill>
                <a:effectLst/>
                <a:uLnTx/>
                <a:uFillTx/>
                <a:latin typeface="Aptos" panose="02110004020202020204"/>
                <a:ea typeface="+mn-ea"/>
                <a:cs typeface="+mn-cs"/>
              </a:rPr>
              <a:t>TIER 1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12BD64"/>
                </a:solidFill>
                <a:effectLst/>
                <a:uLnTx/>
                <a:uFillTx/>
                <a:latin typeface="Aptos" panose="02110004020202020204"/>
                <a:ea typeface="+mn-ea"/>
                <a:cs typeface="+mn-cs"/>
              </a:rPr>
              <a:t>MARKETS</a:t>
            </a:r>
            <a:endParaRPr kumimoji="0" lang="en-PT" sz="1800" b="0" i="0" u="none" strike="noStrike" kern="1200" cap="none" spc="0" normalizeH="0" baseline="0" noProof="0">
              <a:ln>
                <a:noFill/>
              </a:ln>
              <a:solidFill>
                <a:srgbClr val="12BD64"/>
              </a:solidFill>
              <a:effectLst/>
              <a:uLnTx/>
              <a:uFillTx/>
              <a:latin typeface="Aptos" panose="02110004020202020204"/>
              <a:ea typeface="+mn-ea"/>
              <a:cs typeface="+mn-cs"/>
            </a:endParaRPr>
          </a:p>
        </p:txBody>
      </p:sp>
      <p:sp>
        <p:nvSpPr>
          <p:cNvPr id="20" name="Rectangle: Rounded Corners 18">
            <a:extLst>
              <a:ext uri="{FF2B5EF4-FFF2-40B4-BE49-F238E27FC236}">
                <a16:creationId xmlns:a16="http://schemas.microsoft.com/office/drawing/2014/main" id="{14DD62E0-E200-0E9D-E049-49B43BBCD7B7}"/>
              </a:ext>
            </a:extLst>
          </p:cNvPr>
          <p:cNvSpPr/>
          <p:nvPr/>
        </p:nvSpPr>
        <p:spPr>
          <a:xfrm>
            <a:off x="11240846" y="6445609"/>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48764" tIns="48764" rIns="48764" bIns="48764"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LAGOS</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24" name="Rectangle: Rounded Corners 19">
            <a:extLst>
              <a:ext uri="{FF2B5EF4-FFF2-40B4-BE49-F238E27FC236}">
                <a16:creationId xmlns:a16="http://schemas.microsoft.com/office/drawing/2014/main" id="{10F8B657-0A02-42AF-F4E0-C43ABB2135D3}"/>
              </a:ext>
            </a:extLst>
          </p:cNvPr>
          <p:cNvSpPr/>
          <p:nvPr/>
        </p:nvSpPr>
        <p:spPr>
          <a:xfrm>
            <a:off x="10806260" y="5938905"/>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48764" tIns="48764" rIns="48764" bIns="48764"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ROME</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25" name="Rectangle: Rounded Corners 20">
            <a:extLst>
              <a:ext uri="{FF2B5EF4-FFF2-40B4-BE49-F238E27FC236}">
                <a16:creationId xmlns:a16="http://schemas.microsoft.com/office/drawing/2014/main" id="{0C1CD9E2-9F93-CA77-4130-289D77E7129B}"/>
              </a:ext>
            </a:extLst>
          </p:cNvPr>
          <p:cNvSpPr/>
          <p:nvPr/>
        </p:nvSpPr>
        <p:spPr>
          <a:xfrm>
            <a:off x="10806260" y="6873596"/>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48764" tIns="48764" rIns="48764" bIns="48764"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NAIROBI</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26" name="Rectangle: Rounded Corners 21">
            <a:extLst>
              <a:ext uri="{FF2B5EF4-FFF2-40B4-BE49-F238E27FC236}">
                <a16:creationId xmlns:a16="http://schemas.microsoft.com/office/drawing/2014/main" id="{83E628A2-D41B-768B-E719-B2F161AAD2CB}"/>
              </a:ext>
            </a:extLst>
          </p:cNvPr>
          <p:cNvSpPr/>
          <p:nvPr/>
        </p:nvSpPr>
        <p:spPr>
          <a:xfrm>
            <a:off x="11044919" y="8139422"/>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48764" tIns="48764" rIns="48764" bIns="48764"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HAMBURG</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27" name="Rectangle: Rounded Corners 26">
            <a:extLst>
              <a:ext uri="{FF2B5EF4-FFF2-40B4-BE49-F238E27FC236}">
                <a16:creationId xmlns:a16="http://schemas.microsoft.com/office/drawing/2014/main" id="{3F26CEBB-F83F-861B-7B70-11A631EE38D6}"/>
              </a:ext>
            </a:extLst>
          </p:cNvPr>
          <p:cNvSpPr/>
          <p:nvPr/>
        </p:nvSpPr>
        <p:spPr>
          <a:xfrm>
            <a:off x="12441572" y="8251056"/>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48764" tIns="48764" rIns="48764" bIns="48764"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CAPE TOWN</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29" name="Rectangle: Rounded Corners 27">
            <a:extLst>
              <a:ext uri="{FF2B5EF4-FFF2-40B4-BE49-F238E27FC236}">
                <a16:creationId xmlns:a16="http://schemas.microsoft.com/office/drawing/2014/main" id="{3A25BB2E-52EA-DFBB-3C0B-19F6BE15290B}"/>
              </a:ext>
            </a:extLst>
          </p:cNvPr>
          <p:cNvSpPr/>
          <p:nvPr/>
        </p:nvSpPr>
        <p:spPr>
          <a:xfrm>
            <a:off x="12152315" y="7770797"/>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48764" tIns="48764" rIns="48764" bIns="48764"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ATHENS</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30" name="Rectangle: Rounded Corners 28">
            <a:extLst>
              <a:ext uri="{FF2B5EF4-FFF2-40B4-BE49-F238E27FC236}">
                <a16:creationId xmlns:a16="http://schemas.microsoft.com/office/drawing/2014/main" id="{64A8FCF0-6AB6-D5FA-F736-608A7D73C485}"/>
              </a:ext>
            </a:extLst>
          </p:cNvPr>
          <p:cNvSpPr/>
          <p:nvPr/>
        </p:nvSpPr>
        <p:spPr>
          <a:xfrm>
            <a:off x="12671530" y="7442386"/>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MARSEILLE</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33" name="Rectangle: Rounded Corners 29">
            <a:extLst>
              <a:ext uri="{FF2B5EF4-FFF2-40B4-BE49-F238E27FC236}">
                <a16:creationId xmlns:a16="http://schemas.microsoft.com/office/drawing/2014/main" id="{821EF174-3421-852D-9379-7AEDC88FAA3F}"/>
              </a:ext>
            </a:extLst>
          </p:cNvPr>
          <p:cNvSpPr/>
          <p:nvPr/>
        </p:nvSpPr>
        <p:spPr>
          <a:xfrm>
            <a:off x="12989712" y="6957355"/>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BARCELONA</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34" name="Rectangle: Rounded Corners 30">
            <a:extLst>
              <a:ext uri="{FF2B5EF4-FFF2-40B4-BE49-F238E27FC236}">
                <a16:creationId xmlns:a16="http://schemas.microsoft.com/office/drawing/2014/main" id="{FE7AF7B2-6926-04AB-E398-7BA38AD795FC}"/>
              </a:ext>
            </a:extLst>
          </p:cNvPr>
          <p:cNvSpPr/>
          <p:nvPr/>
        </p:nvSpPr>
        <p:spPr>
          <a:xfrm>
            <a:off x="12872790" y="6468740"/>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TEL AVIV</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35" name="Rectangle: Rounded Corners 31">
            <a:extLst>
              <a:ext uri="{FF2B5EF4-FFF2-40B4-BE49-F238E27FC236}">
                <a16:creationId xmlns:a16="http://schemas.microsoft.com/office/drawing/2014/main" id="{39251B02-AD3A-05A7-45EF-1620C87E7BD9}"/>
              </a:ext>
            </a:extLst>
          </p:cNvPr>
          <p:cNvSpPr/>
          <p:nvPr/>
        </p:nvSpPr>
        <p:spPr>
          <a:xfrm>
            <a:off x="12771930" y="5978829"/>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dirty="0">
                <a:ln>
                  <a:noFill/>
                </a:ln>
                <a:solidFill>
                  <a:srgbClr val="000000"/>
                </a:solidFill>
                <a:effectLst/>
                <a:uLnTx/>
                <a:uFillTx/>
                <a:latin typeface="Figtree"/>
                <a:ea typeface="Figtree"/>
                <a:cs typeface="+mn-cs"/>
              </a:rPr>
              <a:t>DUBAI</a:t>
            </a:r>
            <a:endParaRPr kumimoji="0" lang="en-GB" sz="1400" b="1" i="0" u="none" strike="noStrike" kern="1200" cap="none" spc="0" normalizeH="0" baseline="0" noProof="0" dirty="0">
              <a:ln>
                <a:noFill/>
              </a:ln>
              <a:solidFill>
                <a:srgbClr val="000000"/>
              </a:solidFill>
              <a:effectLst/>
              <a:uLnTx/>
              <a:uFillTx/>
              <a:latin typeface="Figtree"/>
              <a:ea typeface="Figtree"/>
              <a:cs typeface="+mn-cs"/>
            </a:endParaRPr>
          </a:p>
        </p:txBody>
      </p:sp>
      <p:sp>
        <p:nvSpPr>
          <p:cNvPr id="36" name="Rectangle: Rounded Corners 32">
            <a:extLst>
              <a:ext uri="{FF2B5EF4-FFF2-40B4-BE49-F238E27FC236}">
                <a16:creationId xmlns:a16="http://schemas.microsoft.com/office/drawing/2014/main" id="{99C89F34-E427-9AEC-8F4E-53A1EFDF449D}"/>
              </a:ext>
            </a:extLst>
          </p:cNvPr>
          <p:cNvSpPr/>
          <p:nvPr/>
        </p:nvSpPr>
        <p:spPr>
          <a:xfrm>
            <a:off x="14081844" y="6094022"/>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ABU DHABI</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37" name="Rectangle: Rounded Corners 33">
            <a:extLst>
              <a:ext uri="{FF2B5EF4-FFF2-40B4-BE49-F238E27FC236}">
                <a16:creationId xmlns:a16="http://schemas.microsoft.com/office/drawing/2014/main" id="{7062B8B8-C44A-B789-7CC1-1207B0D53FEB}"/>
              </a:ext>
            </a:extLst>
          </p:cNvPr>
          <p:cNvSpPr/>
          <p:nvPr/>
        </p:nvSpPr>
        <p:spPr>
          <a:xfrm>
            <a:off x="14894299" y="5622146"/>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COPENHAGEN</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38" name="Rectangle: Rounded Corners 34">
            <a:extLst>
              <a:ext uri="{FF2B5EF4-FFF2-40B4-BE49-F238E27FC236}">
                <a16:creationId xmlns:a16="http://schemas.microsoft.com/office/drawing/2014/main" id="{25164E3B-9EDE-7E08-980C-2D5C5946DE70}"/>
              </a:ext>
            </a:extLst>
          </p:cNvPr>
          <p:cNvSpPr/>
          <p:nvPr/>
        </p:nvSpPr>
        <p:spPr>
          <a:xfrm>
            <a:off x="15152150" y="5215578"/>
            <a:ext cx="1743275"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JOHANNESBURG</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39" name="Rectangle: Rounded Corners 35">
            <a:extLst>
              <a:ext uri="{FF2B5EF4-FFF2-40B4-BE49-F238E27FC236}">
                <a16:creationId xmlns:a16="http://schemas.microsoft.com/office/drawing/2014/main" id="{706B775D-FA8E-3719-C00D-A7B25C166529}"/>
              </a:ext>
            </a:extLst>
          </p:cNvPr>
          <p:cNvSpPr/>
          <p:nvPr/>
        </p:nvSpPr>
        <p:spPr>
          <a:xfrm>
            <a:off x="17321162" y="5474353"/>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ZURICH</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40" name="Rectangle: Rounded Corners 36">
            <a:extLst>
              <a:ext uri="{FF2B5EF4-FFF2-40B4-BE49-F238E27FC236}">
                <a16:creationId xmlns:a16="http://schemas.microsoft.com/office/drawing/2014/main" id="{2BA7E991-DD2D-D2B9-7A17-1FA973600030}"/>
              </a:ext>
            </a:extLst>
          </p:cNvPr>
          <p:cNvSpPr/>
          <p:nvPr/>
        </p:nvSpPr>
        <p:spPr>
          <a:xfrm>
            <a:off x="16843411" y="6167180"/>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OSLO</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41" name="Rectangle: Rounded Corners 37">
            <a:extLst>
              <a:ext uri="{FF2B5EF4-FFF2-40B4-BE49-F238E27FC236}">
                <a16:creationId xmlns:a16="http://schemas.microsoft.com/office/drawing/2014/main" id="{13B19D25-7CAE-7EF9-93C6-096A4D3C219F}"/>
              </a:ext>
            </a:extLst>
          </p:cNvPr>
          <p:cNvSpPr/>
          <p:nvPr/>
        </p:nvSpPr>
        <p:spPr>
          <a:xfrm>
            <a:off x="16144863" y="6666867"/>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VIENNA</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42" name="Rectangle: Rounded Corners 38">
            <a:extLst>
              <a:ext uri="{FF2B5EF4-FFF2-40B4-BE49-F238E27FC236}">
                <a16:creationId xmlns:a16="http://schemas.microsoft.com/office/drawing/2014/main" id="{4C1A6267-9689-65DE-F265-6B99244B5BC8}"/>
              </a:ext>
            </a:extLst>
          </p:cNvPr>
          <p:cNvSpPr/>
          <p:nvPr/>
        </p:nvSpPr>
        <p:spPr>
          <a:xfrm>
            <a:off x="14602952" y="6628473"/>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WARSAW</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43" name="Rectangle: Rounded Corners 39">
            <a:extLst>
              <a:ext uri="{FF2B5EF4-FFF2-40B4-BE49-F238E27FC236}">
                <a16:creationId xmlns:a16="http://schemas.microsoft.com/office/drawing/2014/main" id="{3C143918-A529-2DC9-721C-29C8B41D9E04}"/>
              </a:ext>
            </a:extLst>
          </p:cNvPr>
          <p:cNvSpPr/>
          <p:nvPr/>
        </p:nvSpPr>
        <p:spPr>
          <a:xfrm>
            <a:off x="15128124" y="7081464"/>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MANCHESTER</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44" name="Rectangle: Rounded Corners 40">
            <a:extLst>
              <a:ext uri="{FF2B5EF4-FFF2-40B4-BE49-F238E27FC236}">
                <a16:creationId xmlns:a16="http://schemas.microsoft.com/office/drawing/2014/main" id="{7533B3C5-B2F8-EF0A-7685-3CD1C8A42929}"/>
              </a:ext>
            </a:extLst>
          </p:cNvPr>
          <p:cNvSpPr/>
          <p:nvPr/>
        </p:nvSpPr>
        <p:spPr>
          <a:xfrm>
            <a:off x="15417905" y="7508084"/>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BRUSSELS</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45" name="Rectangle: Rounded Corners 41">
            <a:extLst>
              <a:ext uri="{FF2B5EF4-FFF2-40B4-BE49-F238E27FC236}">
                <a16:creationId xmlns:a16="http://schemas.microsoft.com/office/drawing/2014/main" id="{20EEDB9A-2215-5444-6D61-0E09261715FC}"/>
              </a:ext>
            </a:extLst>
          </p:cNvPr>
          <p:cNvSpPr/>
          <p:nvPr/>
        </p:nvSpPr>
        <p:spPr>
          <a:xfrm>
            <a:off x="14659951" y="7966969"/>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CARDIFF</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46" name="Rectangle: Rounded Corners 42">
            <a:extLst>
              <a:ext uri="{FF2B5EF4-FFF2-40B4-BE49-F238E27FC236}">
                <a16:creationId xmlns:a16="http://schemas.microsoft.com/office/drawing/2014/main" id="{58225F5C-69A1-EDEB-604A-F11638284586}"/>
              </a:ext>
            </a:extLst>
          </p:cNvPr>
          <p:cNvSpPr/>
          <p:nvPr/>
        </p:nvSpPr>
        <p:spPr>
          <a:xfrm>
            <a:off x="15377854" y="8517598"/>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MUNICH</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47" name="Rectangle: Rounded Corners 43">
            <a:extLst>
              <a:ext uri="{FF2B5EF4-FFF2-40B4-BE49-F238E27FC236}">
                <a16:creationId xmlns:a16="http://schemas.microsoft.com/office/drawing/2014/main" id="{CE8549AC-57B9-C5BC-7FDD-BF705FD502D0}"/>
              </a:ext>
            </a:extLst>
          </p:cNvPr>
          <p:cNvSpPr/>
          <p:nvPr/>
        </p:nvSpPr>
        <p:spPr>
          <a:xfrm>
            <a:off x="11232418" y="9397146"/>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PRAGUE</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48" name="Rectangle: Rounded Corners 44">
            <a:extLst>
              <a:ext uri="{FF2B5EF4-FFF2-40B4-BE49-F238E27FC236}">
                <a16:creationId xmlns:a16="http://schemas.microsoft.com/office/drawing/2014/main" id="{95EA24E5-4244-9488-C8C5-4D07CA860910}"/>
              </a:ext>
            </a:extLst>
          </p:cNvPr>
          <p:cNvSpPr/>
          <p:nvPr/>
        </p:nvSpPr>
        <p:spPr>
          <a:xfrm>
            <a:off x="11656448" y="9888649"/>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ISTANBUL </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49" name="Rectangle: Rounded Corners 45">
            <a:extLst>
              <a:ext uri="{FF2B5EF4-FFF2-40B4-BE49-F238E27FC236}">
                <a16:creationId xmlns:a16="http://schemas.microsoft.com/office/drawing/2014/main" id="{20B518C2-C403-3F68-FA0B-08FDE7A47F23}"/>
              </a:ext>
            </a:extLst>
          </p:cNvPr>
          <p:cNvSpPr/>
          <p:nvPr/>
        </p:nvSpPr>
        <p:spPr>
          <a:xfrm>
            <a:off x="11555587" y="10360897"/>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SOFIA</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50" name="Rectangle: Rounded Corners 46">
            <a:extLst>
              <a:ext uri="{FF2B5EF4-FFF2-40B4-BE49-F238E27FC236}">
                <a16:creationId xmlns:a16="http://schemas.microsoft.com/office/drawing/2014/main" id="{F1708514-ED13-8BE5-CE31-BC1DB35AACD9}"/>
              </a:ext>
            </a:extLst>
          </p:cNvPr>
          <p:cNvSpPr/>
          <p:nvPr/>
        </p:nvSpPr>
        <p:spPr>
          <a:xfrm>
            <a:off x="13828846" y="9839925"/>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REYKJAVIK</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51" name="Rectangle: Rounded Corners 47">
            <a:extLst>
              <a:ext uri="{FF2B5EF4-FFF2-40B4-BE49-F238E27FC236}">
                <a16:creationId xmlns:a16="http://schemas.microsoft.com/office/drawing/2014/main" id="{5442CCB1-FF7B-22BA-C6FB-2A29E64674AD}"/>
              </a:ext>
            </a:extLst>
          </p:cNvPr>
          <p:cNvSpPr/>
          <p:nvPr/>
        </p:nvSpPr>
        <p:spPr>
          <a:xfrm>
            <a:off x="10467629" y="11108137"/>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MOMBASA</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52" name="Rectangle: Rounded Corners 48">
            <a:extLst>
              <a:ext uri="{FF2B5EF4-FFF2-40B4-BE49-F238E27FC236}">
                <a16:creationId xmlns:a16="http://schemas.microsoft.com/office/drawing/2014/main" id="{D06F0628-1108-5C4C-E27B-F2A6AA121DCE}"/>
              </a:ext>
            </a:extLst>
          </p:cNvPr>
          <p:cNvSpPr/>
          <p:nvPr/>
        </p:nvSpPr>
        <p:spPr>
          <a:xfrm>
            <a:off x="16835897" y="8843819"/>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STOCKHOLM</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53" name="Rectangle: Rounded Corners 49">
            <a:extLst>
              <a:ext uri="{FF2B5EF4-FFF2-40B4-BE49-F238E27FC236}">
                <a16:creationId xmlns:a16="http://schemas.microsoft.com/office/drawing/2014/main" id="{0910E06F-32AF-1C82-E434-03E3888D09FE}"/>
              </a:ext>
            </a:extLst>
          </p:cNvPr>
          <p:cNvSpPr/>
          <p:nvPr/>
        </p:nvSpPr>
        <p:spPr>
          <a:xfrm>
            <a:off x="16835897" y="9646777"/>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HELSINKI</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54" name="Rectangle: Rounded Corners 50">
            <a:extLst>
              <a:ext uri="{FF2B5EF4-FFF2-40B4-BE49-F238E27FC236}">
                <a16:creationId xmlns:a16="http://schemas.microsoft.com/office/drawing/2014/main" id="{42309C7F-F703-0DE0-3248-C1673FE1C6DA}"/>
              </a:ext>
            </a:extLst>
          </p:cNvPr>
          <p:cNvSpPr/>
          <p:nvPr/>
        </p:nvSpPr>
        <p:spPr>
          <a:xfrm>
            <a:off x="18459720" y="9710773"/>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w="25402" cap="flat">
            <a:solidFill>
              <a:srgbClr val="C00000"/>
            </a:solidFill>
            <a:prstDash val="solid"/>
            <a:roun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     </a:t>
            </a:r>
            <a:r>
              <a:rPr kumimoji="0" lang="en-US" sz="1400" b="1" i="0" u="none" strike="noStrike" kern="1200" cap="none" spc="0" normalizeH="0" baseline="0" noProof="0">
                <a:ln>
                  <a:noFill/>
                </a:ln>
                <a:solidFill>
                  <a:srgbClr val="C00000"/>
                </a:solidFill>
                <a:effectLst/>
                <a:uLnTx/>
                <a:uFillTx/>
                <a:latin typeface="Figtree"/>
                <a:ea typeface="Figtree"/>
                <a:cs typeface="+mn-cs"/>
              </a:rPr>
              <a:t>DUBLIN</a:t>
            </a:r>
            <a:endParaRPr kumimoji="0" lang="en-GB" sz="1400" b="1" i="0" u="none" strike="noStrike" kern="1200" cap="none" spc="0" normalizeH="0" baseline="0" noProof="0">
              <a:ln>
                <a:noFill/>
              </a:ln>
              <a:solidFill>
                <a:srgbClr val="C00000"/>
              </a:solidFill>
              <a:effectLst/>
              <a:uLnTx/>
              <a:uFillTx/>
              <a:latin typeface="Figtree"/>
              <a:ea typeface="Figtree"/>
              <a:cs typeface="+mn-cs"/>
            </a:endParaRPr>
          </a:p>
        </p:txBody>
      </p:sp>
      <p:sp>
        <p:nvSpPr>
          <p:cNvPr id="55" name="Rectangle: Rounded Corners 51">
            <a:extLst>
              <a:ext uri="{FF2B5EF4-FFF2-40B4-BE49-F238E27FC236}">
                <a16:creationId xmlns:a16="http://schemas.microsoft.com/office/drawing/2014/main" id="{257CFE90-968C-6B52-99B6-2B7743F08A15}"/>
              </a:ext>
            </a:extLst>
          </p:cNvPr>
          <p:cNvSpPr/>
          <p:nvPr/>
        </p:nvSpPr>
        <p:spPr>
          <a:xfrm>
            <a:off x="13130289" y="3587772"/>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12BD64"/>
                </a:solidFill>
                <a:effectLst/>
                <a:uLnTx/>
                <a:uFillTx/>
                <a:latin typeface="Figtree"/>
                <a:ea typeface="Figtree"/>
                <a:cs typeface="+mn-cs"/>
              </a:rPr>
              <a:t>    BERLIN</a:t>
            </a:r>
            <a:endParaRPr kumimoji="0" lang="en-GB" sz="1400" b="1" i="0" u="none" strike="noStrike" kern="1200" cap="none" spc="0" normalizeH="0" baseline="0" noProof="0">
              <a:ln>
                <a:noFill/>
              </a:ln>
              <a:solidFill>
                <a:srgbClr val="12BD64"/>
              </a:solidFill>
              <a:effectLst/>
              <a:uLnTx/>
              <a:uFillTx/>
              <a:latin typeface="Figtree"/>
              <a:ea typeface="Figtree"/>
              <a:cs typeface="+mn-cs"/>
            </a:endParaRPr>
          </a:p>
        </p:txBody>
      </p:sp>
      <p:sp>
        <p:nvSpPr>
          <p:cNvPr id="56" name="Rectangle: Rounded Corners 52">
            <a:extLst>
              <a:ext uri="{FF2B5EF4-FFF2-40B4-BE49-F238E27FC236}">
                <a16:creationId xmlns:a16="http://schemas.microsoft.com/office/drawing/2014/main" id="{6280D4E8-FC02-90C7-5B79-2DB805020469}"/>
              </a:ext>
            </a:extLst>
          </p:cNvPr>
          <p:cNvSpPr/>
          <p:nvPr/>
        </p:nvSpPr>
        <p:spPr>
          <a:xfrm>
            <a:off x="15082252" y="3587772"/>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       </a:t>
            </a:r>
            <a:r>
              <a:rPr kumimoji="0" lang="en-US" sz="1400" b="1" i="0" u="none" strike="noStrike" kern="1200" cap="none" spc="0" normalizeH="0" baseline="0" noProof="0">
                <a:ln>
                  <a:noFill/>
                </a:ln>
                <a:solidFill>
                  <a:srgbClr val="12BD64"/>
                </a:solidFill>
                <a:effectLst/>
                <a:uLnTx/>
                <a:uFillTx/>
                <a:latin typeface="Figtree"/>
                <a:ea typeface="Figtree"/>
                <a:cs typeface="+mn-cs"/>
              </a:rPr>
              <a:t>MADRID</a:t>
            </a:r>
            <a:endParaRPr kumimoji="0" lang="en-GB" sz="1400" b="1" i="0" u="none" strike="noStrike" kern="1200" cap="none" spc="0" normalizeH="0" baseline="0" noProof="0">
              <a:ln>
                <a:noFill/>
              </a:ln>
              <a:solidFill>
                <a:srgbClr val="12BD64"/>
              </a:solidFill>
              <a:effectLst/>
              <a:uLnTx/>
              <a:uFillTx/>
              <a:latin typeface="Figtree"/>
              <a:ea typeface="Figtree"/>
              <a:cs typeface="+mn-cs"/>
            </a:endParaRPr>
          </a:p>
        </p:txBody>
      </p:sp>
      <p:sp>
        <p:nvSpPr>
          <p:cNvPr id="57" name="Rectangle: Rounded Corners 53">
            <a:extLst>
              <a:ext uri="{FF2B5EF4-FFF2-40B4-BE49-F238E27FC236}">
                <a16:creationId xmlns:a16="http://schemas.microsoft.com/office/drawing/2014/main" id="{247C4289-FCA6-B2E0-88CC-22BA57B1F3B4}"/>
              </a:ext>
            </a:extLst>
          </p:cNvPr>
          <p:cNvSpPr/>
          <p:nvPr/>
        </p:nvSpPr>
        <p:spPr>
          <a:xfrm>
            <a:off x="15924057" y="3020096"/>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MILAN</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58" name="Rectangle: Rounded Corners 54">
            <a:extLst>
              <a:ext uri="{FF2B5EF4-FFF2-40B4-BE49-F238E27FC236}">
                <a16:creationId xmlns:a16="http://schemas.microsoft.com/office/drawing/2014/main" id="{B8DB01DB-A398-51E3-4B68-6D5B1B644258}"/>
              </a:ext>
            </a:extLst>
          </p:cNvPr>
          <p:cNvSpPr/>
          <p:nvPr/>
        </p:nvSpPr>
        <p:spPr>
          <a:xfrm>
            <a:off x="18507017" y="1856147"/>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PARIS</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59" name="Rectangle: Rounded Corners 55">
            <a:extLst>
              <a:ext uri="{FF2B5EF4-FFF2-40B4-BE49-F238E27FC236}">
                <a16:creationId xmlns:a16="http://schemas.microsoft.com/office/drawing/2014/main" id="{4DE3938E-B80D-1A6F-0C07-E6D4E8347732}"/>
              </a:ext>
            </a:extLst>
          </p:cNvPr>
          <p:cNvSpPr/>
          <p:nvPr/>
        </p:nvSpPr>
        <p:spPr>
          <a:xfrm>
            <a:off x="18761339" y="2681316"/>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FRANKFURT</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60" name="Rectangle: Rounded Corners 56">
            <a:extLst>
              <a:ext uri="{FF2B5EF4-FFF2-40B4-BE49-F238E27FC236}">
                <a16:creationId xmlns:a16="http://schemas.microsoft.com/office/drawing/2014/main" id="{D2EBC7BA-4472-E50E-E348-AD4D0943517C}"/>
              </a:ext>
            </a:extLst>
          </p:cNvPr>
          <p:cNvSpPr/>
          <p:nvPr/>
        </p:nvSpPr>
        <p:spPr>
          <a:xfrm>
            <a:off x="19063116" y="3143877"/>
            <a:ext cx="1397114"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LONDON</a:t>
            </a:r>
            <a:endParaRPr kumimoji="0" lang="en-GB" sz="1400" b="1" i="0" u="none" strike="noStrike" kern="1200" cap="none" spc="0" normalizeH="0" baseline="0" noProof="0">
              <a:ln>
                <a:noFill/>
              </a:ln>
              <a:solidFill>
                <a:srgbClr val="000000"/>
              </a:solidFill>
              <a:effectLst/>
              <a:uLnTx/>
              <a:uFillTx/>
              <a:latin typeface="Figtree"/>
              <a:ea typeface="Figtree"/>
              <a:cs typeface="+mn-cs"/>
            </a:endParaRPr>
          </a:p>
        </p:txBody>
      </p:sp>
      <p:sp>
        <p:nvSpPr>
          <p:cNvPr id="61" name="Rectangle: Rounded Corners 57">
            <a:extLst>
              <a:ext uri="{FF2B5EF4-FFF2-40B4-BE49-F238E27FC236}">
                <a16:creationId xmlns:a16="http://schemas.microsoft.com/office/drawing/2014/main" id="{B237ECDB-650F-E928-1BC3-C894C677D332}"/>
              </a:ext>
            </a:extLst>
          </p:cNvPr>
          <p:cNvSpPr/>
          <p:nvPr/>
        </p:nvSpPr>
        <p:spPr>
          <a:xfrm>
            <a:off x="18507017" y="4627936"/>
            <a:ext cx="1953213" cy="483744"/>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FFFFFF"/>
          </a:solidFill>
          <a:ln cap="flat">
            <a:noFill/>
            <a:prstDash val="soli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400" b="1" i="0" u="none" strike="noStrike" kern="1200" cap="none" spc="0" normalizeH="0" baseline="0" noProof="0">
                <a:ln>
                  <a:noFill/>
                </a:ln>
                <a:solidFill>
                  <a:srgbClr val="000000"/>
                </a:solidFill>
                <a:effectLst/>
                <a:uLnTx/>
                <a:uFillTx/>
                <a:latin typeface="Figtree"/>
                <a:ea typeface="Figtree"/>
                <a:cs typeface="+mn-cs"/>
              </a:rPr>
              <a:t>        </a:t>
            </a:r>
            <a:r>
              <a:rPr kumimoji="0" lang="en-US" sz="1400" b="1" i="0" u="none" strike="noStrike" kern="1200" cap="none" spc="0" normalizeH="0" baseline="0" noProof="0">
                <a:ln>
                  <a:noFill/>
                </a:ln>
                <a:solidFill>
                  <a:srgbClr val="C00000"/>
                </a:solidFill>
                <a:effectLst/>
                <a:uLnTx/>
                <a:uFillTx/>
                <a:latin typeface="Figtree"/>
                <a:ea typeface="Figtree"/>
                <a:cs typeface="+mn-cs"/>
              </a:rPr>
              <a:t>AMSTERDAM</a:t>
            </a:r>
            <a:endParaRPr kumimoji="0" lang="en-GB" sz="1400" b="1" i="0" u="none" strike="noStrike" kern="1200" cap="none" spc="0" normalizeH="0" baseline="0" noProof="0">
              <a:ln>
                <a:noFill/>
              </a:ln>
              <a:solidFill>
                <a:srgbClr val="C00000"/>
              </a:solidFill>
              <a:effectLst/>
              <a:uLnTx/>
              <a:uFillTx/>
              <a:latin typeface="Figtree"/>
              <a:ea typeface="Figtree"/>
              <a:cs typeface="+mn-cs"/>
            </a:endParaRPr>
          </a:p>
        </p:txBody>
      </p:sp>
      <p:sp>
        <p:nvSpPr>
          <p:cNvPr id="62" name="Rectangle: Rounded Corners 58">
            <a:extLst>
              <a:ext uri="{FF2B5EF4-FFF2-40B4-BE49-F238E27FC236}">
                <a16:creationId xmlns:a16="http://schemas.microsoft.com/office/drawing/2014/main" id="{E2326420-BE63-082D-79E0-D7D63F68F055}"/>
              </a:ext>
            </a:extLst>
          </p:cNvPr>
          <p:cNvSpPr/>
          <p:nvPr/>
        </p:nvSpPr>
        <p:spPr>
          <a:xfrm>
            <a:off x="13357930" y="5468939"/>
            <a:ext cx="1397114" cy="497197"/>
          </a:xfrm>
          <a:custGeom>
            <a:avLst>
              <a:gd name="f0" fmla="val 10800"/>
            </a:avLst>
            <a:gdLst>
              <a:gd name="f1" fmla="val 10800000"/>
              <a:gd name="f2" fmla="val 5400000"/>
              <a:gd name="f3" fmla="val 16200000"/>
              <a:gd name="f4" fmla="val w"/>
              <a:gd name="f5" fmla="val h"/>
              <a:gd name="f6" fmla="val ss"/>
              <a:gd name="f7" fmla="val 0"/>
              <a:gd name="f8" fmla="*/ 5419351 1 1725033"/>
              <a:gd name="f9" fmla="val 45"/>
              <a:gd name="f10" fmla="val 10800"/>
              <a:gd name="f11" fmla="val -2147483647"/>
              <a:gd name="f12" fmla="val 2147483647"/>
              <a:gd name="f13" fmla="abs f4"/>
              <a:gd name="f14" fmla="abs f5"/>
              <a:gd name="f15" fmla="abs f6"/>
              <a:gd name="f16" fmla="*/ f8 1 180"/>
              <a:gd name="f17" fmla="pin 0 f0 10800"/>
              <a:gd name="f18" fmla="+- 0 0 f2"/>
              <a:gd name="f19" fmla="?: f13 f4 1"/>
              <a:gd name="f20" fmla="?: f14 f5 1"/>
              <a:gd name="f21" fmla="?: f15 f6 1"/>
              <a:gd name="f22" fmla="*/ f9 f16 1"/>
              <a:gd name="f23" fmla="+- f7 f17 0"/>
              <a:gd name="f24" fmla="*/ f19 1 21600"/>
              <a:gd name="f25" fmla="*/ f20 1 21600"/>
              <a:gd name="f26" fmla="*/ 21600 f19 1"/>
              <a:gd name="f27" fmla="*/ 21600 f20 1"/>
              <a:gd name="f28" fmla="+- 0 0 f22"/>
              <a:gd name="f29" fmla="min f25 f24"/>
              <a:gd name="f30" fmla="*/ f26 1 f21"/>
              <a:gd name="f31" fmla="*/ f27 1 f21"/>
              <a:gd name="f32" fmla="*/ f28 f1 1"/>
              <a:gd name="f33" fmla="*/ f32 1 f8"/>
              <a:gd name="f34" fmla="+- f31 0 f17"/>
              <a:gd name="f35" fmla="+- f30 0 f17"/>
              <a:gd name="f36" fmla="*/ f17 f29 1"/>
              <a:gd name="f37" fmla="*/ f7 f29 1"/>
              <a:gd name="f38" fmla="*/ f23 f29 1"/>
              <a:gd name="f39" fmla="*/ f31 f29 1"/>
              <a:gd name="f40" fmla="*/ f30 f29 1"/>
              <a:gd name="f41" fmla="+- f33 0 f2"/>
              <a:gd name="f42" fmla="+- f37 0 f38"/>
              <a:gd name="f43" fmla="+- f38 0 f37"/>
              <a:gd name="f44" fmla="*/ f34 f29 1"/>
              <a:gd name="f45" fmla="*/ f35 f29 1"/>
              <a:gd name="f46" fmla="cos 1 f41"/>
              <a:gd name="f47" fmla="abs f42"/>
              <a:gd name="f48" fmla="abs f43"/>
              <a:gd name="f49" fmla="?: f42 f18 f2"/>
              <a:gd name="f50" fmla="?: f42 f2 f18"/>
              <a:gd name="f51" fmla="?: f42 f3 f2"/>
              <a:gd name="f52" fmla="?: f42 f2 f3"/>
              <a:gd name="f53" fmla="+- f39 0 f44"/>
              <a:gd name="f54" fmla="?: f43 f18 f2"/>
              <a:gd name="f55" fmla="?: f43 f2 f18"/>
              <a:gd name="f56" fmla="+- f40 0 f45"/>
              <a:gd name="f57" fmla="+- f44 0 f39"/>
              <a:gd name="f58" fmla="+- f45 0 f40"/>
              <a:gd name="f59" fmla="?: f42 0 f1"/>
              <a:gd name="f60" fmla="?: f42 f1 0"/>
              <a:gd name="f61" fmla="+- 0 0 f46"/>
              <a:gd name="f62" fmla="?: f42 f52 f51"/>
              <a:gd name="f63" fmla="?: f42 f51 f52"/>
              <a:gd name="f64" fmla="?: f43 f50 f49"/>
              <a:gd name="f65" fmla="abs f53"/>
              <a:gd name="f66" fmla="?: f53 0 f1"/>
              <a:gd name="f67" fmla="?: f53 f1 0"/>
              <a:gd name="f68" fmla="?: f53 f54 f55"/>
              <a:gd name="f69" fmla="abs f56"/>
              <a:gd name="f70" fmla="abs f57"/>
              <a:gd name="f71" fmla="?: f56 f18 f2"/>
              <a:gd name="f72" fmla="?: f56 f2 f18"/>
              <a:gd name="f73" fmla="?: f56 f3 f2"/>
              <a:gd name="f74" fmla="?: f56 f2 f3"/>
              <a:gd name="f75" fmla="abs f58"/>
              <a:gd name="f76" fmla="?: f58 f18 f2"/>
              <a:gd name="f77" fmla="?: f58 f2 f18"/>
              <a:gd name="f78" fmla="?: f58 f60 f59"/>
              <a:gd name="f79" fmla="?: f58 f59 f60"/>
              <a:gd name="f80" fmla="*/ f17 f61 1"/>
              <a:gd name="f81" fmla="?: f43 f63 f62"/>
              <a:gd name="f82" fmla="?: f43 f67 f66"/>
              <a:gd name="f83" fmla="?: f43 f66 f67"/>
              <a:gd name="f84" fmla="?: f56 f74 f73"/>
              <a:gd name="f85" fmla="?: f56 f73 f74"/>
              <a:gd name="f86" fmla="?: f57 f72 f71"/>
              <a:gd name="f87" fmla="?: f42 f78 f79"/>
              <a:gd name="f88" fmla="?: f42 f76 f77"/>
              <a:gd name="f89" fmla="*/ f80 3163 1"/>
              <a:gd name="f90" fmla="?: f53 f82 f83"/>
              <a:gd name="f91" fmla="?: f57 f85 f84"/>
              <a:gd name="f92" fmla="*/ f89 1 7636"/>
              <a:gd name="f93" fmla="+- f7 f92 0"/>
              <a:gd name="f94" fmla="+- f30 0 f92"/>
              <a:gd name="f95" fmla="+- f31 0 f92"/>
              <a:gd name="f96" fmla="*/ f93 f29 1"/>
              <a:gd name="f97" fmla="*/ f94 f29 1"/>
              <a:gd name="f98" fmla="*/ f95 f29 1"/>
            </a:gdLst>
            <a:ahLst>
              <a:ahXY gdRefX="f0" minX="f7" maxX="f10">
                <a:pos x="f36" y="f37"/>
              </a:ahXY>
            </a:ahLst>
            <a:cxnLst>
              <a:cxn ang="3cd4">
                <a:pos x="hc" y="t"/>
              </a:cxn>
              <a:cxn ang="0">
                <a:pos x="r" y="vc"/>
              </a:cxn>
              <a:cxn ang="cd4">
                <a:pos x="hc" y="b"/>
              </a:cxn>
              <a:cxn ang="cd2">
                <a:pos x="l" y="vc"/>
              </a:cxn>
            </a:cxnLst>
            <a:rect l="f96" t="f96" r="f97" b="f98"/>
            <a:pathLst>
              <a:path>
                <a:moveTo>
                  <a:pt x="f38" y="f37"/>
                </a:moveTo>
                <a:arcTo wR="f47" hR="f48" stAng="f81" swAng="f64"/>
                <a:lnTo>
                  <a:pt x="f37" y="f44"/>
                </a:lnTo>
                <a:arcTo wR="f48" hR="f65" stAng="f90" swAng="f68"/>
                <a:lnTo>
                  <a:pt x="f45" y="f39"/>
                </a:lnTo>
                <a:arcTo wR="f69" hR="f70" stAng="f91" swAng="f86"/>
                <a:lnTo>
                  <a:pt x="f40" y="f38"/>
                </a:lnTo>
                <a:arcTo wR="f75" hR="f47" stAng="f87" swAng="f88"/>
                <a:close/>
              </a:path>
            </a:pathLst>
          </a:custGeom>
          <a:solidFill>
            <a:srgbClr val="0A3638"/>
          </a:solidFill>
          <a:ln w="50800" cap="flat">
            <a:solidFill>
              <a:srgbClr val="12BD64"/>
            </a:solidFill>
            <a:prstDash val="solid"/>
            <a:round/>
          </a:ln>
        </p:spPr>
        <p:txBody>
          <a:bodyPr vert="horz" wrap="square" lIns="0" tIns="0" rIns="0" bIns="0" anchor="ctr" anchorCtr="1" compatLnSpc="1">
            <a:noAutofit/>
          </a:bodyPr>
          <a:lstStyle/>
          <a:p>
            <a:pPr marL="0" marR="0" lvl="0" indent="0" algn="ctr" defTabSz="1300477" rtl="0" eaLnBrk="1" fontAlgn="auto" latinLnBrk="0" hangingPunct="0">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en-US" sz="1800" b="1" i="0" u="none" strike="noStrike" kern="1200" cap="none" spc="0" normalizeH="0" baseline="0" noProof="0" dirty="0">
                <a:ln>
                  <a:noFill/>
                </a:ln>
                <a:solidFill>
                  <a:prstClr val="white"/>
                </a:solidFill>
                <a:effectLst/>
                <a:uLnTx/>
                <a:uFillTx/>
                <a:latin typeface="Figtree"/>
                <a:ea typeface="Figtree"/>
                <a:cs typeface="+mn-cs"/>
              </a:rPr>
              <a:t>LISBON</a:t>
            </a:r>
            <a:endParaRPr kumimoji="0" lang="en-GB" sz="1800" b="1" i="0" u="none" strike="noStrike" kern="1200" cap="none" spc="0" normalizeH="0" baseline="0" noProof="0" dirty="0">
              <a:ln>
                <a:noFill/>
              </a:ln>
              <a:solidFill>
                <a:prstClr val="white"/>
              </a:solidFill>
              <a:effectLst/>
              <a:uLnTx/>
              <a:uFillTx/>
              <a:latin typeface="Figtree"/>
              <a:ea typeface="Figtree"/>
              <a:cs typeface="+mn-cs"/>
            </a:endParaRPr>
          </a:p>
        </p:txBody>
      </p:sp>
      <p:pic>
        <p:nvPicPr>
          <p:cNvPr id="63" name="Picture 62">
            <a:extLst>
              <a:ext uri="{FF2B5EF4-FFF2-40B4-BE49-F238E27FC236}">
                <a16:creationId xmlns:a16="http://schemas.microsoft.com/office/drawing/2014/main" id="{439DC256-9A2B-1A52-69E8-96A7491FD437}"/>
              </a:ext>
            </a:extLst>
          </p:cNvPr>
          <p:cNvPicPr>
            <a:picLocks noChangeAspect="1"/>
          </p:cNvPicPr>
          <p:nvPr/>
        </p:nvPicPr>
        <p:blipFill>
          <a:blip r:embed="rId7"/>
          <a:stretch>
            <a:fillRect/>
          </a:stretch>
        </p:blipFill>
        <p:spPr>
          <a:xfrm>
            <a:off x="13195013" y="3641477"/>
            <a:ext cx="376334" cy="376334"/>
          </a:xfrm>
          <a:prstGeom prst="rect">
            <a:avLst/>
          </a:prstGeom>
        </p:spPr>
      </p:pic>
      <p:pic>
        <p:nvPicPr>
          <p:cNvPr id="64" name="Picture 63">
            <a:extLst>
              <a:ext uri="{FF2B5EF4-FFF2-40B4-BE49-F238E27FC236}">
                <a16:creationId xmlns:a16="http://schemas.microsoft.com/office/drawing/2014/main" id="{5E62E5F3-BD14-8147-F4F8-C3E653D3EA6C}"/>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8585622" y="9792366"/>
            <a:ext cx="304800" cy="304800"/>
          </a:xfrm>
          <a:prstGeom prst="rect">
            <a:avLst/>
          </a:prstGeom>
        </p:spPr>
      </p:pic>
      <p:pic>
        <p:nvPicPr>
          <p:cNvPr id="65" name="Picture 64">
            <a:extLst>
              <a:ext uri="{FF2B5EF4-FFF2-40B4-BE49-F238E27FC236}">
                <a16:creationId xmlns:a16="http://schemas.microsoft.com/office/drawing/2014/main" id="{22377E75-4FF2-F02B-03D0-CB7246A3351B}"/>
              </a:ext>
            </a:extLst>
          </p:cNvPr>
          <p:cNvPicPr>
            <a:picLocks noChangeAspect="1"/>
          </p:cNvPicPr>
          <p:nvPr/>
        </p:nvPicPr>
        <p:blipFill>
          <a:blip r:embed="rId8" cstate="email">
            <a:extLst>
              <a:ext uri="{28A0092B-C50C-407E-A947-70E740481C1C}">
                <a14:useLocalDpi xmlns:a14="http://schemas.microsoft.com/office/drawing/2010/main"/>
              </a:ext>
            </a:extLst>
          </a:blip>
          <a:stretch>
            <a:fillRect/>
          </a:stretch>
        </p:blipFill>
        <p:spPr>
          <a:xfrm>
            <a:off x="18691618" y="4713128"/>
            <a:ext cx="304800" cy="304800"/>
          </a:xfrm>
          <a:prstGeom prst="rect">
            <a:avLst/>
          </a:prstGeom>
        </p:spPr>
      </p:pic>
      <p:pic>
        <p:nvPicPr>
          <p:cNvPr id="66" name="Picture 65">
            <a:extLst>
              <a:ext uri="{FF2B5EF4-FFF2-40B4-BE49-F238E27FC236}">
                <a16:creationId xmlns:a16="http://schemas.microsoft.com/office/drawing/2014/main" id="{873078E2-8A37-22DD-4ACD-FC1EC919A639}"/>
              </a:ext>
            </a:extLst>
          </p:cNvPr>
          <p:cNvPicPr>
            <a:picLocks noChangeAspect="1"/>
          </p:cNvPicPr>
          <p:nvPr/>
        </p:nvPicPr>
        <p:blipFill>
          <a:blip r:embed="rId7"/>
          <a:stretch>
            <a:fillRect/>
          </a:stretch>
        </p:blipFill>
        <p:spPr>
          <a:xfrm>
            <a:off x="15186373" y="3631317"/>
            <a:ext cx="376334" cy="376334"/>
          </a:xfrm>
          <a:prstGeom prst="rect">
            <a:avLst/>
          </a:prstGeom>
        </p:spPr>
      </p:pic>
      <p:pic>
        <p:nvPicPr>
          <p:cNvPr id="67" name="Graphic 66">
            <a:extLst>
              <a:ext uri="{FF2B5EF4-FFF2-40B4-BE49-F238E27FC236}">
                <a16:creationId xmlns:a16="http://schemas.microsoft.com/office/drawing/2014/main" id="{D0656C68-6580-D39C-9FD4-3C0450D1B605}"/>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9476324">
            <a:off x="14397979" y="4844171"/>
            <a:ext cx="980859" cy="590068"/>
          </a:xfrm>
          <a:prstGeom prst="rect">
            <a:avLst/>
          </a:prstGeom>
        </p:spPr>
      </p:pic>
      <p:sp>
        <p:nvSpPr>
          <p:cNvPr id="68" name="Title 9">
            <a:extLst>
              <a:ext uri="{FF2B5EF4-FFF2-40B4-BE49-F238E27FC236}">
                <a16:creationId xmlns:a16="http://schemas.microsoft.com/office/drawing/2014/main" id="{2EB6A8AD-4C72-5AE0-70EB-091503ADC4B6}"/>
              </a:ext>
            </a:extLst>
          </p:cNvPr>
          <p:cNvSpPr txBox="1">
            <a:spLocks/>
          </p:cNvSpPr>
          <p:nvPr/>
        </p:nvSpPr>
        <p:spPr>
          <a:xfrm>
            <a:off x="1664131" y="1823596"/>
            <a:ext cx="10123714" cy="2462213"/>
          </a:xfrm>
          <a:prstGeom prst="rect">
            <a:avLst/>
          </a:prstGeom>
        </p:spPr>
        <p:txBody>
          <a:bodyPr vert="horz" lIns="0" tIns="0" rIns="0" bIns="0" rtlCol="0" anchor="ctr">
            <a:spAutoFit/>
          </a:bodyPr>
          <a:lstStyle>
            <a:lvl1pPr algn="l" defTabSz="1828800" rtl="0" eaLnBrk="1" latinLnBrk="0" hangingPunct="1">
              <a:lnSpc>
                <a:spcPct val="90000"/>
              </a:lnSpc>
              <a:spcBef>
                <a:spcPct val="0"/>
              </a:spcBef>
              <a:buNone/>
              <a:defRPr sz="8800" b="1" i="0" kern="1200">
                <a:solidFill>
                  <a:schemeClr val="tx1"/>
                </a:solidFill>
                <a:latin typeface="Figtree SemiBold" pitchFamily="2" charset="0"/>
                <a:ea typeface="+mj-ea"/>
                <a:cs typeface="+mj-cs"/>
              </a:defRPr>
            </a:lvl1pPr>
          </a:lstStyle>
          <a:p>
            <a:pPr>
              <a:lnSpc>
                <a:spcPct val="100000"/>
              </a:lnSpc>
            </a:pPr>
            <a:r>
              <a:rPr lang="en-GB" sz="8000" dirty="0"/>
              <a:t>The rise</a:t>
            </a:r>
          </a:p>
          <a:p>
            <a:pPr>
              <a:lnSpc>
                <a:spcPct val="100000"/>
              </a:lnSpc>
            </a:pPr>
            <a:r>
              <a:rPr lang="en-GB" sz="8000" dirty="0"/>
              <a:t>of </a:t>
            </a:r>
            <a:r>
              <a:rPr lang="en-GB" sz="8000" dirty="0">
                <a:solidFill>
                  <a:srgbClr val="00C159"/>
                </a:solidFill>
              </a:rPr>
              <a:t>Portugal</a:t>
            </a:r>
            <a:endParaRPr lang="en-PT" sz="8000" dirty="0">
              <a:solidFill>
                <a:srgbClr val="00C159"/>
              </a:solidFill>
            </a:endParaRPr>
          </a:p>
        </p:txBody>
      </p:sp>
      <p:cxnSp>
        <p:nvCxnSpPr>
          <p:cNvPr id="69" name="Straight Connector 68">
            <a:extLst>
              <a:ext uri="{FF2B5EF4-FFF2-40B4-BE49-F238E27FC236}">
                <a16:creationId xmlns:a16="http://schemas.microsoft.com/office/drawing/2014/main" id="{F393A049-B112-9A65-17BD-73A6553FC912}"/>
              </a:ext>
            </a:extLst>
          </p:cNvPr>
          <p:cNvCxnSpPr>
            <a:cxnSpLocks/>
          </p:cNvCxnSpPr>
          <p:nvPr/>
        </p:nvCxnSpPr>
        <p:spPr>
          <a:xfrm>
            <a:off x="0" y="5149514"/>
            <a:ext cx="8310622" cy="0"/>
          </a:xfrm>
          <a:prstGeom prst="line">
            <a:avLst/>
          </a:prstGeom>
          <a:ln w="38100">
            <a:solidFill>
              <a:srgbClr val="12BD64"/>
            </a:solidFill>
            <a:tailEnd type="oval" w="med" len="med"/>
          </a:ln>
        </p:spPr>
        <p:style>
          <a:lnRef idx="1">
            <a:schemeClr val="accent6"/>
          </a:lnRef>
          <a:fillRef idx="0">
            <a:schemeClr val="accent6"/>
          </a:fillRef>
          <a:effectRef idx="0">
            <a:schemeClr val="accent6"/>
          </a:effectRef>
          <a:fontRef idx="minor">
            <a:schemeClr val="tx1"/>
          </a:fontRef>
        </p:style>
      </p:cxnSp>
      <p:pic>
        <p:nvPicPr>
          <p:cNvPr id="2" name="Picture 1">
            <a:extLst>
              <a:ext uri="{FF2B5EF4-FFF2-40B4-BE49-F238E27FC236}">
                <a16:creationId xmlns:a16="http://schemas.microsoft.com/office/drawing/2014/main" id="{2C825E0C-23F0-FCCD-5841-7FED969320C5}"/>
              </a:ext>
            </a:extLst>
          </p:cNvPr>
          <p:cNvPicPr>
            <a:picLocks noChangeAspect="1"/>
          </p:cNvPicPr>
          <p:nvPr/>
        </p:nvPicPr>
        <p:blipFill>
          <a:blip r:embed="rId10" cstate="email">
            <a:extLst>
              <a:ext uri="{28A0092B-C50C-407E-A947-70E740481C1C}">
                <a14:useLocalDpi xmlns:a14="http://schemas.microsoft.com/office/drawing/2010/main"/>
              </a:ext>
            </a:extLst>
          </a:blip>
          <a:stretch>
            <a:fillRect/>
          </a:stretch>
        </p:blipFill>
        <p:spPr>
          <a:xfrm>
            <a:off x="0" y="-892"/>
            <a:ext cx="24385587" cy="13716892"/>
          </a:xfrm>
          <a:prstGeom prst="rect">
            <a:avLst/>
          </a:prstGeom>
        </p:spPr>
      </p:pic>
    </p:spTree>
    <p:extLst>
      <p:ext uri="{BB962C8B-B14F-4D97-AF65-F5344CB8AC3E}">
        <p14:creationId xmlns:p14="http://schemas.microsoft.com/office/powerpoint/2010/main" val="5325677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CB0BE-BF7F-E465-6DF6-708A2378F6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9E23D3-8C1A-BBC9-51C5-4D78FD795E03}"/>
              </a:ext>
            </a:extLst>
          </p:cNvPr>
          <p:cNvSpPr>
            <a:spLocks noGrp="1"/>
          </p:cNvSpPr>
          <p:nvPr>
            <p:ph type="ctrTitle"/>
          </p:nvPr>
        </p:nvSpPr>
        <p:spPr>
          <a:xfrm>
            <a:off x="1662221" y="6057780"/>
            <a:ext cx="12078812" cy="2462213"/>
          </a:xfrm>
        </p:spPr>
        <p:txBody>
          <a:bodyPr/>
          <a:lstStyle/>
          <a:p>
            <a:pPr>
              <a:lnSpc>
                <a:spcPct val="100000"/>
              </a:lnSpc>
              <a:spcBef>
                <a:spcPts val="0"/>
              </a:spcBef>
              <a:defRPr sz="1800" b="0" i="0" u="none" strike="noStrike" kern="0" cap="none" spc="0" baseline="0">
                <a:solidFill>
                  <a:srgbClr val="000000"/>
                </a:solidFill>
                <a:uFillTx/>
              </a:defRPr>
            </a:pPr>
            <a:r>
              <a:rPr lang="tr-TR" sz="8000" dirty="0" err="1">
                <a:solidFill>
                  <a:schemeClr val="bg1"/>
                </a:solidFill>
              </a:rPr>
              <a:t>What</a:t>
            </a:r>
            <a:r>
              <a:rPr lang="tr-TR" sz="8000" dirty="0">
                <a:solidFill>
                  <a:schemeClr val="bg1"/>
                </a:solidFill>
              </a:rPr>
              <a:t> </a:t>
            </a:r>
            <a:r>
              <a:rPr lang="tr-TR" sz="8000" dirty="0" err="1">
                <a:solidFill>
                  <a:schemeClr val="bg1"/>
                </a:solidFill>
              </a:rPr>
              <a:t>are</a:t>
            </a:r>
            <a:r>
              <a:rPr lang="tr-TR" sz="8000" dirty="0">
                <a:solidFill>
                  <a:schemeClr val="bg1"/>
                </a:solidFill>
              </a:rPr>
              <a:t> </a:t>
            </a:r>
            <a:r>
              <a:rPr lang="tr-TR" sz="8000" dirty="0" err="1">
                <a:solidFill>
                  <a:schemeClr val="bg1"/>
                </a:solidFill>
              </a:rPr>
              <a:t>we</a:t>
            </a:r>
            <a:r>
              <a:rPr lang="tr-TR" sz="8000" dirty="0">
                <a:solidFill>
                  <a:schemeClr val="bg1"/>
                </a:solidFill>
              </a:rPr>
              <a:t> </a:t>
            </a:r>
            <a:r>
              <a:rPr lang="tr-TR" sz="8000" dirty="0" err="1">
                <a:solidFill>
                  <a:schemeClr val="bg1"/>
                </a:solidFill>
              </a:rPr>
              <a:t>building</a:t>
            </a:r>
            <a:r>
              <a:rPr lang="tr-TR" sz="8000" dirty="0">
                <a:solidFill>
                  <a:schemeClr val="bg1"/>
                </a:solidFill>
              </a:rPr>
              <a:t> at</a:t>
            </a:r>
            <a:r>
              <a:rPr lang="tr-TR" sz="8000" dirty="0">
                <a:solidFill>
                  <a:srgbClr val="1C1C1C"/>
                </a:solidFill>
              </a:rPr>
              <a:t> </a:t>
            </a:r>
            <a:r>
              <a:rPr lang="tr-TR" sz="8000" u="none" strike="noStrike" kern="1200" cap="none" spc="0" baseline="0" dirty="0" err="1">
                <a:solidFill>
                  <a:srgbClr val="12BD64"/>
                </a:solidFill>
                <a:uFillTx/>
                <a:ea typeface="Figtree Bold" pitchFamily="34"/>
              </a:rPr>
              <a:t>Sines</a:t>
            </a:r>
            <a:r>
              <a:rPr lang="tr-TR" sz="8000" u="none" strike="noStrike" kern="1200" cap="none" spc="0" baseline="0" dirty="0">
                <a:solidFill>
                  <a:srgbClr val="12BD64"/>
                </a:solidFill>
                <a:uFillTx/>
                <a:ea typeface="Figtree Bold" pitchFamily="34"/>
              </a:rPr>
              <a:t> </a:t>
            </a:r>
            <a:r>
              <a:rPr lang="tr-TR" sz="8000" u="none" strike="noStrike" kern="1200" cap="none" spc="0" baseline="0" dirty="0" err="1">
                <a:solidFill>
                  <a:srgbClr val="12BD64"/>
                </a:solidFill>
                <a:uFillTx/>
                <a:ea typeface="Figtree Bold" pitchFamily="34"/>
              </a:rPr>
              <a:t>Campus</a:t>
            </a:r>
            <a:r>
              <a:rPr lang="tr-TR" sz="8000" dirty="0">
                <a:solidFill>
                  <a:schemeClr val="bg1"/>
                </a:solidFill>
                <a:ea typeface="Figtree Bold" pitchFamily="34"/>
              </a:rPr>
              <a:t>?</a:t>
            </a:r>
            <a:endParaRPr lang="en-US" sz="8000" dirty="0">
              <a:solidFill>
                <a:schemeClr val="bg1"/>
              </a:solidFill>
              <a:ea typeface="+mn-ea"/>
              <a:cs typeface="+mn-cs"/>
            </a:endParaRPr>
          </a:p>
        </p:txBody>
      </p:sp>
      <p:pic>
        <p:nvPicPr>
          <p:cNvPr id="8" name="Picture Placeholder 7" descr="A green and grey map of the world&#10;&#10;Description automatically generated">
            <a:extLst>
              <a:ext uri="{FF2B5EF4-FFF2-40B4-BE49-F238E27FC236}">
                <a16:creationId xmlns:a16="http://schemas.microsoft.com/office/drawing/2014/main" id="{A7656B3C-C457-7667-2380-878CBEEAD849}"/>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a:stretch/>
        </p:blipFill>
        <p:spPr>
          <a:prstGeom prst="rect">
            <a:avLst/>
          </a:prstGeom>
        </p:spPr>
      </p:pic>
    </p:spTree>
    <p:extLst>
      <p:ext uri="{BB962C8B-B14F-4D97-AF65-F5344CB8AC3E}">
        <p14:creationId xmlns:p14="http://schemas.microsoft.com/office/powerpoint/2010/main" val="16286030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6BEDA-2CAC-14BE-C844-93420B951B75}"/>
              </a:ext>
            </a:extLst>
          </p:cNvPr>
          <p:cNvSpPr>
            <a:spLocks noGrp="1"/>
          </p:cNvSpPr>
          <p:nvPr>
            <p:ph type="title" idx="4294967295"/>
          </p:nvPr>
        </p:nvSpPr>
        <p:spPr>
          <a:xfrm>
            <a:off x="1576387" y="717548"/>
            <a:ext cx="18091148" cy="943848"/>
          </a:xfrm>
        </p:spPr>
        <p:txBody>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r>
              <a:rPr lang="en-US" sz="4800" b="1" dirty="0">
                <a:solidFill>
                  <a:srgbClr val="00C159"/>
                </a:solidFill>
                <a:latin typeface="Figtree SemiBold" pitchFamily="2" charset="0"/>
              </a:rPr>
              <a:t>SINES DC | </a:t>
            </a:r>
            <a:r>
              <a:rPr lang="en-US" sz="4800" b="1" dirty="0">
                <a:solidFill>
                  <a:schemeClr val="tx1"/>
                </a:solidFill>
                <a:latin typeface="Figtree SemiBold" pitchFamily="2" charset="0"/>
              </a:rPr>
              <a:t>Transforming vision into scale </a:t>
            </a:r>
            <a:endParaRPr lang="en-GB" sz="4800" b="1" dirty="0">
              <a:solidFill>
                <a:schemeClr val="tx1"/>
              </a:solidFill>
              <a:latin typeface="Figtree SemiBold" pitchFamily="2" charset="0"/>
            </a:endParaRPr>
          </a:p>
        </p:txBody>
      </p:sp>
      <p:sp>
        <p:nvSpPr>
          <p:cNvPr id="2087" name="Text Placeholder 5">
            <a:extLst>
              <a:ext uri="{FF2B5EF4-FFF2-40B4-BE49-F238E27FC236}">
                <a16:creationId xmlns:a16="http://schemas.microsoft.com/office/drawing/2014/main" id="{429E120A-0D70-07CE-B7F1-AFFCC8914546}"/>
              </a:ext>
            </a:extLst>
          </p:cNvPr>
          <p:cNvSpPr>
            <a:spLocks noGrp="1"/>
          </p:cNvSpPr>
          <p:nvPr>
            <p:ph type="body" idx="4294967295"/>
          </p:nvPr>
        </p:nvSpPr>
        <p:spPr>
          <a:xfrm>
            <a:off x="1658937" y="1647138"/>
            <a:ext cx="13523913" cy="505512"/>
          </a:xfrm>
        </p:spPr>
        <p:txBody>
          <a:bodyPr lIns="0" tIns="0" rIns="0" bIns="0">
            <a:no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r>
              <a:rPr lang="en-US" dirty="0">
                <a:latin typeface="Figtree" pitchFamily="2" charset="0"/>
              </a:rPr>
              <a:t>The rise and future of Europe’s largest data center</a:t>
            </a:r>
          </a:p>
        </p:txBody>
      </p:sp>
      <p:pic>
        <p:nvPicPr>
          <p:cNvPr id="16" name="Picture 15">
            <a:extLst>
              <a:ext uri="{FF2B5EF4-FFF2-40B4-BE49-F238E27FC236}">
                <a16:creationId xmlns:a16="http://schemas.microsoft.com/office/drawing/2014/main" id="{8D93B2C4-9D88-0FA0-6110-722C845E787B}"/>
              </a:ext>
            </a:extLst>
          </p:cNvPr>
          <p:cNvPicPr>
            <a:picLocks noChangeAspect="1"/>
          </p:cNvPicPr>
          <p:nvPr/>
        </p:nvPicPr>
        <p:blipFill rotWithShape="1">
          <a:blip r:embed="rId3" cstate="email">
            <a:alphaModFix amt="50000"/>
            <a:extLst>
              <a:ext uri="{28A0092B-C50C-407E-A947-70E740481C1C}">
                <a14:useLocalDpi xmlns:a14="http://schemas.microsoft.com/office/drawing/2010/main"/>
              </a:ext>
            </a:extLst>
          </a:blip>
          <a:srcRect/>
          <a:stretch/>
        </p:blipFill>
        <p:spPr>
          <a:xfrm>
            <a:off x="1734492" y="2787055"/>
            <a:ext cx="2755344" cy="3641130"/>
          </a:xfrm>
          <a:prstGeom prst="rect">
            <a:avLst/>
          </a:prstGeom>
          <a:ln w="19050">
            <a:solidFill>
              <a:srgbClr val="DFEEC4"/>
            </a:solidFill>
          </a:ln>
        </p:spPr>
      </p:pic>
      <p:sp>
        <p:nvSpPr>
          <p:cNvPr id="17" name="TextBox 16">
            <a:extLst>
              <a:ext uri="{FF2B5EF4-FFF2-40B4-BE49-F238E27FC236}">
                <a16:creationId xmlns:a16="http://schemas.microsoft.com/office/drawing/2014/main" id="{A6C15B3B-31F6-81B8-DD5B-38BB832E2984}"/>
              </a:ext>
            </a:extLst>
          </p:cNvPr>
          <p:cNvSpPr txBox="1"/>
          <p:nvPr/>
        </p:nvSpPr>
        <p:spPr>
          <a:xfrm>
            <a:off x="2322786" y="5442214"/>
            <a:ext cx="1115510" cy="523220"/>
          </a:xfrm>
          <a:prstGeom prst="rect">
            <a:avLst/>
          </a:prstGeom>
          <a:noFill/>
        </p:spPr>
        <p:txBody>
          <a:bodyPr wrap="square">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r>
              <a:rPr lang="en-US" sz="1400" dirty="0">
                <a:solidFill>
                  <a:schemeClr val="bg1">
                    <a:lumMod val="50000"/>
                  </a:schemeClr>
                </a:solidFill>
                <a:latin typeface="Ubuntu Light" panose="020B0304030602030204" pitchFamily="34" charset="0"/>
              </a:rPr>
              <a:t>Sines, </a:t>
            </a:r>
            <a:br>
              <a:rPr lang="en-US" sz="1400" dirty="0">
                <a:solidFill>
                  <a:schemeClr val="bg1">
                    <a:lumMod val="50000"/>
                  </a:schemeClr>
                </a:solidFill>
                <a:latin typeface="Ubuntu Light" panose="020B0304030602030204" pitchFamily="34" charset="0"/>
              </a:rPr>
            </a:br>
            <a:r>
              <a:rPr lang="en-US" sz="1400" dirty="0">
                <a:solidFill>
                  <a:schemeClr val="bg1">
                    <a:lumMod val="50000"/>
                  </a:schemeClr>
                </a:solidFill>
                <a:latin typeface="Ubuntu Light" panose="020B0304030602030204" pitchFamily="34" charset="0"/>
              </a:rPr>
              <a:t>Portugal</a:t>
            </a:r>
            <a:endParaRPr lang="en-GB" sz="1400" dirty="0"/>
          </a:p>
        </p:txBody>
      </p:sp>
      <p:sp>
        <p:nvSpPr>
          <p:cNvPr id="13" name="Oval 12">
            <a:extLst>
              <a:ext uri="{FF2B5EF4-FFF2-40B4-BE49-F238E27FC236}">
                <a16:creationId xmlns:a16="http://schemas.microsoft.com/office/drawing/2014/main" id="{155A4D06-BDC3-43F4-E7C7-72F8AE948838}"/>
              </a:ext>
            </a:extLst>
          </p:cNvPr>
          <p:cNvSpPr/>
          <p:nvPr/>
        </p:nvSpPr>
        <p:spPr>
          <a:xfrm>
            <a:off x="1874318" y="5578959"/>
            <a:ext cx="196690" cy="196690"/>
          </a:xfrm>
          <a:prstGeom prst="ellipse">
            <a:avLst/>
          </a:prstGeom>
          <a:solidFill>
            <a:srgbClr val="00C159"/>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a:endParaRPr lang="en-GB" sz="8036"/>
          </a:p>
        </p:txBody>
      </p:sp>
      <p:sp>
        <p:nvSpPr>
          <p:cNvPr id="18" name="Arrow: Pentagon 17">
            <a:extLst>
              <a:ext uri="{FF2B5EF4-FFF2-40B4-BE49-F238E27FC236}">
                <a16:creationId xmlns:a16="http://schemas.microsoft.com/office/drawing/2014/main" id="{3EB9BE46-5177-AC6F-7063-C1CA1746E333}"/>
              </a:ext>
            </a:extLst>
          </p:cNvPr>
          <p:cNvSpPr/>
          <p:nvPr/>
        </p:nvSpPr>
        <p:spPr>
          <a:xfrm>
            <a:off x="1650380" y="6742176"/>
            <a:ext cx="21187318" cy="713232"/>
          </a:xfrm>
          <a:prstGeom prst="homePlate">
            <a:avLst/>
          </a:prstGeom>
          <a:solidFill>
            <a:srgbClr val="0A36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ctr"/>
            <a:endParaRPr lang="en-GB" sz="8036"/>
          </a:p>
        </p:txBody>
      </p:sp>
      <p:graphicFrame>
        <p:nvGraphicFramePr>
          <p:cNvPr id="19" name="Table 18">
            <a:extLst>
              <a:ext uri="{FF2B5EF4-FFF2-40B4-BE49-F238E27FC236}">
                <a16:creationId xmlns:a16="http://schemas.microsoft.com/office/drawing/2014/main" id="{C2AF7774-8DE1-CF07-5769-0D526F62AC62}"/>
              </a:ext>
            </a:extLst>
          </p:cNvPr>
          <p:cNvGraphicFramePr>
            <a:graphicFrameLocks noGrp="1"/>
          </p:cNvGraphicFramePr>
          <p:nvPr>
            <p:extLst>
              <p:ext uri="{D42A27DB-BD31-4B8C-83A1-F6EECF244321}">
                <p14:modId xmlns:p14="http://schemas.microsoft.com/office/powerpoint/2010/main" val="1696396846"/>
              </p:ext>
            </p:extLst>
          </p:nvPr>
        </p:nvGraphicFramePr>
        <p:xfrm>
          <a:off x="1761893" y="6835673"/>
          <a:ext cx="21566460" cy="741680"/>
        </p:xfrm>
        <a:graphic>
          <a:graphicData uri="http://schemas.openxmlformats.org/drawingml/2006/table">
            <a:tbl>
              <a:tblPr firstRow="1" bandRow="1">
                <a:tableStyleId>{5C22544A-7EE6-4342-B048-85BDC9FD1C3A}</a:tableStyleId>
              </a:tblPr>
              <a:tblGrid>
                <a:gridCol w="3594410">
                  <a:extLst>
                    <a:ext uri="{9D8B030D-6E8A-4147-A177-3AD203B41FA5}">
                      <a16:colId xmlns:a16="http://schemas.microsoft.com/office/drawing/2014/main" val="1786863619"/>
                    </a:ext>
                  </a:extLst>
                </a:gridCol>
                <a:gridCol w="3594410">
                  <a:extLst>
                    <a:ext uri="{9D8B030D-6E8A-4147-A177-3AD203B41FA5}">
                      <a16:colId xmlns:a16="http://schemas.microsoft.com/office/drawing/2014/main" val="1205978022"/>
                    </a:ext>
                  </a:extLst>
                </a:gridCol>
                <a:gridCol w="3594410">
                  <a:extLst>
                    <a:ext uri="{9D8B030D-6E8A-4147-A177-3AD203B41FA5}">
                      <a16:colId xmlns:a16="http://schemas.microsoft.com/office/drawing/2014/main" val="2083021824"/>
                    </a:ext>
                  </a:extLst>
                </a:gridCol>
                <a:gridCol w="3594410">
                  <a:extLst>
                    <a:ext uri="{9D8B030D-6E8A-4147-A177-3AD203B41FA5}">
                      <a16:colId xmlns:a16="http://schemas.microsoft.com/office/drawing/2014/main" val="2023738506"/>
                    </a:ext>
                  </a:extLst>
                </a:gridCol>
                <a:gridCol w="3594410">
                  <a:extLst>
                    <a:ext uri="{9D8B030D-6E8A-4147-A177-3AD203B41FA5}">
                      <a16:colId xmlns:a16="http://schemas.microsoft.com/office/drawing/2014/main" val="1558648536"/>
                    </a:ext>
                  </a:extLst>
                </a:gridCol>
                <a:gridCol w="3594410">
                  <a:extLst>
                    <a:ext uri="{9D8B030D-6E8A-4147-A177-3AD203B41FA5}">
                      <a16:colId xmlns:a16="http://schemas.microsoft.com/office/drawing/2014/main" val="3479559249"/>
                    </a:ext>
                  </a:extLst>
                </a:gridCol>
              </a:tblGrid>
              <a:tr h="741680">
                <a:tc>
                  <a:txBody>
                    <a:bodyPr/>
                    <a:lstStyle/>
                    <a:p>
                      <a:pPr algn="ctr"/>
                      <a:r>
                        <a:rPr lang="en-US" sz="2400" dirty="0">
                          <a:latin typeface="Figtree" pitchFamily="2" charset="0"/>
                        </a:rPr>
                        <a:t>2020</a:t>
                      </a:r>
                      <a:endParaRPr lang="en-GB" sz="2400" dirty="0">
                        <a:latin typeface="Figtree" pitchFamily="2" charset="0"/>
                      </a:endParaRPr>
                    </a:p>
                  </a:txBody>
                  <a:tcPr marL="182880" marR="182880" marT="91440" marB="9144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400" dirty="0">
                          <a:latin typeface="Figtree" pitchFamily="2" charset="0"/>
                        </a:rPr>
                        <a:t>2021</a:t>
                      </a:r>
                      <a:endParaRPr lang="en-GB" sz="2400" dirty="0">
                        <a:latin typeface="Figtree" pitchFamily="2" charset="0"/>
                      </a:endParaRPr>
                    </a:p>
                  </a:txBody>
                  <a:tcPr marL="182880" marR="182880" marT="91440" marB="9144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400" dirty="0">
                          <a:latin typeface="Figtree" pitchFamily="2" charset="0"/>
                        </a:rPr>
                        <a:t>2022</a:t>
                      </a:r>
                      <a:endParaRPr lang="en-GB" sz="2400" dirty="0">
                        <a:latin typeface="Figtree" pitchFamily="2" charset="0"/>
                      </a:endParaRPr>
                    </a:p>
                  </a:txBody>
                  <a:tcPr marL="182880" marR="182880" marT="91440" marB="9144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400">
                          <a:latin typeface="Figtree" pitchFamily="2" charset="0"/>
                        </a:rPr>
                        <a:t>2023</a:t>
                      </a:r>
                      <a:endParaRPr lang="en-GB" sz="2400">
                        <a:latin typeface="Figtree" pitchFamily="2" charset="0"/>
                      </a:endParaRPr>
                    </a:p>
                  </a:txBody>
                  <a:tcPr marL="182880" marR="182880" marT="91440" marB="9144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US" sz="2400" dirty="0">
                          <a:solidFill>
                            <a:srgbClr val="00C159"/>
                          </a:solidFill>
                          <a:latin typeface="Figtree" pitchFamily="2" charset="0"/>
                        </a:rPr>
                        <a:t>2024</a:t>
                      </a:r>
                      <a:endParaRPr lang="en-GB" sz="2400" dirty="0">
                        <a:solidFill>
                          <a:srgbClr val="00C159"/>
                        </a:solidFill>
                        <a:latin typeface="Figtree" pitchFamily="2" charset="0"/>
                      </a:endParaRPr>
                    </a:p>
                  </a:txBody>
                  <a:tcPr marL="182880" marR="182880" marT="91440" marB="9144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l"/>
                      <a:r>
                        <a:rPr lang="en-US" sz="2400" dirty="0">
                          <a:latin typeface="Figtree" pitchFamily="2" charset="0"/>
                        </a:rPr>
                        <a:t>Beyond</a:t>
                      </a:r>
                      <a:endParaRPr lang="en-GB" sz="2400" dirty="0">
                        <a:latin typeface="Figtree" pitchFamily="2" charset="0"/>
                      </a:endParaRPr>
                    </a:p>
                  </a:txBody>
                  <a:tcPr marL="182880" marR="182880" marT="91440" marB="9144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373152852"/>
                  </a:ext>
                </a:extLst>
              </a:tr>
            </a:tbl>
          </a:graphicData>
        </a:graphic>
      </p:graphicFrame>
      <p:cxnSp>
        <p:nvCxnSpPr>
          <p:cNvPr id="21" name="Straight Connector 20">
            <a:extLst>
              <a:ext uri="{FF2B5EF4-FFF2-40B4-BE49-F238E27FC236}">
                <a16:creationId xmlns:a16="http://schemas.microsoft.com/office/drawing/2014/main" id="{C6EF2412-EEED-48DE-F851-9CC633AA106A}"/>
              </a:ext>
            </a:extLst>
          </p:cNvPr>
          <p:cNvCxnSpPr>
            <a:cxnSpLocks/>
          </p:cNvCxnSpPr>
          <p:nvPr/>
        </p:nvCxnSpPr>
        <p:spPr>
          <a:xfrm>
            <a:off x="17395119" y="6095006"/>
            <a:ext cx="0" cy="648000"/>
          </a:xfrm>
          <a:prstGeom prst="line">
            <a:avLst/>
          </a:prstGeom>
          <a:ln w="38100">
            <a:solidFill>
              <a:srgbClr val="00C159"/>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pic>
        <p:nvPicPr>
          <p:cNvPr id="26" name="Picture 25">
            <a:extLst>
              <a:ext uri="{FF2B5EF4-FFF2-40B4-BE49-F238E27FC236}">
                <a16:creationId xmlns:a16="http://schemas.microsoft.com/office/drawing/2014/main" id="{05810010-001C-60B3-9EF9-A38BFCFDE105}"/>
              </a:ext>
            </a:extLst>
          </p:cNvPr>
          <p:cNvPicPr>
            <a:picLocks noChangeAspect="1"/>
          </p:cNvPicPr>
          <p:nvPr/>
        </p:nvPicPr>
        <p:blipFill rotWithShape="1">
          <a:blip r:embed="rId4"/>
          <a:srcRect l="3715" r="7354"/>
          <a:stretch/>
        </p:blipFill>
        <p:spPr>
          <a:xfrm>
            <a:off x="6185404" y="7930726"/>
            <a:ext cx="3276096" cy="2509895"/>
          </a:xfrm>
          <a:prstGeom prst="rect">
            <a:avLst/>
          </a:prstGeom>
          <a:solidFill>
            <a:srgbClr val="DFEEC4"/>
          </a:solidFill>
          <a:ln w="19050">
            <a:noFill/>
          </a:ln>
        </p:spPr>
      </p:pic>
      <p:pic>
        <p:nvPicPr>
          <p:cNvPr id="6" name="Picture 5" descr="An aerial view of a factory&#10;&#10;Description automatically generated">
            <a:extLst>
              <a:ext uri="{FF2B5EF4-FFF2-40B4-BE49-F238E27FC236}">
                <a16:creationId xmlns:a16="http://schemas.microsoft.com/office/drawing/2014/main" id="{24158E42-6152-B125-30AE-FF70AFAF3C19}"/>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6205281" y="10543866"/>
            <a:ext cx="3272859" cy="1857684"/>
          </a:xfrm>
          <a:prstGeom prst="rect">
            <a:avLst/>
          </a:prstGeom>
          <a:solidFill>
            <a:srgbClr val="DFEEC4"/>
          </a:solidFill>
          <a:ln w="19050">
            <a:noFill/>
          </a:ln>
        </p:spPr>
      </p:pic>
      <p:sp>
        <p:nvSpPr>
          <p:cNvPr id="7" name="Rectangle 6">
            <a:extLst>
              <a:ext uri="{FF2B5EF4-FFF2-40B4-BE49-F238E27FC236}">
                <a16:creationId xmlns:a16="http://schemas.microsoft.com/office/drawing/2014/main" id="{6E47AFC0-D051-3FAF-7F69-3C75535CA2FA}"/>
              </a:ext>
            </a:extLst>
          </p:cNvPr>
          <p:cNvSpPr/>
          <p:nvPr/>
        </p:nvSpPr>
        <p:spPr>
          <a:xfrm>
            <a:off x="14998262" y="2806261"/>
            <a:ext cx="8008883" cy="3310759"/>
          </a:xfrm>
          <a:prstGeom prst="rect">
            <a:avLst/>
          </a:prstGeom>
          <a:solidFill>
            <a:srgbClr val="0A3638">
              <a:alpha val="3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l"/>
            <a:r>
              <a:rPr lang="en-US" sz="2000" b="1" dirty="0">
                <a:solidFill>
                  <a:srgbClr val="002D4A"/>
                </a:solidFill>
                <a:latin typeface="Figtree" pitchFamily="2" charset="0"/>
              </a:rPr>
              <a:t>Scaling the vision for a larger future</a:t>
            </a:r>
            <a:r>
              <a:rPr lang="en-US" sz="2000" b="1" dirty="0">
                <a:solidFill>
                  <a:srgbClr val="022131"/>
                </a:solidFill>
                <a:latin typeface="Figtree" pitchFamily="2" charset="0"/>
              </a:rPr>
              <a:t> </a:t>
            </a:r>
          </a:p>
          <a:p>
            <a:pPr algn="l"/>
            <a:endParaRPr lang="en-US" sz="2000" dirty="0">
              <a:solidFill>
                <a:srgbClr val="022131"/>
              </a:solidFill>
              <a:latin typeface="Figtree" pitchFamily="2" charset="0"/>
            </a:endParaRPr>
          </a:p>
          <a:p>
            <a:pPr marL="184150" indent="-184150">
              <a:buFont typeface="Arial" panose="020B0604020202020204" pitchFamily="34" charset="0"/>
              <a:buChar char="•"/>
            </a:pPr>
            <a:r>
              <a:rPr lang="en-US" sz="2000" b="1" dirty="0">
                <a:solidFill>
                  <a:srgbClr val="00C159"/>
                </a:solidFill>
                <a:latin typeface="Figtree" pitchFamily="2" charset="0"/>
              </a:rPr>
              <a:t>Power: </a:t>
            </a:r>
          </a:p>
          <a:p>
            <a:pPr marL="533400" lvl="1" indent="-168276">
              <a:buFont typeface="Arial" panose="020B0604020202020204" pitchFamily="34" charset="0"/>
              <a:buChar char="•"/>
            </a:pPr>
            <a:r>
              <a:rPr lang="en-US" sz="2000" dirty="0">
                <a:solidFill>
                  <a:schemeClr val="tx1"/>
                </a:solidFill>
                <a:latin typeface="Figtree" pitchFamily="2" charset="0"/>
              </a:rPr>
              <a:t>Additional power access award brings total IT capacity secured to 1.2GW</a:t>
            </a:r>
          </a:p>
          <a:p>
            <a:pPr marL="533400" lvl="1" indent="-168276">
              <a:buFont typeface="Arial" panose="020B0604020202020204" pitchFamily="34" charset="0"/>
              <a:buChar char="•"/>
            </a:pPr>
            <a:r>
              <a:rPr lang="en-US" sz="2000" dirty="0">
                <a:solidFill>
                  <a:schemeClr val="tx1"/>
                </a:solidFill>
                <a:latin typeface="Figtree" pitchFamily="2" charset="0"/>
              </a:rPr>
              <a:t>Placed €20mm order on Siemens Energy transformers for expanded capacity </a:t>
            </a:r>
          </a:p>
          <a:p>
            <a:pPr marL="184150" indent="-184150">
              <a:buFont typeface="Arial" panose="020B0604020202020204" pitchFamily="34" charset="0"/>
              <a:buChar char="•"/>
            </a:pPr>
            <a:r>
              <a:rPr lang="en-US" sz="2000" b="1" dirty="0">
                <a:solidFill>
                  <a:srgbClr val="00C159"/>
                </a:solidFill>
                <a:latin typeface="Figtree" pitchFamily="2" charset="0"/>
              </a:rPr>
              <a:t>Operations: </a:t>
            </a:r>
          </a:p>
          <a:p>
            <a:pPr marL="533400" lvl="1" indent="-168276">
              <a:buFont typeface="Arial" panose="020B0604020202020204" pitchFamily="34" charset="0"/>
              <a:buChar char="•"/>
            </a:pPr>
            <a:r>
              <a:rPr lang="en-US" sz="2000" dirty="0">
                <a:solidFill>
                  <a:schemeClr val="tx1"/>
                </a:solidFill>
                <a:latin typeface="Figtree" pitchFamily="2" charset="0"/>
              </a:rPr>
              <a:t>RFS of first 14MW in Q4-24</a:t>
            </a:r>
          </a:p>
          <a:p>
            <a:pPr marL="533400" lvl="1" indent="-168276">
              <a:buFont typeface="Arial" panose="020B0604020202020204" pitchFamily="34" charset="0"/>
              <a:buChar char="•"/>
            </a:pPr>
            <a:r>
              <a:rPr lang="en-US" sz="2000" dirty="0">
                <a:solidFill>
                  <a:schemeClr val="tx1"/>
                </a:solidFill>
                <a:latin typeface="Figtree" pitchFamily="2" charset="0"/>
              </a:rPr>
              <a:t>Demonstrated AI readiness with 7MW liquid cooled deployment</a:t>
            </a:r>
          </a:p>
        </p:txBody>
      </p:sp>
      <p:pic>
        <p:nvPicPr>
          <p:cNvPr id="38" name="Picture 37" descr="A large warehouse with many white boxes&#10;&#10;Description automatically generated with medium confidence">
            <a:extLst>
              <a:ext uri="{FF2B5EF4-FFF2-40B4-BE49-F238E27FC236}">
                <a16:creationId xmlns:a16="http://schemas.microsoft.com/office/drawing/2014/main" id="{07C19EDA-92D8-2748-C49B-03FE8097128B}"/>
              </a:ext>
            </a:extLst>
          </p:cNvPr>
          <p:cNvPicPr>
            <a:picLocks noChangeAspect="1"/>
          </p:cNvPicPr>
          <p:nvPr/>
        </p:nvPicPr>
        <p:blipFill>
          <a:blip r:embed="rId6" cstate="email">
            <a:extLst>
              <a:ext uri="{28A0092B-C50C-407E-A947-70E740481C1C}">
                <a14:useLocalDpi xmlns:a14="http://schemas.microsoft.com/office/drawing/2010/main"/>
              </a:ext>
            </a:extLst>
          </a:blip>
          <a:stretch>
            <a:fillRect/>
          </a:stretch>
        </p:blipFill>
        <p:spPr>
          <a:xfrm>
            <a:off x="13560375" y="9840961"/>
            <a:ext cx="3475599" cy="2606698"/>
          </a:xfrm>
          <a:prstGeom prst="rect">
            <a:avLst/>
          </a:prstGeom>
          <a:ln w="19050">
            <a:noFill/>
          </a:ln>
        </p:spPr>
      </p:pic>
      <p:pic>
        <p:nvPicPr>
          <p:cNvPr id="9" name="Picture 4">
            <a:extLst>
              <a:ext uri="{FF2B5EF4-FFF2-40B4-BE49-F238E27FC236}">
                <a16:creationId xmlns:a16="http://schemas.microsoft.com/office/drawing/2014/main" id="{65FE7A61-499B-77BA-1158-10661EF37456}"/>
              </a:ext>
            </a:extLst>
          </p:cNvPr>
          <p:cNvPicPr>
            <a:picLocks noChangeAspect="1" noChangeArrowheads="1"/>
          </p:cNvPicPr>
          <p:nvPr/>
        </p:nvPicPr>
        <p:blipFill rotWithShape="1">
          <a:blip r:embed="rId7" cstate="email">
            <a:extLst>
              <a:ext uri="{28A0092B-C50C-407E-A947-70E740481C1C}">
                <a14:useLocalDpi xmlns:a14="http://schemas.microsoft.com/office/drawing/2010/main"/>
              </a:ext>
            </a:extLst>
          </a:blip>
          <a:srcRect/>
          <a:stretch/>
        </p:blipFill>
        <p:spPr bwMode="auto">
          <a:xfrm>
            <a:off x="13560084" y="8082746"/>
            <a:ext cx="3504027" cy="1652975"/>
          </a:xfrm>
          <a:prstGeom prst="rect">
            <a:avLst/>
          </a:prstGeom>
          <a:ln w="19050">
            <a:noFill/>
          </a:ln>
          <a:extLst>
            <a:ext uri="{909E8E84-426E-40DD-AFC4-6F175D3DCCD1}">
              <a14:hiddenFill xmlns:a14="http://schemas.microsoft.com/office/drawing/2010/main">
                <a:solidFill>
                  <a:srgbClr val="FFFFFF"/>
                </a:solidFill>
              </a14:hiddenFill>
            </a:ext>
          </a:extLst>
        </p:spPr>
      </p:pic>
      <p:cxnSp>
        <p:nvCxnSpPr>
          <p:cNvPr id="44" name="Straight Connector 43">
            <a:extLst>
              <a:ext uri="{FF2B5EF4-FFF2-40B4-BE49-F238E27FC236}">
                <a16:creationId xmlns:a16="http://schemas.microsoft.com/office/drawing/2014/main" id="{5EC59E41-2194-EC46-A35B-5135A5818E08}"/>
              </a:ext>
            </a:extLst>
          </p:cNvPr>
          <p:cNvCxnSpPr>
            <a:cxnSpLocks/>
          </p:cNvCxnSpPr>
          <p:nvPr/>
        </p:nvCxnSpPr>
        <p:spPr>
          <a:xfrm>
            <a:off x="9607882" y="7499313"/>
            <a:ext cx="0" cy="864000"/>
          </a:xfrm>
          <a:prstGeom prst="line">
            <a:avLst/>
          </a:prstGeom>
          <a:ln w="38100">
            <a:solidFill>
              <a:srgbClr val="00C159"/>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2490BED-9EDE-E74C-5F0C-9BCB3DEFB1F1}"/>
              </a:ext>
            </a:extLst>
          </p:cNvPr>
          <p:cNvCxnSpPr>
            <a:cxnSpLocks/>
          </p:cNvCxnSpPr>
          <p:nvPr/>
        </p:nvCxnSpPr>
        <p:spPr>
          <a:xfrm>
            <a:off x="20267902" y="7450328"/>
            <a:ext cx="0" cy="864000"/>
          </a:xfrm>
          <a:prstGeom prst="line">
            <a:avLst/>
          </a:prstGeom>
          <a:ln w="38100">
            <a:solidFill>
              <a:srgbClr val="00C159"/>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63F82A60-829D-90BC-6E8E-AEF9A837C706}"/>
              </a:ext>
            </a:extLst>
          </p:cNvPr>
          <p:cNvCxnSpPr>
            <a:cxnSpLocks/>
          </p:cNvCxnSpPr>
          <p:nvPr/>
        </p:nvCxnSpPr>
        <p:spPr>
          <a:xfrm>
            <a:off x="11235301" y="7555748"/>
            <a:ext cx="5741324" cy="0"/>
          </a:xfrm>
          <a:prstGeom prst="straightConnector1">
            <a:avLst/>
          </a:prstGeom>
          <a:ln w="38100">
            <a:solidFill>
              <a:srgbClr val="3F5679"/>
            </a:solidFill>
            <a:tailEnd type="triangle"/>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F10C84F9-2DB2-F1F1-0CEC-97E175A7A2CA}"/>
              </a:ext>
            </a:extLst>
          </p:cNvPr>
          <p:cNvSpPr txBox="1"/>
          <p:nvPr/>
        </p:nvSpPr>
        <p:spPr>
          <a:xfrm>
            <a:off x="12258984" y="7557594"/>
            <a:ext cx="3908762" cy="369332"/>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r>
              <a:rPr lang="en-US" sz="1800" i="1" dirty="0">
                <a:solidFill>
                  <a:srgbClr val="00C159"/>
                </a:solidFill>
                <a:latin typeface="Ubuntu" panose="020B0504030602030204" pitchFamily="34" charset="0"/>
              </a:rPr>
              <a:t>c. 24 months of SIN01 construction</a:t>
            </a:r>
            <a:endParaRPr lang="en-GB" sz="1800" i="1" dirty="0">
              <a:solidFill>
                <a:srgbClr val="00C159"/>
              </a:solidFill>
              <a:latin typeface="Ubuntu" panose="020B0504030602030204" pitchFamily="34" charset="0"/>
            </a:endParaRPr>
          </a:p>
        </p:txBody>
      </p:sp>
      <p:cxnSp>
        <p:nvCxnSpPr>
          <p:cNvPr id="11" name="Straight Arrow Connector 10">
            <a:extLst>
              <a:ext uri="{FF2B5EF4-FFF2-40B4-BE49-F238E27FC236}">
                <a16:creationId xmlns:a16="http://schemas.microsoft.com/office/drawing/2014/main" id="{6DD5CA07-F01C-714F-510C-BD7F5B1455EC}"/>
              </a:ext>
            </a:extLst>
          </p:cNvPr>
          <p:cNvCxnSpPr>
            <a:cxnSpLocks/>
          </p:cNvCxnSpPr>
          <p:nvPr/>
        </p:nvCxnSpPr>
        <p:spPr>
          <a:xfrm>
            <a:off x="8190464" y="6593428"/>
            <a:ext cx="8903062" cy="0"/>
          </a:xfrm>
          <a:prstGeom prst="straightConnector1">
            <a:avLst/>
          </a:prstGeom>
          <a:ln w="38100">
            <a:solidFill>
              <a:srgbClr val="00C159"/>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EA737BF-08A8-B770-91B0-C8E302270767}"/>
              </a:ext>
            </a:extLst>
          </p:cNvPr>
          <p:cNvSpPr txBox="1"/>
          <p:nvPr/>
        </p:nvSpPr>
        <p:spPr>
          <a:xfrm>
            <a:off x="9620014" y="6156627"/>
            <a:ext cx="6170111" cy="338554"/>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r>
              <a:rPr lang="en-US" sz="1600" i="1" dirty="0">
                <a:solidFill>
                  <a:srgbClr val="00C159"/>
                </a:solidFill>
                <a:latin typeface="Figtree" pitchFamily="2" charset="0"/>
              </a:rPr>
              <a:t>SINES DC grows from 495MW to 1.2GW IT capacity</a:t>
            </a:r>
            <a:endParaRPr lang="en-GB" sz="1600" i="1" dirty="0">
              <a:solidFill>
                <a:srgbClr val="00C159"/>
              </a:solidFill>
              <a:latin typeface="Figtree" pitchFamily="2" charset="0"/>
            </a:endParaRPr>
          </a:p>
        </p:txBody>
      </p:sp>
      <p:pic>
        <p:nvPicPr>
          <p:cNvPr id="50" name="Picture 49">
            <a:extLst>
              <a:ext uri="{FF2B5EF4-FFF2-40B4-BE49-F238E27FC236}">
                <a16:creationId xmlns:a16="http://schemas.microsoft.com/office/drawing/2014/main" id="{5DC25B02-10D9-BFA5-CF15-CF66CB749B1B}"/>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9665603" y="2821623"/>
            <a:ext cx="5132065" cy="3258661"/>
          </a:xfrm>
          <a:prstGeom prst="rect">
            <a:avLst/>
          </a:prstGeom>
          <a:ln w="19050">
            <a:solidFill>
              <a:srgbClr val="DFEEC4"/>
            </a:solidFill>
          </a:ln>
        </p:spPr>
      </p:pic>
      <p:pic>
        <p:nvPicPr>
          <p:cNvPr id="51" name="Picture 50" descr="An aerial view of a large building&#10;&#10;Description automatically generated">
            <a:extLst>
              <a:ext uri="{FF2B5EF4-FFF2-40B4-BE49-F238E27FC236}">
                <a16:creationId xmlns:a16="http://schemas.microsoft.com/office/drawing/2014/main" id="{5FA88C9F-FC5E-842A-437E-27066E714B4F}"/>
              </a:ext>
            </a:extLst>
          </p:cNvPr>
          <p:cNvPicPr>
            <a:picLocks noChangeAspect="1"/>
          </p:cNvPicPr>
          <p:nvPr/>
        </p:nvPicPr>
        <p:blipFill rotWithShape="1">
          <a:blip r:embed="rId9" cstate="email">
            <a:extLst>
              <a:ext uri="{28A0092B-C50C-407E-A947-70E740481C1C}">
                <a14:useLocalDpi xmlns:a14="http://schemas.microsoft.com/office/drawing/2010/main"/>
              </a:ext>
            </a:extLst>
          </a:blip>
          <a:srcRect/>
          <a:stretch/>
        </p:blipFill>
        <p:spPr>
          <a:xfrm>
            <a:off x="9875440" y="2748357"/>
            <a:ext cx="2140830" cy="1047454"/>
          </a:xfrm>
          <a:prstGeom prst="roundRect">
            <a:avLst/>
          </a:prstGeom>
          <a:ln w="38100">
            <a:solidFill>
              <a:schemeClr val="bg1"/>
            </a:solidFill>
          </a:ln>
          <a:effectLst>
            <a:outerShdw blurRad="50800" dist="38100" dir="2700000" sx="102000" sy="102000" algn="tl" rotWithShape="0">
              <a:prstClr val="black">
                <a:alpha val="40000"/>
              </a:prstClr>
            </a:outerShdw>
          </a:effectLst>
        </p:spPr>
      </p:pic>
      <p:sp>
        <p:nvSpPr>
          <p:cNvPr id="52" name="TextBox 51">
            <a:extLst>
              <a:ext uri="{FF2B5EF4-FFF2-40B4-BE49-F238E27FC236}">
                <a16:creationId xmlns:a16="http://schemas.microsoft.com/office/drawing/2014/main" id="{22ABF216-8F71-1620-DF2F-724ED7F9DF60}"/>
              </a:ext>
            </a:extLst>
          </p:cNvPr>
          <p:cNvSpPr txBox="1">
            <a:spLocks/>
          </p:cNvSpPr>
          <p:nvPr/>
        </p:nvSpPr>
        <p:spPr>
          <a:xfrm>
            <a:off x="11119873" y="2668368"/>
            <a:ext cx="953336" cy="307777"/>
          </a:xfrm>
          <a:prstGeom prst="rect">
            <a:avLst/>
          </a:prstGeom>
          <a:noFill/>
        </p:spPr>
        <p:txBody>
          <a:bodyPr wrap="square" rtlCol="0">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r>
              <a:rPr lang="en-US" sz="1400" b="1">
                <a:solidFill>
                  <a:schemeClr val="bg1"/>
                </a:solidFill>
                <a:latin typeface="Ubuntu" panose="020B0504030602030204" pitchFamily="34" charset="0"/>
              </a:rPr>
              <a:t>SIN01</a:t>
            </a:r>
            <a:endParaRPr lang="en-GB" sz="1400" b="1">
              <a:solidFill>
                <a:schemeClr val="bg1"/>
              </a:solidFill>
              <a:latin typeface="Ubuntu" panose="020B0504030602030204" pitchFamily="34" charset="0"/>
            </a:endParaRPr>
          </a:p>
        </p:txBody>
      </p:sp>
      <p:cxnSp>
        <p:nvCxnSpPr>
          <p:cNvPr id="53" name="Straight Connector 52">
            <a:extLst>
              <a:ext uri="{FF2B5EF4-FFF2-40B4-BE49-F238E27FC236}">
                <a16:creationId xmlns:a16="http://schemas.microsoft.com/office/drawing/2014/main" id="{648A85DA-2380-0D68-681E-25A13F38F401}"/>
              </a:ext>
            </a:extLst>
          </p:cNvPr>
          <p:cNvCxnSpPr>
            <a:cxnSpLocks/>
          </p:cNvCxnSpPr>
          <p:nvPr/>
        </p:nvCxnSpPr>
        <p:spPr>
          <a:xfrm>
            <a:off x="10945853" y="3795810"/>
            <a:ext cx="0" cy="1087460"/>
          </a:xfrm>
          <a:prstGeom prst="line">
            <a:avLst/>
          </a:prstGeom>
          <a:ln w="28575">
            <a:solidFill>
              <a:schemeClr val="bg1"/>
            </a:solidFill>
            <a:headEnd type="oval" w="med" len="med"/>
            <a:tailEnd type="oval" w="med" len="med"/>
          </a:ln>
        </p:spPr>
        <p:style>
          <a:lnRef idx="2">
            <a:schemeClr val="accent1"/>
          </a:lnRef>
          <a:fillRef idx="0">
            <a:schemeClr val="accent1"/>
          </a:fillRef>
          <a:effectRef idx="1">
            <a:schemeClr val="accent1"/>
          </a:effectRef>
          <a:fontRef idx="minor">
            <a:schemeClr val="tx1"/>
          </a:fontRef>
        </p:style>
      </p:cxnSp>
      <p:cxnSp>
        <p:nvCxnSpPr>
          <p:cNvPr id="54" name="Straight Connector 53">
            <a:extLst>
              <a:ext uri="{FF2B5EF4-FFF2-40B4-BE49-F238E27FC236}">
                <a16:creationId xmlns:a16="http://schemas.microsoft.com/office/drawing/2014/main" id="{B6947476-DD82-AB6E-7FD9-25279C4E762D}"/>
              </a:ext>
            </a:extLst>
          </p:cNvPr>
          <p:cNvCxnSpPr>
            <a:cxnSpLocks/>
          </p:cNvCxnSpPr>
          <p:nvPr/>
        </p:nvCxnSpPr>
        <p:spPr>
          <a:xfrm>
            <a:off x="7865039" y="6095006"/>
            <a:ext cx="0" cy="648000"/>
          </a:xfrm>
          <a:prstGeom prst="line">
            <a:avLst/>
          </a:prstGeom>
          <a:ln w="38100">
            <a:solidFill>
              <a:srgbClr val="00C159"/>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541C61FB-57FB-8E9F-F199-AE18870FB700}"/>
              </a:ext>
            </a:extLst>
          </p:cNvPr>
          <p:cNvSpPr/>
          <p:nvPr/>
        </p:nvSpPr>
        <p:spPr>
          <a:xfrm>
            <a:off x="4618653" y="2786370"/>
            <a:ext cx="4936095" cy="3651753"/>
          </a:xfrm>
          <a:prstGeom prst="rect">
            <a:avLst/>
          </a:prstGeom>
          <a:solidFill>
            <a:srgbClr val="0A3638">
              <a:alpha val="3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t"/>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r>
              <a:rPr lang="en-US" sz="2000" b="1" dirty="0">
                <a:solidFill>
                  <a:srgbClr val="002D4A"/>
                </a:solidFill>
                <a:latin typeface="Figtree" pitchFamily="2" charset="0"/>
              </a:rPr>
              <a:t>Securing land, power and water for cooling</a:t>
            </a:r>
          </a:p>
          <a:p>
            <a:pPr algn="l"/>
            <a:endParaRPr lang="en-US" sz="2000" b="1" dirty="0">
              <a:solidFill>
                <a:srgbClr val="022131"/>
              </a:solidFill>
              <a:latin typeface="Figtree" pitchFamily="2" charset="0"/>
            </a:endParaRPr>
          </a:p>
          <a:p>
            <a:pPr marL="184150" indent="-184150">
              <a:buFont typeface="Arial" panose="020B0604020202020204" pitchFamily="34" charset="0"/>
              <a:buChar char="•"/>
            </a:pPr>
            <a:r>
              <a:rPr lang="en-US" sz="2000" b="1" i="0" u="none" strike="noStrike" baseline="0" dirty="0">
                <a:solidFill>
                  <a:srgbClr val="00C159"/>
                </a:solidFill>
                <a:latin typeface="Figtree" pitchFamily="2" charset="0"/>
              </a:rPr>
              <a:t>Land</a:t>
            </a:r>
            <a:r>
              <a:rPr lang="en-US" sz="2000" i="0" u="none" strike="noStrike" baseline="0" dirty="0">
                <a:solidFill>
                  <a:srgbClr val="00C159"/>
                </a:solidFill>
                <a:latin typeface="Figtree" pitchFamily="2" charset="0"/>
              </a:rPr>
              <a:t>: </a:t>
            </a:r>
            <a:r>
              <a:rPr lang="en-US" sz="2000" i="0" u="none" strike="noStrike" baseline="0" dirty="0">
                <a:solidFill>
                  <a:srgbClr val="272725"/>
                </a:solidFill>
                <a:latin typeface="Figtree" pitchFamily="2" charset="0"/>
              </a:rPr>
              <a:t>150-yr surface agreement signed for the DC and substation (c. 80 ha)</a:t>
            </a:r>
          </a:p>
          <a:p>
            <a:pPr marL="184150" indent="-184150" algn="l">
              <a:buFont typeface="Arial" panose="020B0604020202020204" pitchFamily="34" charset="0"/>
              <a:buChar char="•"/>
            </a:pPr>
            <a:r>
              <a:rPr lang="en-US" sz="2000" b="1" i="0" u="none" strike="noStrike" baseline="0">
                <a:solidFill>
                  <a:srgbClr val="00C159"/>
                </a:solidFill>
                <a:latin typeface="Figtree"/>
              </a:rPr>
              <a:t>Power</a:t>
            </a:r>
            <a:r>
              <a:rPr lang="en-US" sz="2000" b="0" i="0" u="none" strike="noStrike" baseline="0">
                <a:solidFill>
                  <a:srgbClr val="00C159"/>
                </a:solidFill>
                <a:latin typeface="Figtree"/>
              </a:rPr>
              <a:t>: </a:t>
            </a:r>
            <a:r>
              <a:rPr lang="en-US" sz="2000" b="0" i="0" u="none" strike="noStrike" baseline="0">
                <a:solidFill>
                  <a:srgbClr val="272725"/>
                </a:solidFill>
                <a:latin typeface="Figtree"/>
              </a:rPr>
              <a:t>firm grid access secured for </a:t>
            </a:r>
            <a:r>
              <a:rPr lang="en-US" sz="2000">
                <a:solidFill>
                  <a:srgbClr val="272725"/>
                </a:solidFill>
                <a:latin typeface="Figtree"/>
              </a:rPr>
              <a:t>1.2GW</a:t>
            </a:r>
            <a:endParaRPr lang="en-US" sz="2000" b="0" i="0" u="none" strike="noStrike" baseline="0" dirty="0">
              <a:solidFill>
                <a:srgbClr val="272725"/>
              </a:solidFill>
              <a:latin typeface="Figtree" pitchFamily="2" charset="0"/>
            </a:endParaRPr>
          </a:p>
          <a:p>
            <a:pPr marL="184150" indent="-184150" algn="l">
              <a:buFont typeface="Arial" panose="020B0604020202020204" pitchFamily="34" charset="0"/>
              <a:buChar char="•"/>
            </a:pPr>
            <a:r>
              <a:rPr lang="en-US" sz="2000" b="1" dirty="0">
                <a:solidFill>
                  <a:srgbClr val="00C159"/>
                </a:solidFill>
                <a:latin typeface="Figtree" pitchFamily="2" charset="0"/>
              </a:rPr>
              <a:t>Cooling</a:t>
            </a:r>
            <a:r>
              <a:rPr lang="en-US" sz="2000" dirty="0">
                <a:solidFill>
                  <a:srgbClr val="00C159"/>
                </a:solidFill>
                <a:latin typeface="Figtree" pitchFamily="2" charset="0"/>
              </a:rPr>
              <a:t>: </a:t>
            </a:r>
            <a:r>
              <a:rPr lang="en-US" sz="2000" dirty="0">
                <a:solidFill>
                  <a:srgbClr val="272725"/>
                </a:solidFill>
                <a:latin typeface="Figtree" pitchFamily="2" charset="0"/>
              </a:rPr>
              <a:t>long-term water rights agreed to reuse seawater infrastructure from ex-coal power plant</a:t>
            </a:r>
          </a:p>
          <a:p>
            <a:pPr marL="184150" indent="-184150" algn="l">
              <a:buFont typeface="Arial" panose="020B0604020202020204" pitchFamily="34" charset="0"/>
              <a:buChar char="•"/>
            </a:pPr>
            <a:r>
              <a:rPr lang="en-US" sz="2000" b="1" dirty="0">
                <a:solidFill>
                  <a:srgbClr val="00C159"/>
                </a:solidFill>
                <a:latin typeface="Figtree" pitchFamily="2" charset="0"/>
              </a:rPr>
              <a:t>Licensing</a:t>
            </a:r>
            <a:r>
              <a:rPr lang="en-US" sz="2000" dirty="0">
                <a:solidFill>
                  <a:srgbClr val="00C159"/>
                </a:solidFill>
                <a:latin typeface="Figtree" pitchFamily="2" charset="0"/>
              </a:rPr>
              <a:t>: </a:t>
            </a:r>
            <a:r>
              <a:rPr lang="en-US" sz="2000" dirty="0">
                <a:solidFill>
                  <a:srgbClr val="272725"/>
                </a:solidFill>
                <a:latin typeface="Figtree" pitchFamily="2" charset="0"/>
              </a:rPr>
              <a:t>PIN status </a:t>
            </a:r>
            <a:endParaRPr lang="en-US" sz="2000" b="0" i="0" u="none" strike="noStrike" baseline="0" dirty="0">
              <a:solidFill>
                <a:srgbClr val="272725"/>
              </a:solidFill>
              <a:latin typeface="Figtree" pitchFamily="2" charset="0"/>
            </a:endParaRPr>
          </a:p>
        </p:txBody>
      </p:sp>
      <p:cxnSp>
        <p:nvCxnSpPr>
          <p:cNvPr id="14" name="Straight Connector 13">
            <a:extLst>
              <a:ext uri="{FF2B5EF4-FFF2-40B4-BE49-F238E27FC236}">
                <a16:creationId xmlns:a16="http://schemas.microsoft.com/office/drawing/2014/main" id="{F7A31FD0-58EE-30F6-1DE1-6A767A30F22B}"/>
              </a:ext>
            </a:extLst>
          </p:cNvPr>
          <p:cNvCxnSpPr>
            <a:cxnSpLocks/>
          </p:cNvCxnSpPr>
          <p:nvPr/>
        </p:nvCxnSpPr>
        <p:spPr>
          <a:xfrm>
            <a:off x="4721285" y="7450328"/>
            <a:ext cx="0" cy="864000"/>
          </a:xfrm>
          <a:prstGeom prst="line">
            <a:avLst/>
          </a:prstGeom>
          <a:ln w="38100">
            <a:solidFill>
              <a:srgbClr val="00C159"/>
            </a:solidFill>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8CEB92F3-4635-5FC3-2DE1-A33EC4098989}"/>
              </a:ext>
            </a:extLst>
          </p:cNvPr>
          <p:cNvSpPr/>
          <p:nvPr/>
        </p:nvSpPr>
        <p:spPr>
          <a:xfrm>
            <a:off x="1659976" y="7922335"/>
            <a:ext cx="4402894" cy="4479215"/>
          </a:xfrm>
          <a:prstGeom prst="rect">
            <a:avLst/>
          </a:prstGeom>
          <a:solidFill>
            <a:srgbClr val="00C159">
              <a:alpha val="3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l"/>
            <a:r>
              <a:rPr lang="en-US" sz="2000" b="1" dirty="0">
                <a:solidFill>
                  <a:srgbClr val="0A3638"/>
                </a:solidFill>
                <a:latin typeface="Figtree" pitchFamily="2" charset="0"/>
              </a:rPr>
              <a:t>Robust site selection</a:t>
            </a:r>
            <a:endParaRPr lang="en-US" sz="2000" b="1" i="0" u="none" strike="noStrike" baseline="0" dirty="0">
              <a:solidFill>
                <a:srgbClr val="0A3638"/>
              </a:solidFill>
              <a:latin typeface="Figtree" pitchFamily="2" charset="0"/>
            </a:endParaRPr>
          </a:p>
          <a:p>
            <a:pPr algn="l"/>
            <a:br>
              <a:rPr lang="en-US" sz="2000" b="0" i="0" u="none" strike="noStrike" baseline="0" dirty="0">
                <a:solidFill>
                  <a:srgbClr val="272725"/>
                </a:solidFill>
                <a:latin typeface="Figtree" pitchFamily="2" charset="0"/>
              </a:rPr>
            </a:br>
            <a:r>
              <a:rPr lang="en-US" sz="2000" b="0" i="0" u="none" strike="noStrike" baseline="0" dirty="0">
                <a:solidFill>
                  <a:srgbClr val="272725"/>
                </a:solidFill>
                <a:latin typeface="Figtree" pitchFamily="2" charset="0"/>
              </a:rPr>
              <a:t>Davidson Kempner and Pioneer Point, Start Campus’ shareholders, screened </a:t>
            </a:r>
            <a:r>
              <a:rPr lang="en-US" sz="2000" b="1" dirty="0">
                <a:solidFill>
                  <a:srgbClr val="00C159"/>
                </a:solidFill>
                <a:latin typeface="Figtree" pitchFamily="2" charset="0"/>
              </a:rPr>
              <a:t>over 500 sites in Europe</a:t>
            </a:r>
            <a:r>
              <a:rPr lang="en-US" sz="2000" b="0" i="0" u="none" strike="noStrike" baseline="0" dirty="0">
                <a:solidFill>
                  <a:srgbClr val="00C159"/>
                </a:solidFill>
                <a:latin typeface="Figtree" pitchFamily="2" charset="0"/>
              </a:rPr>
              <a:t> </a:t>
            </a:r>
            <a:r>
              <a:rPr lang="en-US" sz="2000" b="0" i="0" u="none" strike="noStrike" baseline="0" dirty="0">
                <a:solidFill>
                  <a:srgbClr val="272725"/>
                </a:solidFill>
                <a:latin typeface="Figtree" pitchFamily="2" charset="0"/>
              </a:rPr>
              <a:t>under the </a:t>
            </a:r>
            <a:r>
              <a:rPr lang="en-US" sz="2000" b="1" i="0" u="none" strike="noStrike" baseline="0" dirty="0">
                <a:solidFill>
                  <a:srgbClr val="00C159"/>
                </a:solidFill>
                <a:latin typeface="Figtree" pitchFamily="2" charset="0"/>
              </a:rPr>
              <a:t>“coal-to-green” thesis</a:t>
            </a:r>
            <a:r>
              <a:rPr lang="en-US" sz="2000" dirty="0">
                <a:solidFill>
                  <a:srgbClr val="00C159"/>
                </a:solidFill>
                <a:latin typeface="Figtree" pitchFamily="2" charset="0"/>
              </a:rPr>
              <a:t>:</a:t>
            </a:r>
            <a:r>
              <a:rPr lang="en-US" sz="2000" b="1" dirty="0">
                <a:solidFill>
                  <a:srgbClr val="00C159"/>
                </a:solidFill>
                <a:latin typeface="Figtree" pitchFamily="2" charset="0"/>
              </a:rPr>
              <a:t> </a:t>
            </a:r>
            <a:r>
              <a:rPr lang="en-US" sz="2000" i="0" u="none" strike="noStrike" baseline="0" dirty="0">
                <a:solidFill>
                  <a:schemeClr val="tx1"/>
                </a:solidFill>
                <a:latin typeface="Figtree" pitchFamily="2" charset="0"/>
              </a:rPr>
              <a:t>legacy thermal asset grid connections hold significant value for DC development. </a:t>
            </a:r>
          </a:p>
          <a:p>
            <a:pPr algn="l"/>
            <a:endParaRPr lang="en-US" sz="2000" b="0" i="0" u="none" strike="noStrike" baseline="0" dirty="0">
              <a:solidFill>
                <a:srgbClr val="272725"/>
              </a:solidFill>
              <a:latin typeface="Figtree" pitchFamily="2" charset="0"/>
            </a:endParaRPr>
          </a:p>
          <a:p>
            <a:r>
              <a:rPr lang="en-US" sz="2000" dirty="0">
                <a:solidFill>
                  <a:srgbClr val="272725"/>
                </a:solidFill>
                <a:latin typeface="Figtree" pitchFamily="2" charset="0"/>
              </a:rPr>
              <a:t>In the shortlisted </a:t>
            </a:r>
            <a:r>
              <a:rPr lang="en-US" sz="2000" b="0" i="0" u="none" strike="noStrike" baseline="0" dirty="0">
                <a:solidFill>
                  <a:srgbClr val="272725"/>
                </a:solidFill>
                <a:latin typeface="Figtree" pitchFamily="2" charset="0"/>
              </a:rPr>
              <a:t>of 5 potential sites, </a:t>
            </a:r>
            <a:r>
              <a:rPr lang="en-US" sz="2000" b="1" i="0" u="none" strike="noStrike" baseline="0" dirty="0">
                <a:solidFill>
                  <a:srgbClr val="00C159"/>
                </a:solidFill>
                <a:latin typeface="Figtree" pitchFamily="2" charset="0"/>
              </a:rPr>
              <a:t>Sines met all the criteria </a:t>
            </a:r>
            <a:r>
              <a:rPr lang="en-US" sz="2000" i="0" u="none" strike="noStrike" baseline="0" dirty="0">
                <a:solidFill>
                  <a:schemeClr val="tx1"/>
                </a:solidFill>
                <a:latin typeface="Figtree" pitchFamily="2" charset="0"/>
              </a:rPr>
              <a:t>for successful DC development </a:t>
            </a:r>
          </a:p>
        </p:txBody>
      </p:sp>
      <p:sp>
        <p:nvSpPr>
          <p:cNvPr id="1025" name="Rectangle 1024">
            <a:extLst>
              <a:ext uri="{FF2B5EF4-FFF2-40B4-BE49-F238E27FC236}">
                <a16:creationId xmlns:a16="http://schemas.microsoft.com/office/drawing/2014/main" id="{B9C766CE-D225-1DB9-AA35-4EB092FDAEC0}"/>
              </a:ext>
            </a:extLst>
          </p:cNvPr>
          <p:cNvSpPr/>
          <p:nvPr/>
        </p:nvSpPr>
        <p:spPr>
          <a:xfrm>
            <a:off x="9653332" y="7914389"/>
            <a:ext cx="3516567" cy="2544062"/>
          </a:xfrm>
          <a:prstGeom prst="rect">
            <a:avLst/>
          </a:prstGeom>
          <a:solidFill>
            <a:srgbClr val="00C159">
              <a:alpha val="3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algn="l"/>
            <a:r>
              <a:rPr lang="en-US" sz="2000" b="1" dirty="0">
                <a:solidFill>
                  <a:srgbClr val="0A3638"/>
                </a:solidFill>
                <a:latin typeface="Figtree" pitchFamily="2" charset="0"/>
              </a:rPr>
              <a:t>Start of construction of its first building (SIN01) </a:t>
            </a:r>
          </a:p>
          <a:p>
            <a:pPr algn="l"/>
            <a:endParaRPr lang="en-US" sz="2000" b="1" dirty="0">
              <a:solidFill>
                <a:srgbClr val="022131"/>
              </a:solidFill>
              <a:latin typeface="Figtree" pitchFamily="2" charset="0"/>
            </a:endParaRPr>
          </a:p>
          <a:p>
            <a:r>
              <a:rPr lang="en-US" sz="2000" dirty="0">
                <a:solidFill>
                  <a:srgbClr val="272725"/>
                </a:solidFill>
                <a:latin typeface="Figtree" pitchFamily="2" charset="0"/>
              </a:rPr>
              <a:t>SINES DC </a:t>
            </a:r>
            <a:r>
              <a:rPr lang="en-US" sz="2000" b="1" dirty="0">
                <a:solidFill>
                  <a:srgbClr val="00C159"/>
                </a:solidFill>
                <a:latin typeface="Figtree" pitchFamily="2" charset="0"/>
              </a:rPr>
              <a:t>breaks ground</a:t>
            </a:r>
            <a:r>
              <a:rPr lang="en-US" sz="2000" dirty="0">
                <a:solidFill>
                  <a:srgbClr val="272725"/>
                </a:solidFill>
                <a:latin typeface="Figtree" pitchFamily="2" charset="0"/>
              </a:rPr>
              <a:t>, with the start of construction of its </a:t>
            </a:r>
            <a:r>
              <a:rPr lang="en-US" sz="2000" b="1" dirty="0">
                <a:solidFill>
                  <a:srgbClr val="00C159"/>
                </a:solidFill>
                <a:latin typeface="Figtree" pitchFamily="2" charset="0"/>
              </a:rPr>
              <a:t>first building </a:t>
            </a:r>
            <a:r>
              <a:rPr lang="en-US" sz="2000" dirty="0">
                <a:solidFill>
                  <a:srgbClr val="272725"/>
                </a:solidFill>
                <a:latin typeface="Figtree" pitchFamily="2" charset="0"/>
              </a:rPr>
              <a:t>(SIN01) </a:t>
            </a:r>
            <a:endParaRPr lang="en-US" sz="2000" i="0" u="none" strike="noStrike" baseline="0" dirty="0">
              <a:solidFill>
                <a:schemeClr val="tx1"/>
              </a:solidFill>
              <a:latin typeface="Figtree" pitchFamily="2" charset="0"/>
            </a:endParaRPr>
          </a:p>
        </p:txBody>
      </p:sp>
      <p:sp>
        <p:nvSpPr>
          <p:cNvPr id="1026" name="Rectangle 1025">
            <a:extLst>
              <a:ext uri="{FF2B5EF4-FFF2-40B4-BE49-F238E27FC236}">
                <a16:creationId xmlns:a16="http://schemas.microsoft.com/office/drawing/2014/main" id="{09C77369-71D9-7361-C679-9AE4CEEABE7B}"/>
              </a:ext>
            </a:extLst>
          </p:cNvPr>
          <p:cNvSpPr/>
          <p:nvPr/>
        </p:nvSpPr>
        <p:spPr>
          <a:xfrm>
            <a:off x="17264428" y="8057624"/>
            <a:ext cx="3420000" cy="2316699"/>
          </a:xfrm>
          <a:prstGeom prst="rect">
            <a:avLst/>
          </a:prstGeom>
          <a:solidFill>
            <a:srgbClr val="00C159">
              <a:alpha val="3000"/>
            </a:srgbClr>
          </a:solidFill>
          <a:ln w="19050">
            <a:noFill/>
          </a:ln>
        </p:spPr>
        <p:style>
          <a:lnRef idx="2">
            <a:schemeClr val="accent1">
              <a:shade val="15000"/>
            </a:schemeClr>
          </a:lnRef>
          <a:fillRef idx="1">
            <a:schemeClr val="accent1"/>
          </a:fillRef>
          <a:effectRef idx="0">
            <a:schemeClr val="accent1"/>
          </a:effectRef>
          <a:fontRef idx="minor">
            <a:schemeClr val="lt1"/>
          </a:fontRef>
        </p:style>
        <p:txBody>
          <a:bodyPr rIns="72000" rtlCol="0" anchor="t"/>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r>
              <a:rPr lang="en-US" sz="2000" b="1" dirty="0">
                <a:solidFill>
                  <a:srgbClr val="002D4A"/>
                </a:solidFill>
                <a:latin typeface="Figtree" pitchFamily="2" charset="0"/>
              </a:rPr>
              <a:t>Continuing to deliver SIN02-06</a:t>
            </a:r>
          </a:p>
          <a:p>
            <a:pPr algn="l"/>
            <a:endParaRPr lang="en-US" sz="2000" b="1" dirty="0">
              <a:solidFill>
                <a:srgbClr val="022131"/>
              </a:solidFill>
              <a:latin typeface="Figtree" pitchFamily="2" charset="0"/>
            </a:endParaRPr>
          </a:p>
          <a:p>
            <a:r>
              <a:rPr lang="en-US" sz="2000" b="1" dirty="0">
                <a:solidFill>
                  <a:srgbClr val="00C159"/>
                </a:solidFill>
                <a:latin typeface="Figtree" pitchFamily="2" charset="0"/>
              </a:rPr>
              <a:t>Continuing to deliver SIN02-06</a:t>
            </a:r>
            <a:r>
              <a:rPr lang="en-US" sz="2000" dirty="0">
                <a:solidFill>
                  <a:srgbClr val="00C159"/>
                </a:solidFill>
                <a:latin typeface="Figtree" pitchFamily="2" charset="0"/>
              </a:rPr>
              <a:t>, </a:t>
            </a:r>
            <a:r>
              <a:rPr lang="en-US" sz="2000" dirty="0">
                <a:solidFill>
                  <a:srgbClr val="272725"/>
                </a:solidFill>
                <a:latin typeface="Figtree" pitchFamily="2" charset="0"/>
              </a:rPr>
              <a:t>with SIN02 </a:t>
            </a:r>
            <a:r>
              <a:rPr lang="en-US" sz="2000" dirty="0">
                <a:solidFill>
                  <a:schemeClr val="tx1"/>
                </a:solidFill>
                <a:latin typeface="Figtree" pitchFamily="2" charset="0"/>
              </a:rPr>
              <a:t>RFS in Q2’27 and all phases by 2030</a:t>
            </a:r>
          </a:p>
        </p:txBody>
      </p:sp>
    </p:spTree>
    <p:extLst>
      <p:ext uri="{BB962C8B-B14F-4D97-AF65-F5344CB8AC3E}">
        <p14:creationId xmlns:p14="http://schemas.microsoft.com/office/powerpoint/2010/main" val="28903865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62AAF82-457D-0942-EFF1-92EA5012CCB8}"/>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BDF1E089-FE02-2BE4-9869-69EDD75A385E}"/>
              </a:ext>
            </a:extLst>
          </p:cNvPr>
          <p:cNvSpPr>
            <a:spLocks noGrp="1" noRot="1" noMove="1" noResize="1" noEditPoints="1" noAdjustHandles="1" noChangeArrowheads="1" noChangeShapeType="1"/>
          </p:cNvSpPr>
          <p:nvPr/>
        </p:nvSpPr>
        <p:spPr>
          <a:xfrm>
            <a:off x="-6679" y="0"/>
            <a:ext cx="8889356" cy="13716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1">
              <a:lnSpc>
                <a:spcPct val="100000"/>
              </a:lnSpc>
              <a:spcBef>
                <a:spcPts val="0"/>
              </a:spcBef>
              <a:spcAft>
                <a:spcPts val="0"/>
              </a:spcAft>
              <a:buClrTx/>
              <a:buSzTx/>
              <a:buFontTx/>
              <a:buNone/>
              <a:tabLst/>
              <a:defRPr/>
            </a:pPr>
            <a:endParaRPr kumimoji="0" lang="en-GB" sz="3600" b="0" i="0" u="none" strike="noStrike" kern="1200" cap="none" spc="0" normalizeH="0" baseline="0" noProof="0">
              <a:ln>
                <a:noFill/>
              </a:ln>
              <a:solidFill>
                <a:srgbClr val="F4F4FF"/>
              </a:solidFill>
              <a:effectLst/>
              <a:uLnTx/>
              <a:uFillTx/>
              <a:latin typeface="Gill Sans MT" panose="020B0502020104020203"/>
              <a:ea typeface="+mn-ea"/>
              <a:cs typeface="+mn-cs"/>
            </a:endParaRPr>
          </a:p>
        </p:txBody>
      </p:sp>
      <p:sp>
        <p:nvSpPr>
          <p:cNvPr id="12" name="Text Placeholder 1">
            <a:extLst>
              <a:ext uri="{FF2B5EF4-FFF2-40B4-BE49-F238E27FC236}">
                <a16:creationId xmlns:a16="http://schemas.microsoft.com/office/drawing/2014/main" id="{ED3B1C02-1D97-AFC5-1CD6-73EB7C05C03D}"/>
              </a:ext>
            </a:extLst>
          </p:cNvPr>
          <p:cNvSpPr txBox="1">
            <a:spLocks/>
          </p:cNvSpPr>
          <p:nvPr/>
        </p:nvSpPr>
        <p:spPr>
          <a:xfrm>
            <a:off x="517441" y="3710863"/>
            <a:ext cx="7841116" cy="3147137"/>
          </a:xfrm>
          <a:prstGeom prst="rect">
            <a:avLst/>
          </a:prstGeom>
        </p:spPr>
        <p:txBody>
          <a:bodyPr lIns="72000" tIns="0" rIns="0" bIns="0" anchor="b">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0" indent="0" algn="ctr"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6600" b="1" i="0" u="none" strike="noStrike" kern="1200" cap="none" spc="0" normalizeH="0" baseline="0" noProof="0" dirty="0">
                <a:ln>
                  <a:noFill/>
                </a:ln>
                <a:solidFill>
                  <a:srgbClr val="00C159"/>
                </a:solidFill>
                <a:effectLst/>
                <a:uLnTx/>
                <a:uFillTx/>
                <a:latin typeface="Figtree SemiBold" pitchFamily="2" charset="0"/>
                <a:ea typeface="+mn-ea"/>
                <a:cs typeface="+mn-cs"/>
              </a:rPr>
              <a:t>SINES DC</a:t>
            </a:r>
            <a:br>
              <a:rPr kumimoji="0" lang="en-US" sz="8000" b="1" i="0" u="none" strike="noStrike" kern="1200" cap="none" spc="0" normalizeH="0" baseline="0" noProof="0" dirty="0">
                <a:ln>
                  <a:noFill/>
                </a:ln>
                <a:solidFill>
                  <a:srgbClr val="00C159"/>
                </a:solidFill>
                <a:effectLst/>
                <a:uLnTx/>
                <a:uFillTx/>
                <a:latin typeface="Figtree SemiBold" pitchFamily="2" charset="0"/>
                <a:ea typeface="+mn-ea"/>
                <a:cs typeface="+mn-cs"/>
              </a:rPr>
            </a:br>
            <a:endParaRPr kumimoji="0" lang="en-US" sz="1800" b="1" i="0" u="none" strike="noStrike" kern="1200" cap="none" spc="0" normalizeH="0" baseline="0" noProof="0" dirty="0">
              <a:ln>
                <a:noFill/>
              </a:ln>
              <a:solidFill>
                <a:srgbClr val="F4F4FF"/>
              </a:solidFill>
              <a:effectLst/>
              <a:uLnTx/>
              <a:uFillTx/>
              <a:latin typeface="Figtree SemiBold" pitchFamily="2" charset="0"/>
              <a:ea typeface="+mn-ea"/>
              <a:cs typeface="+mn-cs"/>
            </a:endParaRPr>
          </a:p>
          <a:p>
            <a:pPr marL="0" marR="0" lvl="0" indent="0" algn="ctr"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it-IT" sz="4000" b="0" i="0" u="none" strike="noStrike" kern="1200" cap="none" spc="0" normalizeH="0" baseline="0" noProof="0" dirty="0">
                <a:ln>
                  <a:noFill/>
                </a:ln>
                <a:solidFill>
                  <a:srgbClr val="F4F4FF"/>
                </a:solidFill>
                <a:effectLst/>
                <a:uLnTx/>
                <a:uFillTx/>
                <a:latin typeface="Figtree SemiBold" pitchFamily="2" charset="0"/>
                <a:ea typeface="+mn-ea"/>
                <a:cs typeface="+mn-cs"/>
              </a:rPr>
              <a:t>Europe’s First Giga-Scale</a:t>
            </a:r>
            <a:br>
              <a:rPr kumimoji="0" lang="it-IT" sz="4000" b="0" i="0" u="none" strike="noStrike" kern="1200" cap="none" spc="0" normalizeH="0" baseline="0" noProof="0" dirty="0">
                <a:ln>
                  <a:noFill/>
                </a:ln>
                <a:solidFill>
                  <a:srgbClr val="F4F4FF"/>
                </a:solidFill>
                <a:effectLst/>
                <a:uLnTx/>
                <a:uFillTx/>
                <a:latin typeface="Figtree SemiBold" pitchFamily="2" charset="0"/>
                <a:ea typeface="+mn-ea"/>
                <a:cs typeface="+mn-cs"/>
              </a:rPr>
            </a:br>
            <a:r>
              <a:rPr kumimoji="0" lang="it-IT" sz="4000" b="0" i="0" u="none" strike="noStrike" kern="1200" cap="none" spc="0" normalizeH="0" baseline="0" noProof="0" dirty="0">
                <a:ln>
                  <a:noFill/>
                </a:ln>
                <a:solidFill>
                  <a:srgbClr val="F4F4FF"/>
                </a:solidFill>
                <a:effectLst/>
                <a:uLnTx/>
                <a:uFillTx/>
                <a:latin typeface="Figtree SemiBold" pitchFamily="2" charset="0"/>
                <a:ea typeface="+mn-ea"/>
                <a:cs typeface="+mn-cs"/>
              </a:rPr>
              <a:t>AI Data Campus</a:t>
            </a:r>
            <a:endParaRPr kumimoji="0" lang="en-US" sz="7200" b="0" i="0" u="none" strike="noStrike" kern="1200" cap="none" spc="0" normalizeH="0" baseline="0" noProof="0" dirty="0">
              <a:ln>
                <a:noFill/>
              </a:ln>
              <a:solidFill>
                <a:srgbClr val="F4F4FF"/>
              </a:solidFill>
              <a:effectLst/>
              <a:uLnTx/>
              <a:uFillTx/>
              <a:latin typeface="Figtree SemiBold" pitchFamily="2" charset="0"/>
              <a:ea typeface="+mn-ea"/>
              <a:cs typeface="+mn-cs"/>
            </a:endParaRPr>
          </a:p>
          <a:p>
            <a:pPr marL="0" marR="0" lvl="0" indent="0" algn="ctr" defTabSz="914263"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2800" b="1" i="0" u="none" strike="noStrike" kern="1200" cap="none" spc="0" normalizeH="0" baseline="0" noProof="0" dirty="0">
              <a:ln>
                <a:noFill/>
              </a:ln>
              <a:solidFill>
                <a:srgbClr val="F4F4FF"/>
              </a:solidFill>
              <a:effectLst/>
              <a:uLnTx/>
              <a:uFillTx/>
              <a:latin typeface="Figtree SemiBold" pitchFamily="2" charset="0"/>
              <a:ea typeface="+mn-ea"/>
              <a:cs typeface="+mn-cs"/>
            </a:endParaRPr>
          </a:p>
          <a:p>
            <a:pPr marL="0" marR="0" lvl="0" indent="0" algn="ctr" defTabSz="914263" rtl="0" eaLnBrk="1" fontAlgn="auto" latinLnBrk="0" hangingPunct="1">
              <a:lnSpc>
                <a:spcPct val="150000"/>
              </a:lnSpc>
              <a:spcBef>
                <a:spcPts val="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srgbClr val="F4F4FF"/>
                </a:solidFill>
                <a:effectLst/>
                <a:uLnTx/>
                <a:uFillTx/>
                <a:latin typeface="Figtree SemiBold" pitchFamily="2" charset="0"/>
                <a:ea typeface="+mn-ea"/>
                <a:cs typeface="+mn-cs"/>
              </a:rPr>
              <a:t>Sines, Portugal</a:t>
            </a:r>
            <a:r>
              <a:rPr kumimoji="0" lang="en-US" sz="2800" b="0" i="0" u="none" strike="noStrike" kern="1200" cap="none" spc="0" normalizeH="0" baseline="0" noProof="0" dirty="0">
                <a:ln>
                  <a:noFill/>
                </a:ln>
                <a:solidFill>
                  <a:srgbClr val="F4F4FF"/>
                </a:solidFill>
                <a:effectLst/>
                <a:uLnTx/>
                <a:uFillTx/>
                <a:latin typeface="Figtree SemiBold" pitchFamily="2" charset="0"/>
                <a:ea typeface="+mn-ea"/>
                <a:cs typeface="+mn-cs"/>
              </a:rPr>
              <a:t> </a:t>
            </a:r>
          </a:p>
          <a:p>
            <a:pPr marL="0" marR="0" lvl="0" indent="0" algn="ctr" defTabSz="914263"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F4F4FF"/>
                </a:solidFill>
                <a:effectLst/>
                <a:uLnTx/>
                <a:uFillTx/>
                <a:latin typeface="Figtree Light" pitchFamily="2" charset="0"/>
                <a:ea typeface="+mn-ea"/>
                <a:cs typeface="+mn-cs"/>
              </a:rPr>
              <a:t>Site Coordinates: 37.934961, -8.812558</a:t>
            </a:r>
          </a:p>
          <a:p>
            <a:pPr marL="0" marR="0" lvl="0" indent="0" algn="ctr" defTabSz="914263"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0" i="0" u="none" strike="noStrike" kern="1200" cap="none" spc="0" normalizeH="0" baseline="0" noProof="0" dirty="0">
                <a:ln>
                  <a:noFill/>
                </a:ln>
                <a:solidFill>
                  <a:srgbClr val="F4F4FF"/>
                </a:solidFill>
                <a:effectLst/>
                <a:uLnTx/>
                <a:uFillTx/>
                <a:latin typeface="Figtree Light" pitchFamily="2" charset="0"/>
                <a:ea typeface="+mn-ea"/>
                <a:cs typeface="+mn-cs"/>
              </a:rPr>
              <a:t>c. 90 km south of Lisbon</a:t>
            </a:r>
          </a:p>
        </p:txBody>
      </p:sp>
      <p:sp>
        <p:nvSpPr>
          <p:cNvPr id="18" name="Text Placeholder 1">
            <a:extLst>
              <a:ext uri="{FF2B5EF4-FFF2-40B4-BE49-F238E27FC236}">
                <a16:creationId xmlns:a16="http://schemas.microsoft.com/office/drawing/2014/main" id="{3B509897-EAA3-56AD-FDAF-205D1B92016E}"/>
              </a:ext>
            </a:extLst>
          </p:cNvPr>
          <p:cNvSpPr txBox="1">
            <a:spLocks/>
          </p:cNvSpPr>
          <p:nvPr/>
        </p:nvSpPr>
        <p:spPr>
          <a:xfrm>
            <a:off x="806767" y="7196592"/>
            <a:ext cx="7262464" cy="1819435"/>
          </a:xfrm>
          <a:prstGeom prst="rect">
            <a:avLst/>
          </a:prstGeom>
        </p:spPr>
        <p:txBody>
          <a:bodyPr lIns="72000" tIns="36000" rIns="72000" bIns="36000" anchor="t">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0" indent="0" algn="ctr" defTabSz="914263"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srgbClr val="F4F4FF"/>
                </a:solidFill>
                <a:effectLst/>
                <a:uLnTx/>
                <a:uFillTx/>
                <a:latin typeface="Figtree SemiBold" pitchFamily="2" charset="0"/>
                <a:ea typeface="+mn-ea"/>
                <a:cs typeface="+mn-cs"/>
              </a:rPr>
              <a:t>1.2GW</a:t>
            </a:r>
            <a:r>
              <a:rPr kumimoji="0" lang="en-US" sz="2800" b="1" i="0" u="none" strike="noStrike" kern="1200" cap="none" spc="0" normalizeH="0" baseline="0" noProof="0" dirty="0">
                <a:ln>
                  <a:noFill/>
                </a:ln>
                <a:solidFill>
                  <a:srgbClr val="F4F4FF"/>
                </a:solidFill>
                <a:effectLst/>
                <a:uLnTx/>
                <a:uFillTx/>
                <a:latin typeface="Gill Sans MT" panose="020B0502020104020203"/>
                <a:ea typeface="+mn-ea"/>
                <a:cs typeface="+mn-cs"/>
              </a:rPr>
              <a:t> </a:t>
            </a:r>
            <a:r>
              <a:rPr kumimoji="0" lang="en-US" sz="2800" b="0" i="0" u="none" strike="noStrike" kern="1200" cap="none" spc="0" normalizeH="0" baseline="0" noProof="0" dirty="0">
                <a:ln>
                  <a:noFill/>
                </a:ln>
                <a:solidFill>
                  <a:srgbClr val="F4F4FF"/>
                </a:solidFill>
                <a:effectLst/>
                <a:uLnTx/>
                <a:uFillTx/>
                <a:latin typeface="Figtree Light" pitchFamily="2" charset="0"/>
                <a:ea typeface="+mn-ea"/>
                <a:cs typeface="+mn-cs"/>
              </a:rPr>
              <a:t>campus</a:t>
            </a:r>
            <a:r>
              <a:rPr kumimoji="0" lang="en-US" sz="2800" b="0" i="0" u="none" strike="noStrike" kern="1200" cap="none" spc="0" normalizeH="0" baseline="0" noProof="0" dirty="0">
                <a:ln>
                  <a:noFill/>
                </a:ln>
                <a:solidFill>
                  <a:srgbClr val="F4F4FF"/>
                </a:solidFill>
                <a:effectLst/>
                <a:uLnTx/>
                <a:uFillTx/>
                <a:latin typeface="Gill Sans MT" panose="020B0502020104020203"/>
                <a:ea typeface="+mn-ea"/>
                <a:cs typeface="+mn-cs"/>
              </a:rPr>
              <a:t> - </a:t>
            </a:r>
            <a:r>
              <a:rPr kumimoji="0" lang="en-US" sz="2800" b="1" i="0" u="none" strike="noStrike" kern="1200" cap="none" spc="0" normalizeH="0" baseline="0" noProof="0" dirty="0">
                <a:ln>
                  <a:noFill/>
                </a:ln>
                <a:solidFill>
                  <a:srgbClr val="F4F4FF"/>
                </a:solidFill>
                <a:effectLst/>
                <a:uLnTx/>
                <a:uFillTx/>
                <a:latin typeface="Figtree SemiBold" pitchFamily="2" charset="0"/>
                <a:ea typeface="+mn-ea"/>
                <a:cs typeface="+mn-cs"/>
              </a:rPr>
              <a:t>200MW </a:t>
            </a:r>
            <a:r>
              <a:rPr kumimoji="0" lang="en-US" sz="2800" b="0" i="0" u="none" strike="noStrike" kern="1200" cap="none" spc="0" normalizeH="0" baseline="0" noProof="0" dirty="0">
                <a:ln>
                  <a:noFill/>
                </a:ln>
                <a:solidFill>
                  <a:srgbClr val="F4F4FF"/>
                </a:solidFill>
                <a:effectLst/>
                <a:uLnTx/>
                <a:uFillTx/>
                <a:latin typeface="Figtree Light" pitchFamily="2" charset="0"/>
                <a:ea typeface="+mn-ea"/>
                <a:cs typeface="+mn-cs"/>
              </a:rPr>
              <a:t>ready-to-build</a:t>
            </a:r>
            <a:r>
              <a:rPr kumimoji="0" lang="en-US" sz="2800" b="0" i="0" u="none" strike="noStrike" kern="1200" cap="none" spc="0" normalizeH="0" baseline="0" noProof="0" dirty="0">
                <a:ln>
                  <a:noFill/>
                </a:ln>
                <a:solidFill>
                  <a:srgbClr val="F4F4FF"/>
                </a:solidFill>
                <a:effectLst/>
                <a:uLnTx/>
                <a:uFillTx/>
                <a:latin typeface="Gill Sans MT" panose="020B0502020104020203"/>
                <a:ea typeface="+mn-ea"/>
                <a:cs typeface="+mn-cs"/>
              </a:rPr>
              <a:t> </a:t>
            </a:r>
            <a:r>
              <a:rPr kumimoji="0" lang="en-US" sz="2800" b="1" i="0" u="none" strike="noStrike" kern="1200" cap="none" spc="0" normalizeH="0" baseline="0" noProof="0" dirty="0">
                <a:ln>
                  <a:noFill/>
                </a:ln>
                <a:solidFill>
                  <a:srgbClr val="F4F4FF"/>
                </a:solidFill>
                <a:effectLst/>
                <a:uLnTx/>
                <a:uFillTx/>
                <a:latin typeface="Figtree SemiBold" pitchFamily="2" charset="0"/>
                <a:ea typeface="+mn-ea"/>
                <a:cs typeface="+mn-cs"/>
              </a:rPr>
              <a:t>37.5 MW </a:t>
            </a:r>
            <a:r>
              <a:rPr kumimoji="0" lang="en-US" sz="2800" b="0" i="0" u="none" strike="noStrike" kern="1200" cap="none" spc="0" normalizeH="0" baseline="0" noProof="0" dirty="0">
                <a:ln>
                  <a:noFill/>
                </a:ln>
                <a:solidFill>
                  <a:srgbClr val="F4F4FF"/>
                </a:solidFill>
                <a:effectLst/>
                <a:uLnTx/>
                <a:uFillTx/>
                <a:latin typeface="Figtree Light" pitchFamily="2" charset="0"/>
                <a:ea typeface="+mn-ea"/>
                <a:cs typeface="+mn-cs"/>
              </a:rPr>
              <a:t>SIN01</a:t>
            </a:r>
            <a:r>
              <a:rPr kumimoji="0" lang="en-US" sz="2800" b="1" i="0" u="none" strike="noStrike" kern="1200" cap="none" spc="0" normalizeH="0" baseline="0" noProof="0" dirty="0">
                <a:ln>
                  <a:noFill/>
                </a:ln>
                <a:solidFill>
                  <a:srgbClr val="F4F4FF"/>
                </a:solidFill>
                <a:effectLst/>
                <a:uLnTx/>
                <a:uFillTx/>
                <a:latin typeface="Gill Sans MT" panose="020B0502020104020203"/>
                <a:ea typeface="+mn-ea"/>
                <a:cs typeface="+mn-cs"/>
              </a:rPr>
              <a:t> </a:t>
            </a:r>
            <a:r>
              <a:rPr kumimoji="0" lang="en-US" sz="2800" b="0" i="0" u="none" strike="noStrike" kern="1200" cap="none" spc="0" normalizeH="0" baseline="0" noProof="0" dirty="0">
                <a:ln>
                  <a:noFill/>
                </a:ln>
                <a:solidFill>
                  <a:srgbClr val="F4F4FF"/>
                </a:solidFill>
                <a:effectLst/>
                <a:uLnTx/>
                <a:uFillTx/>
                <a:latin typeface="Gill Sans MT" panose="020B0502020104020203"/>
                <a:ea typeface="+mn-ea"/>
                <a:cs typeface="+mn-cs"/>
              </a:rPr>
              <a:t>-</a:t>
            </a:r>
            <a:r>
              <a:rPr kumimoji="0" lang="en-US" sz="2800" b="1" i="0" u="none" strike="noStrike" kern="1200" cap="none" spc="0" normalizeH="0" baseline="0" noProof="0" dirty="0">
                <a:ln>
                  <a:noFill/>
                </a:ln>
                <a:solidFill>
                  <a:srgbClr val="F4F4FF"/>
                </a:solidFill>
                <a:effectLst/>
                <a:uLnTx/>
                <a:uFillTx/>
                <a:latin typeface="Gill Sans MT" panose="020B0502020104020203"/>
                <a:ea typeface="+mn-ea"/>
                <a:cs typeface="+mn-cs"/>
              </a:rPr>
              <a:t> </a:t>
            </a:r>
            <a:r>
              <a:rPr kumimoji="0" lang="en-US" sz="2800" b="1" i="0" u="none" strike="noStrike" kern="1200" cap="none" spc="0" normalizeH="0" baseline="0" noProof="0" dirty="0">
                <a:ln>
                  <a:noFill/>
                </a:ln>
                <a:solidFill>
                  <a:srgbClr val="F4F4FF"/>
                </a:solidFill>
                <a:effectLst/>
                <a:uLnTx/>
                <a:uFillTx/>
                <a:latin typeface="Figtree SemiBold" pitchFamily="2" charset="0"/>
                <a:ea typeface="+mn-ea"/>
                <a:cs typeface="+mn-cs"/>
              </a:rPr>
              <a:t>AI-ready</a:t>
            </a:r>
            <a:r>
              <a:rPr kumimoji="0" lang="en-US" sz="2800" b="1" i="0" u="none" strike="noStrike" kern="1200" cap="none" spc="0" normalizeH="0" baseline="0" noProof="0" dirty="0">
                <a:ln>
                  <a:noFill/>
                </a:ln>
                <a:solidFill>
                  <a:srgbClr val="F4F4FF"/>
                </a:solidFill>
                <a:effectLst/>
                <a:uLnTx/>
                <a:uFillTx/>
                <a:latin typeface="Gill Sans MT" panose="020B0502020104020203"/>
                <a:ea typeface="+mn-ea"/>
                <a:cs typeface="+mn-cs"/>
              </a:rPr>
              <a:t> </a:t>
            </a:r>
            <a:r>
              <a:rPr kumimoji="0" lang="en-US" sz="2800" b="0" i="0" u="none" strike="noStrike" kern="1200" cap="none" spc="0" normalizeH="0" baseline="0" noProof="0" dirty="0">
                <a:ln>
                  <a:noFill/>
                </a:ln>
                <a:solidFill>
                  <a:srgbClr val="F4F4FF"/>
                </a:solidFill>
                <a:effectLst/>
                <a:uLnTx/>
                <a:uFillTx/>
                <a:latin typeface="Figtree Light" pitchFamily="2" charset="0"/>
                <a:ea typeface="+mn-ea"/>
                <a:cs typeface="+mn-cs"/>
              </a:rPr>
              <a:t>design</a:t>
            </a:r>
          </a:p>
          <a:p>
            <a:pPr marL="0" marR="0" lvl="0" indent="0" algn="ctr" defTabSz="914263"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800" b="1" i="0" u="none" strike="noStrike" kern="1200" cap="none" spc="0" normalizeH="0" baseline="0" noProof="0" dirty="0">
                <a:ln>
                  <a:noFill/>
                </a:ln>
                <a:solidFill>
                  <a:srgbClr val="F4F4FF"/>
                </a:solidFill>
                <a:effectLst/>
                <a:uLnTx/>
                <a:uFillTx/>
                <a:latin typeface="Figtree SemiBold" pitchFamily="2" charset="0"/>
                <a:ea typeface="+mn-ea"/>
                <a:cs typeface="+mn-cs"/>
              </a:rPr>
              <a:t>SOC 2</a:t>
            </a:r>
            <a:r>
              <a:rPr kumimoji="0" lang="en-US" sz="2800" b="0" i="0" u="none" strike="noStrike" kern="1200" cap="none" spc="0" normalizeH="0" baseline="0" noProof="0" dirty="0">
                <a:ln>
                  <a:noFill/>
                </a:ln>
                <a:solidFill>
                  <a:srgbClr val="F4F4FF"/>
                </a:solidFill>
                <a:effectLst/>
                <a:uLnTx/>
                <a:uFillTx/>
                <a:latin typeface="Gill Sans MT" panose="020B0502020104020203"/>
                <a:ea typeface="+mn-ea"/>
                <a:cs typeface="+mn-cs"/>
              </a:rPr>
              <a:t> - </a:t>
            </a:r>
            <a:r>
              <a:rPr kumimoji="0" lang="en-US" sz="2800" b="0" i="0" u="none" strike="noStrike" kern="1200" cap="none" spc="0" normalizeH="0" baseline="0" noProof="0" dirty="0">
                <a:ln>
                  <a:noFill/>
                </a:ln>
                <a:solidFill>
                  <a:srgbClr val="F4F4FF"/>
                </a:solidFill>
                <a:effectLst/>
                <a:uLnTx/>
                <a:uFillTx/>
                <a:latin typeface="Figtree Light" pitchFamily="2" charset="0"/>
                <a:ea typeface="+mn-ea"/>
                <a:cs typeface="+mn-cs"/>
              </a:rPr>
              <a:t>Leed Gold </a:t>
            </a:r>
            <a:r>
              <a:rPr kumimoji="0" lang="en-US" sz="2800" b="0" i="0" u="none" strike="noStrike" kern="1200" cap="none" spc="0" normalizeH="0" baseline="0" noProof="0" dirty="0">
                <a:ln>
                  <a:noFill/>
                </a:ln>
                <a:solidFill>
                  <a:srgbClr val="F4F4FF"/>
                </a:solidFill>
                <a:effectLst/>
                <a:uLnTx/>
                <a:uFillTx/>
                <a:latin typeface="Gill Sans MT" panose="020B0502020104020203"/>
                <a:ea typeface="+mn-ea"/>
                <a:cs typeface="+mn-cs"/>
              </a:rPr>
              <a:t>-</a:t>
            </a:r>
            <a:r>
              <a:rPr kumimoji="0" lang="en-US" sz="2800" b="1" i="0" u="none" strike="noStrike" kern="1200" cap="none" spc="0" normalizeH="0" baseline="0" noProof="0" dirty="0">
                <a:ln>
                  <a:noFill/>
                </a:ln>
                <a:solidFill>
                  <a:srgbClr val="F4F4FF"/>
                </a:solidFill>
                <a:effectLst/>
                <a:uLnTx/>
                <a:uFillTx/>
                <a:latin typeface="Gill Sans MT" panose="020B0502020104020203"/>
                <a:ea typeface="+mn-ea"/>
                <a:cs typeface="+mn-cs"/>
              </a:rPr>
              <a:t> </a:t>
            </a:r>
            <a:r>
              <a:rPr kumimoji="0" lang="en-US" sz="2800" b="1" i="0" u="none" strike="noStrike" kern="1200" cap="none" spc="0" normalizeH="0" baseline="0" noProof="0" dirty="0">
                <a:ln>
                  <a:noFill/>
                </a:ln>
                <a:solidFill>
                  <a:srgbClr val="F4F4FF"/>
                </a:solidFill>
                <a:effectLst/>
                <a:uLnTx/>
                <a:uFillTx/>
                <a:latin typeface="Figtree SemiBold" pitchFamily="2" charset="0"/>
                <a:ea typeface="+mn-ea"/>
                <a:cs typeface="+mn-cs"/>
              </a:rPr>
              <a:t>ISO27001 - OCP </a:t>
            </a:r>
            <a:r>
              <a:rPr kumimoji="0" lang="en-US" sz="2800" b="0" i="0" u="none" strike="noStrike" kern="1200" cap="none" spc="0" normalizeH="0" baseline="0" noProof="0" dirty="0">
                <a:ln>
                  <a:noFill/>
                </a:ln>
                <a:solidFill>
                  <a:srgbClr val="F4F4FF"/>
                </a:solidFill>
                <a:effectLst/>
                <a:uLnTx/>
                <a:uFillTx/>
                <a:latin typeface="Figtree Light" pitchFamily="2" charset="0"/>
                <a:ea typeface="+mn-ea"/>
                <a:cs typeface="+mn-cs"/>
              </a:rPr>
              <a:t>Read</a:t>
            </a:r>
            <a:r>
              <a:rPr kumimoji="0" lang="en-US" sz="2800" b="0" i="0" u="none" strike="noStrike" kern="1200" cap="none" spc="0" normalizeH="0" baseline="0" noProof="0" dirty="0">
                <a:ln>
                  <a:noFill/>
                </a:ln>
                <a:solidFill>
                  <a:srgbClr val="F4F4FF"/>
                </a:solidFill>
                <a:effectLst/>
                <a:uLnTx/>
                <a:uFillTx/>
                <a:latin typeface="Gill Sans MT" panose="020B0502020104020203"/>
                <a:ea typeface="+mn-ea"/>
                <a:cs typeface="+mn-cs"/>
              </a:rPr>
              <a:t>y</a:t>
            </a:r>
          </a:p>
        </p:txBody>
      </p:sp>
      <p:sp>
        <p:nvSpPr>
          <p:cNvPr id="21" name="Text Placeholder 1">
            <a:extLst>
              <a:ext uri="{FF2B5EF4-FFF2-40B4-BE49-F238E27FC236}">
                <a16:creationId xmlns:a16="http://schemas.microsoft.com/office/drawing/2014/main" id="{D71F6043-CFED-E731-9B8B-8BE410825FAA}"/>
              </a:ext>
            </a:extLst>
          </p:cNvPr>
          <p:cNvSpPr txBox="1">
            <a:spLocks/>
          </p:cNvSpPr>
          <p:nvPr/>
        </p:nvSpPr>
        <p:spPr>
          <a:xfrm>
            <a:off x="11279309" y="7671332"/>
            <a:ext cx="6912000" cy="1008000"/>
          </a:xfrm>
          <a:prstGeom prst="rect">
            <a:avLst/>
          </a:prstGeom>
        </p:spPr>
        <p:txBody>
          <a:bodyPr lIns="0" tIns="0" rIns="0" bIns="0" anchor="ctr">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2800" b="0" i="0" u="none" strike="noStrike" kern="1200" cap="none" spc="0" normalizeH="0" baseline="0" noProof="0">
              <a:ln>
                <a:noFill/>
              </a:ln>
              <a:solidFill>
                <a:srgbClr val="000000"/>
              </a:solidFill>
              <a:effectLst/>
              <a:uLnTx/>
              <a:uFillTx/>
              <a:latin typeface="Figtree" pitchFamily="2" charset="0"/>
              <a:ea typeface="+mn-ea"/>
              <a:cs typeface="+mn-cs"/>
            </a:endParaRPr>
          </a:p>
        </p:txBody>
      </p:sp>
      <p:sp>
        <p:nvSpPr>
          <p:cNvPr id="45" name="Text Placeholder 1">
            <a:extLst>
              <a:ext uri="{FF2B5EF4-FFF2-40B4-BE49-F238E27FC236}">
                <a16:creationId xmlns:a16="http://schemas.microsoft.com/office/drawing/2014/main" id="{DDB9985C-E95B-40E7-31BE-909849684815}"/>
              </a:ext>
            </a:extLst>
          </p:cNvPr>
          <p:cNvSpPr txBox="1">
            <a:spLocks/>
          </p:cNvSpPr>
          <p:nvPr/>
        </p:nvSpPr>
        <p:spPr>
          <a:xfrm>
            <a:off x="10803386" y="12046835"/>
            <a:ext cx="8889355" cy="1080000"/>
          </a:xfrm>
          <a:prstGeom prst="rect">
            <a:avLst/>
          </a:prstGeom>
        </p:spPr>
        <p:txBody>
          <a:bodyPr lIns="0" tIns="0" rIns="0" bIns="0" anchor="ctr">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600" b="1" i="0" u="none" strike="noStrike" kern="1200" cap="none" spc="0" normalizeH="0" baseline="0" noProof="0" dirty="0">
                <a:ln>
                  <a:noFill/>
                </a:ln>
                <a:solidFill>
                  <a:srgbClr val="00C159"/>
                </a:solidFill>
                <a:effectLst/>
                <a:uLnTx/>
                <a:uFillTx/>
                <a:latin typeface="Figtree SemiBold" pitchFamily="2" charset="0"/>
                <a:ea typeface="+mn-ea"/>
                <a:cs typeface="+mn-cs"/>
              </a:rPr>
              <a:t>Low cost </a:t>
            </a:r>
            <a:r>
              <a:rPr kumimoji="0" lang="en-US" sz="3600" b="1" i="0" u="none" strike="noStrike" kern="1200" cap="none" spc="0" normalizeH="0" baseline="0" noProof="0" dirty="0">
                <a:ln>
                  <a:noFill/>
                </a:ln>
                <a:solidFill>
                  <a:srgbClr val="F4F4FF"/>
                </a:solidFill>
                <a:effectLst/>
                <a:uLnTx/>
                <a:uFillTx/>
                <a:latin typeface="Figtree SemiBold" pitchFamily="2" charset="0"/>
                <a:ea typeface="+mn-ea"/>
                <a:cs typeface="+mn-cs"/>
              </a:rPr>
              <a:t>and </a:t>
            </a:r>
            <a:r>
              <a:rPr kumimoji="0" lang="en-US" sz="3600" b="1" i="0" u="none" strike="noStrike" kern="1200" cap="none" spc="0" normalizeH="0" baseline="0" noProof="0" dirty="0">
                <a:ln>
                  <a:noFill/>
                </a:ln>
                <a:solidFill>
                  <a:srgbClr val="00C159"/>
                </a:solidFill>
                <a:effectLst/>
                <a:uLnTx/>
                <a:uFillTx/>
                <a:latin typeface="Figtree SemiBold" pitchFamily="2" charset="0"/>
                <a:ea typeface="+mn-ea"/>
                <a:cs typeface="+mn-cs"/>
              </a:rPr>
              <a:t>100% renewable power</a:t>
            </a:r>
          </a:p>
        </p:txBody>
      </p:sp>
      <p:sp>
        <p:nvSpPr>
          <p:cNvPr id="27" name="Text Placeholder 1">
            <a:extLst>
              <a:ext uri="{FF2B5EF4-FFF2-40B4-BE49-F238E27FC236}">
                <a16:creationId xmlns:a16="http://schemas.microsoft.com/office/drawing/2014/main" id="{3BBAF1FA-E052-5EFD-1DA9-07B5B1B0E372}"/>
              </a:ext>
            </a:extLst>
          </p:cNvPr>
          <p:cNvSpPr txBox="1">
            <a:spLocks/>
          </p:cNvSpPr>
          <p:nvPr/>
        </p:nvSpPr>
        <p:spPr>
          <a:xfrm>
            <a:off x="10803387" y="11082896"/>
            <a:ext cx="8059798" cy="1080000"/>
          </a:xfrm>
          <a:prstGeom prst="rect">
            <a:avLst/>
          </a:prstGeom>
        </p:spPr>
        <p:txBody>
          <a:bodyPr lIns="0" tIns="0" rIns="0" bIns="0" anchor="ctr">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3600" b="1" i="0" u="none" strike="noStrike" kern="1200" cap="none" spc="0" normalizeH="0" baseline="0" noProof="0" dirty="0">
                <a:ln>
                  <a:noFill/>
                </a:ln>
                <a:solidFill>
                  <a:srgbClr val="00C159"/>
                </a:solidFill>
                <a:effectLst/>
                <a:uLnTx/>
                <a:uFillTx/>
                <a:latin typeface="Figtree SemiBold" pitchFamily="2" charset="0"/>
                <a:ea typeface="+mn-ea"/>
                <a:cs typeface="+mn-cs"/>
              </a:rPr>
              <a:t>Low latency </a:t>
            </a:r>
            <a:r>
              <a:rPr kumimoji="0" lang="en-US" sz="3600" b="1" i="0" u="none" strike="noStrike" kern="1200" cap="none" spc="0" normalizeH="0" baseline="0" noProof="0" dirty="0">
                <a:ln>
                  <a:noFill/>
                </a:ln>
                <a:solidFill>
                  <a:srgbClr val="F4F4FF"/>
                </a:solidFill>
                <a:effectLst/>
                <a:uLnTx/>
                <a:uFillTx/>
                <a:latin typeface="Figtree SemiBold" pitchFamily="2" charset="0"/>
                <a:ea typeface="+mn-ea"/>
                <a:cs typeface="+mn-cs"/>
              </a:rPr>
              <a:t>to all major cities</a:t>
            </a:r>
          </a:p>
        </p:txBody>
      </p:sp>
      <p:sp>
        <p:nvSpPr>
          <p:cNvPr id="4" name="Text Placeholder 1">
            <a:extLst>
              <a:ext uri="{FF2B5EF4-FFF2-40B4-BE49-F238E27FC236}">
                <a16:creationId xmlns:a16="http://schemas.microsoft.com/office/drawing/2014/main" id="{70099AC4-ABAE-0E9F-3CCE-6628AE1E4659}"/>
              </a:ext>
            </a:extLst>
          </p:cNvPr>
          <p:cNvSpPr txBox="1">
            <a:spLocks/>
          </p:cNvSpPr>
          <p:nvPr/>
        </p:nvSpPr>
        <p:spPr>
          <a:xfrm>
            <a:off x="525707" y="9887313"/>
            <a:ext cx="7840800" cy="1440000"/>
          </a:xfrm>
          <a:prstGeom prst="rect">
            <a:avLst/>
          </a:prstGeom>
        </p:spPr>
        <p:txBody>
          <a:bodyPr lIns="72000" tIns="36000" rIns="72000" bIns="36000" anchor="t">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1" indent="0" algn="l" defTabSz="914263" rtl="0" eaLnBrk="1" fontAlgn="auto" latinLnBrk="0" hangingPunct="1">
              <a:lnSpc>
                <a:spcPct val="100000"/>
              </a:lnSpc>
              <a:spcBef>
                <a:spcPts val="500"/>
              </a:spcBef>
              <a:spcAft>
                <a:spcPts val="0"/>
              </a:spcAft>
              <a:buClrTx/>
              <a:buSzPct val="120000"/>
              <a:buFont typeface="Arial" panose="020B0604020202020204" pitchFamily="34" charset="0"/>
              <a:buNone/>
              <a:tabLst/>
              <a:defRPr/>
            </a:pPr>
            <a:endParaRPr kumimoji="0" lang="en-US" sz="2800" b="0" i="0" u="none" strike="noStrike" kern="1200" cap="none" spc="0" normalizeH="0" baseline="0" noProof="0">
              <a:ln>
                <a:noFill/>
              </a:ln>
              <a:solidFill>
                <a:srgbClr val="000000"/>
              </a:solidFill>
              <a:effectLst/>
              <a:uLnTx/>
              <a:uFillTx/>
              <a:latin typeface="Figtree" pitchFamily="2" charset="0"/>
              <a:ea typeface="+mn-ea"/>
              <a:cs typeface="+mn-cs"/>
            </a:endParaRPr>
          </a:p>
        </p:txBody>
      </p:sp>
      <p:sp>
        <p:nvSpPr>
          <p:cNvPr id="26" name="TextBox 25">
            <a:extLst>
              <a:ext uri="{FF2B5EF4-FFF2-40B4-BE49-F238E27FC236}">
                <a16:creationId xmlns:a16="http://schemas.microsoft.com/office/drawing/2014/main" id="{51293BB1-BC40-C8AE-654C-E8CAF729044D}"/>
              </a:ext>
            </a:extLst>
          </p:cNvPr>
          <p:cNvSpPr txBox="1"/>
          <p:nvPr/>
        </p:nvSpPr>
        <p:spPr>
          <a:xfrm>
            <a:off x="20038624" y="11893730"/>
            <a:ext cx="4210050" cy="954107"/>
          </a:xfrm>
          <a:prstGeom prst="rect">
            <a:avLst/>
          </a:prstGeom>
          <a:noFill/>
        </p:spPr>
        <p:txBody>
          <a:bodyPr wrap="square">
            <a:spAutoFit/>
          </a:bodyPr>
          <a:lstStyle/>
          <a:p>
            <a:pPr marL="0" marR="0" lvl="0" indent="0" algn="ctr" defTabSz="1828526"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0C159"/>
                </a:solidFill>
                <a:effectLst/>
                <a:uLnTx/>
                <a:uFillTx/>
                <a:latin typeface="Figtree Light" pitchFamily="2" charset="0"/>
                <a:ea typeface="+mn-ea"/>
                <a:cs typeface="+mn-cs"/>
                <a:hlinkClick r:id="rId3"/>
              </a:rPr>
              <a:t>www.startcampus.pt</a:t>
            </a:r>
            <a:br>
              <a:rPr kumimoji="0" lang="en-US" sz="2800" b="0" i="0" u="none" strike="noStrike" kern="1200" cap="none" spc="0" normalizeH="0" baseline="0" noProof="0" dirty="0">
                <a:ln>
                  <a:noFill/>
                </a:ln>
                <a:solidFill>
                  <a:srgbClr val="F4F4FF"/>
                </a:solidFill>
                <a:effectLst/>
                <a:uLnTx/>
                <a:uFillTx/>
                <a:latin typeface="Figtree Light" pitchFamily="2" charset="0"/>
                <a:ea typeface="+mn-ea"/>
                <a:cs typeface="+mn-cs"/>
              </a:rPr>
            </a:br>
            <a:r>
              <a:rPr kumimoji="0" lang="en-US" sz="2800" b="0" i="0" u="none" strike="noStrike" kern="1200" cap="none" spc="0" normalizeH="0" baseline="0" noProof="0" dirty="0">
                <a:ln>
                  <a:noFill/>
                </a:ln>
                <a:solidFill>
                  <a:srgbClr val="F4F4FF"/>
                </a:solidFill>
                <a:effectLst/>
                <a:uLnTx/>
                <a:uFillTx/>
                <a:latin typeface="Figtree Light" pitchFamily="2" charset="0"/>
                <a:ea typeface="+mn-ea"/>
                <a:cs typeface="+mn-cs"/>
              </a:rPr>
              <a:t>sales@startcampus.pt  </a:t>
            </a:r>
          </a:p>
        </p:txBody>
      </p:sp>
      <p:pic>
        <p:nvPicPr>
          <p:cNvPr id="5" name="Picture 4">
            <a:extLst>
              <a:ext uri="{FF2B5EF4-FFF2-40B4-BE49-F238E27FC236}">
                <a16:creationId xmlns:a16="http://schemas.microsoft.com/office/drawing/2014/main" id="{C624F230-91F4-60B2-CFD8-6C50F4767C0E}"/>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767437" y="11611947"/>
            <a:ext cx="2331639" cy="1101898"/>
          </a:xfrm>
          <a:prstGeom prst="rect">
            <a:avLst/>
          </a:prstGeom>
        </p:spPr>
      </p:pic>
      <p:pic>
        <p:nvPicPr>
          <p:cNvPr id="1026" name="Picture 2">
            <a:extLst>
              <a:ext uri="{FF2B5EF4-FFF2-40B4-BE49-F238E27FC236}">
                <a16:creationId xmlns:a16="http://schemas.microsoft.com/office/drawing/2014/main" id="{9B5F7DDE-ECA0-B46D-CD46-7B3A182357C4}"/>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5437837" y="11386894"/>
            <a:ext cx="1458392" cy="145839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1DE70E3-A7B7-94A6-F66F-87AD8D535CB1}"/>
              </a:ext>
            </a:extLst>
          </p:cNvPr>
          <p:cNvPicPr>
            <a:picLocks noChangeAspect="1"/>
          </p:cNvPicPr>
          <p:nvPr/>
        </p:nvPicPr>
        <p:blipFill>
          <a:blip r:embed="rId6"/>
          <a:stretch>
            <a:fillRect/>
          </a:stretch>
        </p:blipFill>
        <p:spPr>
          <a:xfrm>
            <a:off x="8889050" y="-4233"/>
            <a:ext cx="15496538" cy="8010337"/>
          </a:xfrm>
          <a:prstGeom prst="rect">
            <a:avLst/>
          </a:prstGeom>
        </p:spPr>
      </p:pic>
      <p:pic>
        <p:nvPicPr>
          <p:cNvPr id="10" name="Picture 9">
            <a:extLst>
              <a:ext uri="{FF2B5EF4-FFF2-40B4-BE49-F238E27FC236}">
                <a16:creationId xmlns:a16="http://schemas.microsoft.com/office/drawing/2014/main" id="{801BECD9-2BCA-058E-020D-98FF72772625}"/>
              </a:ext>
            </a:extLst>
          </p:cNvPr>
          <p:cNvPicPr>
            <a:picLocks noChangeAspect="1"/>
          </p:cNvPicPr>
          <p:nvPr/>
        </p:nvPicPr>
        <p:blipFill>
          <a:blip r:embed="rId7" cstate="email">
            <a:extLst>
              <a:ext uri="{28A0092B-C50C-407E-A947-70E740481C1C}">
                <a14:useLocalDpi xmlns:a14="http://schemas.microsoft.com/office/drawing/2010/main"/>
              </a:ext>
            </a:extLst>
          </a:blip>
          <a:stretch>
            <a:fillRect/>
          </a:stretch>
        </p:blipFill>
        <p:spPr>
          <a:xfrm>
            <a:off x="8888241" y="-4233"/>
            <a:ext cx="15498933" cy="8718150"/>
          </a:xfrm>
          <a:prstGeom prst="rect">
            <a:avLst/>
          </a:prstGeom>
        </p:spPr>
      </p:pic>
      <p:pic>
        <p:nvPicPr>
          <p:cNvPr id="28" name="Graphic 27">
            <a:extLst>
              <a:ext uri="{FF2B5EF4-FFF2-40B4-BE49-F238E27FC236}">
                <a16:creationId xmlns:a16="http://schemas.microsoft.com/office/drawing/2014/main" id="{96C6C911-14CF-D47F-1F7E-70F9410161B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299430" y="720372"/>
            <a:ext cx="4277139" cy="1417836"/>
          </a:xfrm>
          <a:prstGeom prst="rect">
            <a:avLst/>
          </a:prstGeom>
        </p:spPr>
      </p:pic>
      <p:grpSp>
        <p:nvGrpSpPr>
          <p:cNvPr id="41" name="Group 40">
            <a:extLst>
              <a:ext uri="{FF2B5EF4-FFF2-40B4-BE49-F238E27FC236}">
                <a16:creationId xmlns:a16="http://schemas.microsoft.com/office/drawing/2014/main" id="{49C69283-FD83-8667-818D-944AF369A53A}"/>
              </a:ext>
            </a:extLst>
          </p:cNvPr>
          <p:cNvGrpSpPr/>
          <p:nvPr/>
        </p:nvGrpSpPr>
        <p:grpSpPr>
          <a:xfrm>
            <a:off x="2123192" y="9256089"/>
            <a:ext cx="4629615" cy="1631950"/>
            <a:chOff x="2230511" y="9256089"/>
            <a:chExt cx="4629615" cy="1631950"/>
          </a:xfrm>
        </p:grpSpPr>
        <p:pic>
          <p:nvPicPr>
            <p:cNvPr id="9" name="Picture 8">
              <a:extLst>
                <a:ext uri="{FF2B5EF4-FFF2-40B4-BE49-F238E27FC236}">
                  <a16:creationId xmlns:a16="http://schemas.microsoft.com/office/drawing/2014/main" id="{18F5CD10-95B9-6119-1C75-0EF3CC424C66}"/>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5688579" y="9289033"/>
              <a:ext cx="1171547" cy="1499581"/>
            </a:xfrm>
            <a:prstGeom prst="rect">
              <a:avLst/>
            </a:prstGeom>
          </p:spPr>
        </p:pic>
        <p:pic>
          <p:nvPicPr>
            <p:cNvPr id="34" name="Picture 33">
              <a:extLst>
                <a:ext uri="{FF2B5EF4-FFF2-40B4-BE49-F238E27FC236}">
                  <a16:creationId xmlns:a16="http://schemas.microsoft.com/office/drawing/2014/main" id="{A53A01E0-9550-2488-687D-615884DC428C}"/>
                </a:ext>
              </a:extLst>
            </p:cNvPr>
            <p:cNvPicPr>
              <a:picLocks noChangeAspect="1"/>
            </p:cNvPicPr>
            <p:nvPr/>
          </p:nvPicPr>
          <p:blipFill>
            <a:blip r:embed="rId10" cstate="email">
              <a:extLst>
                <a:ext uri="{28A0092B-C50C-407E-A947-70E740481C1C}">
                  <a14:useLocalDpi xmlns:a14="http://schemas.microsoft.com/office/drawing/2010/main"/>
                </a:ext>
              </a:extLst>
            </a:blip>
            <a:srcRect/>
            <a:stretch>
              <a:fillRect/>
            </a:stretch>
          </p:blipFill>
          <p:spPr>
            <a:xfrm>
              <a:off x="2230511" y="9256089"/>
              <a:ext cx="1282700" cy="1631950"/>
            </a:xfrm>
            <a:prstGeom prst="rect">
              <a:avLst/>
            </a:prstGeom>
          </p:spPr>
        </p:pic>
      </p:grpSp>
      <p:pic>
        <p:nvPicPr>
          <p:cNvPr id="36" name="Picture 35">
            <a:extLst>
              <a:ext uri="{FF2B5EF4-FFF2-40B4-BE49-F238E27FC236}">
                <a16:creationId xmlns:a16="http://schemas.microsoft.com/office/drawing/2014/main" id="{B93591F2-24B5-B5B2-94E6-E95FEDD1B8A3}"/>
              </a:ext>
            </a:extLst>
          </p:cNvPr>
          <p:cNvPicPr>
            <a:picLocks noChangeAspect="1"/>
          </p:cNvPicPr>
          <p:nvPr/>
        </p:nvPicPr>
        <p:blipFill>
          <a:blip r:embed="rId11"/>
          <a:stretch>
            <a:fillRect/>
          </a:stretch>
        </p:blipFill>
        <p:spPr>
          <a:xfrm>
            <a:off x="9673168" y="9230466"/>
            <a:ext cx="852491" cy="3765162"/>
          </a:xfrm>
          <a:prstGeom prst="rect">
            <a:avLst/>
          </a:prstGeom>
        </p:spPr>
      </p:pic>
      <p:sp>
        <p:nvSpPr>
          <p:cNvPr id="37" name="Text Placeholder 1">
            <a:extLst>
              <a:ext uri="{FF2B5EF4-FFF2-40B4-BE49-F238E27FC236}">
                <a16:creationId xmlns:a16="http://schemas.microsoft.com/office/drawing/2014/main" id="{58118351-8737-EF85-6CC2-F09BA455BB78}"/>
              </a:ext>
            </a:extLst>
          </p:cNvPr>
          <p:cNvSpPr txBox="1">
            <a:spLocks/>
          </p:cNvSpPr>
          <p:nvPr/>
        </p:nvSpPr>
        <p:spPr>
          <a:xfrm>
            <a:off x="10803386" y="9155020"/>
            <a:ext cx="8889355" cy="1080000"/>
          </a:xfrm>
          <a:prstGeom prst="rect">
            <a:avLst/>
          </a:prstGeom>
        </p:spPr>
        <p:txBody>
          <a:bodyPr lIns="0" tIns="0" rIns="0" bIns="0" anchor="ctr">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pt-PT" sz="3600" b="1" i="0" u="none" strike="noStrike" kern="1200" cap="none" spc="0" normalizeH="0" baseline="0" noProof="0" dirty="0">
                <a:ln>
                  <a:noFill/>
                </a:ln>
                <a:solidFill>
                  <a:srgbClr val="00C159"/>
                </a:solidFill>
                <a:effectLst/>
                <a:uLnTx/>
                <a:uFillTx/>
                <a:latin typeface="Figtree SemiBold" pitchFamily="2" charset="0"/>
                <a:ea typeface="+mn-ea"/>
                <a:cs typeface="+mn-cs"/>
              </a:rPr>
              <a:t>1.2 GW </a:t>
            </a:r>
            <a:r>
              <a:rPr kumimoji="0" lang="pt-PT" sz="3600" b="1" i="0" u="none" strike="noStrike" kern="1200" cap="none" spc="0" normalizeH="0" baseline="0" noProof="0" dirty="0">
                <a:ln>
                  <a:noFill/>
                </a:ln>
                <a:solidFill>
                  <a:srgbClr val="F4F4FF"/>
                </a:solidFill>
                <a:effectLst/>
                <a:uLnTx/>
                <a:uFillTx/>
                <a:latin typeface="Figtree SemiBold" pitchFamily="2" charset="0"/>
                <a:ea typeface="+mn-ea"/>
                <a:cs typeface="+mn-cs"/>
              </a:rPr>
              <a:t>IT </a:t>
            </a:r>
            <a:r>
              <a:rPr kumimoji="0" lang="pt-PT" sz="3600" b="1" i="0" u="none" strike="noStrike" kern="1200" cap="none" spc="0" normalizeH="0" baseline="0" noProof="0" dirty="0" err="1">
                <a:ln>
                  <a:noFill/>
                </a:ln>
                <a:solidFill>
                  <a:srgbClr val="F4F4FF"/>
                </a:solidFill>
                <a:effectLst/>
                <a:uLnTx/>
                <a:uFillTx/>
                <a:latin typeface="Figtree SemiBold" pitchFamily="2" charset="0"/>
                <a:ea typeface="+mn-ea"/>
                <a:cs typeface="+mn-cs"/>
              </a:rPr>
              <a:t>capacity</a:t>
            </a:r>
            <a:endParaRPr kumimoji="0" lang="en-US" sz="3600" b="1" i="0" u="none" strike="noStrike" kern="1200" cap="none" spc="0" normalizeH="0" baseline="0" noProof="0" dirty="0">
              <a:ln>
                <a:noFill/>
              </a:ln>
              <a:solidFill>
                <a:srgbClr val="F4F4FF"/>
              </a:solidFill>
              <a:effectLst/>
              <a:uLnTx/>
              <a:uFillTx/>
              <a:latin typeface="Figtree SemiBold" pitchFamily="2" charset="0"/>
              <a:ea typeface="+mn-ea"/>
              <a:cs typeface="+mn-cs"/>
            </a:endParaRPr>
          </a:p>
        </p:txBody>
      </p:sp>
      <p:sp>
        <p:nvSpPr>
          <p:cNvPr id="38" name="Text Placeholder 1">
            <a:extLst>
              <a:ext uri="{FF2B5EF4-FFF2-40B4-BE49-F238E27FC236}">
                <a16:creationId xmlns:a16="http://schemas.microsoft.com/office/drawing/2014/main" id="{DDDB888A-348E-9A7A-4616-10D5E5400DDF}"/>
              </a:ext>
            </a:extLst>
          </p:cNvPr>
          <p:cNvSpPr txBox="1">
            <a:spLocks/>
          </p:cNvSpPr>
          <p:nvPr/>
        </p:nvSpPr>
        <p:spPr>
          <a:xfrm>
            <a:off x="10803387" y="10118958"/>
            <a:ext cx="8059798" cy="1080000"/>
          </a:xfrm>
          <a:prstGeom prst="rect">
            <a:avLst/>
          </a:prstGeom>
        </p:spPr>
        <p:txBody>
          <a:bodyPr lIns="0" tIns="0" rIns="0" bIns="0" anchor="ctr">
            <a:noAutofit/>
          </a:bodyPr>
          <a:lstStyle>
            <a:defPPr>
              <a:defRPr lang="en-PT"/>
            </a:defPPr>
            <a:lvl1pPr indent="0" defTabSz="914263">
              <a:lnSpc>
                <a:spcPct val="100000"/>
              </a:lnSpc>
              <a:spcBef>
                <a:spcPts val="0"/>
              </a:spcBef>
              <a:buFont typeface="Arial" panose="020B0604020202020204" pitchFamily="34" charset="0"/>
              <a:buNone/>
              <a:defRPr sz="1200" b="0" i="0"/>
            </a:lvl1pPr>
            <a:lvl2pPr marL="457132" indent="0" defTabSz="914263">
              <a:lnSpc>
                <a:spcPct val="90000"/>
              </a:lnSpc>
              <a:spcBef>
                <a:spcPts val="500"/>
              </a:spcBef>
              <a:buFont typeface="Arial" panose="020B0604020202020204" pitchFamily="34" charset="0"/>
              <a:buNone/>
            </a:lvl2pPr>
            <a:lvl3pPr marL="914263" indent="0" defTabSz="914263">
              <a:lnSpc>
                <a:spcPct val="90000"/>
              </a:lnSpc>
              <a:spcBef>
                <a:spcPts val="500"/>
              </a:spcBef>
              <a:buFont typeface="Arial" panose="020B0604020202020204" pitchFamily="34" charset="0"/>
              <a:buNone/>
            </a:lvl3pPr>
            <a:lvl4pPr marL="1371394" indent="0" defTabSz="914263">
              <a:lnSpc>
                <a:spcPct val="90000"/>
              </a:lnSpc>
              <a:spcBef>
                <a:spcPts val="500"/>
              </a:spcBef>
              <a:buFont typeface="Arial" panose="020B0604020202020204" pitchFamily="34" charset="0"/>
              <a:buNone/>
            </a:lvl4pPr>
            <a:lvl5pPr marL="1828526" indent="0" defTabSz="914263">
              <a:lnSpc>
                <a:spcPct val="90000"/>
              </a:lnSpc>
              <a:spcBef>
                <a:spcPts val="500"/>
              </a:spcBef>
              <a:buFont typeface="Arial" panose="020B0604020202020204" pitchFamily="34" charset="0"/>
              <a:buNone/>
            </a:lvl5pPr>
            <a:lvl6pPr marL="2285657" indent="0" defTabSz="914263">
              <a:lnSpc>
                <a:spcPct val="90000"/>
              </a:lnSpc>
              <a:spcBef>
                <a:spcPts val="500"/>
              </a:spcBef>
              <a:buFont typeface="Arial" panose="020B0604020202020204" pitchFamily="34" charset="0"/>
              <a:buNone/>
            </a:lvl6pPr>
            <a:lvl7pPr marL="2742788" indent="0" defTabSz="914263">
              <a:lnSpc>
                <a:spcPct val="90000"/>
              </a:lnSpc>
              <a:spcBef>
                <a:spcPts val="500"/>
              </a:spcBef>
              <a:buFont typeface="Arial" panose="020B0604020202020204" pitchFamily="34" charset="0"/>
              <a:buNone/>
            </a:lvl7pPr>
            <a:lvl8pPr marL="3199920" indent="0" defTabSz="914263">
              <a:lnSpc>
                <a:spcPct val="90000"/>
              </a:lnSpc>
              <a:spcBef>
                <a:spcPts val="500"/>
              </a:spcBef>
              <a:buFont typeface="Arial" panose="020B0604020202020204" pitchFamily="34" charset="0"/>
              <a:buNone/>
            </a:lvl8pPr>
            <a:lvl9pPr marL="3657051" indent="0" defTabSz="914263">
              <a:lnSpc>
                <a:spcPct val="90000"/>
              </a:lnSpc>
              <a:spcBef>
                <a:spcPts val="500"/>
              </a:spcBef>
              <a:buFont typeface="Arial" panose="020B0604020202020204" pitchFamily="34" charset="0"/>
              <a:buNone/>
            </a:lvl9pPr>
          </a:lstStyle>
          <a:p>
            <a:pPr marL="0" marR="0" lvl="0" indent="0" algn="l" defTabSz="18285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pt-PT" sz="3600" b="1" i="0" u="none" strike="noStrike" kern="1200" cap="none" spc="0" normalizeH="0" baseline="0" noProof="0" dirty="0">
                <a:ln>
                  <a:noFill/>
                </a:ln>
                <a:solidFill>
                  <a:srgbClr val="00C159"/>
                </a:solidFill>
                <a:effectLst/>
                <a:uLnTx/>
                <a:uFillTx/>
                <a:latin typeface="Figtree SemiBold" pitchFamily="2" charset="0"/>
                <a:ea typeface="+mn-ea"/>
                <a:cs typeface="+mn-cs"/>
              </a:rPr>
              <a:t>100% </a:t>
            </a:r>
            <a:r>
              <a:rPr kumimoji="0" lang="pt-PT" sz="3600" b="1" i="0" u="none" strike="noStrike" kern="1200" cap="none" spc="0" normalizeH="0" baseline="0" noProof="0" dirty="0" err="1">
                <a:ln>
                  <a:noFill/>
                </a:ln>
                <a:solidFill>
                  <a:srgbClr val="F4F4FF"/>
                </a:solidFill>
                <a:effectLst/>
                <a:uLnTx/>
                <a:uFillTx/>
                <a:latin typeface="Figtree SemiBold" pitchFamily="2" charset="0"/>
                <a:ea typeface="+mn-ea"/>
                <a:cs typeface="+mn-cs"/>
              </a:rPr>
              <a:t>Grid</a:t>
            </a:r>
            <a:r>
              <a:rPr kumimoji="0" lang="pt-PT" sz="3600" b="1" i="0" u="none" strike="noStrike" kern="1200" cap="none" spc="0" normalizeH="0" baseline="0" noProof="0" dirty="0">
                <a:ln>
                  <a:noFill/>
                </a:ln>
                <a:solidFill>
                  <a:srgbClr val="F4F4FF"/>
                </a:solidFill>
                <a:effectLst/>
                <a:uLnTx/>
                <a:uFillTx/>
                <a:latin typeface="Figtree SemiBold" pitchFamily="2" charset="0"/>
                <a:ea typeface="+mn-ea"/>
                <a:cs typeface="+mn-cs"/>
              </a:rPr>
              <a:t> </a:t>
            </a:r>
            <a:r>
              <a:rPr kumimoji="0" lang="pt-PT" sz="3600" b="1" i="0" u="none" strike="noStrike" kern="1200" cap="none" spc="0" normalizeH="0" baseline="0" noProof="0" dirty="0" err="1">
                <a:ln>
                  <a:noFill/>
                </a:ln>
                <a:solidFill>
                  <a:srgbClr val="F4F4FF"/>
                </a:solidFill>
                <a:effectLst/>
                <a:uLnTx/>
                <a:uFillTx/>
                <a:latin typeface="Figtree SemiBold" pitchFamily="2" charset="0"/>
                <a:ea typeface="+mn-ea"/>
                <a:cs typeface="+mn-cs"/>
              </a:rPr>
              <a:t>capacity</a:t>
            </a:r>
            <a:r>
              <a:rPr kumimoji="0" lang="pt-PT" sz="3600" b="1" i="0" u="none" strike="noStrike" kern="1200" cap="none" spc="0" normalizeH="0" baseline="0" noProof="0" dirty="0">
                <a:ln>
                  <a:noFill/>
                </a:ln>
                <a:solidFill>
                  <a:srgbClr val="F4F4FF"/>
                </a:solidFill>
                <a:effectLst/>
                <a:uLnTx/>
                <a:uFillTx/>
                <a:latin typeface="Figtree SemiBold" pitchFamily="2" charset="0"/>
                <a:ea typeface="+mn-ea"/>
                <a:cs typeface="+mn-cs"/>
              </a:rPr>
              <a:t> </a:t>
            </a:r>
            <a:r>
              <a:rPr kumimoji="0" lang="pt-PT" sz="3600" b="1" i="0" u="none" strike="noStrike" kern="1200" cap="none" spc="0" normalizeH="0" baseline="0" noProof="0" dirty="0" err="1">
                <a:ln>
                  <a:noFill/>
                </a:ln>
                <a:solidFill>
                  <a:srgbClr val="F4F4FF"/>
                </a:solidFill>
                <a:effectLst/>
                <a:uLnTx/>
                <a:uFillTx/>
                <a:latin typeface="Figtree SemiBold" pitchFamily="2" charset="0"/>
                <a:ea typeface="+mn-ea"/>
                <a:cs typeface="+mn-cs"/>
              </a:rPr>
              <a:t>secured</a:t>
            </a:r>
            <a:endParaRPr kumimoji="0" lang="en-US" sz="3600" b="1" i="0" u="none" strike="noStrike" kern="1200" cap="none" spc="0" normalizeH="0" baseline="0" noProof="0" dirty="0">
              <a:ln>
                <a:noFill/>
              </a:ln>
              <a:solidFill>
                <a:srgbClr val="F4F4FF"/>
              </a:solidFill>
              <a:effectLst/>
              <a:uLnTx/>
              <a:uFillTx/>
              <a:latin typeface="Figtree SemiBold" pitchFamily="2" charset="0"/>
              <a:ea typeface="+mn-ea"/>
              <a:cs typeface="+mn-cs"/>
            </a:endParaRPr>
          </a:p>
        </p:txBody>
      </p:sp>
      <p:pic>
        <p:nvPicPr>
          <p:cNvPr id="40" name="Picture 39">
            <a:extLst>
              <a:ext uri="{FF2B5EF4-FFF2-40B4-BE49-F238E27FC236}">
                <a16:creationId xmlns:a16="http://schemas.microsoft.com/office/drawing/2014/main" id="{0DA03413-5539-5706-EE91-1F7FAEB565EB}"/>
              </a:ext>
            </a:extLst>
          </p:cNvPr>
          <p:cNvPicPr>
            <a:picLocks noChangeAspect="1"/>
          </p:cNvPicPr>
          <p:nvPr/>
        </p:nvPicPr>
        <p:blipFill>
          <a:blip r:embed="rId12"/>
          <a:stretch>
            <a:fillRect/>
          </a:stretch>
        </p:blipFill>
        <p:spPr>
          <a:xfrm>
            <a:off x="21031200" y="9464208"/>
            <a:ext cx="2224899" cy="2224899"/>
          </a:xfrm>
          <a:prstGeom prst="rect">
            <a:avLst/>
          </a:prstGeom>
        </p:spPr>
      </p:pic>
    </p:spTree>
    <p:extLst>
      <p:ext uri="{BB962C8B-B14F-4D97-AF65-F5344CB8AC3E}">
        <p14:creationId xmlns:p14="http://schemas.microsoft.com/office/powerpoint/2010/main" val="17499791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0">
            <a:extLst>
              <a:ext uri="{FF2B5EF4-FFF2-40B4-BE49-F238E27FC236}">
                <a16:creationId xmlns:a16="http://schemas.microsoft.com/office/drawing/2014/main" id="{78AEB871-6134-F3B6-2FAF-24DCC7AC2F9B}"/>
              </a:ext>
            </a:extLst>
          </p:cNvPr>
          <p:cNvSpPr/>
          <p:nvPr/>
        </p:nvSpPr>
        <p:spPr bwMode="auto">
          <a:xfrm>
            <a:off x="1822498" y="5913759"/>
            <a:ext cx="4301058" cy="5486400"/>
          </a:xfrm>
          <a:prstGeom prst="roundRect">
            <a:avLst/>
          </a:prstGeom>
          <a:solidFill>
            <a:srgbClr val="FFFFFF"/>
          </a:solidFill>
          <a:ln>
            <a:noFill/>
          </a:ln>
          <a:effectLst/>
        </p:spPr>
        <p:txBody>
          <a:bodyPr vert="horz" wrap="square" lIns="182880" tIns="182880" rIns="182880" bIns="360000" numCol="1" rtlCol="0" anchor="b" anchorCtr="0" compatLnSpc="1">
            <a:prstTxWarp prst="textNoShape">
              <a:avLst/>
            </a:prstTxWarp>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defTabSz="1828800" eaLnBrk="1" fontAlgn="auto" latinLnBrk="0" hangingPunct="1">
              <a:lnSpc>
                <a:spcPct val="100000"/>
              </a:lnSpc>
              <a:spcBef>
                <a:spcPts val="0"/>
              </a:spcBef>
              <a:spcAft>
                <a:spcPts val="0"/>
              </a:spcAft>
              <a:buClrTx/>
              <a:buSzTx/>
              <a:buFontTx/>
              <a:buNone/>
              <a:tabLst/>
              <a:defRPr/>
            </a:pPr>
            <a:endPar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lang="en-US" sz="2800" dirty="0">
              <a:solidFill>
                <a:schemeClr val="tx1"/>
              </a:solidFill>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r>
              <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rPr>
              <a:t>Buildings are designed to meet all customer needs: </a:t>
            </a:r>
            <a:r>
              <a:rPr lang="en-US" sz="2800" b="1" dirty="0">
                <a:solidFill>
                  <a:srgbClr val="00C159"/>
                </a:solidFill>
                <a:latin typeface="Figtree" pitchFamily="2" charset="0"/>
                <a:cs typeface="Poppins Light" pitchFamily="2" charset="77"/>
              </a:rPr>
              <a:t>powered shell, turn-key, build-to-suit</a:t>
            </a:r>
            <a:r>
              <a:rPr lang="en-US" sz="2800" b="1" dirty="0">
                <a:solidFill>
                  <a:schemeClr val="tx1"/>
                </a:solidFill>
                <a:latin typeface="Figtree" pitchFamily="2" charset="0"/>
                <a:cs typeface="Poppins Light" pitchFamily="2" charset="77"/>
              </a:rPr>
              <a:t> </a:t>
            </a:r>
            <a:r>
              <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rPr>
              <a:t>and </a:t>
            </a:r>
            <a:r>
              <a:rPr lang="en-US" sz="2800" b="1" dirty="0">
                <a:solidFill>
                  <a:srgbClr val="00C159"/>
                </a:solidFill>
                <a:latin typeface="Figtree" pitchFamily="2" charset="0"/>
                <a:cs typeface="Poppins Light" pitchFamily="2" charset="77"/>
              </a:rPr>
              <a:t>data hall </a:t>
            </a:r>
            <a:r>
              <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rPr>
              <a:t>solutions</a:t>
            </a:r>
          </a:p>
        </p:txBody>
      </p:sp>
      <p:sp>
        <p:nvSpPr>
          <p:cNvPr id="10" name="Rectangle: Rounded Corners 30">
            <a:extLst>
              <a:ext uri="{FF2B5EF4-FFF2-40B4-BE49-F238E27FC236}">
                <a16:creationId xmlns:a16="http://schemas.microsoft.com/office/drawing/2014/main" id="{72BAAF7C-CB41-DB4C-BD52-7F23DEE3D953}"/>
              </a:ext>
            </a:extLst>
          </p:cNvPr>
          <p:cNvSpPr/>
          <p:nvPr/>
        </p:nvSpPr>
        <p:spPr bwMode="auto">
          <a:xfrm>
            <a:off x="5942320" y="6379433"/>
            <a:ext cx="4301058" cy="5486400"/>
          </a:xfrm>
          <a:prstGeom prst="roundRect">
            <a:avLst/>
          </a:prstGeom>
          <a:solidFill>
            <a:srgbClr val="FFFFFF"/>
          </a:solidFill>
          <a:ln>
            <a:noFill/>
          </a:ln>
          <a:effectLst/>
        </p:spPr>
        <p:txBody>
          <a:bodyPr vert="horz" wrap="square" lIns="182880" tIns="182880" rIns="182880" bIns="360000" numCol="1" rtlCol="0" anchor="b" anchorCtr="0" compatLnSpc="1">
            <a:prstTxWarp prst="textNoShape">
              <a:avLst/>
            </a:prstTxWarp>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defTabSz="1828800" eaLnBrk="1" fontAlgn="auto" latinLnBrk="0" hangingPunct="1">
              <a:lnSpc>
                <a:spcPct val="100000"/>
              </a:lnSpc>
              <a:spcBef>
                <a:spcPts val="0"/>
              </a:spcBef>
              <a:spcAft>
                <a:spcPts val="0"/>
              </a:spcAft>
              <a:buClrTx/>
              <a:buSzTx/>
              <a:buFontTx/>
              <a:buNone/>
              <a:tabLst/>
              <a:defRPr/>
            </a:pPr>
            <a:endPar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r>
              <a:rPr lang="en-US" sz="2800" b="1" dirty="0">
                <a:solidFill>
                  <a:srgbClr val="00C159"/>
                </a:solidFill>
                <a:latin typeface="Figtree" pitchFamily="2" charset="0"/>
                <a:cs typeface="Poppins Light" pitchFamily="2" charset="77"/>
              </a:rPr>
              <a:t>Modular design </a:t>
            </a:r>
            <a:r>
              <a:rPr lang="en-US" sz="2800" dirty="0">
                <a:solidFill>
                  <a:schemeClr val="tx1"/>
                </a:solidFill>
                <a:latin typeface="Figtree" pitchFamily="2" charset="0"/>
                <a:cs typeface="Poppins Light" pitchFamily="2" charset="77"/>
              </a:rPr>
              <a:t>ensures building capacity flexibility without additional excess costs</a:t>
            </a:r>
          </a:p>
        </p:txBody>
      </p:sp>
      <p:sp>
        <p:nvSpPr>
          <p:cNvPr id="11" name="Rectangle: Rounded Corners 30">
            <a:extLst>
              <a:ext uri="{FF2B5EF4-FFF2-40B4-BE49-F238E27FC236}">
                <a16:creationId xmlns:a16="http://schemas.microsoft.com/office/drawing/2014/main" id="{E3A5F06C-3BF7-81DA-0469-5ECFB4134EEB}"/>
              </a:ext>
            </a:extLst>
          </p:cNvPr>
          <p:cNvSpPr/>
          <p:nvPr/>
        </p:nvSpPr>
        <p:spPr bwMode="auto">
          <a:xfrm>
            <a:off x="10082923" y="5428129"/>
            <a:ext cx="4301058" cy="5486400"/>
          </a:xfrm>
          <a:prstGeom prst="roundRect">
            <a:avLst/>
          </a:prstGeom>
          <a:solidFill>
            <a:srgbClr val="FFFFFF"/>
          </a:solidFill>
          <a:ln>
            <a:noFill/>
          </a:ln>
          <a:effectLst/>
        </p:spPr>
        <p:txBody>
          <a:bodyPr vert="horz" wrap="square" lIns="182880" tIns="182880" rIns="182880" bIns="360000" numCol="1" rtlCol="0" anchor="b" anchorCtr="0" compatLnSpc="1">
            <a:prstTxWarp prst="textNoShape">
              <a:avLst/>
            </a:prstTxWarp>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defTabSz="1828800" eaLnBrk="1" fontAlgn="auto" latinLnBrk="0" hangingPunct="1">
              <a:lnSpc>
                <a:spcPct val="100000"/>
              </a:lnSpc>
              <a:spcBef>
                <a:spcPts val="0"/>
              </a:spcBef>
              <a:spcAft>
                <a:spcPts val="0"/>
              </a:spcAft>
              <a:buClrTx/>
              <a:buSzTx/>
              <a:buFontTx/>
              <a:buNone/>
              <a:tabLst/>
              <a:defRPr/>
            </a:pPr>
            <a:endPar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lang="en-US" sz="2800" dirty="0">
              <a:solidFill>
                <a:schemeClr val="tx1"/>
              </a:solidFill>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endParaRPr>
          </a:p>
          <a:p>
            <a:pPr defTabSz="1828800" hangingPunct="1">
              <a:defRPr/>
            </a:pPr>
            <a:br>
              <a:rPr lang="en-US" sz="2800" b="1" dirty="0">
                <a:solidFill>
                  <a:schemeClr val="tx1"/>
                </a:solidFill>
                <a:latin typeface="Figtree" pitchFamily="2" charset="0"/>
                <a:cs typeface="Poppins Light" pitchFamily="2" charset="77"/>
              </a:rPr>
            </a:br>
            <a:br>
              <a:rPr lang="en-US" sz="2800" b="1" dirty="0">
                <a:solidFill>
                  <a:schemeClr val="tx1"/>
                </a:solidFill>
                <a:latin typeface="Figtree" pitchFamily="2" charset="0"/>
                <a:cs typeface="Poppins Light" pitchFamily="2" charset="77"/>
              </a:rPr>
            </a:br>
            <a:r>
              <a:rPr lang="en-US" sz="2800" b="1" dirty="0">
                <a:solidFill>
                  <a:srgbClr val="00C159"/>
                </a:solidFill>
                <a:latin typeface="Figtree" pitchFamily="2" charset="0"/>
                <a:cs typeface="Poppins Light" pitchFamily="2" charset="77"/>
              </a:rPr>
              <a:t>Easily scalable </a:t>
            </a:r>
            <a:r>
              <a:rPr lang="en-US" sz="2800" dirty="0">
                <a:solidFill>
                  <a:schemeClr val="tx1"/>
                </a:solidFill>
                <a:latin typeface="Figtree" pitchFamily="2" charset="0"/>
                <a:cs typeface="Poppins Light" pitchFamily="2" charset="77"/>
              </a:rPr>
              <a:t>seawater cooling solution and power infrastructure with ramp up to </a:t>
            </a:r>
            <a:r>
              <a:rPr lang="en-US" sz="2800" b="1" dirty="0">
                <a:solidFill>
                  <a:srgbClr val="00C159"/>
                </a:solidFill>
                <a:latin typeface="Figtree" pitchFamily="2" charset="0"/>
                <a:cs typeface="Poppins Light" pitchFamily="2" charset="77"/>
              </a:rPr>
              <a:t>1.2GW</a:t>
            </a:r>
            <a:r>
              <a:rPr lang="en-US" sz="2800" dirty="0">
                <a:solidFill>
                  <a:srgbClr val="00C159"/>
                </a:solidFill>
                <a:latin typeface="Figtree" pitchFamily="2" charset="0"/>
                <a:cs typeface="Poppins Light" pitchFamily="2" charset="77"/>
              </a:rPr>
              <a:t> </a:t>
            </a:r>
            <a:endParaRPr lang="en-US" sz="2800" b="1" dirty="0">
              <a:solidFill>
                <a:srgbClr val="00C159"/>
              </a:solidFill>
              <a:latin typeface="Figtree" pitchFamily="2" charset="0"/>
              <a:cs typeface="Poppins Light" pitchFamily="2" charset="77"/>
            </a:endParaRPr>
          </a:p>
        </p:txBody>
      </p:sp>
      <p:sp>
        <p:nvSpPr>
          <p:cNvPr id="12" name="Rectangle: Rounded Corners 30">
            <a:extLst>
              <a:ext uri="{FF2B5EF4-FFF2-40B4-BE49-F238E27FC236}">
                <a16:creationId xmlns:a16="http://schemas.microsoft.com/office/drawing/2014/main" id="{DB30EDC5-DE5E-1CD0-9EC2-D9BD7528F6C2}"/>
              </a:ext>
            </a:extLst>
          </p:cNvPr>
          <p:cNvSpPr/>
          <p:nvPr/>
        </p:nvSpPr>
        <p:spPr bwMode="auto">
          <a:xfrm>
            <a:off x="14223526" y="6397363"/>
            <a:ext cx="4301058" cy="5486400"/>
          </a:xfrm>
          <a:prstGeom prst="roundRect">
            <a:avLst/>
          </a:prstGeom>
          <a:solidFill>
            <a:srgbClr val="FFFFFF"/>
          </a:solidFill>
          <a:ln>
            <a:noFill/>
          </a:ln>
          <a:effectLst/>
        </p:spPr>
        <p:txBody>
          <a:bodyPr vert="horz" wrap="square" lIns="182880" tIns="182880" rIns="182880" bIns="360000" numCol="1" rtlCol="0" anchor="b" anchorCtr="0" compatLnSpc="1">
            <a:prstTxWarp prst="textNoShape">
              <a:avLst/>
            </a:prstTxWarp>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defTabSz="1828800" eaLnBrk="1" fontAlgn="auto" latinLnBrk="0" hangingPunct="1">
              <a:lnSpc>
                <a:spcPct val="100000"/>
              </a:lnSpc>
              <a:spcBef>
                <a:spcPts val="0"/>
              </a:spcBef>
              <a:spcAft>
                <a:spcPts val="0"/>
              </a:spcAft>
              <a:buClrTx/>
              <a:buSzTx/>
              <a:buFontTx/>
              <a:buNone/>
              <a:tabLst/>
              <a:defRPr/>
            </a:pPr>
            <a:endPar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kumimoji="0" lang="en-US" sz="2800" u="none" strike="noStrike" kern="0" cap="none" spc="0" normalizeH="0" baseline="0" noProof="0" dirty="0">
              <a:ln>
                <a:noFill/>
              </a:ln>
              <a:solidFill>
                <a:schemeClr val="tx1"/>
              </a:solidFill>
              <a:effectLst/>
              <a:uLnTx/>
              <a:uFillTx/>
              <a:latin typeface="Figtree" pitchFamily="2" charset="0"/>
              <a:cs typeface="Poppins Light" pitchFamily="2" charset="77"/>
            </a:endParaRPr>
          </a:p>
          <a:p>
            <a:pPr lvl="0" defTabSz="1828800" eaLnBrk="1" hangingPunct="1">
              <a:defRPr/>
            </a:pPr>
            <a:br>
              <a:rPr lang="en-US" sz="2800" b="1" dirty="0">
                <a:solidFill>
                  <a:schemeClr val="tx1"/>
                </a:solidFill>
                <a:latin typeface="Figtree" pitchFamily="2" charset="0"/>
                <a:cs typeface="Poppins Light" pitchFamily="2" charset="77"/>
              </a:rPr>
            </a:br>
            <a:br>
              <a:rPr lang="en-US" sz="2800" b="1" dirty="0">
                <a:solidFill>
                  <a:schemeClr val="tx1"/>
                </a:solidFill>
                <a:latin typeface="Figtree" pitchFamily="2" charset="0"/>
                <a:cs typeface="Poppins Light" pitchFamily="2" charset="77"/>
              </a:rPr>
            </a:br>
            <a:r>
              <a:rPr lang="en-US" sz="2800" b="1" dirty="0">
                <a:solidFill>
                  <a:srgbClr val="00C159"/>
                </a:solidFill>
                <a:latin typeface="Figtree" pitchFamily="2" charset="0"/>
                <a:cs typeface="Poppins Light" pitchFamily="2" charset="77"/>
              </a:rPr>
              <a:t>Cutting-edge liquid cooling </a:t>
            </a:r>
            <a:r>
              <a:rPr lang="en-US" sz="2800" dirty="0">
                <a:solidFill>
                  <a:schemeClr val="tx1"/>
                </a:solidFill>
                <a:latin typeface="Figtree" pitchFamily="2" charset="0"/>
                <a:cs typeface="Poppins Light" pitchFamily="2" charset="77"/>
              </a:rPr>
              <a:t>solution</a:t>
            </a:r>
            <a:r>
              <a:rPr lang="en-US" sz="2800" b="1" dirty="0">
                <a:solidFill>
                  <a:schemeClr val="tx1"/>
                </a:solidFill>
                <a:latin typeface="Figtree" pitchFamily="2" charset="0"/>
                <a:cs typeface="Poppins Light" pitchFamily="2" charset="77"/>
              </a:rPr>
              <a:t> </a:t>
            </a:r>
            <a:r>
              <a:rPr lang="en-US" sz="2800" dirty="0">
                <a:solidFill>
                  <a:schemeClr val="tx1"/>
                </a:solidFill>
                <a:latin typeface="Figtree" pitchFamily="2" charset="0"/>
                <a:cs typeface="Poppins Light" pitchFamily="2" charset="77"/>
              </a:rPr>
              <a:t>allows for </a:t>
            </a:r>
            <a:r>
              <a:rPr kumimoji="0" lang="en-US" sz="2800" b="1" u="none" strike="noStrike" kern="0" cap="none" spc="0" normalizeH="0" baseline="0" noProof="0" dirty="0">
                <a:ln>
                  <a:noFill/>
                </a:ln>
                <a:solidFill>
                  <a:srgbClr val="00C159"/>
                </a:solidFill>
                <a:effectLst/>
                <a:uLnTx/>
                <a:uFillTx/>
                <a:latin typeface="Figtree" pitchFamily="2" charset="0"/>
                <a:cs typeface="Poppins Light" pitchFamily="2" charset="77"/>
              </a:rPr>
              <a:t>HPC/AI </a:t>
            </a:r>
            <a:r>
              <a:rPr lang="en-US" sz="2800" dirty="0">
                <a:solidFill>
                  <a:schemeClr val="tx1"/>
                </a:solidFill>
                <a:latin typeface="Figtree" pitchFamily="2" charset="0"/>
                <a:cs typeface="Poppins Light" pitchFamily="2" charset="77"/>
              </a:rPr>
              <a:t>racks with capacity up to </a:t>
            </a:r>
            <a:r>
              <a:rPr lang="en-US" sz="2800" b="1" dirty="0">
                <a:solidFill>
                  <a:srgbClr val="00C159"/>
                </a:solidFill>
                <a:latin typeface="Figtree" pitchFamily="2" charset="0"/>
                <a:cs typeface="Poppins Light" pitchFamily="2" charset="77"/>
              </a:rPr>
              <a:t>150kW</a:t>
            </a:r>
          </a:p>
        </p:txBody>
      </p:sp>
      <p:sp>
        <p:nvSpPr>
          <p:cNvPr id="18" name="Rectangle: Rounded Corners 30">
            <a:extLst>
              <a:ext uri="{FF2B5EF4-FFF2-40B4-BE49-F238E27FC236}">
                <a16:creationId xmlns:a16="http://schemas.microsoft.com/office/drawing/2014/main" id="{58A0C1DD-3D4D-14DE-71DE-1EAEAE2F38F9}"/>
              </a:ext>
            </a:extLst>
          </p:cNvPr>
          <p:cNvSpPr/>
          <p:nvPr/>
        </p:nvSpPr>
        <p:spPr bwMode="auto">
          <a:xfrm>
            <a:off x="18364131" y="5387776"/>
            <a:ext cx="4301058" cy="5486400"/>
          </a:xfrm>
          <a:prstGeom prst="roundRect">
            <a:avLst/>
          </a:prstGeom>
          <a:solidFill>
            <a:srgbClr val="FFFFFF"/>
          </a:solidFill>
          <a:ln>
            <a:noFill/>
          </a:ln>
          <a:effectLst/>
        </p:spPr>
        <p:txBody>
          <a:bodyPr vert="horz" wrap="square" lIns="72000" tIns="182880" rIns="72000" bIns="360000" numCol="1" rtlCol="0" anchor="b" anchorCtr="0" compatLnSpc="1">
            <a:prstTxWarp prst="textNoShape">
              <a:avLst/>
            </a:prstTxWarp>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pPr marL="0" marR="0" lvl="0" indent="0" defTabSz="1828800" eaLnBrk="1" fontAlgn="auto" latinLnBrk="0" hangingPunct="1">
              <a:lnSpc>
                <a:spcPct val="100000"/>
              </a:lnSpc>
              <a:spcBef>
                <a:spcPts val="0"/>
              </a:spcBef>
              <a:spcAft>
                <a:spcPts val="0"/>
              </a:spcAft>
              <a:buClrTx/>
              <a:buSzTx/>
              <a:buFontTx/>
              <a:buNone/>
              <a:tabLst/>
              <a:defRPr/>
            </a:pPr>
            <a:endParaRPr lang="en-US" sz="2800" dirty="0">
              <a:solidFill>
                <a:schemeClr val="tx1"/>
              </a:solidFill>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lang="en-US" sz="2800" dirty="0">
              <a:solidFill>
                <a:schemeClr val="tx1"/>
              </a:solidFill>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lang="en-US" sz="2800" dirty="0">
              <a:solidFill>
                <a:schemeClr val="tx1"/>
              </a:solidFill>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lang="en-US" sz="2800" dirty="0">
              <a:solidFill>
                <a:schemeClr val="tx1"/>
              </a:solidFill>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lang="en-US" sz="2800" dirty="0">
              <a:solidFill>
                <a:schemeClr val="tx1"/>
              </a:solidFill>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endParaRPr lang="en-US" sz="2800" dirty="0">
              <a:solidFill>
                <a:srgbClr val="00C159"/>
              </a:solidFill>
              <a:latin typeface="Figtree" pitchFamily="2" charset="0"/>
              <a:cs typeface="Poppins Light" pitchFamily="2" charset="77"/>
            </a:endParaRPr>
          </a:p>
          <a:p>
            <a:pPr marL="0" marR="0" lvl="0" indent="0" defTabSz="1828800" eaLnBrk="1" fontAlgn="auto" latinLnBrk="0" hangingPunct="1">
              <a:lnSpc>
                <a:spcPct val="100000"/>
              </a:lnSpc>
              <a:spcBef>
                <a:spcPts val="0"/>
              </a:spcBef>
              <a:spcAft>
                <a:spcPts val="0"/>
              </a:spcAft>
              <a:buClrTx/>
              <a:buSzTx/>
              <a:buFontTx/>
              <a:buNone/>
              <a:tabLst/>
              <a:defRPr/>
            </a:pPr>
            <a:r>
              <a:rPr lang="en-US" sz="2800" b="1" dirty="0">
                <a:solidFill>
                  <a:srgbClr val="00C159"/>
                </a:solidFill>
                <a:latin typeface="Figtree" pitchFamily="2" charset="0"/>
                <a:cs typeface="Poppins Light" pitchFamily="2" charset="77"/>
              </a:rPr>
              <a:t>Industry leading cooling efficiency </a:t>
            </a:r>
            <a:r>
              <a:rPr lang="en-US" sz="2800" dirty="0">
                <a:solidFill>
                  <a:schemeClr val="tx1"/>
                </a:solidFill>
                <a:latin typeface="Figtree" pitchFamily="2" charset="0"/>
                <a:cs typeface="Poppins Light" pitchFamily="2" charset="77"/>
              </a:rPr>
              <a:t>with </a:t>
            </a:r>
            <a:r>
              <a:rPr lang="en-US" sz="2800" b="1" dirty="0">
                <a:solidFill>
                  <a:srgbClr val="00C159"/>
                </a:solidFill>
                <a:latin typeface="Figtree" pitchFamily="2" charset="0"/>
                <a:cs typeface="Poppins Light" pitchFamily="2" charset="77"/>
              </a:rPr>
              <a:t>1.1 PUE </a:t>
            </a:r>
            <a:r>
              <a:rPr lang="en-US" sz="2800" dirty="0">
                <a:solidFill>
                  <a:schemeClr val="tx1"/>
                </a:solidFill>
                <a:latin typeface="Figtree" pitchFamily="2" charset="0"/>
                <a:cs typeface="Poppins Light" pitchFamily="2" charset="77"/>
              </a:rPr>
              <a:t>by harnessing the cooling power of the ocean</a:t>
            </a:r>
          </a:p>
        </p:txBody>
      </p:sp>
      <p:pic>
        <p:nvPicPr>
          <p:cNvPr id="8" name="Picture 7">
            <a:extLst>
              <a:ext uri="{FF2B5EF4-FFF2-40B4-BE49-F238E27FC236}">
                <a16:creationId xmlns:a16="http://schemas.microsoft.com/office/drawing/2014/main" id="{49EBE50B-3A38-BAEC-FF58-B6F31D2C5911}"/>
              </a:ext>
            </a:extLst>
          </p:cNvPr>
          <p:cNvPicPr>
            <a:picLocks noChangeAspect="1"/>
          </p:cNvPicPr>
          <p:nvPr/>
        </p:nvPicPr>
        <p:blipFill>
          <a:blip r:embed="rId3" cstate="email">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14494277" y="1912109"/>
            <a:ext cx="6572860" cy="2880178"/>
          </a:xfrm>
          <a:prstGeom prst="rect">
            <a:avLst/>
          </a:prstGeom>
        </p:spPr>
      </p:pic>
      <p:sp>
        <p:nvSpPr>
          <p:cNvPr id="16" name="TextBox 15">
            <a:extLst>
              <a:ext uri="{FF2B5EF4-FFF2-40B4-BE49-F238E27FC236}">
                <a16:creationId xmlns:a16="http://schemas.microsoft.com/office/drawing/2014/main" id="{AB40F643-3ED4-EC4E-9098-A9AC73F5573E}"/>
              </a:ext>
            </a:extLst>
          </p:cNvPr>
          <p:cNvSpPr txBox="1"/>
          <p:nvPr/>
        </p:nvSpPr>
        <p:spPr>
          <a:xfrm>
            <a:off x="5198427" y="-1341928"/>
            <a:ext cx="13909040" cy="769441"/>
          </a:xfrm>
          <a:prstGeom prst="rect">
            <a:avLst/>
          </a:prstGeom>
          <a:noFill/>
          <a:ln w="12700">
            <a:miter lim="400000"/>
          </a:ln>
        </p:spPr>
        <p:txBody>
          <a:bodyPr wrap="square">
            <a:spAutoFit/>
          </a:bodyPr>
          <a:lstStyle>
            <a:defPPr marL="0" marR="0" indent="0" algn="l" defTabSz="1530905" rtl="0" fontAlgn="auto" latinLnBrk="1" hangingPunct="0">
              <a:lnSpc>
                <a:spcPct val="100000"/>
              </a:lnSpc>
              <a:spcBef>
                <a:spcPts val="0"/>
              </a:spcBef>
              <a:spcAft>
                <a:spcPts val="0"/>
              </a:spcAft>
              <a:buClrTx/>
              <a:buSzTx/>
              <a:buFontTx/>
              <a:buNone/>
              <a:tabLst/>
              <a:defRPr kumimoji="0" sz="3014" b="0" i="0" u="none" strike="noStrike" cap="none" spc="0" normalizeH="0" baseline="0">
                <a:ln>
                  <a:noFill/>
                </a:ln>
                <a:solidFill>
                  <a:srgbClr val="000000"/>
                </a:solidFill>
                <a:effectLst/>
                <a:uFillTx/>
              </a:defRPr>
            </a:defPPr>
            <a:lvl1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1pPr>
            <a:lvl2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2pPr>
            <a:lvl3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3pPr>
            <a:lvl4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4pPr>
            <a:lvl5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5pPr>
            <a:lvl6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6pPr>
            <a:lvl7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7pPr>
            <a:lvl8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8pPr>
            <a:lvl9pPr marL="0" marR="0" indent="0" algn="l" defTabSz="2177288" rtl="0" fontAlgn="auto" latinLnBrk="0" hangingPunct="0">
              <a:lnSpc>
                <a:spcPct val="100000"/>
              </a:lnSpc>
              <a:spcBef>
                <a:spcPts val="0"/>
              </a:spcBef>
              <a:spcAft>
                <a:spcPts val="0"/>
              </a:spcAft>
              <a:buClrTx/>
              <a:buSzTx/>
              <a:buFontTx/>
              <a:buNone/>
              <a:tabLst/>
              <a:defRPr kumimoji="0" sz="4018" b="0" i="0" u="none" strike="noStrike" cap="none" spc="0" normalizeH="0" baseline="0">
                <a:ln>
                  <a:noFill/>
                </a:ln>
                <a:solidFill>
                  <a:srgbClr val="000000"/>
                </a:solidFill>
                <a:effectLst/>
                <a:uFillTx/>
                <a:latin typeface="+mn-lt"/>
                <a:ea typeface="+mn-ea"/>
                <a:cs typeface="+mn-cs"/>
                <a:sym typeface="Helvetica"/>
              </a:defRPr>
            </a:lvl9pPr>
          </a:lstStyle>
          <a:p>
            <a:r>
              <a:rPr lang="en-US" sz="2200" b="0" i="0">
                <a:solidFill>
                  <a:srgbClr val="444E55"/>
                </a:solidFill>
                <a:effectLst/>
                <a:latin typeface="Ubuntu" panose="020B0504030602030204" pitchFamily="34" charset="0"/>
              </a:rPr>
              <a:t>, reusing redundant infrastructure such as seawater intakes, backed up a state-of-the-art cooling system which </a:t>
            </a:r>
            <a:r>
              <a:rPr lang="en-US" sz="2200" b="0" i="0" err="1">
                <a:solidFill>
                  <a:srgbClr val="444E55"/>
                </a:solidFill>
                <a:effectLst/>
                <a:latin typeface="Ubuntu" panose="020B0504030602030204" pitchFamily="34" charset="0"/>
              </a:rPr>
              <a:t>utilises</a:t>
            </a:r>
            <a:r>
              <a:rPr lang="en-US" sz="2200" b="0" i="0">
                <a:solidFill>
                  <a:srgbClr val="444E55"/>
                </a:solidFill>
                <a:effectLst/>
                <a:latin typeface="Ubuntu" panose="020B0504030602030204" pitchFamily="34" charset="0"/>
              </a:rPr>
              <a:t> ocean water, and does not consume potable or industrial water.</a:t>
            </a:r>
            <a:endParaRPr lang="en-GB" sz="2200"/>
          </a:p>
        </p:txBody>
      </p:sp>
      <p:sp>
        <p:nvSpPr>
          <p:cNvPr id="9" name="TextBox 8">
            <a:extLst>
              <a:ext uri="{FF2B5EF4-FFF2-40B4-BE49-F238E27FC236}">
                <a16:creationId xmlns:a16="http://schemas.microsoft.com/office/drawing/2014/main" id="{0B97551E-C4E8-3BEE-951A-A8C5298C3793}"/>
              </a:ext>
            </a:extLst>
          </p:cNvPr>
          <p:cNvSpPr txBox="1"/>
          <p:nvPr/>
        </p:nvSpPr>
        <p:spPr>
          <a:xfrm>
            <a:off x="1508481" y="1959829"/>
            <a:ext cx="10239571" cy="1938992"/>
          </a:xfrm>
          <a:prstGeom prst="rect">
            <a:avLst/>
          </a:prstGeom>
          <a:noFill/>
        </p:spPr>
        <p:txBody>
          <a:bodyPr wrap="square">
            <a:spAutoFit/>
          </a:bodyPr>
          <a:lstStyle/>
          <a:p>
            <a:pPr defTabSz="1485938">
              <a:buClr>
                <a:srgbClr val="00B050"/>
              </a:buClr>
              <a:defRPr/>
            </a:pPr>
            <a:r>
              <a:rPr lang="en-GB" sz="4000" b="1" kern="1200" dirty="0">
                <a:latin typeface="Figtree SemiBold" pitchFamily="2" charset="0"/>
              </a:rPr>
              <a:t>Sines DC is offering a future-proof product</a:t>
            </a:r>
            <a:br>
              <a:rPr lang="en-GB" sz="4000" b="1" kern="1200" dirty="0">
                <a:latin typeface="Figtree SemiBold" pitchFamily="2" charset="0"/>
              </a:rPr>
            </a:br>
            <a:r>
              <a:rPr lang="en-US" sz="4000" b="1" dirty="0">
                <a:solidFill>
                  <a:srgbClr val="00C159"/>
                </a:solidFill>
                <a:latin typeface="Figtree SemiBold" pitchFamily="2" charset="0"/>
              </a:rPr>
              <a:t>Start Campus’ </a:t>
            </a:r>
            <a:r>
              <a:rPr lang="en-US" sz="4000" b="1" dirty="0">
                <a:latin typeface="Figtree SemiBold" pitchFamily="2" charset="0"/>
              </a:rPr>
              <a:t>design and permits allow for maximum flexibility for its tenants</a:t>
            </a:r>
          </a:p>
        </p:txBody>
      </p:sp>
      <p:pic>
        <p:nvPicPr>
          <p:cNvPr id="17" name="Picture 16">
            <a:extLst>
              <a:ext uri="{FF2B5EF4-FFF2-40B4-BE49-F238E27FC236}">
                <a16:creationId xmlns:a16="http://schemas.microsoft.com/office/drawing/2014/main" id="{5DC992E2-F25B-7FD7-2E70-863296CA5FDB}"/>
              </a:ext>
            </a:extLst>
          </p:cNvPr>
          <p:cNvPicPr>
            <a:picLocks noChangeAspect="1"/>
          </p:cNvPicPr>
          <p:nvPr/>
        </p:nvPicPr>
        <p:blipFill>
          <a:blip r:embed="rId4"/>
          <a:stretch>
            <a:fillRect/>
          </a:stretch>
        </p:blipFill>
        <p:spPr>
          <a:xfrm>
            <a:off x="6380330" y="7138082"/>
            <a:ext cx="1453707" cy="1491503"/>
          </a:xfrm>
          <a:prstGeom prst="rect">
            <a:avLst/>
          </a:prstGeom>
        </p:spPr>
      </p:pic>
      <p:pic>
        <p:nvPicPr>
          <p:cNvPr id="20" name="Picture 19">
            <a:extLst>
              <a:ext uri="{FF2B5EF4-FFF2-40B4-BE49-F238E27FC236}">
                <a16:creationId xmlns:a16="http://schemas.microsoft.com/office/drawing/2014/main" id="{324A2221-0E22-6E09-4F45-50EAC6B738BF}"/>
              </a:ext>
            </a:extLst>
          </p:cNvPr>
          <p:cNvPicPr>
            <a:picLocks noChangeAspect="1"/>
          </p:cNvPicPr>
          <p:nvPr/>
        </p:nvPicPr>
        <p:blipFill>
          <a:blip r:embed="rId5"/>
          <a:stretch>
            <a:fillRect/>
          </a:stretch>
        </p:blipFill>
        <p:spPr>
          <a:xfrm>
            <a:off x="2226681" y="5810625"/>
            <a:ext cx="1800319" cy="1533272"/>
          </a:xfrm>
          <a:prstGeom prst="rect">
            <a:avLst/>
          </a:prstGeom>
        </p:spPr>
      </p:pic>
      <p:pic>
        <p:nvPicPr>
          <p:cNvPr id="22" name="Picture 21">
            <a:extLst>
              <a:ext uri="{FF2B5EF4-FFF2-40B4-BE49-F238E27FC236}">
                <a16:creationId xmlns:a16="http://schemas.microsoft.com/office/drawing/2014/main" id="{FED2E829-3010-D5D6-2383-C7A3119218B1}"/>
              </a:ext>
            </a:extLst>
          </p:cNvPr>
          <p:cNvPicPr>
            <a:picLocks noChangeAspect="1"/>
          </p:cNvPicPr>
          <p:nvPr/>
        </p:nvPicPr>
        <p:blipFill>
          <a:blip r:embed="rId6"/>
          <a:stretch>
            <a:fillRect/>
          </a:stretch>
        </p:blipFill>
        <p:spPr>
          <a:xfrm>
            <a:off x="10540701" y="5782007"/>
            <a:ext cx="1877266" cy="1781696"/>
          </a:xfrm>
          <a:prstGeom prst="rect">
            <a:avLst/>
          </a:prstGeom>
        </p:spPr>
      </p:pic>
      <p:pic>
        <p:nvPicPr>
          <p:cNvPr id="24" name="Picture 23">
            <a:extLst>
              <a:ext uri="{FF2B5EF4-FFF2-40B4-BE49-F238E27FC236}">
                <a16:creationId xmlns:a16="http://schemas.microsoft.com/office/drawing/2014/main" id="{9A495000-D9B0-1DB4-1F70-8C022469C46C}"/>
              </a:ext>
            </a:extLst>
          </p:cNvPr>
          <p:cNvPicPr>
            <a:picLocks noChangeAspect="1"/>
          </p:cNvPicPr>
          <p:nvPr/>
        </p:nvPicPr>
        <p:blipFill>
          <a:blip r:embed="rId7"/>
          <a:stretch>
            <a:fillRect/>
          </a:stretch>
        </p:blipFill>
        <p:spPr>
          <a:xfrm>
            <a:off x="14821348" y="6908669"/>
            <a:ext cx="1738348" cy="1643529"/>
          </a:xfrm>
          <a:prstGeom prst="rect">
            <a:avLst/>
          </a:prstGeom>
        </p:spPr>
      </p:pic>
      <p:pic>
        <p:nvPicPr>
          <p:cNvPr id="25" name="Picture 24">
            <a:extLst>
              <a:ext uri="{FF2B5EF4-FFF2-40B4-BE49-F238E27FC236}">
                <a16:creationId xmlns:a16="http://schemas.microsoft.com/office/drawing/2014/main" id="{061C45F6-D7F7-2F10-3C8C-FF64670359F3}"/>
              </a:ext>
            </a:extLst>
          </p:cNvPr>
          <p:cNvPicPr>
            <a:picLocks noChangeAspect="1"/>
          </p:cNvPicPr>
          <p:nvPr/>
        </p:nvPicPr>
        <p:blipFill>
          <a:blip r:embed="rId8"/>
          <a:stretch>
            <a:fillRect/>
          </a:stretch>
        </p:blipFill>
        <p:spPr>
          <a:xfrm>
            <a:off x="18394529" y="5884427"/>
            <a:ext cx="2880566" cy="2073497"/>
          </a:xfrm>
          <a:prstGeom prst="rect">
            <a:avLst/>
          </a:prstGeom>
        </p:spPr>
      </p:pic>
      <p:pic>
        <p:nvPicPr>
          <p:cNvPr id="2" name="Picture 1">
            <a:extLst>
              <a:ext uri="{FF2B5EF4-FFF2-40B4-BE49-F238E27FC236}">
                <a16:creationId xmlns:a16="http://schemas.microsoft.com/office/drawing/2014/main" id="{82708157-B065-C91D-7606-9CB3FE664C2C}"/>
              </a:ext>
            </a:extLst>
          </p:cNvPr>
          <p:cNvPicPr>
            <a:picLocks noChangeAspect="1"/>
          </p:cNvPicPr>
          <p:nvPr/>
        </p:nvPicPr>
        <p:blipFill>
          <a:blip r:embed="rId9" cstate="email">
            <a:extLst>
              <a:ext uri="{28A0092B-C50C-407E-A947-70E740481C1C}">
                <a14:useLocalDpi xmlns:a14="http://schemas.microsoft.com/office/drawing/2010/main"/>
              </a:ext>
            </a:extLst>
          </a:blip>
          <a:stretch>
            <a:fillRect/>
          </a:stretch>
        </p:blipFill>
        <p:spPr>
          <a:xfrm>
            <a:off x="1586" y="0"/>
            <a:ext cx="24384001" cy="13716000"/>
          </a:xfrm>
          <a:prstGeom prst="rect">
            <a:avLst/>
          </a:prstGeom>
        </p:spPr>
      </p:pic>
    </p:spTree>
    <p:extLst>
      <p:ext uri="{BB962C8B-B14F-4D97-AF65-F5344CB8AC3E}">
        <p14:creationId xmlns:p14="http://schemas.microsoft.com/office/powerpoint/2010/main" val="310587858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603D9C8-66A5-3905-179D-2136DC4D9D5C}"/>
              </a:ext>
            </a:extLst>
          </p:cNvPr>
          <p:cNvGrpSpPr/>
          <p:nvPr/>
        </p:nvGrpSpPr>
        <p:grpSpPr>
          <a:xfrm>
            <a:off x="10590258" y="267789"/>
            <a:ext cx="15606733" cy="13219611"/>
            <a:chOff x="1134726" y="0"/>
            <a:chExt cx="4641925" cy="3931921"/>
          </a:xfrm>
        </p:grpSpPr>
        <p:pic>
          <p:nvPicPr>
            <p:cNvPr id="9" name="Picture 8">
              <a:extLst>
                <a:ext uri="{FF2B5EF4-FFF2-40B4-BE49-F238E27FC236}">
                  <a16:creationId xmlns:a16="http://schemas.microsoft.com/office/drawing/2014/main" id="{BB2F83BC-3FFF-8F57-B609-13729562547F}"/>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1134726" y="0"/>
              <a:ext cx="4641925" cy="3835572"/>
            </a:xfrm>
            <a:prstGeom prst="rect">
              <a:avLst/>
            </a:prstGeom>
          </p:spPr>
        </p:pic>
        <p:sp>
          <p:nvSpPr>
            <p:cNvPr id="11" name="Rectangle 10">
              <a:extLst>
                <a:ext uri="{FF2B5EF4-FFF2-40B4-BE49-F238E27FC236}">
                  <a16:creationId xmlns:a16="http://schemas.microsoft.com/office/drawing/2014/main" id="{41DD8933-AD3A-A4A3-6DF7-50EF487A886D}"/>
                </a:ext>
              </a:extLst>
            </p:cNvPr>
            <p:cNvSpPr/>
            <p:nvPr/>
          </p:nvSpPr>
          <p:spPr>
            <a:xfrm>
              <a:off x="2645231" y="3056149"/>
              <a:ext cx="523679" cy="8757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ctr" defTabSz="1039170" rtl="0" eaLnBrk="1" fontAlgn="auto" latinLnBrk="0" hangingPunct="1">
                <a:lnSpc>
                  <a:spcPct val="100000"/>
                </a:lnSpc>
                <a:spcBef>
                  <a:spcPts val="0"/>
                </a:spcBef>
                <a:spcAft>
                  <a:spcPts val="0"/>
                </a:spcAft>
                <a:buClrTx/>
                <a:buSzTx/>
                <a:buFontTx/>
                <a:buNone/>
                <a:tabLst/>
                <a:defRPr/>
              </a:pPr>
              <a:endParaRPr kumimoji="0" lang="en-GB" sz="8182" b="0" i="0" u="none" strike="noStrike" kern="1200" cap="none" spc="0" normalizeH="0" baseline="0" noProof="0">
                <a:ln>
                  <a:noFill/>
                </a:ln>
                <a:solidFill>
                  <a:prstClr val="black"/>
                </a:solidFill>
                <a:effectLst/>
                <a:uLnTx/>
                <a:uFillTx/>
                <a:latin typeface="Calibri" panose="020F0502020204030204"/>
                <a:ea typeface="+mn-ea"/>
                <a:cs typeface="+mn-cs"/>
              </a:endParaRPr>
            </a:p>
          </p:txBody>
        </p:sp>
      </p:grpSp>
      <p:pic>
        <p:nvPicPr>
          <p:cNvPr id="21" name="Picture 20" descr="An aerial view of a building&#10;&#10;Description automatically generated">
            <a:extLst>
              <a:ext uri="{FF2B5EF4-FFF2-40B4-BE49-F238E27FC236}">
                <a16:creationId xmlns:a16="http://schemas.microsoft.com/office/drawing/2014/main" id="{0672916B-4425-5E5B-0FFB-710B272A8CB0}"/>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1696465" y="7894146"/>
            <a:ext cx="6959656" cy="4639768"/>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2" name="TextBox 31">
            <a:extLst>
              <a:ext uri="{FF2B5EF4-FFF2-40B4-BE49-F238E27FC236}">
                <a16:creationId xmlns:a16="http://schemas.microsoft.com/office/drawing/2014/main" id="{31A6CE07-4BA6-F940-AA84-057DEFB01208}"/>
              </a:ext>
            </a:extLst>
          </p:cNvPr>
          <p:cNvSpPr txBox="1"/>
          <p:nvPr/>
        </p:nvSpPr>
        <p:spPr>
          <a:xfrm>
            <a:off x="9044110" y="9450254"/>
            <a:ext cx="1677382" cy="615553"/>
          </a:xfrm>
          <a:prstGeom prst="rect">
            <a:avLst/>
          </a:prstGeom>
          <a:noFill/>
        </p:spPr>
        <p:txBody>
          <a:bodyPr wrap="square" rtlCol="0">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r" defTabSz="103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Sines,</a:t>
            </a:r>
            <a:br>
              <a:rPr kumimoji="0" lang="en-US" sz="12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br>
            <a:r>
              <a:rPr kumimoji="0" lang="en-US" sz="12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Portugal</a:t>
            </a:r>
          </a:p>
          <a:p>
            <a:pPr marL="0" marR="0" lvl="0" indent="0" algn="r" defTabSz="103917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(&lt;100 km from Lisbon)</a:t>
            </a:r>
            <a:endParaRPr kumimoji="0" lang="en-GB"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endParaRPr>
          </a:p>
        </p:txBody>
      </p:sp>
      <p:sp>
        <p:nvSpPr>
          <p:cNvPr id="33" name="TextBox 32">
            <a:extLst>
              <a:ext uri="{FF2B5EF4-FFF2-40B4-BE49-F238E27FC236}">
                <a16:creationId xmlns:a16="http://schemas.microsoft.com/office/drawing/2014/main" id="{F97B7220-B83A-BB2B-AD17-36B0E48DA4BB}"/>
              </a:ext>
            </a:extLst>
          </p:cNvPr>
          <p:cNvSpPr txBox="1"/>
          <p:nvPr/>
        </p:nvSpPr>
        <p:spPr>
          <a:xfrm>
            <a:off x="1538183" y="5960346"/>
            <a:ext cx="2520000" cy="1477328"/>
          </a:xfrm>
          <a:prstGeom prst="rect">
            <a:avLst/>
          </a:prstGeom>
          <a:noFill/>
        </p:spPr>
        <p:txBody>
          <a:bodyPr wrap="none" lIns="91440" tIns="45720" rIns="91440" bIns="45720" rtlCol="0" anchor="t">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l" defTabSz="1039170" rtl="0" eaLnBrk="1" fontAlgn="auto" latinLnBrk="0" hangingPunct="1">
              <a:lnSpc>
                <a:spcPct val="100000"/>
              </a:lnSpc>
              <a:spcBef>
                <a:spcPts val="0"/>
              </a:spcBef>
              <a:spcAft>
                <a:spcPts val="0"/>
              </a:spcAft>
              <a:buClrTx/>
              <a:buSzTx/>
              <a:buFontTx/>
              <a:buNone/>
              <a:tabLst/>
              <a:defRPr/>
            </a:pPr>
            <a:r>
              <a:rPr lang="en-US" sz="4000" b="1">
                <a:solidFill>
                  <a:srgbClr val="00C159"/>
                </a:solidFill>
                <a:latin typeface="Figtree"/>
              </a:rPr>
              <a:t>26MW</a:t>
            </a:r>
            <a:endParaRPr kumimoji="0" lang="en-US" sz="4800" b="0" i="0" u="none" strike="noStrike" kern="1200" cap="none" spc="0" normalizeH="0" baseline="0" noProof="0" dirty="0">
              <a:ln>
                <a:noFill/>
              </a:ln>
              <a:solidFill>
                <a:srgbClr val="00C159"/>
              </a:solidFill>
              <a:effectLst/>
              <a:uLnTx/>
              <a:uFillTx/>
              <a:latin typeface="Figtree" pitchFamily="2" charset="0"/>
            </a:endParaRPr>
          </a:p>
          <a:p>
            <a:pPr marL="0" marR="0" lvl="0" indent="0" algn="l" defTabSz="103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effectLst/>
                <a:uLnTx/>
                <a:uFillTx/>
                <a:latin typeface="Figtree" pitchFamily="2" charset="0"/>
              </a:rPr>
              <a:t>Capacity of first </a:t>
            </a:r>
            <a:br>
              <a:rPr kumimoji="0" lang="en-US" sz="2400" b="0" i="0" u="none" strike="noStrike" kern="1200" cap="none" spc="0" normalizeH="0" baseline="0" noProof="0" dirty="0">
                <a:ln>
                  <a:noFill/>
                </a:ln>
                <a:effectLst/>
                <a:uLnTx/>
                <a:uFillTx/>
                <a:latin typeface="Figtree" pitchFamily="2" charset="0"/>
              </a:rPr>
            </a:br>
            <a:r>
              <a:rPr kumimoji="0" lang="en-US" sz="2400" b="0" i="0" u="none" strike="noStrike" kern="1200" cap="none" spc="0" normalizeH="0" baseline="0" noProof="0" dirty="0">
                <a:ln>
                  <a:noFill/>
                </a:ln>
                <a:effectLst/>
                <a:uLnTx/>
                <a:uFillTx/>
                <a:latin typeface="Figtree" pitchFamily="2" charset="0"/>
              </a:rPr>
              <a:t>building (SIN01)</a:t>
            </a:r>
            <a:endParaRPr kumimoji="0" lang="en-GB" sz="2400" b="0" i="0" u="none" strike="noStrike" kern="1200" cap="none" spc="0" normalizeH="0" baseline="0" noProof="0" dirty="0">
              <a:ln>
                <a:noFill/>
              </a:ln>
              <a:effectLst/>
              <a:uLnTx/>
              <a:uFillTx/>
              <a:latin typeface="Figtree" pitchFamily="2" charset="0"/>
            </a:endParaRPr>
          </a:p>
        </p:txBody>
      </p:sp>
      <p:sp>
        <p:nvSpPr>
          <p:cNvPr id="34" name="TextBox 33">
            <a:extLst>
              <a:ext uri="{FF2B5EF4-FFF2-40B4-BE49-F238E27FC236}">
                <a16:creationId xmlns:a16="http://schemas.microsoft.com/office/drawing/2014/main" id="{C2E5DDC1-4D84-82F5-F067-4B78520B1C92}"/>
              </a:ext>
            </a:extLst>
          </p:cNvPr>
          <p:cNvSpPr txBox="1"/>
          <p:nvPr/>
        </p:nvSpPr>
        <p:spPr>
          <a:xfrm>
            <a:off x="1538183" y="4300684"/>
            <a:ext cx="2520000" cy="1477328"/>
          </a:xfrm>
          <a:prstGeom prst="rect">
            <a:avLst/>
          </a:prstGeom>
          <a:noFill/>
        </p:spPr>
        <p:txBody>
          <a:bodyPr wrap="none" lIns="91440" tIns="45720" rIns="91440" bIns="45720" rtlCol="0" anchor="t">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l" defTabSz="1039170" rtl="0" eaLnBrk="1" fontAlgn="auto" latinLnBrk="0" hangingPunct="1">
              <a:lnSpc>
                <a:spcPct val="100000"/>
              </a:lnSpc>
              <a:spcBef>
                <a:spcPts val="0"/>
              </a:spcBef>
              <a:spcAft>
                <a:spcPts val="0"/>
              </a:spcAft>
              <a:buClrTx/>
              <a:buSzTx/>
              <a:buFontTx/>
              <a:buNone/>
              <a:tabLst/>
              <a:defRPr/>
            </a:pPr>
            <a:r>
              <a:rPr lang="en-US" sz="4000" b="1">
                <a:solidFill>
                  <a:srgbClr val="00C159"/>
                </a:solidFill>
                <a:latin typeface="Figtree"/>
              </a:rPr>
              <a:t>1.2GW</a:t>
            </a:r>
            <a:endParaRPr kumimoji="0" lang="en-US" sz="4800" b="0" i="0" u="none" strike="noStrike" kern="1200" cap="none" spc="0" normalizeH="0" baseline="0" noProof="0" dirty="0">
              <a:ln>
                <a:noFill/>
              </a:ln>
              <a:solidFill>
                <a:srgbClr val="00C159"/>
              </a:solidFill>
              <a:effectLst/>
              <a:uLnTx/>
              <a:uFillTx/>
              <a:latin typeface="Figtree" pitchFamily="2" charset="0"/>
            </a:endParaRPr>
          </a:p>
          <a:p>
            <a:pPr marL="0" marR="0" lvl="0" indent="0" algn="l" defTabSz="103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effectLst/>
                <a:uLnTx/>
                <a:uFillTx/>
                <a:latin typeface="Figtree" pitchFamily="2" charset="0"/>
              </a:rPr>
              <a:t>Total campus size,</a:t>
            </a:r>
            <a:br>
              <a:rPr kumimoji="0" lang="en-US" sz="2400" b="0" i="0" u="none" strike="noStrike" kern="1200" cap="none" spc="0" normalizeH="0" baseline="0" noProof="0" dirty="0">
                <a:ln>
                  <a:noFill/>
                </a:ln>
                <a:effectLst/>
                <a:uLnTx/>
                <a:uFillTx/>
                <a:latin typeface="Figtree" pitchFamily="2" charset="0"/>
              </a:rPr>
            </a:br>
            <a:r>
              <a:rPr kumimoji="0" lang="en-US" sz="2400" b="0" i="0" u="none" strike="noStrike" kern="1200" cap="none" spc="0" normalizeH="0" baseline="0" noProof="0" dirty="0">
                <a:ln>
                  <a:noFill/>
                </a:ln>
                <a:effectLst/>
                <a:uLnTx/>
                <a:uFillTx/>
                <a:latin typeface="Figtree" pitchFamily="2" charset="0"/>
              </a:rPr>
              <a:t>across 6 buildings</a:t>
            </a:r>
            <a:endParaRPr kumimoji="0" lang="en-GB" sz="2400" b="0" i="0" u="none" strike="noStrike" kern="1200" cap="none" spc="0" normalizeH="0" baseline="0" noProof="0" dirty="0">
              <a:ln>
                <a:noFill/>
              </a:ln>
              <a:effectLst/>
              <a:uLnTx/>
              <a:uFillTx/>
              <a:latin typeface="Figtree" pitchFamily="2" charset="0"/>
            </a:endParaRPr>
          </a:p>
        </p:txBody>
      </p:sp>
      <p:sp>
        <p:nvSpPr>
          <p:cNvPr id="35" name="TextBox 34">
            <a:extLst>
              <a:ext uri="{FF2B5EF4-FFF2-40B4-BE49-F238E27FC236}">
                <a16:creationId xmlns:a16="http://schemas.microsoft.com/office/drawing/2014/main" id="{31ACB5BE-9FAC-0D28-8724-D435E594B919}"/>
              </a:ext>
            </a:extLst>
          </p:cNvPr>
          <p:cNvSpPr txBox="1"/>
          <p:nvPr/>
        </p:nvSpPr>
        <p:spPr>
          <a:xfrm>
            <a:off x="5125023" y="5939565"/>
            <a:ext cx="2520000" cy="1477328"/>
          </a:xfrm>
          <a:prstGeom prst="rect">
            <a:avLst/>
          </a:prstGeom>
          <a:noFill/>
        </p:spPr>
        <p:txBody>
          <a:bodyPr wrap="none" rtlCol="0">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l" defTabSz="103917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00C159"/>
                </a:solidFill>
                <a:effectLst/>
                <a:uLnTx/>
                <a:uFillTx/>
                <a:latin typeface="Figtree" pitchFamily="2" charset="0"/>
              </a:rPr>
              <a:t>Q4’24</a:t>
            </a:r>
            <a:endParaRPr kumimoji="0" lang="en-US" sz="4800" b="0" i="0" u="none" strike="noStrike" kern="1200" cap="none" spc="0" normalizeH="0" baseline="0" noProof="0" dirty="0">
              <a:ln>
                <a:noFill/>
              </a:ln>
              <a:solidFill>
                <a:srgbClr val="00C159"/>
              </a:solidFill>
              <a:effectLst/>
              <a:uLnTx/>
              <a:uFillTx/>
              <a:latin typeface="Figtree" pitchFamily="2" charset="0"/>
            </a:endParaRPr>
          </a:p>
          <a:p>
            <a:pPr marL="0" marR="0" lvl="0" indent="0" algn="l" defTabSz="103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effectLst/>
                <a:uLnTx/>
                <a:uFillTx/>
                <a:latin typeface="Figtree" pitchFamily="2" charset="0"/>
              </a:rPr>
              <a:t>Start of SIN01 </a:t>
            </a:r>
            <a:br>
              <a:rPr kumimoji="0" lang="en-US" sz="2400" b="0" i="0" u="none" strike="noStrike" kern="1200" cap="none" spc="0" normalizeH="0" baseline="0" noProof="0" dirty="0">
                <a:ln>
                  <a:noFill/>
                </a:ln>
                <a:effectLst/>
                <a:uLnTx/>
                <a:uFillTx/>
                <a:latin typeface="Figtree" pitchFamily="2" charset="0"/>
              </a:rPr>
            </a:br>
            <a:r>
              <a:rPr kumimoji="0" lang="en-US" sz="2400" b="0" i="0" u="none" strike="noStrike" kern="1200" cap="none" spc="0" normalizeH="0" baseline="0" noProof="0" dirty="0">
                <a:ln>
                  <a:noFill/>
                </a:ln>
                <a:effectLst/>
                <a:uLnTx/>
                <a:uFillTx/>
                <a:latin typeface="Figtree" pitchFamily="2" charset="0"/>
              </a:rPr>
              <a:t>operations</a:t>
            </a:r>
            <a:endParaRPr kumimoji="0" lang="en-GB" sz="2400" b="0" i="0" u="none" strike="noStrike" kern="1200" cap="none" spc="0" normalizeH="0" baseline="0" noProof="0" dirty="0">
              <a:ln>
                <a:noFill/>
              </a:ln>
              <a:effectLst/>
              <a:uLnTx/>
              <a:uFillTx/>
              <a:latin typeface="Figtree" pitchFamily="2" charset="0"/>
            </a:endParaRPr>
          </a:p>
        </p:txBody>
      </p:sp>
      <p:cxnSp>
        <p:nvCxnSpPr>
          <p:cNvPr id="46" name="Connector: Elbow 6">
            <a:extLst>
              <a:ext uri="{FF2B5EF4-FFF2-40B4-BE49-F238E27FC236}">
                <a16:creationId xmlns:a16="http://schemas.microsoft.com/office/drawing/2014/main" id="{6AEC4BBA-AA5E-3577-A61B-1A59DC76707C}"/>
              </a:ext>
            </a:extLst>
          </p:cNvPr>
          <p:cNvCxnSpPr>
            <a:cxnSpLocks/>
            <a:endCxn id="21" idx="1"/>
          </p:cNvCxnSpPr>
          <p:nvPr/>
        </p:nvCxnSpPr>
        <p:spPr>
          <a:xfrm rot="10800000">
            <a:off x="1696466" y="10214031"/>
            <a:ext cx="9367013" cy="1"/>
          </a:xfrm>
          <a:prstGeom prst="bentConnector5">
            <a:avLst>
              <a:gd name="adj1" fmla="val 12850"/>
              <a:gd name="adj2" fmla="val -254848300000"/>
              <a:gd name="adj3" fmla="val 102440"/>
            </a:avLst>
          </a:prstGeom>
          <a:ln>
            <a:solidFill>
              <a:srgbClr val="00C159"/>
            </a:solidFill>
          </a:ln>
        </p:spPr>
        <p:style>
          <a:lnRef idx="1">
            <a:schemeClr val="accent1"/>
          </a:lnRef>
          <a:fillRef idx="0">
            <a:schemeClr val="accent1"/>
          </a:fillRef>
          <a:effectRef idx="0">
            <a:schemeClr val="accent1"/>
          </a:effectRef>
          <a:fontRef idx="minor">
            <a:schemeClr val="tx1"/>
          </a:fontRef>
        </p:style>
      </p:cxnSp>
      <p:pic>
        <p:nvPicPr>
          <p:cNvPr id="47" name="Graphic 46" descr="Marker with solid fill">
            <a:extLst>
              <a:ext uri="{FF2B5EF4-FFF2-40B4-BE49-F238E27FC236}">
                <a16:creationId xmlns:a16="http://schemas.microsoft.com/office/drawing/2014/main" id="{B7DBED9D-B5B2-F064-6F85-C9EB2B5CFA65}"/>
              </a:ext>
            </a:extLst>
          </p:cNvPr>
          <p:cNvPicPr>
            <a:picLocks noChangeAspect="1"/>
          </p:cNvPicPr>
          <p:nvPr/>
        </p:nvPicPr>
        <p:blipFill rotWithShape="1">
          <a:blip cstate="screen">
            <a:extLst>
              <a:ext uri="{28A0092B-C50C-407E-A947-70E740481C1C}">
                <a14:useLocalDpi xmlns:a14="http://schemas.microsoft.com/office/drawing/2010/main"/>
              </a:ext>
              <a:ext uri="{96DAC541-7B7A-43D3-8B79-37D633B846F1}">
                <asvg:svgBlip xmlns:asvg="http://schemas.microsoft.com/office/drawing/2016/SVG/main" r:embed="rId5"/>
              </a:ext>
            </a:extLst>
          </a:blip>
          <a:srcRect l="24426" t="13151" r="21372" b="10966"/>
          <a:stretch/>
        </p:blipFill>
        <p:spPr>
          <a:xfrm>
            <a:off x="10814790" y="9276242"/>
            <a:ext cx="632736" cy="885830"/>
          </a:xfrm>
          <a:prstGeom prst="rect">
            <a:avLst/>
          </a:prstGeom>
        </p:spPr>
      </p:pic>
      <p:sp>
        <p:nvSpPr>
          <p:cNvPr id="49" name="TextBox 48">
            <a:extLst>
              <a:ext uri="{FF2B5EF4-FFF2-40B4-BE49-F238E27FC236}">
                <a16:creationId xmlns:a16="http://schemas.microsoft.com/office/drawing/2014/main" id="{7CC1BE43-1283-4646-2CA1-27650AEC9F72}"/>
              </a:ext>
            </a:extLst>
          </p:cNvPr>
          <p:cNvSpPr txBox="1"/>
          <p:nvPr/>
        </p:nvSpPr>
        <p:spPr>
          <a:xfrm>
            <a:off x="5125023" y="4279903"/>
            <a:ext cx="2520000" cy="1477328"/>
          </a:xfrm>
          <a:prstGeom prst="rect">
            <a:avLst/>
          </a:prstGeom>
          <a:noFill/>
        </p:spPr>
        <p:txBody>
          <a:bodyPr wrap="square" rtlCol="0">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algn="l" defTabSz="103917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00C159"/>
                </a:solidFill>
                <a:effectLst/>
                <a:uLnTx/>
                <a:uFillTx/>
                <a:latin typeface="Figtree" pitchFamily="2" charset="0"/>
              </a:rPr>
              <a:t>€3.5bn</a:t>
            </a:r>
            <a:endParaRPr kumimoji="0" lang="en-US" sz="4800" b="0" i="0" u="none" strike="noStrike" kern="1200" cap="none" spc="0" normalizeH="0" baseline="0" noProof="0" dirty="0">
              <a:ln>
                <a:noFill/>
              </a:ln>
              <a:solidFill>
                <a:srgbClr val="00C159"/>
              </a:solidFill>
              <a:effectLst/>
              <a:uLnTx/>
              <a:uFillTx/>
              <a:latin typeface="Figtree" pitchFamily="2" charset="0"/>
            </a:endParaRPr>
          </a:p>
          <a:p>
            <a:pPr marL="0" marR="0" lvl="0" indent="0" algn="l" defTabSz="103917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effectLst/>
                <a:uLnTx/>
                <a:uFillTx/>
                <a:latin typeface="Figtree" pitchFamily="2" charset="0"/>
              </a:rPr>
              <a:t>Total combined investment</a:t>
            </a:r>
            <a:endParaRPr kumimoji="0" lang="en-GB" sz="2400" b="0" i="0" u="none" strike="noStrike" kern="1200" cap="none" spc="0" normalizeH="0" baseline="0" noProof="0" dirty="0">
              <a:ln>
                <a:noFill/>
              </a:ln>
              <a:effectLst/>
              <a:uLnTx/>
              <a:uFillTx/>
              <a:latin typeface="Figtree" pitchFamily="2" charset="0"/>
            </a:endParaRPr>
          </a:p>
        </p:txBody>
      </p:sp>
      <p:sp>
        <p:nvSpPr>
          <p:cNvPr id="56" name="TextBox 55">
            <a:extLst>
              <a:ext uri="{FF2B5EF4-FFF2-40B4-BE49-F238E27FC236}">
                <a16:creationId xmlns:a16="http://schemas.microsoft.com/office/drawing/2014/main" id="{CCE978BF-A35C-8893-94A9-AA301B11F7E0}"/>
              </a:ext>
            </a:extLst>
          </p:cNvPr>
          <p:cNvSpPr txBox="1"/>
          <p:nvPr/>
        </p:nvSpPr>
        <p:spPr>
          <a:xfrm>
            <a:off x="1508481" y="1959829"/>
            <a:ext cx="6081039" cy="1938992"/>
          </a:xfrm>
          <a:prstGeom prst="rect">
            <a:avLst/>
          </a:prstGeom>
          <a:noFill/>
        </p:spPr>
        <p:txBody>
          <a:bodyPr wrap="square">
            <a:spAutoFit/>
          </a:bodyPr>
          <a:lstStyle/>
          <a:p>
            <a:r>
              <a:rPr lang="en-US" sz="4000" b="1" dirty="0">
                <a:solidFill>
                  <a:srgbClr val="00C159"/>
                </a:solidFill>
                <a:latin typeface="Figtree SemiBold" pitchFamily="2" charset="0"/>
              </a:rPr>
              <a:t>The SINES Project: </a:t>
            </a:r>
            <a:br>
              <a:rPr lang="en-US" sz="4000" b="1" dirty="0">
                <a:latin typeface="Figtree SemiBold" pitchFamily="2" charset="0"/>
              </a:rPr>
            </a:br>
            <a:r>
              <a:rPr lang="en-US" sz="4000" b="1" dirty="0">
                <a:latin typeface="Figtree SemiBold" pitchFamily="2" charset="0"/>
              </a:rPr>
              <a:t>One of Europe’s largest data ecosystems</a:t>
            </a:r>
            <a:endParaRPr lang="en-US" sz="4400" b="1" dirty="0">
              <a:latin typeface="Figtree SemiBold" pitchFamily="2" charset="0"/>
            </a:endParaRPr>
          </a:p>
        </p:txBody>
      </p:sp>
    </p:spTree>
    <p:extLst>
      <p:ext uri="{BB962C8B-B14F-4D97-AF65-F5344CB8AC3E}">
        <p14:creationId xmlns:p14="http://schemas.microsoft.com/office/powerpoint/2010/main" val="346674831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DA5A9F-1F4D-46C6-414F-ADC77800E0C4}"/>
            </a:ext>
          </a:extLst>
        </p:cNvPr>
        <p:cNvGrpSpPr/>
        <p:nvPr/>
      </p:nvGrpSpPr>
      <p:grpSpPr>
        <a:xfrm>
          <a:off x="0" y="0"/>
          <a:ext cx="0" cy="0"/>
          <a:chOff x="0" y="0"/>
          <a:chExt cx="0" cy="0"/>
        </a:xfrm>
      </p:grpSpPr>
      <p:sp>
        <p:nvSpPr>
          <p:cNvPr id="36" name="Rectangle 35">
            <a:extLst>
              <a:ext uri="{FF2B5EF4-FFF2-40B4-BE49-F238E27FC236}">
                <a16:creationId xmlns:a16="http://schemas.microsoft.com/office/drawing/2014/main" id="{D6505226-53B7-9A96-16AD-A88DCD20D9C0}"/>
              </a:ext>
            </a:extLst>
          </p:cNvPr>
          <p:cNvSpPr/>
          <p:nvPr/>
        </p:nvSpPr>
        <p:spPr>
          <a:xfrm>
            <a:off x="1508636" y="4786390"/>
            <a:ext cx="5012499" cy="1304965"/>
          </a:xfrm>
          <a:prstGeom prst="rect">
            <a:avLst/>
          </a:prstGeom>
          <a:noFill/>
          <a:ln w="9525" cap="flat">
            <a:noFill/>
            <a:prstDash val="solid"/>
            <a:round/>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7532" tIns="97532" rIns="97532" bIns="97532" numCol="1" spcCol="38100" rtlCol="0" anchor="ctr">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1" indent="0" defTabSz="1039170" rtl="0" eaLnBrk="1" fontAlgn="auto" latinLnBrk="0" hangingPunct="1">
              <a:spcBef>
                <a:spcPts val="0"/>
              </a:spcBef>
              <a:spcAft>
                <a:spcPts val="0"/>
              </a:spcAft>
              <a:buClrTx/>
              <a:buSzPct val="120000"/>
              <a:buFontTx/>
              <a:buNone/>
              <a:tabLst/>
              <a:defRPr/>
            </a:pPr>
            <a:r>
              <a:rPr lang="en-GB" sz="3600" b="1">
                <a:solidFill>
                  <a:srgbClr val="00C159"/>
                </a:solidFill>
                <a:latin typeface="Figtree"/>
                <a:cs typeface="Arial"/>
              </a:rPr>
              <a:t>1.2GW</a:t>
            </a:r>
            <a:r>
              <a:rPr kumimoji="0" lang="en-GB" sz="3600" b="1" u="none" strike="noStrike" kern="1200" cap="none" spc="0" normalizeH="0" baseline="0" noProof="0">
                <a:ln>
                  <a:noFill/>
                </a:ln>
                <a:solidFill>
                  <a:srgbClr val="00C159"/>
                </a:solidFill>
                <a:effectLst/>
                <a:uLnTx/>
                <a:uFillTx/>
                <a:latin typeface="Figtree"/>
                <a:cs typeface="Arial"/>
              </a:rPr>
              <a:t> data </a:t>
            </a:r>
            <a:r>
              <a:rPr kumimoji="0" lang="en-GB" sz="3600" b="1" u="none" strike="noStrike" kern="1200" cap="none" spc="0" normalizeH="0" baseline="0" noProof="0" err="1">
                <a:ln>
                  <a:noFill/>
                </a:ln>
                <a:solidFill>
                  <a:srgbClr val="00C159"/>
                </a:solidFill>
                <a:effectLst/>
                <a:uLnTx/>
                <a:uFillTx/>
                <a:latin typeface="Figtree"/>
                <a:cs typeface="Arial"/>
              </a:rPr>
              <a:t>center</a:t>
            </a:r>
            <a:r>
              <a:rPr kumimoji="0" lang="en-GB" sz="3600" b="1" u="none" strike="noStrike" kern="1200" cap="none" spc="0" normalizeH="0" baseline="0" noProof="0">
                <a:ln>
                  <a:noFill/>
                </a:ln>
                <a:solidFill>
                  <a:srgbClr val="00C159"/>
                </a:solidFill>
                <a:effectLst/>
                <a:uLnTx/>
                <a:uFillTx/>
                <a:latin typeface="Figtree"/>
                <a:cs typeface="Arial"/>
              </a:rPr>
              <a:t> campus, in Portugal</a:t>
            </a:r>
          </a:p>
        </p:txBody>
      </p:sp>
      <p:sp>
        <p:nvSpPr>
          <p:cNvPr id="37" name="Rectangle 36">
            <a:extLst>
              <a:ext uri="{FF2B5EF4-FFF2-40B4-BE49-F238E27FC236}">
                <a16:creationId xmlns:a16="http://schemas.microsoft.com/office/drawing/2014/main" id="{C28426CB-5A7C-8604-78EB-70E2CAE9FFEE}"/>
              </a:ext>
            </a:extLst>
          </p:cNvPr>
          <p:cNvSpPr/>
          <p:nvPr/>
        </p:nvSpPr>
        <p:spPr>
          <a:xfrm>
            <a:off x="9092293" y="8440914"/>
            <a:ext cx="6279620" cy="1200329"/>
          </a:xfrm>
          <a:prstGeom prst="rect">
            <a:avLst/>
          </a:prstGeom>
        </p:spPr>
        <p:txBody>
          <a:bodyPr wrap="square" anchor="ctr">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1" indent="0" defTabSz="1039170" rtl="0" eaLnBrk="1" fontAlgn="auto" latinLnBrk="0" hangingPunct="1">
              <a:spcBef>
                <a:spcPts val="0"/>
              </a:spcBef>
              <a:spcAft>
                <a:spcPts val="0"/>
              </a:spcAft>
              <a:buClrTx/>
              <a:buSzPct val="120000"/>
              <a:buFontTx/>
              <a:buNone/>
              <a:tabLst/>
              <a:defRPr/>
            </a:pPr>
            <a:r>
              <a:rPr kumimoji="0" lang="en-GB" sz="3600" b="1" u="none" strike="noStrike" kern="1200" cap="none" spc="0" normalizeH="0" baseline="0" noProof="0" dirty="0">
                <a:ln>
                  <a:noFill/>
                </a:ln>
                <a:solidFill>
                  <a:srgbClr val="00C159"/>
                </a:solidFill>
                <a:effectLst/>
                <a:uLnTx/>
                <a:uFillTx/>
                <a:latin typeface="Figtree" pitchFamily="2" charset="0"/>
                <a:cs typeface="Arial" panose="020B0604020202020204" pitchFamily="34" charset="0"/>
              </a:rPr>
              <a:t>Carrier-neutral with excellent connectivity </a:t>
            </a:r>
          </a:p>
        </p:txBody>
      </p:sp>
      <p:sp>
        <p:nvSpPr>
          <p:cNvPr id="38" name="Rectangle 37">
            <a:extLst>
              <a:ext uri="{FF2B5EF4-FFF2-40B4-BE49-F238E27FC236}">
                <a16:creationId xmlns:a16="http://schemas.microsoft.com/office/drawing/2014/main" id="{DB703382-98B3-C37C-4B90-01303564958A}"/>
              </a:ext>
            </a:extLst>
          </p:cNvPr>
          <p:cNvSpPr/>
          <p:nvPr/>
        </p:nvSpPr>
        <p:spPr>
          <a:xfrm>
            <a:off x="9092294" y="4786390"/>
            <a:ext cx="6800850" cy="1200329"/>
          </a:xfrm>
          <a:prstGeom prst="rect">
            <a:avLst/>
          </a:prstGeom>
        </p:spPr>
        <p:txBody>
          <a:bodyPr wrap="square" anchor="ctr">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defTabSz="1039170" rtl="0" eaLnBrk="1" fontAlgn="auto" latinLnBrk="0" hangingPunct="1">
              <a:spcBef>
                <a:spcPts val="0"/>
              </a:spcBef>
              <a:spcAft>
                <a:spcPts val="0"/>
              </a:spcAft>
              <a:buClrTx/>
              <a:buSzTx/>
              <a:buFontTx/>
              <a:buNone/>
              <a:tabLst/>
              <a:defRPr/>
            </a:pPr>
            <a:r>
              <a:rPr kumimoji="0" lang="en-GB" sz="3600" b="1" u="none" strike="noStrike" kern="1200" cap="none" spc="0" normalizeH="0" baseline="0" noProof="0" dirty="0">
                <a:ln>
                  <a:noFill/>
                </a:ln>
                <a:solidFill>
                  <a:srgbClr val="00C159"/>
                </a:solidFill>
                <a:effectLst/>
                <a:uLnTx/>
                <a:uFillTx/>
                <a:latin typeface="Figtree" pitchFamily="2" charset="0"/>
                <a:cs typeface="Arial" panose="020B0604020202020204" pitchFamily="34" charset="0"/>
              </a:rPr>
              <a:t>Sustainable, innovative </a:t>
            </a:r>
            <a:br>
              <a:rPr kumimoji="0" lang="en-GB" sz="3600" b="1" u="none" strike="noStrike" kern="1200" cap="none" spc="0" normalizeH="0" baseline="0" noProof="0" dirty="0">
                <a:ln>
                  <a:noFill/>
                </a:ln>
                <a:solidFill>
                  <a:srgbClr val="00C159"/>
                </a:solidFill>
                <a:effectLst/>
                <a:uLnTx/>
                <a:uFillTx/>
                <a:latin typeface="Figtree" pitchFamily="2" charset="0"/>
                <a:cs typeface="Arial" panose="020B0604020202020204" pitchFamily="34" charset="0"/>
              </a:rPr>
            </a:br>
            <a:r>
              <a:rPr kumimoji="0" lang="en-GB" sz="3600" b="1" u="none" strike="noStrike" kern="1200" cap="none" spc="0" normalizeH="0" baseline="0" noProof="0" dirty="0">
                <a:ln>
                  <a:noFill/>
                </a:ln>
                <a:solidFill>
                  <a:srgbClr val="00C159"/>
                </a:solidFill>
                <a:effectLst/>
                <a:uLnTx/>
                <a:uFillTx/>
                <a:latin typeface="Figtree" pitchFamily="2" charset="0"/>
                <a:cs typeface="Arial" panose="020B0604020202020204" pitchFamily="34" charset="0"/>
              </a:rPr>
              <a:t>ocean-water cooling </a:t>
            </a:r>
          </a:p>
        </p:txBody>
      </p:sp>
      <p:sp>
        <p:nvSpPr>
          <p:cNvPr id="39" name="Rectangle 38">
            <a:extLst>
              <a:ext uri="{FF2B5EF4-FFF2-40B4-BE49-F238E27FC236}">
                <a16:creationId xmlns:a16="http://schemas.microsoft.com/office/drawing/2014/main" id="{0098CC83-2831-3972-3DBA-8A91A9FE74DB}"/>
              </a:ext>
            </a:extLst>
          </p:cNvPr>
          <p:cNvSpPr/>
          <p:nvPr/>
        </p:nvSpPr>
        <p:spPr>
          <a:xfrm>
            <a:off x="1417048" y="8422267"/>
            <a:ext cx="4791229" cy="1292662"/>
          </a:xfrm>
          <a:prstGeom prst="rect">
            <a:avLst/>
          </a:prstGeom>
        </p:spPr>
        <p:txBody>
          <a:bodyPr wrap="square" lIns="182880" tIns="91440" rIns="182880" bIns="91440" anchor="ctr">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1" indent="0" defTabSz="1039170" rtl="0" eaLnBrk="1" fontAlgn="auto" latinLnBrk="0" hangingPunct="1">
              <a:spcBef>
                <a:spcPts val="0"/>
              </a:spcBef>
              <a:spcAft>
                <a:spcPts val="0"/>
              </a:spcAft>
              <a:buClrTx/>
              <a:buSzPct val="120000"/>
              <a:buFontTx/>
              <a:buNone/>
              <a:tabLst/>
              <a:defRPr/>
            </a:pPr>
            <a:r>
              <a:rPr kumimoji="0" lang="en-GB" sz="3600" b="1" u="none" strike="noStrike" kern="1200" cap="none" spc="0" normalizeH="0" baseline="0" noProof="0" dirty="0">
                <a:ln>
                  <a:noFill/>
                </a:ln>
                <a:solidFill>
                  <a:srgbClr val="00C159"/>
                </a:solidFill>
                <a:effectLst/>
                <a:uLnTx/>
                <a:uFillTx/>
                <a:latin typeface="Figtree" pitchFamily="2" charset="0"/>
                <a:cs typeface="Arial" panose="020B0604020202020204" pitchFamily="34" charset="0"/>
              </a:rPr>
              <a:t>Secured access to the grid (525 MVA) </a:t>
            </a:r>
          </a:p>
        </p:txBody>
      </p:sp>
      <p:sp>
        <p:nvSpPr>
          <p:cNvPr id="40" name="Rectangle 39">
            <a:extLst>
              <a:ext uri="{FF2B5EF4-FFF2-40B4-BE49-F238E27FC236}">
                <a16:creationId xmlns:a16="http://schemas.microsoft.com/office/drawing/2014/main" id="{EDD32F0A-D4E4-2678-81BF-881AD1D878FF}"/>
              </a:ext>
            </a:extLst>
          </p:cNvPr>
          <p:cNvSpPr/>
          <p:nvPr/>
        </p:nvSpPr>
        <p:spPr>
          <a:xfrm>
            <a:off x="17360740" y="4786390"/>
            <a:ext cx="5584643" cy="1200329"/>
          </a:xfrm>
          <a:prstGeom prst="rect">
            <a:avLst/>
          </a:prstGeom>
        </p:spPr>
        <p:txBody>
          <a:bodyPr wrap="square" anchor="ctr">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marR="0" lvl="0" indent="0" defTabSz="1039170" rtl="0" eaLnBrk="1" fontAlgn="auto" latinLnBrk="0" hangingPunct="1">
              <a:spcBef>
                <a:spcPts val="0"/>
              </a:spcBef>
              <a:spcAft>
                <a:spcPts val="0"/>
              </a:spcAft>
              <a:buClrTx/>
              <a:buSzTx/>
              <a:buFontTx/>
              <a:buNone/>
              <a:tabLst/>
              <a:defRPr/>
            </a:pPr>
            <a:r>
              <a:rPr kumimoji="0" lang="en-GB" sz="3600" b="1" u="none" strike="noStrike" kern="1200" cap="none" spc="0" normalizeH="0" baseline="0" noProof="0" dirty="0">
                <a:ln>
                  <a:noFill/>
                </a:ln>
                <a:solidFill>
                  <a:srgbClr val="00C159"/>
                </a:solidFill>
                <a:effectLst/>
                <a:uLnTx/>
                <a:uFillTx/>
                <a:latin typeface="Figtree" pitchFamily="2" charset="0"/>
                <a:cs typeface="Arial" panose="020B0604020202020204" pitchFamily="34" charset="0"/>
              </a:rPr>
              <a:t>Experienced </a:t>
            </a:r>
            <a:r>
              <a:rPr kumimoji="0" lang="en-US" sz="3600" b="1" u="none" strike="noStrike" kern="1200" cap="none" spc="0" normalizeH="0" baseline="0" noProof="0" dirty="0">
                <a:ln>
                  <a:noFill/>
                </a:ln>
                <a:solidFill>
                  <a:srgbClr val="00C159"/>
                </a:solidFill>
                <a:effectLst/>
                <a:uLnTx/>
                <a:uFillTx/>
                <a:latin typeface="Figtree" pitchFamily="2" charset="0"/>
                <a:cs typeface="Arial" panose="020B0604020202020204" pitchFamily="34" charset="0"/>
              </a:rPr>
              <a:t>management team </a:t>
            </a:r>
          </a:p>
        </p:txBody>
      </p:sp>
      <p:sp>
        <p:nvSpPr>
          <p:cNvPr id="2" name="TextBox 1">
            <a:extLst>
              <a:ext uri="{FF2B5EF4-FFF2-40B4-BE49-F238E27FC236}">
                <a16:creationId xmlns:a16="http://schemas.microsoft.com/office/drawing/2014/main" id="{5AD6172E-1C47-394F-F96B-1E1AFAEC98BC}"/>
              </a:ext>
            </a:extLst>
          </p:cNvPr>
          <p:cNvSpPr txBox="1"/>
          <p:nvPr/>
        </p:nvSpPr>
        <p:spPr>
          <a:xfrm>
            <a:off x="1508481" y="1959829"/>
            <a:ext cx="14341119" cy="1323439"/>
          </a:xfrm>
          <a:prstGeom prst="rect">
            <a:avLst/>
          </a:prstGeom>
          <a:noFill/>
        </p:spPr>
        <p:txBody>
          <a:bodyPr wrap="square">
            <a:spAutoFit/>
          </a:bodyPr>
          <a:lstStyle/>
          <a:p>
            <a:r>
              <a:rPr lang="en-US" sz="8000" b="1" dirty="0">
                <a:latin typeface="Figtree SemiBold" pitchFamily="2" charset="0"/>
              </a:rPr>
              <a:t>Features, powered by </a:t>
            </a:r>
            <a:r>
              <a:rPr lang="en-US" sz="8000" b="1" dirty="0">
                <a:solidFill>
                  <a:srgbClr val="00C159"/>
                </a:solidFill>
                <a:latin typeface="Figtree SemiBold" pitchFamily="2" charset="0"/>
              </a:rPr>
              <a:t>SINES</a:t>
            </a:r>
          </a:p>
        </p:txBody>
      </p:sp>
      <p:sp>
        <p:nvSpPr>
          <p:cNvPr id="5" name="TextBox 4">
            <a:extLst>
              <a:ext uri="{FF2B5EF4-FFF2-40B4-BE49-F238E27FC236}">
                <a16:creationId xmlns:a16="http://schemas.microsoft.com/office/drawing/2014/main" id="{FDEDB010-023A-91E2-2AB6-4F8F52D97398}"/>
              </a:ext>
            </a:extLst>
          </p:cNvPr>
          <p:cNvSpPr txBox="1"/>
          <p:nvPr/>
        </p:nvSpPr>
        <p:spPr>
          <a:xfrm>
            <a:off x="1493157" y="6253322"/>
            <a:ext cx="6159500" cy="1831271"/>
          </a:xfrm>
          <a:prstGeom prst="rect">
            <a:avLst/>
          </a:prstGeom>
          <a:noFill/>
        </p:spPr>
        <p:txBody>
          <a:bodyPr wrap="square">
            <a:spAutoFit/>
          </a:bodyPr>
          <a:lstStyle/>
          <a:p>
            <a:pPr marL="0" marR="0" lvl="1" indent="0" defTabSz="1039170" rtl="0" eaLnBrk="1" fontAlgn="auto" latinLnBrk="0" hangingPunct="1">
              <a:lnSpc>
                <a:spcPct val="120000"/>
              </a:lnSpc>
              <a:spcBef>
                <a:spcPts val="0"/>
              </a:spcBef>
              <a:spcAft>
                <a:spcPts val="0"/>
              </a:spcAft>
              <a:buClrTx/>
              <a:buSzPct val="120000"/>
              <a:buFontTx/>
              <a:buNone/>
              <a:tabLst/>
              <a:defRPr/>
            </a:pPr>
            <a:r>
              <a:rPr lang="en-US" sz="2400" dirty="0">
                <a:latin typeface="Figtree" pitchFamily="2" charset="0"/>
                <a:cs typeface="Arial" panose="020B0604020202020204" pitchFamily="34" charset="0"/>
              </a:rPr>
              <a:t>W</a:t>
            </a:r>
            <a:r>
              <a:rPr kumimoji="0" lang="en-US" sz="2400" b="0" i="0" u="none" strike="noStrike" kern="1200" cap="none" spc="0" normalizeH="0" baseline="0" noProof="0" dirty="0" err="1">
                <a:ln>
                  <a:noFill/>
                </a:ln>
                <a:effectLst/>
                <a:uLnTx/>
                <a:uFillTx/>
                <a:latin typeface="Figtree" pitchFamily="2" charset="0"/>
                <a:cs typeface="Arial" panose="020B0604020202020204" pitchFamily="34" charset="0"/>
              </a:rPr>
              <a:t>ith</a:t>
            </a:r>
            <a:r>
              <a:rPr kumimoji="0" lang="en-US" sz="2400" b="0" i="0" u="none" strike="noStrike" kern="1200" cap="none" spc="0" normalizeH="0" baseline="0" noProof="0" dirty="0">
                <a:ln>
                  <a:noFill/>
                </a:ln>
                <a:effectLst/>
                <a:uLnTx/>
                <a:uFillTx/>
                <a:latin typeface="Figtree" pitchFamily="2" charset="0"/>
                <a:cs typeface="Arial" panose="020B0604020202020204" pitchFamily="34" charset="0"/>
              </a:rPr>
              <a:t> a flexible and scalable design tailored to meet the growing needs of, AI and HPC, and providing powered shell, turn-key, build-to-suit, and data hall solutions</a:t>
            </a:r>
          </a:p>
        </p:txBody>
      </p:sp>
      <p:sp>
        <p:nvSpPr>
          <p:cNvPr id="8" name="TextBox 7">
            <a:extLst>
              <a:ext uri="{FF2B5EF4-FFF2-40B4-BE49-F238E27FC236}">
                <a16:creationId xmlns:a16="http://schemas.microsoft.com/office/drawing/2014/main" id="{5AF3FD0D-3B1B-8786-5055-20A9314B2A46}"/>
              </a:ext>
            </a:extLst>
          </p:cNvPr>
          <p:cNvSpPr txBox="1"/>
          <p:nvPr/>
        </p:nvSpPr>
        <p:spPr>
          <a:xfrm>
            <a:off x="9092293" y="6253322"/>
            <a:ext cx="5617029" cy="1388072"/>
          </a:xfrm>
          <a:prstGeom prst="rect">
            <a:avLst/>
          </a:prstGeom>
          <a:noFill/>
        </p:spPr>
        <p:txBody>
          <a:bodyPr wrap="square">
            <a:spAutoFit/>
          </a:bodyPr>
          <a:lstStyle/>
          <a:p>
            <a:pPr marL="0" marR="0" lvl="0" indent="0" defTabSz="1039170" rtl="0" eaLnBrk="1" fontAlgn="auto" latinLnBrk="0" hangingPunct="1">
              <a:lnSpc>
                <a:spcPct val="120000"/>
              </a:lnSpc>
              <a:spcBef>
                <a:spcPts val="0"/>
              </a:spcBef>
              <a:spcAft>
                <a:spcPts val="0"/>
              </a:spcAft>
              <a:buClrTx/>
              <a:buSzTx/>
              <a:buFontTx/>
              <a:buNone/>
              <a:tabLst/>
              <a:defRPr/>
            </a:pPr>
            <a:r>
              <a:rPr lang="en-GB" sz="2400" dirty="0">
                <a:latin typeface="Figtree" pitchFamily="2" charset="0"/>
                <a:cs typeface="Arial" panose="020B0604020202020204" pitchFamily="34" charset="0"/>
              </a:rPr>
              <a:t>I</a:t>
            </a:r>
            <a:r>
              <a:rPr kumimoji="0" lang="en-GB" sz="2400" b="0" i="0" u="none" strike="noStrike" kern="1200" cap="none" spc="0" normalizeH="0" baseline="0" noProof="0" dirty="0" err="1">
                <a:ln>
                  <a:noFill/>
                </a:ln>
                <a:effectLst/>
                <a:uLnTx/>
                <a:uFillTx/>
                <a:latin typeface="Figtree" pitchFamily="2" charset="0"/>
                <a:cs typeface="Arial" panose="020B0604020202020204" pitchFamily="34" charset="0"/>
              </a:rPr>
              <a:t>ntegrating</a:t>
            </a:r>
            <a:r>
              <a:rPr kumimoji="0" lang="en-GB" sz="2400" b="0" i="0" u="none" strike="noStrike" kern="1200" cap="none" spc="0" normalizeH="0" baseline="0" noProof="0" dirty="0">
                <a:ln>
                  <a:noFill/>
                </a:ln>
                <a:effectLst/>
                <a:uLnTx/>
                <a:uFillTx/>
                <a:latin typeface="Figtree" pitchFamily="2" charset="0"/>
                <a:cs typeface="Arial" panose="020B0604020202020204" pitchFamily="34" charset="0"/>
              </a:rPr>
              <a:t> existing infrastructure to reduce environmental footprint, and delivering industry leading WUE</a:t>
            </a:r>
            <a:r>
              <a:rPr kumimoji="0" lang="en-GB" sz="2400" b="0" i="0" u="none" strike="noStrike" kern="1200" cap="none" spc="0" normalizeH="0" baseline="30000" noProof="0" dirty="0">
                <a:ln>
                  <a:noFill/>
                </a:ln>
                <a:effectLst/>
                <a:uLnTx/>
                <a:uFillTx/>
                <a:latin typeface="Figtree" pitchFamily="2" charset="0"/>
                <a:cs typeface="Arial" panose="020B0604020202020204" pitchFamily="34" charset="0"/>
              </a:rPr>
              <a:t>2</a:t>
            </a:r>
            <a:endParaRPr kumimoji="0" lang="en-GB" sz="2400" b="0" i="0" u="none" strike="noStrike" kern="1200" cap="none" spc="0" normalizeH="0" baseline="0" noProof="0" dirty="0">
              <a:ln>
                <a:noFill/>
              </a:ln>
              <a:effectLst/>
              <a:uLnTx/>
              <a:uFillTx/>
              <a:latin typeface="Figtree" pitchFamily="2" charset="0"/>
              <a:cs typeface="Arial" panose="020B0604020202020204" pitchFamily="34" charset="0"/>
            </a:endParaRPr>
          </a:p>
        </p:txBody>
      </p:sp>
      <p:sp>
        <p:nvSpPr>
          <p:cNvPr id="12" name="TextBox 11">
            <a:extLst>
              <a:ext uri="{FF2B5EF4-FFF2-40B4-BE49-F238E27FC236}">
                <a16:creationId xmlns:a16="http://schemas.microsoft.com/office/drawing/2014/main" id="{B108BBB7-F942-237F-BED9-28D356EBF1F3}"/>
              </a:ext>
            </a:extLst>
          </p:cNvPr>
          <p:cNvSpPr txBox="1"/>
          <p:nvPr/>
        </p:nvSpPr>
        <p:spPr>
          <a:xfrm>
            <a:off x="1541415" y="9880099"/>
            <a:ext cx="5225144" cy="1388072"/>
          </a:xfrm>
          <a:prstGeom prst="rect">
            <a:avLst/>
          </a:prstGeom>
          <a:noFill/>
        </p:spPr>
        <p:txBody>
          <a:bodyPr wrap="square">
            <a:spAutoFit/>
          </a:bodyPr>
          <a:lstStyle/>
          <a:p>
            <a:pPr marL="0" marR="0" lvl="1" indent="0" defTabSz="1039170" rtl="0" eaLnBrk="1" fontAlgn="auto" latinLnBrk="0" hangingPunct="1">
              <a:lnSpc>
                <a:spcPct val="120000"/>
              </a:lnSpc>
              <a:spcBef>
                <a:spcPts val="0"/>
              </a:spcBef>
              <a:spcAft>
                <a:spcPts val="0"/>
              </a:spcAft>
              <a:buClrTx/>
              <a:buSzPct val="120000"/>
              <a:buFontTx/>
              <a:buNone/>
              <a:tabLst/>
              <a:defRPr/>
            </a:pPr>
            <a:r>
              <a:rPr lang="en-GB" sz="2400" dirty="0">
                <a:latin typeface="Figtree" pitchFamily="2" charset="0"/>
                <a:cs typeface="Arial"/>
              </a:rPr>
              <a:t>G</a:t>
            </a:r>
            <a:r>
              <a:rPr kumimoji="0" lang="en-GB" sz="2400" b="0" i="0" u="none" strike="noStrike" kern="1200" cap="none" spc="0" normalizeH="0" baseline="0" noProof="0" dirty="0" err="1">
                <a:ln>
                  <a:noFill/>
                </a:ln>
                <a:effectLst/>
                <a:uLnTx/>
                <a:uFillTx/>
                <a:latin typeface="Figtree" pitchFamily="2" charset="0"/>
                <a:cs typeface="Arial"/>
              </a:rPr>
              <a:t>uaranteeing</a:t>
            </a:r>
            <a:r>
              <a:rPr kumimoji="0" lang="en-GB" sz="2400" b="0" i="0" u="none" strike="noStrike" kern="1200" cap="none" spc="0" normalizeH="0" baseline="0" noProof="0" dirty="0">
                <a:ln>
                  <a:noFill/>
                </a:ln>
                <a:effectLst/>
                <a:uLnTx/>
                <a:uFillTx/>
                <a:latin typeface="Figtree" pitchFamily="2" charset="0"/>
                <a:cs typeface="Arial"/>
              </a:rPr>
              <a:t> energy security, with low-cost power, 100% renewable energy and industry leading PUE</a:t>
            </a:r>
            <a:r>
              <a:rPr kumimoji="0" lang="en-GB" sz="2400" b="0" i="0" u="none" strike="noStrike" kern="1200" cap="none" spc="0" normalizeH="0" baseline="30000" noProof="0" dirty="0">
                <a:ln>
                  <a:noFill/>
                </a:ln>
                <a:effectLst/>
                <a:uLnTx/>
                <a:uFillTx/>
                <a:latin typeface="Figtree" pitchFamily="2" charset="0"/>
                <a:cs typeface="Arial"/>
              </a:rPr>
              <a:t>1</a:t>
            </a:r>
            <a:endParaRPr kumimoji="0" lang="en-GB" sz="2400" b="0" i="0" u="none" strike="noStrike" kern="1200" cap="none" spc="0" normalizeH="0" baseline="0" noProof="0" dirty="0">
              <a:ln>
                <a:noFill/>
              </a:ln>
              <a:effectLst/>
              <a:uLnTx/>
              <a:uFillTx/>
              <a:latin typeface="Figtree" pitchFamily="2" charset="0"/>
              <a:cs typeface="Arial"/>
            </a:endParaRPr>
          </a:p>
        </p:txBody>
      </p:sp>
      <p:sp>
        <p:nvSpPr>
          <p:cNvPr id="16" name="TextBox 15">
            <a:extLst>
              <a:ext uri="{FF2B5EF4-FFF2-40B4-BE49-F238E27FC236}">
                <a16:creationId xmlns:a16="http://schemas.microsoft.com/office/drawing/2014/main" id="{BB0D1C85-1643-4331-C28A-F799DF379E32}"/>
              </a:ext>
            </a:extLst>
          </p:cNvPr>
          <p:cNvSpPr txBox="1"/>
          <p:nvPr/>
        </p:nvSpPr>
        <p:spPr>
          <a:xfrm>
            <a:off x="17365980" y="6253322"/>
            <a:ext cx="5852160" cy="1831271"/>
          </a:xfrm>
          <a:prstGeom prst="rect">
            <a:avLst/>
          </a:prstGeom>
          <a:noFill/>
        </p:spPr>
        <p:txBody>
          <a:bodyPr wrap="square">
            <a:spAutoFit/>
          </a:bodyPr>
          <a:lstStyle/>
          <a:p>
            <a:pPr marL="0" marR="0" lvl="1" indent="0" defTabSz="1039170" rtl="0" eaLnBrk="1" fontAlgn="auto" latinLnBrk="0" hangingPunct="1">
              <a:lnSpc>
                <a:spcPct val="120000"/>
              </a:lnSpc>
              <a:spcBef>
                <a:spcPts val="0"/>
              </a:spcBef>
              <a:spcAft>
                <a:spcPts val="0"/>
              </a:spcAft>
              <a:buClrTx/>
              <a:buSzPct val="120000"/>
              <a:buFontTx/>
              <a:buNone/>
              <a:tabLst/>
              <a:defRPr/>
            </a:pPr>
            <a:r>
              <a:rPr lang="en-US" sz="2400" dirty="0">
                <a:latin typeface="Figtree" pitchFamily="2" charset="0"/>
                <a:cs typeface="Arial" panose="020B0604020202020204" pitchFamily="34" charset="0"/>
              </a:rPr>
              <a:t>W</a:t>
            </a:r>
            <a:r>
              <a:rPr kumimoji="0" lang="en-US" sz="2400" b="0" i="0" u="none" strike="noStrike" kern="1200" cap="none" spc="0" normalizeH="0" baseline="0" noProof="0" dirty="0" err="1">
                <a:ln>
                  <a:noFill/>
                </a:ln>
                <a:effectLst/>
                <a:uLnTx/>
                <a:uFillTx/>
                <a:latin typeface="Figtree" pitchFamily="2" charset="0"/>
                <a:cs typeface="Arial" panose="020B0604020202020204" pitchFamily="34" charset="0"/>
              </a:rPr>
              <a:t>ith</a:t>
            </a:r>
            <a:r>
              <a:rPr kumimoji="0" lang="en-US" sz="2400" b="0" i="0" u="none" strike="noStrike" kern="1200" cap="none" spc="0" normalizeH="0" baseline="0" noProof="0" dirty="0">
                <a:ln>
                  <a:noFill/>
                </a:ln>
                <a:effectLst/>
                <a:uLnTx/>
                <a:uFillTx/>
                <a:latin typeface="Figtree" pitchFamily="2" charset="0"/>
                <a:cs typeface="Arial" panose="020B0604020202020204" pitchFamily="34" charset="0"/>
              </a:rPr>
              <a:t> proven track record in the DC, technology and engineering industries, backed by two world-class investors with significant equity invested to date</a:t>
            </a:r>
            <a:endParaRPr kumimoji="0" lang="en-GB" sz="2400" b="0" i="0" u="none" strike="noStrike" kern="1200" cap="none" spc="0" normalizeH="0" baseline="0" noProof="0" dirty="0">
              <a:ln>
                <a:noFill/>
              </a:ln>
              <a:effectLst/>
              <a:uLnTx/>
              <a:uFillTx/>
              <a:latin typeface="Figtree" pitchFamily="2" charset="0"/>
              <a:cs typeface="Arial" panose="020B0604020202020204" pitchFamily="34" charset="0"/>
            </a:endParaRPr>
          </a:p>
        </p:txBody>
      </p:sp>
      <p:sp>
        <p:nvSpPr>
          <p:cNvPr id="19" name="TextBox 18">
            <a:extLst>
              <a:ext uri="{FF2B5EF4-FFF2-40B4-BE49-F238E27FC236}">
                <a16:creationId xmlns:a16="http://schemas.microsoft.com/office/drawing/2014/main" id="{9957EF15-53F6-9CB1-4454-9DC0F8B101BB}"/>
              </a:ext>
            </a:extLst>
          </p:cNvPr>
          <p:cNvSpPr txBox="1"/>
          <p:nvPr/>
        </p:nvSpPr>
        <p:spPr>
          <a:xfrm>
            <a:off x="9092293" y="9806235"/>
            <a:ext cx="5741126" cy="1831271"/>
          </a:xfrm>
          <a:prstGeom prst="rect">
            <a:avLst/>
          </a:prstGeom>
          <a:noFill/>
        </p:spPr>
        <p:txBody>
          <a:bodyPr wrap="square">
            <a:spAutoFit/>
          </a:bodyPr>
          <a:lstStyle/>
          <a:p>
            <a:pPr marL="0" marR="0" lvl="1" indent="0" defTabSz="1039170" rtl="0" eaLnBrk="1" fontAlgn="auto" latinLnBrk="0" hangingPunct="1">
              <a:lnSpc>
                <a:spcPct val="120000"/>
              </a:lnSpc>
              <a:spcBef>
                <a:spcPts val="0"/>
              </a:spcBef>
              <a:spcAft>
                <a:spcPts val="0"/>
              </a:spcAft>
              <a:buClrTx/>
              <a:buSzPct val="120000"/>
              <a:buFontTx/>
              <a:buNone/>
              <a:tabLst/>
              <a:defRPr/>
            </a:pPr>
            <a:r>
              <a:rPr lang="en-GB" sz="2400" dirty="0">
                <a:latin typeface="Figtree" pitchFamily="2" charset="0"/>
                <a:cs typeface="Arial" panose="020B0604020202020204" pitchFamily="34" charset="0"/>
              </a:rPr>
              <a:t>S</a:t>
            </a:r>
            <a:r>
              <a:rPr kumimoji="0" lang="en-GB" sz="2400" b="0" i="0" u="none" strike="noStrike" kern="1200" cap="none" spc="0" normalizeH="0" baseline="0" noProof="0" dirty="0" err="1">
                <a:ln>
                  <a:noFill/>
                </a:ln>
                <a:effectLst/>
                <a:uLnTx/>
                <a:uFillTx/>
                <a:latin typeface="Figtree" pitchFamily="2" charset="0"/>
                <a:cs typeface="Arial" panose="020B0604020202020204" pitchFamily="34" charset="0"/>
              </a:rPr>
              <a:t>erving</a:t>
            </a:r>
            <a:r>
              <a:rPr kumimoji="0" lang="en-GB" sz="2400" b="0" i="0" u="none" strike="noStrike" kern="1200" cap="none" spc="0" normalizeH="0" baseline="0" noProof="0" dirty="0">
                <a:ln>
                  <a:noFill/>
                </a:ln>
                <a:effectLst/>
                <a:uLnTx/>
                <a:uFillTx/>
                <a:latin typeface="Figtree" pitchFamily="2" charset="0"/>
                <a:cs typeface="Arial" panose="020B0604020202020204" pitchFamily="34" charset="0"/>
              </a:rPr>
              <a:t> as gateway between Europe, Africa and the Americas, driving </a:t>
            </a:r>
            <a:r>
              <a:rPr kumimoji="0" lang="en-US" sz="2400" b="0" i="0" u="none" strike="noStrike" kern="1200" cap="none" spc="0" normalizeH="0" baseline="0" noProof="0" dirty="0">
                <a:ln>
                  <a:noFill/>
                </a:ln>
                <a:effectLst/>
                <a:uLnTx/>
                <a:uFillTx/>
                <a:latin typeface="Figtree" pitchFamily="2" charset="0"/>
                <a:cs typeface="Arial" panose="020B0604020202020204" pitchFamily="34" charset="0"/>
              </a:rPr>
              <a:t>Portugal’s unique world-leading global connectivity to new levels</a:t>
            </a:r>
            <a:endParaRPr kumimoji="0" lang="en-GB" sz="2400" b="0" i="0" u="none" strike="noStrike" kern="1200" cap="none" spc="0" normalizeH="0" baseline="0" noProof="0" dirty="0">
              <a:ln>
                <a:noFill/>
              </a:ln>
              <a:effectLst/>
              <a:uLnTx/>
              <a:uFillTx/>
              <a:latin typeface="Figtree" pitchFamily="2" charset="0"/>
              <a:cs typeface="Arial" panose="020B0604020202020204" pitchFamily="34" charset="0"/>
            </a:endParaRPr>
          </a:p>
        </p:txBody>
      </p:sp>
      <p:pic>
        <p:nvPicPr>
          <p:cNvPr id="23" name="Picture 22">
            <a:extLst>
              <a:ext uri="{FF2B5EF4-FFF2-40B4-BE49-F238E27FC236}">
                <a16:creationId xmlns:a16="http://schemas.microsoft.com/office/drawing/2014/main" id="{E875DF03-8338-CCC7-DD42-A92445D156A6}"/>
              </a:ext>
            </a:extLst>
          </p:cNvPr>
          <p:cNvPicPr>
            <a:picLocks noChangeAspect="1"/>
          </p:cNvPicPr>
          <p:nvPr/>
        </p:nvPicPr>
        <p:blipFill>
          <a:blip r:embed="rId3"/>
          <a:stretch>
            <a:fillRect/>
          </a:stretch>
        </p:blipFill>
        <p:spPr>
          <a:xfrm>
            <a:off x="17051337" y="8763584"/>
            <a:ext cx="4551363" cy="3674191"/>
          </a:xfrm>
          <a:prstGeom prst="rect">
            <a:avLst/>
          </a:prstGeom>
        </p:spPr>
      </p:pic>
      <p:pic>
        <p:nvPicPr>
          <p:cNvPr id="3" name="Picture 2">
            <a:extLst>
              <a:ext uri="{FF2B5EF4-FFF2-40B4-BE49-F238E27FC236}">
                <a16:creationId xmlns:a16="http://schemas.microsoft.com/office/drawing/2014/main" id="{2A88889F-1BA2-92FF-3947-AA2EC0A3CE67}"/>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0" y="-892"/>
            <a:ext cx="24387175" cy="13717785"/>
          </a:xfrm>
          <a:prstGeom prst="rect">
            <a:avLst/>
          </a:prstGeom>
        </p:spPr>
      </p:pic>
    </p:spTree>
    <p:extLst>
      <p:ext uri="{BB962C8B-B14F-4D97-AF65-F5344CB8AC3E}">
        <p14:creationId xmlns:p14="http://schemas.microsoft.com/office/powerpoint/2010/main" val="6963444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BDBD-BD55-F692-8FA0-81B58A7339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0FBFE7-8AB2-03E1-E611-5361FAB85A1E}"/>
              </a:ext>
            </a:extLst>
          </p:cNvPr>
          <p:cNvSpPr>
            <a:spLocks noGrp="1"/>
          </p:cNvSpPr>
          <p:nvPr>
            <p:ph type="ctrTitle"/>
          </p:nvPr>
        </p:nvSpPr>
        <p:spPr>
          <a:xfrm>
            <a:off x="1662221" y="6304002"/>
            <a:ext cx="12078812" cy="2215991"/>
          </a:xfrm>
        </p:spPr>
        <p:txBody>
          <a:bodyPr/>
          <a:lstStyle/>
          <a:p>
            <a:pPr marL="0" marR="0" lvl="0" indent="0" defTabSz="914400" rtl="0" fontAlgn="auto" hangingPunct="1">
              <a:lnSpc>
                <a:spcPct val="90000"/>
              </a:lnSpc>
              <a:spcBef>
                <a:spcPts val="0"/>
              </a:spcBef>
              <a:spcAft>
                <a:spcPts val="0"/>
              </a:spcAft>
              <a:buNone/>
              <a:tabLst/>
              <a:defRPr sz="1800" b="0" i="0" u="none" strike="noStrike" kern="0" cap="none" spc="0" baseline="0">
                <a:solidFill>
                  <a:srgbClr val="000000"/>
                </a:solidFill>
                <a:uFillTx/>
              </a:defRPr>
            </a:pPr>
            <a:r>
              <a:rPr lang="tr-TR" sz="8000" dirty="0" err="1">
                <a:solidFill>
                  <a:schemeClr val="bg1"/>
                </a:solidFill>
              </a:rPr>
              <a:t>Our</a:t>
            </a:r>
            <a:r>
              <a:rPr lang="tr-TR" sz="8000" dirty="0">
                <a:solidFill>
                  <a:schemeClr val="bg1"/>
                </a:solidFill>
              </a:rPr>
              <a:t> </a:t>
            </a:r>
            <a:r>
              <a:rPr lang="tr-TR" sz="8000" dirty="0" err="1">
                <a:solidFill>
                  <a:schemeClr val="bg1"/>
                </a:solidFill>
              </a:rPr>
              <a:t>commitment</a:t>
            </a:r>
            <a:br>
              <a:rPr lang="tr-TR" sz="8000" dirty="0">
                <a:solidFill>
                  <a:srgbClr val="1C1C1C"/>
                </a:solidFill>
              </a:rPr>
            </a:br>
            <a:r>
              <a:rPr lang="tr-TR" sz="8000" u="none" strike="noStrike" kern="1200" cap="none" spc="0" baseline="0" dirty="0" err="1">
                <a:solidFill>
                  <a:srgbClr val="12BD64"/>
                </a:solidFill>
                <a:uFillTx/>
                <a:ea typeface="Figtree Bold" pitchFamily="34"/>
              </a:rPr>
              <a:t>to</a:t>
            </a:r>
            <a:r>
              <a:rPr lang="tr-TR" sz="8000" u="none" strike="noStrike" kern="1200" cap="none" spc="0" baseline="0" dirty="0">
                <a:solidFill>
                  <a:srgbClr val="12BD64"/>
                </a:solidFill>
                <a:uFillTx/>
                <a:ea typeface="Figtree Bold" pitchFamily="34"/>
              </a:rPr>
              <a:t> </a:t>
            </a:r>
            <a:r>
              <a:rPr lang="tr-TR" sz="8000" u="none" strike="noStrike" kern="1200" cap="none" spc="0" baseline="0" dirty="0" err="1">
                <a:solidFill>
                  <a:srgbClr val="12BD64"/>
                </a:solidFill>
                <a:uFillTx/>
                <a:ea typeface="Figtree Bold" pitchFamily="34"/>
              </a:rPr>
              <a:t>the</a:t>
            </a:r>
            <a:r>
              <a:rPr lang="tr-TR" sz="8000" u="none" strike="noStrike" kern="1200" cap="none" spc="0" baseline="0" dirty="0">
                <a:solidFill>
                  <a:srgbClr val="12BD64"/>
                </a:solidFill>
                <a:uFillTx/>
                <a:ea typeface="Figtree Bold" pitchFamily="34"/>
              </a:rPr>
              <a:t> Environment</a:t>
            </a:r>
            <a:endParaRPr lang="en-US" sz="8000" dirty="0">
              <a:solidFill>
                <a:schemeClr val="bg1"/>
              </a:solidFill>
              <a:ea typeface="+mn-ea"/>
              <a:cs typeface="+mn-cs"/>
            </a:endParaRPr>
          </a:p>
        </p:txBody>
      </p:sp>
      <p:pic>
        <p:nvPicPr>
          <p:cNvPr id="8" name="Picture Placeholder 7" descr="A green and grey map of the world&#10;&#10;Description automatically generated">
            <a:extLst>
              <a:ext uri="{FF2B5EF4-FFF2-40B4-BE49-F238E27FC236}">
                <a16:creationId xmlns:a16="http://schemas.microsoft.com/office/drawing/2014/main" id="{337F4C58-A992-ADC2-37D9-53F83439A8BE}"/>
              </a:ext>
            </a:extLst>
          </p:cNvPr>
          <p:cNvPicPr>
            <a:picLocks noGrp="1" noChangeAspect="1"/>
          </p:cNvPicPr>
          <p:nvPr>
            <p:ph type="pic" sz="quarter" idx="13"/>
          </p:nvPr>
        </p:nvPicPr>
        <p:blipFill rotWithShape="1">
          <a:blip r:embed="rId2" cstate="email">
            <a:extLst>
              <a:ext uri="{28A0092B-C50C-407E-A947-70E740481C1C}">
                <a14:useLocalDpi xmlns:a14="http://schemas.microsoft.com/office/drawing/2010/main"/>
              </a:ext>
            </a:extLst>
          </a:blip>
          <a:srcRect/>
          <a:stretch/>
        </p:blipFill>
        <p:spPr>
          <a:prstGeom prst="rect">
            <a:avLst/>
          </a:prstGeom>
        </p:spPr>
      </p:pic>
    </p:spTree>
    <p:extLst>
      <p:ext uri="{BB962C8B-B14F-4D97-AF65-F5344CB8AC3E}">
        <p14:creationId xmlns:p14="http://schemas.microsoft.com/office/powerpoint/2010/main" val="9810711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hape 0">
            <a:extLst>
              <a:ext uri="{FF2B5EF4-FFF2-40B4-BE49-F238E27FC236}">
                <a16:creationId xmlns:a16="http://schemas.microsoft.com/office/drawing/2014/main" id="{AA476876-00A8-88EC-557B-8CEA0B744162}"/>
              </a:ext>
            </a:extLst>
          </p:cNvPr>
          <p:cNvSpPr/>
          <p:nvPr/>
        </p:nvSpPr>
        <p:spPr>
          <a:xfrm>
            <a:off x="5957041" y="1282702"/>
            <a:ext cx="12472955" cy="369335"/>
          </a:xfrm>
          <a:prstGeom prst="rect">
            <a:avLst/>
          </a:prstGeom>
          <a:noFill/>
          <a:ln cap="flat">
            <a:noFill/>
            <a:prstDash val="solid"/>
          </a:ln>
        </p:spPr>
        <p:txBody>
          <a:bodyPr vert="horz" wrap="squar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PT" sz="1800" b="0" i="0" u="none" strike="noStrike" kern="1200" cap="none" spc="0" baseline="0">
              <a:solidFill>
                <a:srgbClr val="000000"/>
              </a:solidFill>
              <a:uFillTx/>
              <a:latin typeface="Calibri"/>
            </a:endParaRPr>
          </a:p>
        </p:txBody>
      </p:sp>
      <p:graphicFrame>
        <p:nvGraphicFramePr>
          <p:cNvPr id="9" name="Chart 12">
            <a:extLst>
              <a:ext uri="{FF2B5EF4-FFF2-40B4-BE49-F238E27FC236}">
                <a16:creationId xmlns:a16="http://schemas.microsoft.com/office/drawing/2014/main" id="{AEFB953A-8ECA-3AEF-5F70-A18DDFDBEA66}"/>
              </a:ext>
            </a:extLst>
          </p:cNvPr>
          <p:cNvGraphicFramePr/>
          <p:nvPr/>
        </p:nvGraphicFramePr>
        <p:xfrm>
          <a:off x="1531803" y="3137138"/>
          <a:ext cx="18190252" cy="9312424"/>
        </p:xfrm>
        <a:graphic>
          <a:graphicData uri="http://schemas.openxmlformats.org/drawingml/2006/chart">
            <c:chart xmlns:c="http://schemas.openxmlformats.org/drawingml/2006/chart" xmlns:r="http://schemas.openxmlformats.org/officeDocument/2006/relationships" r:id="rId3"/>
          </a:graphicData>
        </a:graphic>
      </p:graphicFrame>
      <p:sp>
        <p:nvSpPr>
          <p:cNvPr id="33" name="Rectangle 32">
            <a:extLst>
              <a:ext uri="{FF2B5EF4-FFF2-40B4-BE49-F238E27FC236}">
                <a16:creationId xmlns:a16="http://schemas.microsoft.com/office/drawing/2014/main" id="{D495FD48-E338-BCFC-A9F5-B4EFBE43D126}"/>
              </a:ext>
            </a:extLst>
          </p:cNvPr>
          <p:cNvSpPr/>
          <p:nvPr/>
        </p:nvSpPr>
        <p:spPr>
          <a:xfrm>
            <a:off x="7397256" y="10824431"/>
            <a:ext cx="2967927" cy="1017080"/>
          </a:xfrm>
          <a:prstGeom prst="rect">
            <a:avLst/>
          </a:prstGeom>
          <a:solidFill>
            <a:srgbClr val="EFFE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sz="4400" b="1">
                <a:solidFill>
                  <a:schemeClr val="tx1"/>
                </a:solidFill>
              </a:rPr>
              <a:t>&lt;10 </a:t>
            </a:r>
            <a:r>
              <a:rPr lang="en-PT" sz="4400" b="1">
                <a:solidFill>
                  <a:srgbClr val="12BD64"/>
                </a:solidFill>
              </a:rPr>
              <a:t>kW</a:t>
            </a:r>
            <a:endParaRPr lang="en-PT" sz="2000">
              <a:solidFill>
                <a:schemeClr val="tx1"/>
              </a:solidFill>
            </a:endParaRPr>
          </a:p>
          <a:p>
            <a:pPr algn="ctr"/>
            <a:r>
              <a:rPr lang="en-GB" sz="2000">
                <a:solidFill>
                  <a:schemeClr val="tx1"/>
                </a:solidFill>
              </a:rPr>
              <a:t>P</a:t>
            </a:r>
            <a:r>
              <a:rPr lang="en-PT" sz="2000">
                <a:solidFill>
                  <a:schemeClr val="tx1"/>
                </a:solidFill>
              </a:rPr>
              <a:t>er rack</a:t>
            </a:r>
          </a:p>
        </p:txBody>
      </p:sp>
      <p:sp>
        <p:nvSpPr>
          <p:cNvPr id="34" name="Rectangle 33">
            <a:extLst>
              <a:ext uri="{FF2B5EF4-FFF2-40B4-BE49-F238E27FC236}">
                <a16:creationId xmlns:a16="http://schemas.microsoft.com/office/drawing/2014/main" id="{9591B9EE-566B-D419-B1B1-8ABFA0C939DA}"/>
              </a:ext>
            </a:extLst>
          </p:cNvPr>
          <p:cNvSpPr/>
          <p:nvPr/>
        </p:nvSpPr>
        <p:spPr>
          <a:xfrm>
            <a:off x="15505955" y="3538918"/>
            <a:ext cx="2998255" cy="8275386"/>
          </a:xfrm>
          <a:prstGeom prst="rect">
            <a:avLst/>
          </a:prstGeom>
          <a:solidFill>
            <a:srgbClr val="EFFE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sz="4400" b="1">
                <a:solidFill>
                  <a:schemeClr val="tx1"/>
                </a:solidFill>
              </a:rPr>
              <a:t>136+ </a:t>
            </a:r>
            <a:r>
              <a:rPr lang="en-PT" sz="4400" b="1">
                <a:solidFill>
                  <a:srgbClr val="12BD64"/>
                </a:solidFill>
              </a:rPr>
              <a:t>kW</a:t>
            </a:r>
            <a:endParaRPr lang="en-PT">
              <a:solidFill>
                <a:schemeClr val="tx1"/>
              </a:solidFill>
            </a:endParaRPr>
          </a:p>
          <a:p>
            <a:pPr algn="ctr"/>
            <a:r>
              <a:rPr lang="en-GB" sz="2000">
                <a:solidFill>
                  <a:schemeClr val="tx1"/>
                </a:solidFill>
              </a:rPr>
              <a:t>Per rack</a:t>
            </a:r>
            <a:endParaRPr lang="en-PT" sz="2000">
              <a:solidFill>
                <a:schemeClr val="tx1"/>
              </a:solidFill>
            </a:endParaRPr>
          </a:p>
        </p:txBody>
      </p:sp>
      <p:sp>
        <p:nvSpPr>
          <p:cNvPr id="53" name="Rectangle 52">
            <a:extLst>
              <a:ext uri="{FF2B5EF4-FFF2-40B4-BE49-F238E27FC236}">
                <a16:creationId xmlns:a16="http://schemas.microsoft.com/office/drawing/2014/main" id="{2BF4DDB9-4C72-C9DC-1C96-C68E43F2DA8C}"/>
              </a:ext>
            </a:extLst>
          </p:cNvPr>
          <p:cNvSpPr/>
          <p:nvPr/>
        </p:nvSpPr>
        <p:spPr>
          <a:xfrm>
            <a:off x="11747441" y="8906224"/>
            <a:ext cx="2804415" cy="2908080"/>
          </a:xfrm>
          <a:prstGeom prst="rect">
            <a:avLst/>
          </a:prstGeom>
          <a:solidFill>
            <a:srgbClr val="EFFE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PT" sz="4400" b="1">
                <a:solidFill>
                  <a:schemeClr val="tx1"/>
                </a:solidFill>
              </a:rPr>
              <a:t>&lt;50</a:t>
            </a:r>
            <a:r>
              <a:rPr lang="en-PT" sz="4400" b="1">
                <a:solidFill>
                  <a:schemeClr val="tx1"/>
                </a:solidFill>
              </a:rPr>
              <a:t> </a:t>
            </a:r>
            <a:r>
              <a:rPr lang="en-PT" sz="4400" b="1">
                <a:solidFill>
                  <a:srgbClr val="12BD64"/>
                </a:solidFill>
              </a:rPr>
              <a:t>kW</a:t>
            </a:r>
            <a:endParaRPr lang="en-PT">
              <a:solidFill>
                <a:schemeClr val="tx1"/>
              </a:solidFill>
            </a:endParaRPr>
          </a:p>
          <a:p>
            <a:pPr algn="ctr"/>
            <a:r>
              <a:rPr lang="en-GB" sz="2000">
                <a:solidFill>
                  <a:schemeClr val="tx1"/>
                </a:solidFill>
              </a:rPr>
              <a:t>Per rack</a:t>
            </a:r>
            <a:endParaRPr lang="en-PT" sz="2000">
              <a:solidFill>
                <a:schemeClr val="tx1"/>
              </a:solidFill>
            </a:endParaRPr>
          </a:p>
        </p:txBody>
      </p:sp>
      <p:sp>
        <p:nvSpPr>
          <p:cNvPr id="54" name="Text 2">
            <a:extLst>
              <a:ext uri="{FF2B5EF4-FFF2-40B4-BE49-F238E27FC236}">
                <a16:creationId xmlns:a16="http://schemas.microsoft.com/office/drawing/2014/main" id="{C199A8E7-65FF-EC4B-6B7A-8F8416858B1B}"/>
              </a:ext>
            </a:extLst>
          </p:cNvPr>
          <p:cNvSpPr/>
          <p:nvPr/>
        </p:nvSpPr>
        <p:spPr>
          <a:xfrm>
            <a:off x="1378166" y="1005704"/>
            <a:ext cx="9551197" cy="1846659"/>
          </a:xfrm>
          <a:prstGeom prst="rect">
            <a:avLst/>
          </a:prstGeom>
          <a:solidFill>
            <a:srgbClr val="FFFFFF">
              <a:alpha val="50196"/>
            </a:srgbClr>
          </a:solidFill>
          <a:ln cap="flat">
            <a:noFill/>
            <a:prstDash val="solid"/>
          </a:ln>
        </p:spPr>
        <p:txBody>
          <a:bodyPr vert="horz" wrap="square" lIns="0" tIns="0" rIns="0" bIns="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0" b="1" dirty="0">
                <a:solidFill>
                  <a:schemeClr val="tx1">
                    <a:lumMod val="95000"/>
                    <a:lumOff val="5000"/>
                  </a:schemeClr>
                </a:solidFill>
                <a:latin typeface="Figtree SemiBold" pitchFamily="2" charset="0"/>
                <a:ea typeface="Figtree Bold" pitchFamily="34"/>
              </a:rPr>
              <a:t>Increasing GPU Power</a:t>
            </a:r>
          </a:p>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0" b="1" dirty="0">
                <a:solidFill>
                  <a:srgbClr val="12BD64"/>
                </a:solidFill>
                <a:latin typeface="Figtree SemiBold" pitchFamily="2" charset="0"/>
                <a:ea typeface="Figtree Bold" pitchFamily="34"/>
              </a:rPr>
              <a:t>Increasing R</a:t>
            </a:r>
            <a:r>
              <a:rPr lang="en-US" sz="6000" b="1" u="none" strike="noStrike" kern="1200" cap="none" spc="0" baseline="0" dirty="0">
                <a:solidFill>
                  <a:srgbClr val="12BD64"/>
                </a:solidFill>
                <a:uFillTx/>
                <a:latin typeface="Figtree SemiBold" pitchFamily="2" charset="0"/>
                <a:ea typeface="Figtree Bold" pitchFamily="34"/>
              </a:rPr>
              <a:t>ack</a:t>
            </a:r>
            <a:r>
              <a:rPr lang="en-US" sz="6000" b="1" u="none" strike="noStrike" kern="1200" cap="none" spc="0" baseline="0" dirty="0">
                <a:solidFill>
                  <a:schemeClr val="tx1">
                    <a:lumMod val="95000"/>
                    <a:lumOff val="5000"/>
                  </a:schemeClr>
                </a:solidFill>
                <a:uFillTx/>
                <a:latin typeface="Figtree SemiBold" pitchFamily="2" charset="0"/>
                <a:ea typeface="Figtree Bold" pitchFamily="34"/>
              </a:rPr>
              <a:t> </a:t>
            </a:r>
            <a:r>
              <a:rPr lang="en-US" sz="6000" b="1" u="none" strike="noStrike" kern="1200" cap="none" spc="0" baseline="0" dirty="0">
                <a:solidFill>
                  <a:srgbClr val="12BD64"/>
                </a:solidFill>
                <a:uFillTx/>
                <a:latin typeface="Figtree SemiBold" pitchFamily="2" charset="0"/>
                <a:ea typeface="Figtree Bold" pitchFamily="34"/>
              </a:rPr>
              <a:t>Capacity</a:t>
            </a:r>
            <a:endParaRPr lang="en-US" sz="6000" b="1" u="none" strike="noStrike" kern="1200" cap="none" spc="0" baseline="0" dirty="0">
              <a:solidFill>
                <a:srgbClr val="000000"/>
              </a:solidFill>
              <a:uFillTx/>
              <a:latin typeface="Figtree SemiBold" pitchFamily="2" charset="0"/>
            </a:endParaRPr>
          </a:p>
        </p:txBody>
      </p:sp>
      <p:sp>
        <p:nvSpPr>
          <p:cNvPr id="55" name="TextBox 54">
            <a:extLst>
              <a:ext uri="{FF2B5EF4-FFF2-40B4-BE49-F238E27FC236}">
                <a16:creationId xmlns:a16="http://schemas.microsoft.com/office/drawing/2014/main" id="{DA72903E-5D68-20A3-75CA-ED2AEE6A1015}"/>
              </a:ext>
            </a:extLst>
          </p:cNvPr>
          <p:cNvSpPr txBox="1"/>
          <p:nvPr/>
        </p:nvSpPr>
        <p:spPr>
          <a:xfrm>
            <a:off x="3264595" y="11844771"/>
            <a:ext cx="856325" cy="461665"/>
          </a:xfrm>
          <a:prstGeom prst="rect">
            <a:avLst/>
          </a:prstGeom>
          <a:noFill/>
        </p:spPr>
        <p:txBody>
          <a:bodyPr wrap="none" rtlCol="0">
            <a:spAutoFit/>
          </a:bodyPr>
          <a:lstStyle/>
          <a:p>
            <a:r>
              <a:rPr lang="en-PT" sz="2400">
                <a:solidFill>
                  <a:schemeClr val="bg1">
                    <a:lumMod val="85000"/>
                  </a:schemeClr>
                </a:solidFill>
                <a:latin typeface="Figtree" pitchFamily="2" charset="0"/>
              </a:rPr>
              <a:t>2015</a:t>
            </a:r>
          </a:p>
        </p:txBody>
      </p:sp>
      <p:sp>
        <p:nvSpPr>
          <p:cNvPr id="56" name="TextBox 55">
            <a:extLst>
              <a:ext uri="{FF2B5EF4-FFF2-40B4-BE49-F238E27FC236}">
                <a16:creationId xmlns:a16="http://schemas.microsoft.com/office/drawing/2014/main" id="{90491B1F-E40A-A018-F5DA-3C482CEC5CBC}"/>
              </a:ext>
            </a:extLst>
          </p:cNvPr>
          <p:cNvSpPr txBox="1"/>
          <p:nvPr/>
        </p:nvSpPr>
        <p:spPr>
          <a:xfrm>
            <a:off x="4791527" y="11844771"/>
            <a:ext cx="854721" cy="461665"/>
          </a:xfrm>
          <a:prstGeom prst="rect">
            <a:avLst/>
          </a:prstGeom>
          <a:noFill/>
        </p:spPr>
        <p:txBody>
          <a:bodyPr wrap="none" rtlCol="0">
            <a:spAutoFit/>
          </a:bodyPr>
          <a:lstStyle/>
          <a:p>
            <a:r>
              <a:rPr lang="en-PT" sz="2400">
                <a:solidFill>
                  <a:schemeClr val="bg1">
                    <a:lumMod val="85000"/>
                  </a:schemeClr>
                </a:solidFill>
                <a:latin typeface="Figtree" pitchFamily="2" charset="0"/>
              </a:rPr>
              <a:t>2016</a:t>
            </a:r>
          </a:p>
        </p:txBody>
      </p:sp>
      <p:sp>
        <p:nvSpPr>
          <p:cNvPr id="58" name="TextBox 57">
            <a:extLst>
              <a:ext uri="{FF2B5EF4-FFF2-40B4-BE49-F238E27FC236}">
                <a16:creationId xmlns:a16="http://schemas.microsoft.com/office/drawing/2014/main" id="{82956E4F-4A90-FFD5-D1BE-639F53271047}"/>
              </a:ext>
            </a:extLst>
          </p:cNvPr>
          <p:cNvSpPr txBox="1"/>
          <p:nvPr/>
        </p:nvSpPr>
        <p:spPr>
          <a:xfrm>
            <a:off x="6316855" y="11844771"/>
            <a:ext cx="869149" cy="461665"/>
          </a:xfrm>
          <a:prstGeom prst="rect">
            <a:avLst/>
          </a:prstGeom>
          <a:noFill/>
        </p:spPr>
        <p:txBody>
          <a:bodyPr wrap="none" rtlCol="0">
            <a:spAutoFit/>
          </a:bodyPr>
          <a:lstStyle/>
          <a:p>
            <a:r>
              <a:rPr lang="en-PT" sz="2400">
                <a:solidFill>
                  <a:schemeClr val="bg1">
                    <a:lumMod val="85000"/>
                  </a:schemeClr>
                </a:solidFill>
                <a:latin typeface="Figtree" pitchFamily="2" charset="0"/>
              </a:rPr>
              <a:t>2018</a:t>
            </a:r>
          </a:p>
        </p:txBody>
      </p:sp>
      <p:sp>
        <p:nvSpPr>
          <p:cNvPr id="59" name="TextBox 58">
            <a:extLst>
              <a:ext uri="{FF2B5EF4-FFF2-40B4-BE49-F238E27FC236}">
                <a16:creationId xmlns:a16="http://schemas.microsoft.com/office/drawing/2014/main" id="{F9FC98B5-C4E6-803C-A01F-F81496FB5439}"/>
              </a:ext>
            </a:extLst>
          </p:cNvPr>
          <p:cNvSpPr txBox="1"/>
          <p:nvPr/>
        </p:nvSpPr>
        <p:spPr>
          <a:xfrm>
            <a:off x="7856611" y="11844771"/>
            <a:ext cx="854721" cy="461665"/>
          </a:xfrm>
          <a:prstGeom prst="rect">
            <a:avLst/>
          </a:prstGeom>
          <a:noFill/>
        </p:spPr>
        <p:txBody>
          <a:bodyPr wrap="none" rtlCol="0">
            <a:spAutoFit/>
          </a:bodyPr>
          <a:lstStyle/>
          <a:p>
            <a:r>
              <a:rPr lang="en-PT" sz="2400">
                <a:solidFill>
                  <a:schemeClr val="bg1">
                    <a:lumMod val="85000"/>
                  </a:schemeClr>
                </a:solidFill>
                <a:latin typeface="Figtree" pitchFamily="2" charset="0"/>
              </a:rPr>
              <a:t>2019</a:t>
            </a:r>
          </a:p>
        </p:txBody>
      </p:sp>
      <p:sp>
        <p:nvSpPr>
          <p:cNvPr id="60" name="TextBox 59">
            <a:extLst>
              <a:ext uri="{FF2B5EF4-FFF2-40B4-BE49-F238E27FC236}">
                <a16:creationId xmlns:a16="http://schemas.microsoft.com/office/drawing/2014/main" id="{165AB7C1-AA71-F52E-65FD-48C640CE79F6}"/>
              </a:ext>
            </a:extLst>
          </p:cNvPr>
          <p:cNvSpPr txBox="1"/>
          <p:nvPr/>
        </p:nvSpPr>
        <p:spPr>
          <a:xfrm>
            <a:off x="9381939" y="11844771"/>
            <a:ext cx="922047" cy="461665"/>
          </a:xfrm>
          <a:prstGeom prst="rect">
            <a:avLst/>
          </a:prstGeom>
          <a:noFill/>
        </p:spPr>
        <p:txBody>
          <a:bodyPr wrap="none" rtlCol="0">
            <a:spAutoFit/>
          </a:bodyPr>
          <a:lstStyle/>
          <a:p>
            <a:r>
              <a:rPr lang="en-PT" sz="2400">
                <a:solidFill>
                  <a:schemeClr val="bg1">
                    <a:lumMod val="85000"/>
                  </a:schemeClr>
                </a:solidFill>
                <a:latin typeface="Figtree" pitchFamily="2" charset="0"/>
              </a:rPr>
              <a:t>2020</a:t>
            </a:r>
          </a:p>
        </p:txBody>
      </p:sp>
      <p:sp>
        <p:nvSpPr>
          <p:cNvPr id="62" name="TextBox 61">
            <a:extLst>
              <a:ext uri="{FF2B5EF4-FFF2-40B4-BE49-F238E27FC236}">
                <a16:creationId xmlns:a16="http://schemas.microsoft.com/office/drawing/2014/main" id="{42592929-4687-04A4-DE8D-7EC21A620E9F}"/>
              </a:ext>
            </a:extLst>
          </p:cNvPr>
          <p:cNvSpPr txBox="1"/>
          <p:nvPr/>
        </p:nvSpPr>
        <p:spPr>
          <a:xfrm>
            <a:off x="10974593" y="11844771"/>
            <a:ext cx="896399" cy="461665"/>
          </a:xfrm>
          <a:prstGeom prst="rect">
            <a:avLst/>
          </a:prstGeom>
          <a:noFill/>
        </p:spPr>
        <p:txBody>
          <a:bodyPr wrap="none" rtlCol="0">
            <a:spAutoFit/>
          </a:bodyPr>
          <a:lstStyle/>
          <a:p>
            <a:r>
              <a:rPr lang="en-PT" sz="2400">
                <a:solidFill>
                  <a:schemeClr val="bg1">
                    <a:lumMod val="85000"/>
                  </a:schemeClr>
                </a:solidFill>
                <a:latin typeface="Figtree" pitchFamily="2" charset="0"/>
              </a:rPr>
              <a:t>2022</a:t>
            </a:r>
          </a:p>
        </p:txBody>
      </p:sp>
      <p:sp>
        <p:nvSpPr>
          <p:cNvPr id="63" name="TextBox 62">
            <a:extLst>
              <a:ext uri="{FF2B5EF4-FFF2-40B4-BE49-F238E27FC236}">
                <a16:creationId xmlns:a16="http://schemas.microsoft.com/office/drawing/2014/main" id="{B6ECE72A-FE58-47AE-50AC-8691AC031D86}"/>
              </a:ext>
            </a:extLst>
          </p:cNvPr>
          <p:cNvSpPr txBox="1"/>
          <p:nvPr/>
        </p:nvSpPr>
        <p:spPr>
          <a:xfrm>
            <a:off x="12541599" y="11844771"/>
            <a:ext cx="891591" cy="461665"/>
          </a:xfrm>
          <a:prstGeom prst="rect">
            <a:avLst/>
          </a:prstGeom>
          <a:noFill/>
        </p:spPr>
        <p:txBody>
          <a:bodyPr wrap="none" rtlCol="0">
            <a:spAutoFit/>
          </a:bodyPr>
          <a:lstStyle/>
          <a:p>
            <a:r>
              <a:rPr lang="en-PT" sz="2400">
                <a:solidFill>
                  <a:schemeClr val="bg1">
                    <a:lumMod val="85000"/>
                  </a:schemeClr>
                </a:solidFill>
                <a:latin typeface="Figtree" pitchFamily="2" charset="0"/>
              </a:rPr>
              <a:t>2023</a:t>
            </a:r>
          </a:p>
        </p:txBody>
      </p:sp>
      <p:sp>
        <p:nvSpPr>
          <p:cNvPr id="65" name="TextBox 64">
            <a:extLst>
              <a:ext uri="{FF2B5EF4-FFF2-40B4-BE49-F238E27FC236}">
                <a16:creationId xmlns:a16="http://schemas.microsoft.com/office/drawing/2014/main" id="{54AFB68C-A819-73AE-0B25-358C80572026}"/>
              </a:ext>
            </a:extLst>
          </p:cNvPr>
          <p:cNvSpPr txBox="1"/>
          <p:nvPr/>
        </p:nvSpPr>
        <p:spPr>
          <a:xfrm>
            <a:off x="14103797" y="11844771"/>
            <a:ext cx="915635" cy="461665"/>
          </a:xfrm>
          <a:prstGeom prst="rect">
            <a:avLst/>
          </a:prstGeom>
          <a:noFill/>
        </p:spPr>
        <p:txBody>
          <a:bodyPr wrap="none" rtlCol="0">
            <a:spAutoFit/>
          </a:bodyPr>
          <a:lstStyle/>
          <a:p>
            <a:r>
              <a:rPr lang="en-PT" sz="2400">
                <a:solidFill>
                  <a:schemeClr val="bg1">
                    <a:lumMod val="85000"/>
                  </a:schemeClr>
                </a:solidFill>
                <a:latin typeface="Figtree" pitchFamily="2" charset="0"/>
              </a:rPr>
              <a:t>2024</a:t>
            </a:r>
          </a:p>
        </p:txBody>
      </p:sp>
      <p:sp>
        <p:nvSpPr>
          <p:cNvPr id="66" name="TextBox 65">
            <a:extLst>
              <a:ext uri="{FF2B5EF4-FFF2-40B4-BE49-F238E27FC236}">
                <a16:creationId xmlns:a16="http://schemas.microsoft.com/office/drawing/2014/main" id="{2E470482-BBAD-063D-5765-8A2843884464}"/>
              </a:ext>
            </a:extLst>
          </p:cNvPr>
          <p:cNvSpPr txBox="1"/>
          <p:nvPr/>
        </p:nvSpPr>
        <p:spPr>
          <a:xfrm>
            <a:off x="15690039" y="11844771"/>
            <a:ext cx="901209" cy="461665"/>
          </a:xfrm>
          <a:prstGeom prst="rect">
            <a:avLst/>
          </a:prstGeom>
          <a:noFill/>
        </p:spPr>
        <p:txBody>
          <a:bodyPr wrap="none" rtlCol="0">
            <a:spAutoFit/>
          </a:bodyPr>
          <a:lstStyle/>
          <a:p>
            <a:r>
              <a:rPr lang="en-PT" sz="2400">
                <a:solidFill>
                  <a:schemeClr val="bg1">
                    <a:lumMod val="85000"/>
                  </a:schemeClr>
                </a:solidFill>
                <a:latin typeface="Figtree" pitchFamily="2" charset="0"/>
              </a:rPr>
              <a:t>2025</a:t>
            </a:r>
          </a:p>
        </p:txBody>
      </p:sp>
      <p:sp>
        <p:nvSpPr>
          <p:cNvPr id="67" name="TextBox 66">
            <a:extLst>
              <a:ext uri="{FF2B5EF4-FFF2-40B4-BE49-F238E27FC236}">
                <a16:creationId xmlns:a16="http://schemas.microsoft.com/office/drawing/2014/main" id="{B4E7D6A9-DBEF-443E-FDEA-D3B4BD69BAA1}"/>
              </a:ext>
            </a:extLst>
          </p:cNvPr>
          <p:cNvSpPr txBox="1"/>
          <p:nvPr/>
        </p:nvSpPr>
        <p:spPr>
          <a:xfrm>
            <a:off x="17261855" y="11844771"/>
            <a:ext cx="899605" cy="461665"/>
          </a:xfrm>
          <a:prstGeom prst="rect">
            <a:avLst/>
          </a:prstGeom>
          <a:noFill/>
        </p:spPr>
        <p:txBody>
          <a:bodyPr wrap="none" rtlCol="0">
            <a:spAutoFit/>
          </a:bodyPr>
          <a:lstStyle/>
          <a:p>
            <a:r>
              <a:rPr lang="en-PT" sz="2400">
                <a:solidFill>
                  <a:schemeClr val="bg1">
                    <a:lumMod val="85000"/>
                  </a:schemeClr>
                </a:solidFill>
                <a:latin typeface="Figtree" pitchFamily="2" charset="0"/>
              </a:rPr>
              <a:t>2026</a:t>
            </a:r>
          </a:p>
        </p:txBody>
      </p:sp>
      <p:sp>
        <p:nvSpPr>
          <p:cNvPr id="68" name="TextBox 67">
            <a:extLst>
              <a:ext uri="{FF2B5EF4-FFF2-40B4-BE49-F238E27FC236}">
                <a16:creationId xmlns:a16="http://schemas.microsoft.com/office/drawing/2014/main" id="{49A96502-0E27-7BA2-80B7-AAA88B855497}"/>
              </a:ext>
            </a:extLst>
          </p:cNvPr>
          <p:cNvSpPr txBox="1"/>
          <p:nvPr/>
        </p:nvSpPr>
        <p:spPr>
          <a:xfrm>
            <a:off x="18832068" y="11844771"/>
            <a:ext cx="889987" cy="461665"/>
          </a:xfrm>
          <a:prstGeom prst="rect">
            <a:avLst/>
          </a:prstGeom>
          <a:noFill/>
        </p:spPr>
        <p:txBody>
          <a:bodyPr wrap="none" rtlCol="0">
            <a:spAutoFit/>
          </a:bodyPr>
          <a:lstStyle/>
          <a:p>
            <a:r>
              <a:rPr lang="en-PT" sz="2400">
                <a:solidFill>
                  <a:schemeClr val="bg1">
                    <a:lumMod val="85000"/>
                  </a:schemeClr>
                </a:solidFill>
                <a:latin typeface="Figtree" pitchFamily="2" charset="0"/>
              </a:rPr>
              <a:t>2027</a:t>
            </a:r>
          </a:p>
        </p:txBody>
      </p:sp>
      <p:sp>
        <p:nvSpPr>
          <p:cNvPr id="71" name="TextBox 70">
            <a:extLst>
              <a:ext uri="{FF2B5EF4-FFF2-40B4-BE49-F238E27FC236}">
                <a16:creationId xmlns:a16="http://schemas.microsoft.com/office/drawing/2014/main" id="{933B2F86-6205-AF66-F7BC-7928173E0703}"/>
              </a:ext>
            </a:extLst>
          </p:cNvPr>
          <p:cNvSpPr txBox="1"/>
          <p:nvPr/>
        </p:nvSpPr>
        <p:spPr>
          <a:xfrm rot="16200000">
            <a:off x="541241" y="7562518"/>
            <a:ext cx="1212191" cy="461665"/>
          </a:xfrm>
          <a:prstGeom prst="rect">
            <a:avLst/>
          </a:prstGeom>
          <a:noFill/>
        </p:spPr>
        <p:txBody>
          <a:bodyPr wrap="none">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a:solidFill>
                  <a:schemeClr val="bg1">
                    <a:lumMod val="50000"/>
                  </a:schemeClr>
                </a:solidFill>
                <a:uFillTx/>
                <a:latin typeface="Figtree" pitchFamily="2" charset="0"/>
              </a:rPr>
              <a:t>TDP (W)</a:t>
            </a:r>
            <a:endParaRPr lang="en-GB" sz="2400" b="0" i="0" u="none" strike="noStrike" kern="1200" cap="none" spc="0" baseline="0">
              <a:solidFill>
                <a:schemeClr val="bg1">
                  <a:lumMod val="50000"/>
                </a:schemeClr>
              </a:solidFill>
              <a:uFillTx/>
              <a:latin typeface="Figtree" pitchFamily="2" charset="0"/>
            </a:endParaRPr>
          </a:p>
        </p:txBody>
      </p:sp>
      <p:cxnSp>
        <p:nvCxnSpPr>
          <p:cNvPr id="73" name="Straight Connector 72">
            <a:extLst>
              <a:ext uri="{FF2B5EF4-FFF2-40B4-BE49-F238E27FC236}">
                <a16:creationId xmlns:a16="http://schemas.microsoft.com/office/drawing/2014/main" id="{A61C04F4-4AF0-05CA-AC0B-395E4907A0FE}"/>
              </a:ext>
            </a:extLst>
          </p:cNvPr>
          <p:cNvCxnSpPr>
            <a:cxnSpLocks/>
          </p:cNvCxnSpPr>
          <p:nvPr/>
        </p:nvCxnSpPr>
        <p:spPr>
          <a:xfrm>
            <a:off x="15505955" y="3510275"/>
            <a:ext cx="0" cy="8334496"/>
          </a:xfrm>
          <a:prstGeom prst="line">
            <a:avLst/>
          </a:prstGeom>
          <a:ln w="41275">
            <a:solidFill>
              <a:srgbClr val="0A3638"/>
            </a:solidFill>
            <a:prstDash val="dash"/>
          </a:ln>
        </p:spPr>
        <p:style>
          <a:lnRef idx="2">
            <a:schemeClr val="accent1"/>
          </a:lnRef>
          <a:fillRef idx="0">
            <a:schemeClr val="accent1"/>
          </a:fillRef>
          <a:effectRef idx="1">
            <a:schemeClr val="accent1"/>
          </a:effectRef>
          <a:fontRef idx="minor">
            <a:schemeClr val="tx1"/>
          </a:fontRef>
        </p:style>
      </p:cxnSp>
      <p:sp>
        <p:nvSpPr>
          <p:cNvPr id="74" name="TextBox 73">
            <a:extLst>
              <a:ext uri="{FF2B5EF4-FFF2-40B4-BE49-F238E27FC236}">
                <a16:creationId xmlns:a16="http://schemas.microsoft.com/office/drawing/2014/main" id="{829C6836-F1D9-985C-7639-A6B9D0D1ED15}"/>
              </a:ext>
            </a:extLst>
          </p:cNvPr>
          <p:cNvSpPr txBox="1"/>
          <p:nvPr/>
        </p:nvSpPr>
        <p:spPr>
          <a:xfrm>
            <a:off x="14878896" y="2868595"/>
            <a:ext cx="2700320" cy="584775"/>
          </a:xfrm>
          <a:prstGeom prst="rect">
            <a:avLst/>
          </a:prstGeom>
          <a:noFill/>
        </p:spPr>
        <p:txBody>
          <a:bodyPr wrap="square">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3200" b="1" i="0" u="none" strike="noStrike" kern="1200" cap="none" spc="0" baseline="0">
                <a:solidFill>
                  <a:srgbClr val="0A3638"/>
                </a:solidFill>
                <a:uFillTx/>
                <a:latin typeface="Figtree" pitchFamily="2" charset="0"/>
              </a:rPr>
              <a:t>NOW</a:t>
            </a:r>
            <a:endParaRPr lang="en-GB" sz="3200" b="1" i="0" u="none" strike="noStrike" kern="1200" cap="none" spc="0" baseline="0">
              <a:solidFill>
                <a:srgbClr val="0A3638"/>
              </a:solidFill>
              <a:uFillTx/>
              <a:latin typeface="Figtree" pitchFamily="2" charset="0"/>
            </a:endParaRPr>
          </a:p>
        </p:txBody>
      </p:sp>
      <p:sp>
        <p:nvSpPr>
          <p:cNvPr id="79" name="Freeform 78">
            <a:extLst>
              <a:ext uri="{FF2B5EF4-FFF2-40B4-BE49-F238E27FC236}">
                <a16:creationId xmlns:a16="http://schemas.microsoft.com/office/drawing/2014/main" id="{89DB0A13-6296-3CD1-6DA6-18B8A9960C1E}"/>
              </a:ext>
            </a:extLst>
          </p:cNvPr>
          <p:cNvSpPr/>
          <p:nvPr/>
        </p:nvSpPr>
        <p:spPr>
          <a:xfrm>
            <a:off x="2509283" y="2937910"/>
            <a:ext cx="16949026" cy="7800974"/>
          </a:xfrm>
          <a:custGeom>
            <a:avLst/>
            <a:gdLst>
              <a:gd name="connsiteX0" fmla="*/ 0 w 15587330"/>
              <a:gd name="connsiteY0" fmla="*/ 8187070 h 8187070"/>
              <a:gd name="connsiteX1" fmla="*/ 5805376 w 15587330"/>
              <a:gd name="connsiteY1" fmla="*/ 7272670 h 8187070"/>
              <a:gd name="connsiteX2" fmla="*/ 10526232 w 15587330"/>
              <a:gd name="connsiteY2" fmla="*/ 4869712 h 8187070"/>
              <a:gd name="connsiteX3" fmla="*/ 15587330 w 15587330"/>
              <a:gd name="connsiteY3" fmla="*/ 0 h 8187070"/>
              <a:gd name="connsiteX0" fmla="*/ 0 w 13780397"/>
              <a:gd name="connsiteY0" fmla="*/ 8450726 h 8450726"/>
              <a:gd name="connsiteX1" fmla="*/ 5805376 w 13780397"/>
              <a:gd name="connsiteY1" fmla="*/ 7536326 h 8450726"/>
              <a:gd name="connsiteX2" fmla="*/ 10526232 w 13780397"/>
              <a:gd name="connsiteY2" fmla="*/ 5133368 h 8450726"/>
              <a:gd name="connsiteX3" fmla="*/ 13780397 w 13780397"/>
              <a:gd name="connsiteY3" fmla="*/ 0 h 8450726"/>
              <a:gd name="connsiteX0" fmla="*/ 0 w 13780397"/>
              <a:gd name="connsiteY0" fmla="*/ 8450726 h 8450726"/>
              <a:gd name="connsiteX1" fmla="*/ 5805376 w 13780397"/>
              <a:gd name="connsiteY1" fmla="*/ 7536326 h 8450726"/>
              <a:gd name="connsiteX2" fmla="*/ 10526232 w 13780397"/>
              <a:gd name="connsiteY2" fmla="*/ 5133368 h 8450726"/>
              <a:gd name="connsiteX3" fmla="*/ 13780397 w 13780397"/>
              <a:gd name="connsiteY3" fmla="*/ 0 h 8450726"/>
              <a:gd name="connsiteX0" fmla="*/ 0 w 13661520"/>
              <a:gd name="connsiteY0" fmla="*/ 7747643 h 7747643"/>
              <a:gd name="connsiteX1" fmla="*/ 5805376 w 13661520"/>
              <a:gd name="connsiteY1" fmla="*/ 6833243 h 7747643"/>
              <a:gd name="connsiteX2" fmla="*/ 10526232 w 13661520"/>
              <a:gd name="connsiteY2" fmla="*/ 4430285 h 7747643"/>
              <a:gd name="connsiteX3" fmla="*/ 13661520 w 13661520"/>
              <a:gd name="connsiteY3" fmla="*/ 0 h 7747643"/>
            </a:gdLst>
            <a:ahLst/>
            <a:cxnLst>
              <a:cxn ang="0">
                <a:pos x="connsiteX0" y="connsiteY0"/>
              </a:cxn>
              <a:cxn ang="0">
                <a:pos x="connsiteX1" y="connsiteY1"/>
              </a:cxn>
              <a:cxn ang="0">
                <a:pos x="connsiteX2" y="connsiteY2"/>
              </a:cxn>
              <a:cxn ang="0">
                <a:pos x="connsiteX3" y="connsiteY3"/>
              </a:cxn>
            </a:cxnLst>
            <a:rect l="l" t="t" r="r" b="b"/>
            <a:pathLst>
              <a:path w="13661520" h="7747643">
                <a:moveTo>
                  <a:pt x="0" y="7747643"/>
                </a:moveTo>
                <a:cubicBezTo>
                  <a:pt x="2025502" y="7566889"/>
                  <a:pt x="4051004" y="7386136"/>
                  <a:pt x="5805376" y="6833243"/>
                </a:cubicBezTo>
                <a:cubicBezTo>
                  <a:pt x="7559748" y="6280350"/>
                  <a:pt x="8895906" y="5642397"/>
                  <a:pt x="10526232" y="4430285"/>
                </a:cubicBezTo>
                <a:cubicBezTo>
                  <a:pt x="12156558" y="3218173"/>
                  <a:pt x="12964052" y="1419505"/>
                  <a:pt x="13661520" y="0"/>
                </a:cubicBezTo>
              </a:path>
            </a:pathLst>
          </a:custGeom>
          <a:noFill/>
          <a:ln w="101600">
            <a:solidFill>
              <a:srgbClr val="12BD64"/>
            </a:solidFill>
            <a:headEnd w="lg" len="med"/>
            <a:tailEnd type="triangle" w="lg"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T"/>
          </a:p>
        </p:txBody>
      </p:sp>
      <p:sp>
        <p:nvSpPr>
          <p:cNvPr id="3" name="TextBox 23">
            <a:extLst>
              <a:ext uri="{FF2B5EF4-FFF2-40B4-BE49-F238E27FC236}">
                <a16:creationId xmlns:a16="http://schemas.microsoft.com/office/drawing/2014/main" id="{3359FA3D-2799-5F8C-DB62-2B0CE64AF6A3}"/>
              </a:ext>
            </a:extLst>
          </p:cNvPr>
          <p:cNvSpPr txBox="1"/>
          <p:nvPr/>
        </p:nvSpPr>
        <p:spPr>
          <a:xfrm>
            <a:off x="1383206" y="12536646"/>
            <a:ext cx="6325771" cy="338554"/>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dirty="0">
                <a:solidFill>
                  <a:srgbClr val="7F7F7F"/>
                </a:solidFill>
                <a:latin typeface="Calibri"/>
              </a:rPr>
              <a:t>Source: industry information. Note: TDP stands for Thermal Design Power</a:t>
            </a:r>
            <a:endParaRPr lang="en-GB" sz="1600" b="0" i="0" u="none" strike="noStrike" kern="1200" cap="none" spc="0" baseline="0" dirty="0">
              <a:solidFill>
                <a:srgbClr val="7F7F7F"/>
              </a:solidFill>
              <a:uFillTx/>
              <a:latin typeface="Calibri"/>
            </a:endParaRPr>
          </a:p>
        </p:txBody>
      </p:sp>
      <p:cxnSp>
        <p:nvCxnSpPr>
          <p:cNvPr id="5" name="Straight Connector 4">
            <a:extLst>
              <a:ext uri="{FF2B5EF4-FFF2-40B4-BE49-F238E27FC236}">
                <a16:creationId xmlns:a16="http://schemas.microsoft.com/office/drawing/2014/main" id="{F3F95D6F-A559-4F2C-1966-C05D70E252C7}"/>
              </a:ext>
            </a:extLst>
          </p:cNvPr>
          <p:cNvCxnSpPr>
            <a:cxnSpLocks/>
          </p:cNvCxnSpPr>
          <p:nvPr/>
        </p:nvCxnSpPr>
        <p:spPr>
          <a:xfrm>
            <a:off x="20434931" y="12306436"/>
            <a:ext cx="571500" cy="0"/>
          </a:xfrm>
          <a:prstGeom prst="line">
            <a:avLst/>
          </a:prstGeom>
          <a:ln w="88900">
            <a:solidFill>
              <a:srgbClr val="12BD64"/>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16A2FFB-04DE-914A-BEAC-F9E9C5825B99}"/>
              </a:ext>
            </a:extLst>
          </p:cNvPr>
          <p:cNvSpPr txBox="1"/>
          <p:nvPr/>
        </p:nvSpPr>
        <p:spPr>
          <a:xfrm>
            <a:off x="21006431" y="11952493"/>
            <a:ext cx="2816928" cy="707886"/>
          </a:xfrm>
          <a:prstGeom prst="rect">
            <a:avLst/>
          </a:prstGeom>
          <a:noFill/>
        </p:spPr>
        <p:txBody>
          <a:bodyPr wrap="square">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chemeClr val="bg1">
                    <a:lumMod val="50000"/>
                  </a:schemeClr>
                </a:solidFill>
                <a:uFillTx/>
                <a:latin typeface="Figtree" pitchFamily="2" charset="0"/>
              </a:rPr>
              <a:t>Maximum GPU Power Consumption (TDP)</a:t>
            </a:r>
            <a:endParaRPr lang="en-GB" sz="2000" b="0" i="0" u="none" strike="noStrike" kern="1200" cap="none" spc="0" baseline="0">
              <a:solidFill>
                <a:schemeClr val="bg1">
                  <a:lumMod val="50000"/>
                </a:schemeClr>
              </a:solidFill>
              <a:uFillTx/>
              <a:latin typeface="Figtree" pitchFamily="2" charset="0"/>
            </a:endParaRPr>
          </a:p>
        </p:txBody>
      </p:sp>
      <p:sp>
        <p:nvSpPr>
          <p:cNvPr id="8" name="Right Brace 7">
            <a:extLst>
              <a:ext uri="{FF2B5EF4-FFF2-40B4-BE49-F238E27FC236}">
                <a16:creationId xmlns:a16="http://schemas.microsoft.com/office/drawing/2014/main" id="{362DA90F-1B21-E0ED-2D66-C3D4B85B889B}"/>
              </a:ext>
            </a:extLst>
          </p:cNvPr>
          <p:cNvSpPr/>
          <p:nvPr/>
        </p:nvSpPr>
        <p:spPr>
          <a:xfrm>
            <a:off x="19722055" y="8510223"/>
            <a:ext cx="153634" cy="396000"/>
          </a:xfrm>
          <a:prstGeom prst="rightBrace">
            <a:avLst/>
          </a:prstGeom>
          <a:ln>
            <a:solidFill>
              <a:srgbClr val="D9D9D9"/>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0" name="TextBox 9">
            <a:extLst>
              <a:ext uri="{FF2B5EF4-FFF2-40B4-BE49-F238E27FC236}">
                <a16:creationId xmlns:a16="http://schemas.microsoft.com/office/drawing/2014/main" id="{4EACD9B0-7806-FB3D-16B8-FD9FB84FB529}"/>
              </a:ext>
            </a:extLst>
          </p:cNvPr>
          <p:cNvSpPr txBox="1"/>
          <p:nvPr/>
        </p:nvSpPr>
        <p:spPr>
          <a:xfrm>
            <a:off x="21153629" y="8508168"/>
            <a:ext cx="2816928" cy="400110"/>
          </a:xfrm>
          <a:prstGeom prst="rect">
            <a:avLst/>
          </a:prstGeom>
          <a:noFill/>
        </p:spPr>
        <p:txBody>
          <a:bodyPr wrap="square">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chemeClr val="bg1">
                    <a:lumMod val="50000"/>
                  </a:schemeClr>
                </a:solidFill>
                <a:uFillTx/>
                <a:latin typeface="Figtree" pitchFamily="2" charset="0"/>
              </a:rPr>
              <a:t>NVIDIA’s H200</a:t>
            </a:r>
            <a:endParaRPr lang="en-GB" sz="2000" b="0" i="0" u="none" strike="noStrike" kern="1200" cap="none" spc="0" baseline="0">
              <a:solidFill>
                <a:schemeClr val="bg1">
                  <a:lumMod val="50000"/>
                </a:schemeClr>
              </a:solidFill>
              <a:uFillTx/>
              <a:latin typeface="Figtree" pitchFamily="2" charset="0"/>
            </a:endParaRPr>
          </a:p>
        </p:txBody>
      </p:sp>
      <p:sp>
        <p:nvSpPr>
          <p:cNvPr id="12" name="Right Brace 11">
            <a:extLst>
              <a:ext uri="{FF2B5EF4-FFF2-40B4-BE49-F238E27FC236}">
                <a16:creationId xmlns:a16="http://schemas.microsoft.com/office/drawing/2014/main" id="{A0D5627D-033E-CC65-5663-81E852133A98}"/>
              </a:ext>
            </a:extLst>
          </p:cNvPr>
          <p:cNvSpPr/>
          <p:nvPr/>
        </p:nvSpPr>
        <p:spPr>
          <a:xfrm>
            <a:off x="19722055" y="10032330"/>
            <a:ext cx="153634" cy="396000"/>
          </a:xfrm>
          <a:prstGeom prst="rightBrace">
            <a:avLst/>
          </a:prstGeom>
          <a:ln>
            <a:solidFill>
              <a:srgbClr val="D9D9D9"/>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4" name="TextBox 13">
            <a:extLst>
              <a:ext uri="{FF2B5EF4-FFF2-40B4-BE49-F238E27FC236}">
                <a16:creationId xmlns:a16="http://schemas.microsoft.com/office/drawing/2014/main" id="{907AFFF4-C873-8876-E7F8-21417166E30F}"/>
              </a:ext>
            </a:extLst>
          </p:cNvPr>
          <p:cNvSpPr txBox="1"/>
          <p:nvPr/>
        </p:nvSpPr>
        <p:spPr>
          <a:xfrm>
            <a:off x="21153629" y="10030275"/>
            <a:ext cx="2816928" cy="400110"/>
          </a:xfrm>
          <a:prstGeom prst="rect">
            <a:avLst/>
          </a:prstGeom>
          <a:noFill/>
        </p:spPr>
        <p:txBody>
          <a:bodyPr wrap="square">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chemeClr val="bg1">
                    <a:lumMod val="50000"/>
                  </a:schemeClr>
                </a:solidFill>
                <a:uFillTx/>
                <a:latin typeface="Figtree" pitchFamily="2" charset="0"/>
              </a:rPr>
              <a:t>NVIDIA’s H100</a:t>
            </a:r>
            <a:endParaRPr lang="en-GB" sz="2000" b="0" i="0" u="none" strike="noStrike" kern="1200" cap="none" spc="0" baseline="0">
              <a:solidFill>
                <a:schemeClr val="bg1">
                  <a:lumMod val="50000"/>
                </a:schemeClr>
              </a:solidFill>
              <a:uFillTx/>
              <a:latin typeface="Figtree" pitchFamily="2" charset="0"/>
            </a:endParaRPr>
          </a:p>
        </p:txBody>
      </p:sp>
      <p:pic>
        <p:nvPicPr>
          <p:cNvPr id="2052" name="Picture 4" descr="NVIDIA HGX H100 Delta-Next 8x 80GB SXM5 GPUs - 935-24287-0000-000 — Vipera  - Tomorrow's Technology Today">
            <a:extLst>
              <a:ext uri="{FF2B5EF4-FFF2-40B4-BE49-F238E27FC236}">
                <a16:creationId xmlns:a16="http://schemas.microsoft.com/office/drawing/2014/main" id="{6DD842F3-3B6C-3812-356A-36C9990909E0}"/>
              </a:ext>
            </a:extLst>
          </p:cNvPr>
          <p:cNvPicPr>
            <a:picLocks noChangeAspect="1" noChangeArrowheads="1"/>
          </p:cNvPicPr>
          <p:nvPr/>
        </p:nvPicPr>
        <p:blipFill>
          <a:blip r:embed="rId4" cstate="email">
            <a:extLst>
              <a:ext uri="{28A0092B-C50C-407E-A947-70E740481C1C}">
                <a14:useLocalDpi xmlns:a14="http://schemas.microsoft.com/office/drawing/2010/main"/>
              </a:ext>
            </a:extLst>
          </a:blip>
          <a:srcRect/>
          <a:stretch>
            <a:fillRect/>
          </a:stretch>
        </p:blipFill>
        <p:spPr bwMode="auto">
          <a:xfrm>
            <a:off x="20064969" y="9858244"/>
            <a:ext cx="955524" cy="765180"/>
          </a:xfrm>
          <a:prstGeom prst="rect">
            <a:avLst/>
          </a:prstGeom>
          <a:noFill/>
          <a:extLst>
            <a:ext uri="{909E8E84-426E-40DD-AFC4-6F175D3DCCD1}">
              <a14:hiddenFill xmlns:a14="http://schemas.microsoft.com/office/drawing/2010/main">
                <a:solidFill>
                  <a:srgbClr val="FFFFFF"/>
                </a:solidFill>
              </a14:hiddenFill>
            </a:ext>
          </a:extLst>
        </p:spPr>
      </p:pic>
      <p:sp>
        <p:nvSpPr>
          <p:cNvPr id="16" name="Right Brace 15">
            <a:extLst>
              <a:ext uri="{FF2B5EF4-FFF2-40B4-BE49-F238E27FC236}">
                <a16:creationId xmlns:a16="http://schemas.microsoft.com/office/drawing/2014/main" id="{C1F8F91A-52E1-9CF0-9957-CD19C31A9CAC}"/>
              </a:ext>
            </a:extLst>
          </p:cNvPr>
          <p:cNvSpPr/>
          <p:nvPr/>
        </p:nvSpPr>
        <p:spPr>
          <a:xfrm>
            <a:off x="19722055" y="6288936"/>
            <a:ext cx="153634" cy="396000"/>
          </a:xfrm>
          <a:prstGeom prst="rightBrace">
            <a:avLst/>
          </a:prstGeom>
          <a:ln>
            <a:solidFill>
              <a:srgbClr val="D9D9D9"/>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18" name="TextBox 17">
            <a:extLst>
              <a:ext uri="{FF2B5EF4-FFF2-40B4-BE49-F238E27FC236}">
                <a16:creationId xmlns:a16="http://schemas.microsoft.com/office/drawing/2014/main" id="{BA5EE764-1AF8-1644-C997-5BA63B7B7556}"/>
              </a:ext>
            </a:extLst>
          </p:cNvPr>
          <p:cNvSpPr txBox="1"/>
          <p:nvPr/>
        </p:nvSpPr>
        <p:spPr>
          <a:xfrm>
            <a:off x="21153629" y="6286881"/>
            <a:ext cx="2816928" cy="400110"/>
          </a:xfrm>
          <a:prstGeom prst="rect">
            <a:avLst/>
          </a:prstGeom>
          <a:noFill/>
        </p:spPr>
        <p:txBody>
          <a:bodyPr wrap="square">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chemeClr val="bg1">
                    <a:lumMod val="50000"/>
                  </a:schemeClr>
                </a:solidFill>
                <a:uFillTx/>
                <a:latin typeface="Figtree" pitchFamily="2" charset="0"/>
              </a:rPr>
              <a:t>NVIDIA’s B200</a:t>
            </a:r>
            <a:endParaRPr lang="en-GB" sz="2000" b="0" i="0" u="none" strike="noStrike" kern="1200" cap="none" spc="0" baseline="0">
              <a:solidFill>
                <a:schemeClr val="bg1">
                  <a:lumMod val="50000"/>
                </a:schemeClr>
              </a:solidFill>
              <a:uFillTx/>
              <a:latin typeface="Figtree" pitchFamily="2" charset="0"/>
            </a:endParaRPr>
          </a:p>
        </p:txBody>
      </p:sp>
      <p:pic>
        <p:nvPicPr>
          <p:cNvPr id="2054" name="Picture 6" descr="NVIDIA e fabricantes de computadores revelam sistemas de IA baseados na  arquitetura Blackwell - StorageReview.com">
            <a:extLst>
              <a:ext uri="{FF2B5EF4-FFF2-40B4-BE49-F238E27FC236}">
                <a16:creationId xmlns:a16="http://schemas.microsoft.com/office/drawing/2014/main" id="{48DBCCDD-4CBB-C972-38CA-F1787FECF4AE}"/>
              </a:ext>
            </a:extLst>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20264919" y="6076753"/>
            <a:ext cx="555625" cy="765886"/>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NVIDIA H200 NVL">
            <a:extLst>
              <a:ext uri="{FF2B5EF4-FFF2-40B4-BE49-F238E27FC236}">
                <a16:creationId xmlns:a16="http://schemas.microsoft.com/office/drawing/2014/main" id="{A0A05CF5-544C-A40C-6D71-9F91EE5F5EF8}"/>
              </a:ext>
            </a:extLst>
          </p:cNvPr>
          <p:cNvPicPr>
            <a:picLocks noChangeAspect="1" noChangeArrowheads="1"/>
          </p:cNvPicPr>
          <p:nvPr/>
        </p:nvPicPr>
        <p:blipFill>
          <a:blip r:embed="rId6" cstate="email">
            <a:extLst>
              <a:ext uri="{BEBA8EAE-BF5A-486C-A8C5-ECC9F3942E4B}">
                <a14:imgProps xmlns:a14="http://schemas.microsoft.com/office/drawing/2010/main">
                  <a14:imgLayer r:embed="rId7">
                    <a14:imgEffect>
                      <a14:backgroundRemoval t="8652" b="89684" l="10000" r="90000">
                        <a14:foregroundMark x1="42710" y1="71880" x2="65607" y2="78203"/>
                        <a14:foregroundMark x1="65607" y1="78203" x2="68505" y2="73877"/>
                        <a14:foregroundMark x1="43645" y1="83195" x2="63364" y2="82529"/>
                        <a14:foregroundMark x1="63364" y1="82529" x2="69813" y2="82529"/>
                        <a14:foregroundMark x1="68879" y1="81531" x2="72243" y2="65890"/>
                        <a14:foregroundMark x1="68131" y1="81864" x2="44579" y2="81864"/>
                        <a14:foregroundMark x1="66636" y1="71547" x2="55981" y2="44592"/>
                        <a14:foregroundMark x1="55981" y1="44592" x2="54579" y2="35108"/>
                        <a14:foregroundMark x1="54579" y1="35108" x2="55421" y2="34276"/>
                        <a14:foregroundMark x1="60841" y1="35940" x2="60467" y2="30283"/>
                        <a14:foregroundMark x1="46262" y1="14975" x2="44953" y2="9318"/>
                        <a14:foregroundMark x1="43832" y1="15973" x2="43832" y2="8652"/>
                        <a14:foregroundMark x1="72243" y1="77537" x2="74299" y2="62895"/>
                        <a14:foregroundMark x1="72804" y1="77205" x2="72430" y2="80200"/>
                      </a14:backgroundRemoval>
                    </a14:imgEffect>
                  </a14:imgLayer>
                </a14:imgProps>
              </a:ext>
              <a:ext uri="{28A0092B-C50C-407E-A947-70E740481C1C}">
                <a14:useLocalDpi xmlns:a14="http://schemas.microsoft.com/office/drawing/2010/main"/>
              </a:ext>
            </a:extLst>
          </a:blip>
          <a:srcRect/>
          <a:stretch>
            <a:fillRect/>
          </a:stretch>
        </p:blipFill>
        <p:spPr bwMode="auto">
          <a:xfrm>
            <a:off x="19650978" y="8267457"/>
            <a:ext cx="1783507" cy="1001764"/>
          </a:xfrm>
          <a:prstGeom prst="rect">
            <a:avLst/>
          </a:prstGeom>
          <a:noFill/>
          <a:extLst>
            <a:ext uri="{909E8E84-426E-40DD-AFC4-6F175D3DCCD1}">
              <a14:hiddenFill xmlns:a14="http://schemas.microsoft.com/office/drawing/2010/main">
                <a:solidFill>
                  <a:srgbClr val="FFFFFF"/>
                </a:solidFill>
              </a14:hiddenFill>
            </a:ext>
          </a:extLst>
        </p:spPr>
      </p:pic>
      <p:sp>
        <p:nvSpPr>
          <p:cNvPr id="19" name="Right Brace 18">
            <a:extLst>
              <a:ext uri="{FF2B5EF4-FFF2-40B4-BE49-F238E27FC236}">
                <a16:creationId xmlns:a16="http://schemas.microsoft.com/office/drawing/2014/main" id="{C68F1B06-CB5D-9433-1DD7-474436C7592C}"/>
              </a:ext>
            </a:extLst>
          </p:cNvPr>
          <p:cNvSpPr/>
          <p:nvPr/>
        </p:nvSpPr>
        <p:spPr>
          <a:xfrm>
            <a:off x="19722055" y="7333141"/>
            <a:ext cx="153634" cy="396000"/>
          </a:xfrm>
          <a:prstGeom prst="rightBrace">
            <a:avLst/>
          </a:prstGeom>
          <a:ln>
            <a:solidFill>
              <a:srgbClr val="D9D9D9"/>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pic>
        <p:nvPicPr>
          <p:cNvPr id="2058" name="Picture 10" descr="Intel Rolls Out Gaudi 3 Accelerator Chip for Large AI ...">
            <a:extLst>
              <a:ext uri="{FF2B5EF4-FFF2-40B4-BE49-F238E27FC236}">
                <a16:creationId xmlns:a16="http://schemas.microsoft.com/office/drawing/2014/main" id="{AB621BF3-1B6D-41E7-8F6C-4E9838941853}"/>
              </a:ext>
            </a:extLst>
          </p:cNvPr>
          <p:cNvPicPr>
            <a:picLocks noChangeAspect="1" noChangeArrowheads="1"/>
          </p:cNvPicPr>
          <p:nvPr/>
        </p:nvPicPr>
        <p:blipFill rotWithShape="1">
          <a:blip r:embed="rId8"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bwMode="auto">
          <a:xfrm>
            <a:off x="20238440" y="7083246"/>
            <a:ext cx="608582" cy="882450"/>
          </a:xfrm>
          <a:prstGeom prst="rect">
            <a:avLst/>
          </a:prstGeom>
          <a:noFill/>
          <a:extLst>
            <a:ext uri="{909E8E84-426E-40DD-AFC4-6F175D3DCCD1}">
              <a14:hiddenFill xmlns:a14="http://schemas.microsoft.com/office/drawing/2010/main">
                <a:solidFill>
                  <a:srgbClr val="FFFFFF"/>
                </a:solidFill>
              </a14:hiddenFill>
            </a:ext>
          </a:extLst>
        </p:spPr>
      </p:pic>
      <p:sp>
        <p:nvSpPr>
          <p:cNvPr id="20" name="TextBox 19">
            <a:extLst>
              <a:ext uri="{FF2B5EF4-FFF2-40B4-BE49-F238E27FC236}">
                <a16:creationId xmlns:a16="http://schemas.microsoft.com/office/drawing/2014/main" id="{63990A60-295B-ACF6-36AF-48BD5CC92B1C}"/>
              </a:ext>
            </a:extLst>
          </p:cNvPr>
          <p:cNvSpPr txBox="1"/>
          <p:nvPr/>
        </p:nvSpPr>
        <p:spPr>
          <a:xfrm>
            <a:off x="21153629" y="7355140"/>
            <a:ext cx="2816928" cy="400110"/>
          </a:xfrm>
          <a:prstGeom prst="rect">
            <a:avLst/>
          </a:prstGeom>
          <a:noFill/>
        </p:spPr>
        <p:txBody>
          <a:bodyPr wrap="square">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b="0" i="0" u="none" strike="noStrike" kern="1200" cap="none" spc="0" baseline="0">
                <a:solidFill>
                  <a:schemeClr val="bg1">
                    <a:lumMod val="50000"/>
                  </a:schemeClr>
                </a:solidFill>
                <a:uFillTx/>
                <a:latin typeface="Figtree" pitchFamily="2" charset="0"/>
              </a:rPr>
              <a:t>Intel’s Gaudi3</a:t>
            </a:r>
            <a:endParaRPr lang="en-GB" sz="2000" b="0" i="0" u="none" strike="noStrike" kern="1200" cap="none" spc="0" baseline="0">
              <a:solidFill>
                <a:schemeClr val="bg1">
                  <a:lumMod val="50000"/>
                </a:schemeClr>
              </a:solidFill>
              <a:uFillTx/>
              <a:latin typeface="Figtree" pitchFamily="2" charset="0"/>
            </a:endParaRPr>
          </a:p>
        </p:txBody>
      </p:sp>
      <p:sp>
        <p:nvSpPr>
          <p:cNvPr id="21" name="Right Brace 20">
            <a:extLst>
              <a:ext uri="{FF2B5EF4-FFF2-40B4-BE49-F238E27FC236}">
                <a16:creationId xmlns:a16="http://schemas.microsoft.com/office/drawing/2014/main" id="{1B7C512F-64B5-BCF5-79A9-8C12F8A6B258}"/>
              </a:ext>
            </a:extLst>
          </p:cNvPr>
          <p:cNvSpPr/>
          <p:nvPr/>
        </p:nvSpPr>
        <p:spPr>
          <a:xfrm>
            <a:off x="19722055" y="9272783"/>
            <a:ext cx="153634" cy="396000"/>
          </a:xfrm>
          <a:prstGeom prst="rightBrace">
            <a:avLst/>
          </a:prstGeom>
          <a:ln>
            <a:solidFill>
              <a:srgbClr val="D9D9D9"/>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GB"/>
          </a:p>
        </p:txBody>
      </p:sp>
      <p:sp>
        <p:nvSpPr>
          <p:cNvPr id="23" name="TextBox 22">
            <a:extLst>
              <a:ext uri="{FF2B5EF4-FFF2-40B4-BE49-F238E27FC236}">
                <a16:creationId xmlns:a16="http://schemas.microsoft.com/office/drawing/2014/main" id="{50F04198-7503-3B28-F348-1EA34B0C3A90}"/>
              </a:ext>
            </a:extLst>
          </p:cNvPr>
          <p:cNvSpPr txBox="1"/>
          <p:nvPr/>
        </p:nvSpPr>
        <p:spPr>
          <a:xfrm>
            <a:off x="21153629" y="9270728"/>
            <a:ext cx="2816928" cy="400110"/>
          </a:xfrm>
          <a:prstGeom prst="rect">
            <a:avLst/>
          </a:prstGeom>
          <a:noFill/>
        </p:spPr>
        <p:txBody>
          <a:bodyPr wrap="square">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000">
                <a:solidFill>
                  <a:schemeClr val="bg1">
                    <a:lumMod val="50000"/>
                  </a:schemeClr>
                </a:solidFill>
                <a:latin typeface="Figtree" pitchFamily="2" charset="0"/>
              </a:rPr>
              <a:t>AMD</a:t>
            </a:r>
            <a:r>
              <a:rPr lang="en-US" sz="2000" b="0" i="0" u="none" strike="noStrike" kern="1200" cap="none" spc="0" baseline="0">
                <a:solidFill>
                  <a:schemeClr val="bg1">
                    <a:lumMod val="50000"/>
                  </a:schemeClr>
                </a:solidFill>
                <a:uFillTx/>
                <a:latin typeface="Figtree" pitchFamily="2" charset="0"/>
              </a:rPr>
              <a:t>’s MI3000</a:t>
            </a:r>
            <a:endParaRPr lang="en-GB" sz="2000" b="0" i="0" u="none" strike="noStrike" kern="1200" cap="none" spc="0" baseline="0">
              <a:solidFill>
                <a:schemeClr val="bg1">
                  <a:lumMod val="50000"/>
                </a:schemeClr>
              </a:solidFill>
              <a:uFillTx/>
              <a:latin typeface="Figtree" pitchFamily="2" charset="0"/>
            </a:endParaRPr>
          </a:p>
        </p:txBody>
      </p:sp>
      <p:pic>
        <p:nvPicPr>
          <p:cNvPr id="2060" name="Picture 12" descr="AMD Instinct™ MI300 Series Platform | Solution - GIGABYTE Global">
            <a:extLst>
              <a:ext uri="{FF2B5EF4-FFF2-40B4-BE49-F238E27FC236}">
                <a16:creationId xmlns:a16="http://schemas.microsoft.com/office/drawing/2014/main" id="{8D30D455-92C9-062F-8D82-3F5AC0132EBF}"/>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20099916" y="9172837"/>
            <a:ext cx="789261" cy="595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98971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Text 2">
            <a:extLst>
              <a:ext uri="{FF2B5EF4-FFF2-40B4-BE49-F238E27FC236}">
                <a16:creationId xmlns:a16="http://schemas.microsoft.com/office/drawing/2014/main" id="{01D668CA-848B-8E33-5C4D-19A974D8F8AB}"/>
              </a:ext>
            </a:extLst>
          </p:cNvPr>
          <p:cNvSpPr/>
          <p:nvPr/>
        </p:nvSpPr>
        <p:spPr>
          <a:xfrm>
            <a:off x="1301042" y="1618141"/>
            <a:ext cx="9551197" cy="923333"/>
          </a:xfrm>
          <a:prstGeom prst="rect">
            <a:avLst/>
          </a:prstGeom>
          <a:solidFill>
            <a:srgbClr val="FFFFFF">
              <a:alpha val="50196"/>
            </a:srgbClr>
          </a:solidFill>
          <a:ln cap="flat">
            <a:noFill/>
            <a:prstDash val="solid"/>
          </a:ln>
        </p:spPr>
        <p:txBody>
          <a:bodyPr vert="horz" wrap="square" lIns="90000" tIns="0" rIns="90000" bIns="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6000" b="1" u="none" strike="noStrike" kern="1200" cap="none" spc="0" baseline="0" dirty="0">
                <a:solidFill>
                  <a:schemeClr val="tx1">
                    <a:lumMod val="95000"/>
                    <a:lumOff val="5000"/>
                  </a:schemeClr>
                </a:solidFill>
                <a:uFillTx/>
                <a:latin typeface="Figtree SemiBold" pitchFamily="2" charset="0"/>
                <a:ea typeface="Figtree Bold" pitchFamily="34"/>
              </a:rPr>
              <a:t>AI Data Center </a:t>
            </a:r>
            <a:r>
              <a:rPr lang="en-US" sz="6000" b="1" u="none" strike="noStrike" kern="1200" cap="none" spc="0" baseline="0" dirty="0">
                <a:solidFill>
                  <a:srgbClr val="12BD64"/>
                </a:solidFill>
                <a:uFillTx/>
                <a:latin typeface="Figtree SemiBold" pitchFamily="2" charset="0"/>
                <a:ea typeface="Figtree Bold" pitchFamily="34"/>
              </a:rPr>
              <a:t>Capacities</a:t>
            </a:r>
            <a:endParaRPr lang="en-US" sz="6000" b="1" u="none" strike="noStrike" kern="1200" cap="none" spc="0" baseline="0" dirty="0">
              <a:solidFill>
                <a:srgbClr val="000000"/>
              </a:solidFill>
              <a:uFillTx/>
              <a:latin typeface="Figtree SemiBold" pitchFamily="2" charset="0"/>
            </a:endParaRPr>
          </a:p>
        </p:txBody>
      </p:sp>
      <p:graphicFrame>
        <p:nvGraphicFramePr>
          <p:cNvPr id="80" name="Chart 12">
            <a:extLst>
              <a:ext uri="{FF2B5EF4-FFF2-40B4-BE49-F238E27FC236}">
                <a16:creationId xmlns:a16="http://schemas.microsoft.com/office/drawing/2014/main" id="{B29836E4-FAC5-6118-001D-4A18E2D3E470}"/>
              </a:ext>
            </a:extLst>
          </p:cNvPr>
          <p:cNvGraphicFramePr/>
          <p:nvPr/>
        </p:nvGraphicFramePr>
        <p:xfrm>
          <a:off x="1276516" y="3452719"/>
          <a:ext cx="19273822" cy="8912301"/>
        </p:xfrm>
        <a:graphic>
          <a:graphicData uri="http://schemas.openxmlformats.org/drawingml/2006/chart">
            <c:chart xmlns:c="http://schemas.openxmlformats.org/drawingml/2006/chart" xmlns:r="http://schemas.openxmlformats.org/officeDocument/2006/relationships" r:id="rId3"/>
          </a:graphicData>
        </a:graphic>
      </p:graphicFrame>
      <p:sp>
        <p:nvSpPr>
          <p:cNvPr id="78" name="Rectangle 77">
            <a:extLst>
              <a:ext uri="{FF2B5EF4-FFF2-40B4-BE49-F238E27FC236}">
                <a16:creationId xmlns:a16="http://schemas.microsoft.com/office/drawing/2014/main" id="{D2B1A81C-4F41-899A-03A9-200952FA260B}"/>
              </a:ext>
            </a:extLst>
          </p:cNvPr>
          <p:cNvSpPr/>
          <p:nvPr/>
        </p:nvSpPr>
        <p:spPr>
          <a:xfrm>
            <a:off x="19892736" y="3789994"/>
            <a:ext cx="3493044" cy="2862265"/>
          </a:xfrm>
          <a:prstGeom prst="rect">
            <a:avLst/>
          </a:prstGeom>
          <a:solidFill>
            <a:srgbClr val="F4F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000" b="0" i="0" u="none" strike="noStrike">
                <a:solidFill>
                  <a:schemeClr val="tx1">
                    <a:lumMod val="95000"/>
                    <a:lumOff val="5000"/>
                  </a:schemeClr>
                </a:solidFill>
                <a:effectLst/>
                <a:latin typeface="Calibri" panose="020F0502020204030204" pitchFamily="34" charset="0"/>
              </a:rPr>
              <a:t>Buildings up to</a:t>
            </a:r>
            <a:endParaRPr lang="en-PT" sz="2000">
              <a:solidFill>
                <a:schemeClr val="tx1">
                  <a:lumMod val="95000"/>
                  <a:lumOff val="5000"/>
                </a:schemeClr>
              </a:solidFill>
            </a:endParaRPr>
          </a:p>
          <a:p>
            <a:pPr algn="ctr"/>
            <a:r>
              <a:rPr lang="en-US" sz="4400" b="1">
                <a:solidFill>
                  <a:srgbClr val="12BD64"/>
                </a:solidFill>
                <a:latin typeface="Calibri" panose="020F0502020204030204" pitchFamily="34" charset="0"/>
              </a:rPr>
              <a:t>360</a:t>
            </a:r>
            <a:r>
              <a:rPr lang="en-US" sz="4400" b="1" i="0" u="none" strike="noStrike">
                <a:solidFill>
                  <a:schemeClr val="tx1">
                    <a:lumMod val="95000"/>
                    <a:lumOff val="5000"/>
                  </a:schemeClr>
                </a:solidFill>
                <a:effectLst/>
                <a:latin typeface="Calibri" panose="020F0502020204030204" pitchFamily="34" charset="0"/>
              </a:rPr>
              <a:t> MW</a:t>
            </a:r>
          </a:p>
          <a:p>
            <a:pPr algn="ctr"/>
            <a:endParaRPr lang="en-US" sz="2000">
              <a:solidFill>
                <a:schemeClr val="tx1">
                  <a:lumMod val="95000"/>
                  <a:lumOff val="5000"/>
                </a:schemeClr>
              </a:solidFill>
              <a:latin typeface="Calibri" panose="020F0502020204030204" pitchFamily="34" charset="0"/>
            </a:endParaRPr>
          </a:p>
          <a:p>
            <a:pPr algn="ctr"/>
            <a:r>
              <a:rPr lang="en-US" sz="2000">
                <a:solidFill>
                  <a:schemeClr val="tx1">
                    <a:lumMod val="95000"/>
                    <a:lumOff val="5000"/>
                  </a:schemeClr>
                </a:solidFill>
                <a:latin typeface="Calibri" panose="020F0502020204030204" pitchFamily="34" charset="0"/>
              </a:rPr>
              <a:t>Campuses of</a:t>
            </a:r>
            <a:endParaRPr lang="en-US" sz="2000" b="0" i="0" u="none" strike="noStrike">
              <a:solidFill>
                <a:schemeClr val="tx1">
                  <a:lumMod val="95000"/>
                  <a:lumOff val="5000"/>
                </a:schemeClr>
              </a:solidFill>
              <a:effectLst/>
              <a:latin typeface="Calibri" panose="020F0502020204030204" pitchFamily="34" charset="0"/>
            </a:endParaRPr>
          </a:p>
          <a:p>
            <a:pPr algn="ctr"/>
            <a:r>
              <a:rPr lang="en-US" sz="4400" b="1">
                <a:solidFill>
                  <a:srgbClr val="12BD64"/>
                </a:solidFill>
                <a:latin typeface="Calibri" panose="020F0502020204030204" pitchFamily="34" charset="0"/>
              </a:rPr>
              <a:t>1</a:t>
            </a:r>
            <a:r>
              <a:rPr lang="en-US" sz="4400" b="1" i="0" u="none" strike="noStrike">
                <a:solidFill>
                  <a:schemeClr val="tx1">
                    <a:lumMod val="95000"/>
                    <a:lumOff val="5000"/>
                  </a:schemeClr>
                </a:solidFill>
                <a:effectLst/>
                <a:latin typeface="Calibri" panose="020F0502020204030204" pitchFamily="34" charset="0"/>
              </a:rPr>
              <a:t> </a:t>
            </a:r>
            <a:r>
              <a:rPr lang="en-US" sz="4400" b="1">
                <a:solidFill>
                  <a:schemeClr val="tx1">
                    <a:lumMod val="95000"/>
                    <a:lumOff val="5000"/>
                  </a:schemeClr>
                </a:solidFill>
                <a:latin typeface="Calibri" panose="020F0502020204030204" pitchFamily="34" charset="0"/>
              </a:rPr>
              <a:t>GW+</a:t>
            </a:r>
          </a:p>
        </p:txBody>
      </p:sp>
      <p:cxnSp>
        <p:nvCxnSpPr>
          <p:cNvPr id="84" name="Straight Arrow Connector 25">
            <a:extLst>
              <a:ext uri="{FF2B5EF4-FFF2-40B4-BE49-F238E27FC236}">
                <a16:creationId xmlns:a16="http://schemas.microsoft.com/office/drawing/2014/main" id="{EA73D24C-939E-3D5E-6676-3CA10971D14D}"/>
              </a:ext>
            </a:extLst>
          </p:cNvPr>
          <p:cNvCxnSpPr>
            <a:cxnSpLocks/>
          </p:cNvCxnSpPr>
          <p:nvPr/>
        </p:nvCxnSpPr>
        <p:spPr>
          <a:xfrm flipV="1">
            <a:off x="6610941" y="9964680"/>
            <a:ext cx="2181445" cy="810794"/>
          </a:xfrm>
          <a:prstGeom prst="straightConnector1">
            <a:avLst/>
          </a:prstGeom>
          <a:noFill/>
          <a:ln w="76196" cap="flat">
            <a:solidFill>
              <a:srgbClr val="0A3638"/>
            </a:solidFill>
            <a:prstDash val="solid"/>
            <a:miter/>
            <a:tailEnd type="arrow"/>
          </a:ln>
        </p:spPr>
      </p:cxnSp>
      <p:cxnSp>
        <p:nvCxnSpPr>
          <p:cNvPr id="85" name="Straight Arrow Connector 34">
            <a:extLst>
              <a:ext uri="{FF2B5EF4-FFF2-40B4-BE49-F238E27FC236}">
                <a16:creationId xmlns:a16="http://schemas.microsoft.com/office/drawing/2014/main" id="{9AC34011-1A3E-58C1-55BC-112323D25630}"/>
              </a:ext>
            </a:extLst>
          </p:cNvPr>
          <p:cNvCxnSpPr/>
          <p:nvPr/>
        </p:nvCxnSpPr>
        <p:spPr>
          <a:xfrm flipV="1">
            <a:off x="16730377" y="4875184"/>
            <a:ext cx="2581775" cy="3978042"/>
          </a:xfrm>
          <a:prstGeom prst="straightConnector1">
            <a:avLst/>
          </a:prstGeom>
          <a:noFill/>
          <a:ln w="76196" cap="flat">
            <a:solidFill>
              <a:srgbClr val="0A3638"/>
            </a:solidFill>
            <a:prstDash val="solid"/>
            <a:miter/>
            <a:tailEnd type="arrow"/>
          </a:ln>
        </p:spPr>
      </p:cxnSp>
      <p:grpSp>
        <p:nvGrpSpPr>
          <p:cNvPr id="9" name="Group 8">
            <a:extLst>
              <a:ext uri="{FF2B5EF4-FFF2-40B4-BE49-F238E27FC236}">
                <a16:creationId xmlns:a16="http://schemas.microsoft.com/office/drawing/2014/main" id="{05F4182D-1EAB-DCF8-11E4-9DA297596FCB}"/>
              </a:ext>
            </a:extLst>
          </p:cNvPr>
          <p:cNvGrpSpPr/>
          <p:nvPr/>
        </p:nvGrpSpPr>
        <p:grpSpPr>
          <a:xfrm>
            <a:off x="20238686" y="9978035"/>
            <a:ext cx="3315381" cy="755783"/>
            <a:chOff x="20238686" y="9978035"/>
            <a:chExt cx="3315381" cy="755783"/>
          </a:xfrm>
        </p:grpSpPr>
        <p:cxnSp>
          <p:nvCxnSpPr>
            <p:cNvPr id="96" name="Straight Connector 95">
              <a:extLst>
                <a:ext uri="{FF2B5EF4-FFF2-40B4-BE49-F238E27FC236}">
                  <a16:creationId xmlns:a16="http://schemas.microsoft.com/office/drawing/2014/main" id="{B8A1E965-F38F-B714-EE9A-EF65FA63100C}"/>
                </a:ext>
              </a:extLst>
            </p:cNvPr>
            <p:cNvCxnSpPr>
              <a:cxnSpLocks/>
            </p:cNvCxnSpPr>
            <p:nvPr/>
          </p:nvCxnSpPr>
          <p:spPr>
            <a:xfrm>
              <a:off x="20238686" y="10162701"/>
              <a:ext cx="540000" cy="0"/>
            </a:xfrm>
            <a:prstGeom prst="line">
              <a:avLst/>
            </a:prstGeom>
            <a:ln w="88900">
              <a:solidFill>
                <a:srgbClr val="12BD64"/>
              </a:solidFill>
            </a:ln>
          </p:spPr>
          <p:style>
            <a:lnRef idx="2">
              <a:schemeClr val="accent1"/>
            </a:lnRef>
            <a:fillRef idx="0">
              <a:schemeClr val="accent1"/>
            </a:fillRef>
            <a:effectRef idx="1">
              <a:schemeClr val="accent1"/>
            </a:effectRef>
            <a:fontRef idx="minor">
              <a:schemeClr val="tx1"/>
            </a:fontRef>
          </p:style>
        </p:cxnSp>
        <p:sp>
          <p:nvSpPr>
            <p:cNvPr id="98" name="TextBox 97">
              <a:extLst>
                <a:ext uri="{FF2B5EF4-FFF2-40B4-BE49-F238E27FC236}">
                  <a16:creationId xmlns:a16="http://schemas.microsoft.com/office/drawing/2014/main" id="{DD90E39C-8B6E-C15C-8C5B-B383B74B407A}"/>
                </a:ext>
              </a:extLst>
            </p:cNvPr>
            <p:cNvSpPr txBox="1"/>
            <p:nvPr/>
          </p:nvSpPr>
          <p:spPr>
            <a:xfrm>
              <a:off x="20900264" y="9978035"/>
              <a:ext cx="2653803" cy="369332"/>
            </a:xfrm>
            <a:prstGeom prst="rect">
              <a:avLst/>
            </a:prstGeom>
            <a:noFill/>
          </p:spPr>
          <p:txBody>
            <a:bodyPr wrap="none">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chemeClr val="bg1">
                      <a:lumMod val="50000"/>
                    </a:schemeClr>
                  </a:solidFill>
                  <a:uFillTx/>
                  <a:latin typeface="Figtree" pitchFamily="2" charset="0"/>
                </a:rPr>
                <a:t>Hyperscale/AI DC Capacity</a:t>
              </a:r>
              <a:endParaRPr lang="en-GB" sz="1800" b="0" i="0" u="none" strike="noStrike" kern="1200" cap="none" spc="0" baseline="0">
                <a:solidFill>
                  <a:schemeClr val="bg1">
                    <a:lumMod val="50000"/>
                  </a:schemeClr>
                </a:solidFill>
                <a:uFillTx/>
                <a:latin typeface="Figtree" pitchFamily="2" charset="0"/>
              </a:endParaRPr>
            </a:p>
          </p:txBody>
        </p:sp>
        <p:cxnSp>
          <p:nvCxnSpPr>
            <p:cNvPr id="99" name="Straight Connector 98">
              <a:extLst>
                <a:ext uri="{FF2B5EF4-FFF2-40B4-BE49-F238E27FC236}">
                  <a16:creationId xmlns:a16="http://schemas.microsoft.com/office/drawing/2014/main" id="{4909A710-4A72-1E14-B2D6-A48E77559755}"/>
                </a:ext>
              </a:extLst>
            </p:cNvPr>
            <p:cNvCxnSpPr>
              <a:cxnSpLocks/>
            </p:cNvCxnSpPr>
            <p:nvPr/>
          </p:nvCxnSpPr>
          <p:spPr>
            <a:xfrm>
              <a:off x="20238686" y="10549152"/>
              <a:ext cx="540000" cy="0"/>
            </a:xfrm>
            <a:prstGeom prst="line">
              <a:avLst/>
            </a:prstGeom>
            <a:ln w="88900">
              <a:solidFill>
                <a:srgbClr val="DADADA"/>
              </a:solidFill>
            </a:ln>
          </p:spPr>
          <p:style>
            <a:lnRef idx="2">
              <a:schemeClr val="accent1"/>
            </a:lnRef>
            <a:fillRef idx="0">
              <a:schemeClr val="accent1"/>
            </a:fillRef>
            <a:effectRef idx="1">
              <a:schemeClr val="accent1"/>
            </a:effectRef>
            <a:fontRef idx="minor">
              <a:schemeClr val="tx1"/>
            </a:fontRef>
          </p:style>
        </p:cxnSp>
        <p:sp>
          <p:nvSpPr>
            <p:cNvPr id="100" name="TextBox 99">
              <a:extLst>
                <a:ext uri="{FF2B5EF4-FFF2-40B4-BE49-F238E27FC236}">
                  <a16:creationId xmlns:a16="http://schemas.microsoft.com/office/drawing/2014/main" id="{0882643B-0B62-A1EE-DBAE-9D6916D5BBE8}"/>
                </a:ext>
              </a:extLst>
            </p:cNvPr>
            <p:cNvSpPr txBox="1"/>
            <p:nvPr/>
          </p:nvSpPr>
          <p:spPr>
            <a:xfrm>
              <a:off x="20900264" y="10364486"/>
              <a:ext cx="2109488" cy="369332"/>
            </a:xfrm>
            <a:prstGeom prst="rect">
              <a:avLst/>
            </a:prstGeom>
            <a:noFill/>
          </p:spPr>
          <p:txBody>
            <a:bodyPr wrap="none">
              <a:spAutoFit/>
            </a:bodyPr>
            <a:lstStyle/>
            <a:p>
              <a:pPr marL="0" marR="0" lvl="0" indent="0"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800" b="0" i="0" u="none" strike="noStrike" kern="1200" cap="none" spc="0" baseline="0">
                  <a:solidFill>
                    <a:schemeClr val="bg1">
                      <a:lumMod val="50000"/>
                    </a:schemeClr>
                  </a:solidFill>
                  <a:uFillTx/>
                  <a:latin typeface="Figtree" pitchFamily="2" charset="0"/>
                </a:rPr>
                <a:t>Average DC Capacity</a:t>
              </a:r>
              <a:endParaRPr lang="en-GB" sz="1800" b="0" i="0" u="none" strike="noStrike" kern="1200" cap="none" spc="0" baseline="0">
                <a:solidFill>
                  <a:schemeClr val="bg1">
                    <a:lumMod val="50000"/>
                  </a:schemeClr>
                </a:solidFill>
                <a:uFillTx/>
                <a:latin typeface="Figtree" pitchFamily="2" charset="0"/>
              </a:endParaRPr>
            </a:p>
          </p:txBody>
        </p:sp>
      </p:grpSp>
      <p:sp>
        <p:nvSpPr>
          <p:cNvPr id="3" name="TextBox 2">
            <a:extLst>
              <a:ext uri="{FF2B5EF4-FFF2-40B4-BE49-F238E27FC236}">
                <a16:creationId xmlns:a16="http://schemas.microsoft.com/office/drawing/2014/main" id="{ABEF551A-BCCD-372C-D203-68543FB557E3}"/>
              </a:ext>
            </a:extLst>
          </p:cNvPr>
          <p:cNvSpPr txBox="1"/>
          <p:nvPr/>
        </p:nvSpPr>
        <p:spPr>
          <a:xfrm rot="16200000">
            <a:off x="-635294" y="6800659"/>
            <a:ext cx="3165738" cy="461665"/>
          </a:xfrm>
          <a:prstGeom prst="rect">
            <a:avLst/>
          </a:prstGeom>
          <a:noFill/>
        </p:spPr>
        <p:txBody>
          <a:bodyPr wrap="none">
            <a:spAutoFit/>
          </a:bodyP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a:solidFill>
                  <a:schemeClr val="bg1">
                    <a:lumMod val="50000"/>
                  </a:schemeClr>
                </a:solidFill>
                <a:latin typeface="Figtree" pitchFamily="2" charset="0"/>
              </a:rPr>
              <a:t>DC Budling </a:t>
            </a:r>
            <a:r>
              <a:rPr lang="en-US" sz="2400" b="0" i="0" u="none" strike="noStrike" kern="1200" cap="none" spc="0" baseline="0">
                <a:solidFill>
                  <a:schemeClr val="bg1">
                    <a:lumMod val="50000"/>
                  </a:schemeClr>
                </a:solidFill>
                <a:uFillTx/>
                <a:latin typeface="Figtree" pitchFamily="2" charset="0"/>
              </a:rPr>
              <a:t>size in (MW)</a:t>
            </a:r>
            <a:endParaRPr lang="en-GB" sz="2400" b="0" i="0" u="none" strike="noStrike" kern="1200" cap="none" spc="0" baseline="0">
              <a:solidFill>
                <a:schemeClr val="bg1">
                  <a:lumMod val="50000"/>
                </a:schemeClr>
              </a:solidFill>
              <a:uFillTx/>
              <a:latin typeface="Figtree" pitchFamily="2" charset="0"/>
            </a:endParaRPr>
          </a:p>
        </p:txBody>
      </p:sp>
      <p:grpSp>
        <p:nvGrpSpPr>
          <p:cNvPr id="8" name="Group 7">
            <a:extLst>
              <a:ext uri="{FF2B5EF4-FFF2-40B4-BE49-F238E27FC236}">
                <a16:creationId xmlns:a16="http://schemas.microsoft.com/office/drawing/2014/main" id="{07D38F42-7329-FE79-B5B4-5B14A79E2F26}"/>
              </a:ext>
            </a:extLst>
          </p:cNvPr>
          <p:cNvGrpSpPr/>
          <p:nvPr/>
        </p:nvGrpSpPr>
        <p:grpSpPr>
          <a:xfrm>
            <a:off x="12235971" y="1005790"/>
            <a:ext cx="11697721" cy="2067600"/>
            <a:chOff x="10994329" y="1005790"/>
            <a:chExt cx="11697721" cy="2067600"/>
          </a:xfrm>
        </p:grpSpPr>
        <p:sp>
          <p:nvSpPr>
            <p:cNvPr id="87" name="TextBox 55">
              <a:extLst>
                <a:ext uri="{FF2B5EF4-FFF2-40B4-BE49-F238E27FC236}">
                  <a16:creationId xmlns:a16="http://schemas.microsoft.com/office/drawing/2014/main" id="{4E1D5B82-DDE8-F7E7-D0DC-6F0C85A0A8BA}"/>
                </a:ext>
              </a:extLst>
            </p:cNvPr>
            <p:cNvSpPr txBox="1"/>
            <p:nvPr/>
          </p:nvSpPr>
          <p:spPr>
            <a:xfrm>
              <a:off x="11567264" y="1189579"/>
              <a:ext cx="11124786" cy="1086964"/>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20000"/>
                </a:lnSpc>
                <a:spcBef>
                  <a:spcPts val="0"/>
                </a:spcBef>
                <a:spcAft>
                  <a:spcPts val="0"/>
                </a:spcAft>
                <a:buNone/>
                <a:tabLst/>
                <a:defRPr sz="1800" b="0" i="0" u="none" strike="noStrike" kern="0" cap="none" spc="0" baseline="0">
                  <a:solidFill>
                    <a:srgbClr val="000000"/>
                  </a:solidFill>
                  <a:uFillTx/>
                </a:defRPr>
              </a:pPr>
              <a:r>
                <a:rPr lang="en-US" sz="2800" b="0" i="0" u="none" strike="noStrike" kern="1200" cap="none" spc="0" baseline="0" dirty="0">
                  <a:solidFill>
                    <a:srgbClr val="12BD64"/>
                  </a:solidFill>
                  <a:uFillTx/>
                  <a:latin typeface="Figtree" pitchFamily="2" charset="0"/>
                </a:rPr>
                <a:t>We are now working on </a:t>
              </a:r>
              <a:r>
                <a:rPr lang="en-US" sz="2800" b="1" i="0" u="none" strike="noStrike" kern="1200" cap="none" spc="0" baseline="0" dirty="0">
                  <a:solidFill>
                    <a:srgbClr val="12BD64"/>
                  </a:solidFill>
                  <a:uFillTx/>
                  <a:latin typeface="Figtree" pitchFamily="2" charset="0"/>
                </a:rPr>
                <a:t>1GW data centers</a:t>
              </a:r>
              <a:r>
                <a:rPr lang="en-US" sz="2800" b="0" i="0" u="none" strike="noStrike" kern="1200" cap="none" spc="0" baseline="0" dirty="0">
                  <a:solidFill>
                    <a:srgbClr val="12BD64"/>
                  </a:solidFill>
                  <a:uFillTx/>
                  <a:latin typeface="Figtree" pitchFamily="2" charset="0"/>
                </a:rPr>
                <a:t>, which I </a:t>
              </a:r>
            </a:p>
            <a:p>
              <a:pPr marL="0" marR="0" lvl="0" indent="0" algn="l" defTabSz="914400" rtl="0" fontAlgn="auto" hangingPunct="1">
                <a:lnSpc>
                  <a:spcPct val="120000"/>
                </a:lnSpc>
                <a:spcBef>
                  <a:spcPts val="0"/>
                </a:spcBef>
                <a:spcAft>
                  <a:spcPts val="0"/>
                </a:spcAft>
                <a:buNone/>
                <a:tabLst/>
                <a:defRPr sz="1800" b="0" i="0" u="none" strike="noStrike" kern="0" cap="none" spc="0" baseline="0">
                  <a:solidFill>
                    <a:srgbClr val="000000"/>
                  </a:solidFill>
                  <a:uFillTx/>
                </a:defRPr>
              </a:pPr>
              <a:r>
                <a:rPr lang="en-US" sz="2800" b="0" i="0" u="none" strike="noStrike" kern="1200" cap="none" spc="0" baseline="0" dirty="0">
                  <a:solidFill>
                    <a:srgbClr val="12BD64"/>
                  </a:solidFill>
                  <a:uFillTx/>
                  <a:latin typeface="Figtree" pitchFamily="2" charset="0"/>
                </a:rPr>
                <a:t>didn’t think we would be thinking about even two years earlier</a:t>
              </a:r>
            </a:p>
          </p:txBody>
        </p:sp>
        <p:sp>
          <p:nvSpPr>
            <p:cNvPr id="94" name="TextBox 93">
              <a:extLst>
                <a:ext uri="{FF2B5EF4-FFF2-40B4-BE49-F238E27FC236}">
                  <a16:creationId xmlns:a16="http://schemas.microsoft.com/office/drawing/2014/main" id="{B90398FF-6141-C341-1D34-48CECA295D77}"/>
                </a:ext>
              </a:extLst>
            </p:cNvPr>
            <p:cNvSpPr txBox="1"/>
            <p:nvPr/>
          </p:nvSpPr>
          <p:spPr>
            <a:xfrm>
              <a:off x="20235607" y="2488615"/>
              <a:ext cx="2456443" cy="584775"/>
            </a:xfrm>
            <a:prstGeom prst="rect">
              <a:avLst/>
            </a:prstGeom>
            <a:noFill/>
          </p:spPr>
          <p:txBody>
            <a:bodyPr wrap="none">
              <a:spAutoFit/>
            </a:bodyPr>
            <a:lstStyle/>
            <a:p>
              <a:pPr marL="0" marR="0" lvl="0" indent="0" algn="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GB" sz="1600" b="0" i="0" u="none" strike="noStrike" kern="1200" cap="none" spc="0" baseline="0">
                  <a:uFillTx/>
                  <a:latin typeface="Figtree" pitchFamily="2" charset="0"/>
                </a:rPr>
                <a:t>Google’s CEO Sundar Pichai</a:t>
              </a:r>
              <a:br>
                <a:rPr lang="en-GB" sz="1600" b="0" i="0" u="none" strike="noStrike" kern="1200" cap="none" spc="0" baseline="0">
                  <a:uFillTx/>
                  <a:latin typeface="Figtree" pitchFamily="2" charset="0"/>
                </a:rPr>
              </a:br>
              <a:r>
                <a:rPr lang="en-GB" sz="1600" b="0" i="0" u="none" strike="noStrike" kern="1200" cap="none" spc="0" baseline="0">
                  <a:uFillTx/>
                  <a:latin typeface="Figtree" pitchFamily="2" charset="0"/>
                </a:rPr>
                <a:t>Sept 24, 2024</a:t>
              </a:r>
            </a:p>
          </p:txBody>
        </p:sp>
        <p:pic>
          <p:nvPicPr>
            <p:cNvPr id="5" name="Graphic 4" descr="Open quotation mark outline">
              <a:extLst>
                <a:ext uri="{FF2B5EF4-FFF2-40B4-BE49-F238E27FC236}">
                  <a16:creationId xmlns:a16="http://schemas.microsoft.com/office/drawing/2014/main" id="{0F432504-75F4-796E-51E6-B73E89A0A67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994329" y="1005790"/>
              <a:ext cx="690380" cy="690380"/>
            </a:xfrm>
            <a:prstGeom prst="rect">
              <a:avLst/>
            </a:prstGeom>
          </p:spPr>
        </p:pic>
        <p:pic>
          <p:nvPicPr>
            <p:cNvPr id="7" name="Graphic 6" descr="Open quotation mark outline">
              <a:extLst>
                <a:ext uri="{FF2B5EF4-FFF2-40B4-BE49-F238E27FC236}">
                  <a16:creationId xmlns:a16="http://schemas.microsoft.com/office/drawing/2014/main" id="{D57C00ED-A46F-43A7-6532-B5A8AC2DA91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flipH="1">
              <a:off x="21435999" y="1529650"/>
              <a:ext cx="690379" cy="690379"/>
            </a:xfrm>
            <a:prstGeom prst="rect">
              <a:avLst/>
            </a:prstGeom>
          </p:spPr>
        </p:pic>
      </p:grpSp>
      <p:sp>
        <p:nvSpPr>
          <p:cNvPr id="10" name="TextBox 23">
            <a:extLst>
              <a:ext uri="{FF2B5EF4-FFF2-40B4-BE49-F238E27FC236}">
                <a16:creationId xmlns:a16="http://schemas.microsoft.com/office/drawing/2014/main" id="{C00C2630-CA8B-92CE-3531-C7266FCE436D}"/>
              </a:ext>
            </a:extLst>
          </p:cNvPr>
          <p:cNvSpPr txBox="1"/>
          <p:nvPr/>
        </p:nvSpPr>
        <p:spPr>
          <a:xfrm>
            <a:off x="934804" y="12543470"/>
            <a:ext cx="4517199" cy="338554"/>
          </a:xfrm>
          <a:prstGeom prst="rect">
            <a:avLst/>
          </a:prstGeom>
          <a:noFill/>
          <a:ln cap="flat">
            <a:noFill/>
          </a:ln>
        </p:spPr>
        <p:txBody>
          <a:bodyPr vert="horz" wrap="none" lIns="91440" tIns="45720" rIns="91440" bIns="45720" anchor="t" anchorCtr="0" compatLnSpc="1">
            <a:sp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600" b="0" i="0" u="none" strike="noStrike" kern="1200" cap="none" spc="0" baseline="0" dirty="0">
                <a:solidFill>
                  <a:srgbClr val="7F7F7F"/>
                </a:solidFill>
                <a:uFillTx/>
                <a:latin typeface="Calibri"/>
              </a:rPr>
              <a:t>Source: Company information and industry research</a:t>
            </a:r>
            <a:endParaRPr lang="en-GB" sz="1600" b="0" i="0" u="none" strike="noStrike" kern="1200" cap="none" spc="0" baseline="0" dirty="0">
              <a:solidFill>
                <a:srgbClr val="7F7F7F"/>
              </a:solidFill>
              <a:uFillTx/>
              <a:latin typeface="Calibri"/>
            </a:endParaRPr>
          </a:p>
        </p:txBody>
      </p:sp>
      <p:cxnSp>
        <p:nvCxnSpPr>
          <p:cNvPr id="12" name="Straight Connector 11">
            <a:extLst>
              <a:ext uri="{FF2B5EF4-FFF2-40B4-BE49-F238E27FC236}">
                <a16:creationId xmlns:a16="http://schemas.microsoft.com/office/drawing/2014/main" id="{EC712B1B-CC58-623D-B493-A9CA643C39C3}"/>
              </a:ext>
            </a:extLst>
          </p:cNvPr>
          <p:cNvCxnSpPr>
            <a:cxnSpLocks/>
          </p:cNvCxnSpPr>
          <p:nvPr/>
        </p:nvCxnSpPr>
        <p:spPr>
          <a:xfrm flipV="1">
            <a:off x="1301042" y="-2890684"/>
            <a:ext cx="0" cy="2182761"/>
          </a:xfrm>
          <a:prstGeom prst="line">
            <a:avLst/>
          </a:prstGeom>
        </p:spPr>
        <p:style>
          <a:lnRef idx="2">
            <a:schemeClr val="accent1"/>
          </a:lnRef>
          <a:fillRef idx="0">
            <a:schemeClr val="accent1"/>
          </a:fillRef>
          <a:effectRef idx="1">
            <a:schemeClr val="accent1"/>
          </a:effectRef>
          <a:fontRef idx="minor">
            <a:schemeClr val="tx1"/>
          </a:fontRef>
        </p:style>
      </p:cxnSp>
      <p:sp>
        <p:nvSpPr>
          <p:cNvPr id="4" name="Rectangular Callout 3">
            <a:extLst>
              <a:ext uri="{FF2B5EF4-FFF2-40B4-BE49-F238E27FC236}">
                <a16:creationId xmlns:a16="http://schemas.microsoft.com/office/drawing/2014/main" id="{E67248CF-913E-5F7B-D165-3000C7D1E1DE}"/>
              </a:ext>
            </a:extLst>
          </p:cNvPr>
          <p:cNvSpPr/>
          <p:nvPr/>
        </p:nvSpPr>
        <p:spPr>
          <a:xfrm>
            <a:off x="3361764" y="8256494"/>
            <a:ext cx="4249271" cy="1237130"/>
          </a:xfrm>
          <a:prstGeom prst="wedgeRectCallout">
            <a:avLst>
              <a:gd name="adj1" fmla="val 44990"/>
              <a:gd name="adj2" fmla="val 86413"/>
            </a:avLst>
          </a:prstGeom>
          <a:solidFill>
            <a:srgbClr val="F4F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dirty="0">
                <a:uFillTx/>
                <a:latin typeface="Figtree" pitchFamily="2" charset="0"/>
              </a:rPr>
              <a:t>Ramp-up in DC capacities driven by growth of Cloud</a:t>
            </a:r>
            <a:endParaRPr lang="en-GB" sz="2400" b="0" i="0" u="none" strike="noStrike" kern="1200" cap="none" spc="0" baseline="0" dirty="0">
              <a:uFillTx/>
              <a:latin typeface="Figtree" pitchFamily="2" charset="0"/>
            </a:endParaRPr>
          </a:p>
        </p:txBody>
      </p:sp>
      <p:sp>
        <p:nvSpPr>
          <p:cNvPr id="11" name="Rectangular Callout 10">
            <a:extLst>
              <a:ext uri="{FF2B5EF4-FFF2-40B4-BE49-F238E27FC236}">
                <a16:creationId xmlns:a16="http://schemas.microsoft.com/office/drawing/2014/main" id="{9EC5BFA2-B583-17CA-D2B8-A1A6FF026FF2}"/>
              </a:ext>
            </a:extLst>
          </p:cNvPr>
          <p:cNvSpPr/>
          <p:nvPr/>
        </p:nvSpPr>
        <p:spPr>
          <a:xfrm>
            <a:off x="13599458" y="5558118"/>
            <a:ext cx="4249271" cy="1237130"/>
          </a:xfrm>
          <a:prstGeom prst="wedgeRectCallout">
            <a:avLst>
              <a:gd name="adj1" fmla="val 44990"/>
              <a:gd name="adj2" fmla="val 86413"/>
            </a:avLst>
          </a:prstGeom>
          <a:solidFill>
            <a:srgbClr val="F4F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2400" b="0" i="0" u="none" strike="noStrike" kern="1200" cap="none" spc="0" baseline="0" dirty="0">
                <a:uFillTx/>
                <a:latin typeface="Figtree" pitchFamily="2" charset="0"/>
              </a:rPr>
              <a:t>AI workloads demand ramps up building capacities</a:t>
            </a:r>
            <a:endParaRPr lang="en-GB" sz="2400" b="0" i="0" u="none" strike="noStrike" kern="1200" cap="none" spc="0" baseline="0" dirty="0">
              <a:uFillTx/>
              <a:latin typeface="Figtree" pitchFamily="2" charset="0"/>
            </a:endParaRPr>
          </a:p>
        </p:txBody>
      </p:sp>
    </p:spTree>
    <p:extLst>
      <p:ext uri="{BB962C8B-B14F-4D97-AF65-F5344CB8AC3E}">
        <p14:creationId xmlns:p14="http://schemas.microsoft.com/office/powerpoint/2010/main" val="69130467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building with trees in the background&#10;&#10;Description automatically generated">
            <a:extLst>
              <a:ext uri="{FF2B5EF4-FFF2-40B4-BE49-F238E27FC236}">
                <a16:creationId xmlns:a16="http://schemas.microsoft.com/office/drawing/2014/main" id="{0A2392A2-A905-7F29-398B-267E79F7A83F}"/>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a:stretch/>
        </p:blipFill>
        <p:spPr>
          <a:xfrm>
            <a:off x="0" y="9097108"/>
            <a:ext cx="24423077" cy="4618892"/>
          </a:xfrm>
          <a:prstGeom prst="rect">
            <a:avLst/>
          </a:prstGeom>
          <a:solidFill>
            <a:srgbClr val="FFFFFF">
              <a:shade val="85000"/>
            </a:srgbClr>
          </a:solidFill>
          <a:ln w="88900" cap="sq">
            <a:no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84" name="Freeform: Shape 83">
            <a:extLst>
              <a:ext uri="{FF2B5EF4-FFF2-40B4-BE49-F238E27FC236}">
                <a16:creationId xmlns:a16="http://schemas.microsoft.com/office/drawing/2014/main" id="{492EFD2B-A4A8-518D-62CB-F6ACC81577D1}"/>
              </a:ext>
            </a:extLst>
          </p:cNvPr>
          <p:cNvSpPr/>
          <p:nvPr/>
        </p:nvSpPr>
        <p:spPr>
          <a:xfrm>
            <a:off x="32994713" y="4982887"/>
            <a:ext cx="1508968" cy="1661910"/>
          </a:xfrm>
          <a:custGeom>
            <a:avLst/>
            <a:gdLst>
              <a:gd name="connsiteX0" fmla="*/ 617220 w 754484"/>
              <a:gd name="connsiteY0" fmla="*/ 297 h 830955"/>
              <a:gd name="connsiteX1" fmla="*/ 533400 w 754484"/>
              <a:gd name="connsiteY1" fmla="*/ 53637 h 830955"/>
              <a:gd name="connsiteX2" fmla="*/ 464820 w 754484"/>
              <a:gd name="connsiteY2" fmla="*/ 84117 h 830955"/>
              <a:gd name="connsiteX3" fmla="*/ 396240 w 754484"/>
              <a:gd name="connsiteY3" fmla="*/ 137457 h 830955"/>
              <a:gd name="connsiteX4" fmla="*/ 342900 w 754484"/>
              <a:gd name="connsiteY4" fmla="*/ 167937 h 830955"/>
              <a:gd name="connsiteX5" fmla="*/ 304800 w 754484"/>
              <a:gd name="connsiteY5" fmla="*/ 175557 h 830955"/>
              <a:gd name="connsiteX6" fmla="*/ 259080 w 754484"/>
              <a:gd name="connsiteY6" fmla="*/ 198417 h 830955"/>
              <a:gd name="connsiteX7" fmla="*/ 220980 w 754484"/>
              <a:gd name="connsiteY7" fmla="*/ 221277 h 830955"/>
              <a:gd name="connsiteX8" fmla="*/ 190500 w 754484"/>
              <a:gd name="connsiteY8" fmla="*/ 228897 h 830955"/>
              <a:gd name="connsiteX9" fmla="*/ 167640 w 754484"/>
              <a:gd name="connsiteY9" fmla="*/ 236517 h 830955"/>
              <a:gd name="connsiteX10" fmla="*/ 99060 w 754484"/>
              <a:gd name="connsiteY10" fmla="*/ 259377 h 830955"/>
              <a:gd name="connsiteX11" fmla="*/ 53340 w 754484"/>
              <a:gd name="connsiteY11" fmla="*/ 289857 h 830955"/>
              <a:gd name="connsiteX12" fmla="*/ 7620 w 754484"/>
              <a:gd name="connsiteY12" fmla="*/ 335577 h 830955"/>
              <a:gd name="connsiteX13" fmla="*/ 0 w 754484"/>
              <a:gd name="connsiteY13" fmla="*/ 366057 h 830955"/>
              <a:gd name="connsiteX14" fmla="*/ 7620 w 754484"/>
              <a:gd name="connsiteY14" fmla="*/ 449877 h 830955"/>
              <a:gd name="connsiteX15" fmla="*/ 30480 w 754484"/>
              <a:gd name="connsiteY15" fmla="*/ 510837 h 830955"/>
              <a:gd name="connsiteX16" fmla="*/ 38100 w 754484"/>
              <a:gd name="connsiteY16" fmla="*/ 564177 h 830955"/>
              <a:gd name="connsiteX17" fmla="*/ 45720 w 754484"/>
              <a:gd name="connsiteY17" fmla="*/ 594657 h 830955"/>
              <a:gd name="connsiteX18" fmla="*/ 60960 w 754484"/>
              <a:gd name="connsiteY18" fmla="*/ 785157 h 830955"/>
              <a:gd name="connsiteX19" fmla="*/ 83820 w 754484"/>
              <a:gd name="connsiteY19" fmla="*/ 808017 h 830955"/>
              <a:gd name="connsiteX20" fmla="*/ 388620 w 754484"/>
              <a:gd name="connsiteY20" fmla="*/ 815637 h 830955"/>
              <a:gd name="connsiteX21" fmla="*/ 563880 w 754484"/>
              <a:gd name="connsiteY21" fmla="*/ 808017 h 830955"/>
              <a:gd name="connsiteX22" fmla="*/ 571500 w 754484"/>
              <a:gd name="connsiteY22" fmla="*/ 785157 h 830955"/>
              <a:gd name="connsiteX23" fmla="*/ 579120 w 754484"/>
              <a:gd name="connsiteY23" fmla="*/ 754677 h 830955"/>
              <a:gd name="connsiteX24" fmla="*/ 601980 w 754484"/>
              <a:gd name="connsiteY24" fmla="*/ 716577 h 830955"/>
              <a:gd name="connsiteX25" fmla="*/ 609600 w 754484"/>
              <a:gd name="connsiteY25" fmla="*/ 693717 h 830955"/>
              <a:gd name="connsiteX26" fmla="*/ 647700 w 754484"/>
              <a:gd name="connsiteY26" fmla="*/ 617517 h 830955"/>
              <a:gd name="connsiteX27" fmla="*/ 662940 w 754484"/>
              <a:gd name="connsiteY27" fmla="*/ 579417 h 830955"/>
              <a:gd name="connsiteX28" fmla="*/ 678180 w 754484"/>
              <a:gd name="connsiteY28" fmla="*/ 556557 h 830955"/>
              <a:gd name="connsiteX29" fmla="*/ 701040 w 754484"/>
              <a:gd name="connsiteY29" fmla="*/ 518457 h 830955"/>
              <a:gd name="connsiteX30" fmla="*/ 708660 w 754484"/>
              <a:gd name="connsiteY30" fmla="*/ 495597 h 830955"/>
              <a:gd name="connsiteX31" fmla="*/ 739140 w 754484"/>
              <a:gd name="connsiteY31" fmla="*/ 465117 h 830955"/>
              <a:gd name="connsiteX32" fmla="*/ 746760 w 754484"/>
              <a:gd name="connsiteY32" fmla="*/ 434637 h 830955"/>
              <a:gd name="connsiteX33" fmla="*/ 754380 w 754484"/>
              <a:gd name="connsiteY33" fmla="*/ 411777 h 830955"/>
              <a:gd name="connsiteX34" fmla="*/ 739140 w 754484"/>
              <a:gd name="connsiteY34" fmla="*/ 373677 h 830955"/>
              <a:gd name="connsiteX35" fmla="*/ 731520 w 754484"/>
              <a:gd name="connsiteY35" fmla="*/ 350817 h 830955"/>
              <a:gd name="connsiteX36" fmla="*/ 701040 w 754484"/>
              <a:gd name="connsiteY36" fmla="*/ 289857 h 830955"/>
              <a:gd name="connsiteX37" fmla="*/ 678180 w 754484"/>
              <a:gd name="connsiteY37" fmla="*/ 213657 h 830955"/>
              <a:gd name="connsiteX38" fmla="*/ 670560 w 754484"/>
              <a:gd name="connsiteY38" fmla="*/ 190797 h 830955"/>
              <a:gd name="connsiteX39" fmla="*/ 662940 w 754484"/>
              <a:gd name="connsiteY39" fmla="*/ 152697 h 830955"/>
              <a:gd name="connsiteX40" fmla="*/ 655320 w 754484"/>
              <a:gd name="connsiteY40" fmla="*/ 129837 h 830955"/>
              <a:gd name="connsiteX41" fmla="*/ 647700 w 754484"/>
              <a:gd name="connsiteY41" fmla="*/ 91737 h 830955"/>
              <a:gd name="connsiteX42" fmla="*/ 640080 w 754484"/>
              <a:gd name="connsiteY42" fmla="*/ 61257 h 830955"/>
              <a:gd name="connsiteX43" fmla="*/ 617220 w 754484"/>
              <a:gd name="connsiteY43" fmla="*/ 297 h 8309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754484" h="830955">
                <a:moveTo>
                  <a:pt x="617220" y="297"/>
                </a:moveTo>
                <a:cubicBezTo>
                  <a:pt x="599440" y="-973"/>
                  <a:pt x="623800" y="-603"/>
                  <a:pt x="533400" y="53637"/>
                </a:cubicBezTo>
                <a:cubicBezTo>
                  <a:pt x="477243" y="87331"/>
                  <a:pt x="530992" y="70883"/>
                  <a:pt x="464820" y="84117"/>
                </a:cubicBezTo>
                <a:cubicBezTo>
                  <a:pt x="420606" y="128331"/>
                  <a:pt x="450022" y="103843"/>
                  <a:pt x="396240" y="137457"/>
                </a:cubicBezTo>
                <a:cubicBezTo>
                  <a:pt x="377128" y="149402"/>
                  <a:pt x="365199" y="160504"/>
                  <a:pt x="342900" y="167937"/>
                </a:cubicBezTo>
                <a:cubicBezTo>
                  <a:pt x="330613" y="172033"/>
                  <a:pt x="317500" y="173017"/>
                  <a:pt x="304800" y="175557"/>
                </a:cubicBezTo>
                <a:cubicBezTo>
                  <a:pt x="239286" y="219233"/>
                  <a:pt x="322176" y="166869"/>
                  <a:pt x="259080" y="198417"/>
                </a:cubicBezTo>
                <a:cubicBezTo>
                  <a:pt x="245833" y="205041"/>
                  <a:pt x="234514" y="215262"/>
                  <a:pt x="220980" y="221277"/>
                </a:cubicBezTo>
                <a:cubicBezTo>
                  <a:pt x="211410" y="225530"/>
                  <a:pt x="200570" y="226020"/>
                  <a:pt x="190500" y="228897"/>
                </a:cubicBezTo>
                <a:cubicBezTo>
                  <a:pt x="182777" y="231104"/>
                  <a:pt x="175023" y="233353"/>
                  <a:pt x="167640" y="236517"/>
                </a:cubicBezTo>
                <a:cubicBezTo>
                  <a:pt x="112431" y="260178"/>
                  <a:pt x="163286" y="246532"/>
                  <a:pt x="99060" y="259377"/>
                </a:cubicBezTo>
                <a:cubicBezTo>
                  <a:pt x="83820" y="269537"/>
                  <a:pt x="63500" y="274617"/>
                  <a:pt x="53340" y="289857"/>
                </a:cubicBezTo>
                <a:cubicBezTo>
                  <a:pt x="31055" y="323284"/>
                  <a:pt x="45426" y="307222"/>
                  <a:pt x="7620" y="335577"/>
                </a:cubicBezTo>
                <a:cubicBezTo>
                  <a:pt x="5080" y="345737"/>
                  <a:pt x="0" y="355584"/>
                  <a:pt x="0" y="366057"/>
                </a:cubicBezTo>
                <a:cubicBezTo>
                  <a:pt x="0" y="394112"/>
                  <a:pt x="3652" y="422104"/>
                  <a:pt x="7620" y="449877"/>
                </a:cubicBezTo>
                <a:cubicBezTo>
                  <a:pt x="8947" y="459168"/>
                  <a:pt x="30339" y="510485"/>
                  <a:pt x="30480" y="510837"/>
                </a:cubicBezTo>
                <a:cubicBezTo>
                  <a:pt x="33020" y="528617"/>
                  <a:pt x="34887" y="546506"/>
                  <a:pt x="38100" y="564177"/>
                </a:cubicBezTo>
                <a:cubicBezTo>
                  <a:pt x="39973" y="574481"/>
                  <a:pt x="44642" y="584240"/>
                  <a:pt x="45720" y="594657"/>
                </a:cubicBezTo>
                <a:cubicBezTo>
                  <a:pt x="52275" y="658022"/>
                  <a:pt x="49762" y="722446"/>
                  <a:pt x="60960" y="785157"/>
                </a:cubicBezTo>
                <a:cubicBezTo>
                  <a:pt x="62854" y="795765"/>
                  <a:pt x="73090" y="807019"/>
                  <a:pt x="83820" y="808017"/>
                </a:cubicBezTo>
                <a:cubicBezTo>
                  <a:pt x="185015" y="817430"/>
                  <a:pt x="287020" y="813097"/>
                  <a:pt x="388620" y="815637"/>
                </a:cubicBezTo>
                <a:cubicBezTo>
                  <a:pt x="453815" y="837369"/>
                  <a:pt x="442249" y="836977"/>
                  <a:pt x="563880" y="808017"/>
                </a:cubicBezTo>
                <a:cubicBezTo>
                  <a:pt x="571694" y="806157"/>
                  <a:pt x="569293" y="792880"/>
                  <a:pt x="571500" y="785157"/>
                </a:cubicBezTo>
                <a:cubicBezTo>
                  <a:pt x="574377" y="775087"/>
                  <a:pt x="574867" y="764247"/>
                  <a:pt x="579120" y="754677"/>
                </a:cubicBezTo>
                <a:cubicBezTo>
                  <a:pt x="585135" y="741143"/>
                  <a:pt x="595356" y="729824"/>
                  <a:pt x="601980" y="716577"/>
                </a:cubicBezTo>
                <a:cubicBezTo>
                  <a:pt x="605572" y="709393"/>
                  <a:pt x="606234" y="701010"/>
                  <a:pt x="609600" y="693717"/>
                </a:cubicBezTo>
                <a:cubicBezTo>
                  <a:pt x="621500" y="667933"/>
                  <a:pt x="637153" y="643884"/>
                  <a:pt x="647700" y="617517"/>
                </a:cubicBezTo>
                <a:cubicBezTo>
                  <a:pt x="652780" y="604817"/>
                  <a:pt x="656823" y="591651"/>
                  <a:pt x="662940" y="579417"/>
                </a:cubicBezTo>
                <a:cubicBezTo>
                  <a:pt x="667036" y="571226"/>
                  <a:pt x="673326" y="564323"/>
                  <a:pt x="678180" y="556557"/>
                </a:cubicBezTo>
                <a:cubicBezTo>
                  <a:pt x="686030" y="543998"/>
                  <a:pt x="694416" y="531704"/>
                  <a:pt x="701040" y="518457"/>
                </a:cubicBezTo>
                <a:cubicBezTo>
                  <a:pt x="704632" y="511273"/>
                  <a:pt x="703991" y="502133"/>
                  <a:pt x="708660" y="495597"/>
                </a:cubicBezTo>
                <a:cubicBezTo>
                  <a:pt x="717011" y="483905"/>
                  <a:pt x="728980" y="475277"/>
                  <a:pt x="739140" y="465117"/>
                </a:cubicBezTo>
                <a:cubicBezTo>
                  <a:pt x="741680" y="454957"/>
                  <a:pt x="743883" y="444707"/>
                  <a:pt x="746760" y="434637"/>
                </a:cubicBezTo>
                <a:cubicBezTo>
                  <a:pt x="748967" y="426914"/>
                  <a:pt x="755376" y="419747"/>
                  <a:pt x="754380" y="411777"/>
                </a:cubicBezTo>
                <a:cubicBezTo>
                  <a:pt x="752683" y="398204"/>
                  <a:pt x="743943" y="386484"/>
                  <a:pt x="739140" y="373677"/>
                </a:cubicBezTo>
                <a:cubicBezTo>
                  <a:pt x="736320" y="366156"/>
                  <a:pt x="734844" y="358129"/>
                  <a:pt x="731520" y="350817"/>
                </a:cubicBezTo>
                <a:cubicBezTo>
                  <a:pt x="722119" y="330135"/>
                  <a:pt x="706550" y="311897"/>
                  <a:pt x="701040" y="289857"/>
                </a:cubicBezTo>
                <a:cubicBezTo>
                  <a:pt x="689524" y="243792"/>
                  <a:pt x="696732" y="269312"/>
                  <a:pt x="678180" y="213657"/>
                </a:cubicBezTo>
                <a:cubicBezTo>
                  <a:pt x="675640" y="206037"/>
                  <a:pt x="672135" y="198673"/>
                  <a:pt x="670560" y="190797"/>
                </a:cubicBezTo>
                <a:cubicBezTo>
                  <a:pt x="668020" y="178097"/>
                  <a:pt x="666081" y="165262"/>
                  <a:pt x="662940" y="152697"/>
                </a:cubicBezTo>
                <a:cubicBezTo>
                  <a:pt x="660992" y="144905"/>
                  <a:pt x="657268" y="137629"/>
                  <a:pt x="655320" y="129837"/>
                </a:cubicBezTo>
                <a:cubicBezTo>
                  <a:pt x="652179" y="117272"/>
                  <a:pt x="650510" y="104380"/>
                  <a:pt x="647700" y="91737"/>
                </a:cubicBezTo>
                <a:cubicBezTo>
                  <a:pt x="645428" y="81514"/>
                  <a:pt x="644205" y="70883"/>
                  <a:pt x="640080" y="61257"/>
                </a:cubicBezTo>
                <a:cubicBezTo>
                  <a:pt x="636472" y="52839"/>
                  <a:pt x="635000" y="1567"/>
                  <a:pt x="617220" y="297"/>
                </a:cubicBezTo>
                <a:close/>
              </a:path>
            </a:pathLst>
          </a:custGeom>
          <a:solidFill>
            <a:schemeClr val="accent6">
              <a:lumMod val="20000"/>
              <a:lumOff val="80000"/>
            </a:schemeClr>
          </a:solidFill>
          <a:ln>
            <a:noFill/>
            <a:extLst>
              <a:ext uri="{C807C97D-BFC1-408E-A445-0C87EB9F89A2}">
                <ask:lineSketchStyleProps xmlns:ask="http://schemas.microsoft.com/office/drawing/2018/sketchyshapes" sd="219197089">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gn="ctr"/>
            <a:endParaRPr lang="en-GB" sz="8182"/>
          </a:p>
        </p:txBody>
      </p:sp>
      <p:sp>
        <p:nvSpPr>
          <p:cNvPr id="85" name="Freeform: Shape 84">
            <a:extLst>
              <a:ext uri="{FF2B5EF4-FFF2-40B4-BE49-F238E27FC236}">
                <a16:creationId xmlns:a16="http://schemas.microsoft.com/office/drawing/2014/main" id="{1184E8C6-B6C9-02FE-030B-A10F496F6D0E}"/>
              </a:ext>
            </a:extLst>
          </p:cNvPr>
          <p:cNvSpPr/>
          <p:nvPr/>
        </p:nvSpPr>
        <p:spPr>
          <a:xfrm>
            <a:off x="34366313" y="6766560"/>
            <a:ext cx="2758440" cy="3293700"/>
          </a:xfrm>
          <a:custGeom>
            <a:avLst/>
            <a:gdLst>
              <a:gd name="connsiteX0" fmla="*/ 434340 w 1379220"/>
              <a:gd name="connsiteY0" fmla="*/ 175260 h 1646850"/>
              <a:gd name="connsiteX1" fmla="*/ 441960 w 1379220"/>
              <a:gd name="connsiteY1" fmla="*/ 289560 h 1646850"/>
              <a:gd name="connsiteX2" fmla="*/ 457200 w 1379220"/>
              <a:gd name="connsiteY2" fmla="*/ 342900 h 1646850"/>
              <a:gd name="connsiteX3" fmla="*/ 434340 w 1379220"/>
              <a:gd name="connsiteY3" fmla="*/ 373380 h 1646850"/>
              <a:gd name="connsiteX4" fmla="*/ 274320 w 1379220"/>
              <a:gd name="connsiteY4" fmla="*/ 388620 h 1646850"/>
              <a:gd name="connsiteX5" fmla="*/ 259080 w 1379220"/>
              <a:gd name="connsiteY5" fmla="*/ 434340 h 1646850"/>
              <a:gd name="connsiteX6" fmla="*/ 251460 w 1379220"/>
              <a:gd name="connsiteY6" fmla="*/ 464820 h 1646850"/>
              <a:gd name="connsiteX7" fmla="*/ 220980 w 1379220"/>
              <a:gd name="connsiteY7" fmla="*/ 480060 h 1646850"/>
              <a:gd name="connsiteX8" fmla="*/ 182880 w 1379220"/>
              <a:gd name="connsiteY8" fmla="*/ 487680 h 1646850"/>
              <a:gd name="connsiteX9" fmla="*/ 160020 w 1379220"/>
              <a:gd name="connsiteY9" fmla="*/ 495300 h 1646850"/>
              <a:gd name="connsiteX10" fmla="*/ 129540 w 1379220"/>
              <a:gd name="connsiteY10" fmla="*/ 502920 h 1646850"/>
              <a:gd name="connsiteX11" fmla="*/ 68580 w 1379220"/>
              <a:gd name="connsiteY11" fmla="*/ 533400 h 1646850"/>
              <a:gd name="connsiteX12" fmla="*/ 0 w 1379220"/>
              <a:gd name="connsiteY12" fmla="*/ 586740 h 1646850"/>
              <a:gd name="connsiteX13" fmla="*/ 22860 w 1379220"/>
              <a:gd name="connsiteY13" fmla="*/ 594360 h 1646850"/>
              <a:gd name="connsiteX14" fmla="*/ 91440 w 1379220"/>
              <a:gd name="connsiteY14" fmla="*/ 640080 h 1646850"/>
              <a:gd name="connsiteX15" fmla="*/ 129540 w 1379220"/>
              <a:gd name="connsiteY15" fmla="*/ 655320 h 1646850"/>
              <a:gd name="connsiteX16" fmla="*/ 167640 w 1379220"/>
              <a:gd name="connsiteY16" fmla="*/ 716280 h 1646850"/>
              <a:gd name="connsiteX17" fmla="*/ 175260 w 1379220"/>
              <a:gd name="connsiteY17" fmla="*/ 739140 h 1646850"/>
              <a:gd name="connsiteX18" fmla="*/ 198120 w 1379220"/>
              <a:gd name="connsiteY18" fmla="*/ 754380 h 1646850"/>
              <a:gd name="connsiteX19" fmla="*/ 228600 w 1379220"/>
              <a:gd name="connsiteY19" fmla="*/ 800100 h 1646850"/>
              <a:gd name="connsiteX20" fmla="*/ 236220 w 1379220"/>
              <a:gd name="connsiteY20" fmla="*/ 822960 h 1646850"/>
              <a:gd name="connsiteX21" fmla="*/ 281940 w 1379220"/>
              <a:gd name="connsiteY21" fmla="*/ 883920 h 1646850"/>
              <a:gd name="connsiteX22" fmla="*/ 312420 w 1379220"/>
              <a:gd name="connsiteY22" fmla="*/ 929640 h 1646850"/>
              <a:gd name="connsiteX23" fmla="*/ 358140 w 1379220"/>
              <a:gd name="connsiteY23" fmla="*/ 998220 h 1646850"/>
              <a:gd name="connsiteX24" fmla="*/ 373380 w 1379220"/>
              <a:gd name="connsiteY24" fmla="*/ 1021080 h 1646850"/>
              <a:gd name="connsiteX25" fmla="*/ 396240 w 1379220"/>
              <a:gd name="connsiteY25" fmla="*/ 1089660 h 1646850"/>
              <a:gd name="connsiteX26" fmla="*/ 426720 w 1379220"/>
              <a:gd name="connsiteY26" fmla="*/ 1127760 h 1646850"/>
              <a:gd name="connsiteX27" fmla="*/ 449580 w 1379220"/>
              <a:gd name="connsiteY27" fmla="*/ 1150620 h 1646850"/>
              <a:gd name="connsiteX28" fmla="*/ 487680 w 1379220"/>
              <a:gd name="connsiteY28" fmla="*/ 1219200 h 1646850"/>
              <a:gd name="connsiteX29" fmla="*/ 510540 w 1379220"/>
              <a:gd name="connsiteY29" fmla="*/ 1234440 h 1646850"/>
              <a:gd name="connsiteX30" fmla="*/ 533400 w 1379220"/>
              <a:gd name="connsiteY30" fmla="*/ 1264920 h 1646850"/>
              <a:gd name="connsiteX31" fmla="*/ 556260 w 1379220"/>
              <a:gd name="connsiteY31" fmla="*/ 1287780 h 1646850"/>
              <a:gd name="connsiteX32" fmla="*/ 609600 w 1379220"/>
              <a:gd name="connsiteY32" fmla="*/ 1341120 h 1646850"/>
              <a:gd name="connsiteX33" fmla="*/ 624840 w 1379220"/>
              <a:gd name="connsiteY33" fmla="*/ 1363980 h 1646850"/>
              <a:gd name="connsiteX34" fmla="*/ 685800 w 1379220"/>
              <a:gd name="connsiteY34" fmla="*/ 1424940 h 1646850"/>
              <a:gd name="connsiteX35" fmla="*/ 723900 w 1379220"/>
              <a:gd name="connsiteY35" fmla="*/ 1455420 h 1646850"/>
              <a:gd name="connsiteX36" fmla="*/ 739140 w 1379220"/>
              <a:gd name="connsiteY36" fmla="*/ 1478280 h 1646850"/>
              <a:gd name="connsiteX37" fmla="*/ 762000 w 1379220"/>
              <a:gd name="connsiteY37" fmla="*/ 1485900 h 1646850"/>
              <a:gd name="connsiteX38" fmla="*/ 792480 w 1379220"/>
              <a:gd name="connsiteY38" fmla="*/ 1508760 h 1646850"/>
              <a:gd name="connsiteX39" fmla="*/ 830580 w 1379220"/>
              <a:gd name="connsiteY39" fmla="*/ 1531620 h 1646850"/>
              <a:gd name="connsiteX40" fmla="*/ 883920 w 1379220"/>
              <a:gd name="connsiteY40" fmla="*/ 1562100 h 1646850"/>
              <a:gd name="connsiteX41" fmla="*/ 906780 w 1379220"/>
              <a:gd name="connsiteY41" fmla="*/ 1569720 h 1646850"/>
              <a:gd name="connsiteX42" fmla="*/ 975360 w 1379220"/>
              <a:gd name="connsiteY42" fmla="*/ 1600200 h 1646850"/>
              <a:gd name="connsiteX43" fmla="*/ 1059180 w 1379220"/>
              <a:gd name="connsiteY43" fmla="*/ 1607820 h 1646850"/>
              <a:gd name="connsiteX44" fmla="*/ 1082040 w 1379220"/>
              <a:gd name="connsiteY44" fmla="*/ 1623060 h 1646850"/>
              <a:gd name="connsiteX45" fmla="*/ 1112520 w 1379220"/>
              <a:gd name="connsiteY45" fmla="*/ 1645920 h 1646850"/>
              <a:gd name="connsiteX46" fmla="*/ 1203960 w 1379220"/>
              <a:gd name="connsiteY46" fmla="*/ 1638300 h 1646850"/>
              <a:gd name="connsiteX47" fmla="*/ 1219200 w 1379220"/>
              <a:gd name="connsiteY47" fmla="*/ 1607820 h 1646850"/>
              <a:gd name="connsiteX48" fmla="*/ 1143000 w 1379220"/>
              <a:gd name="connsiteY48" fmla="*/ 1531620 h 1646850"/>
              <a:gd name="connsiteX49" fmla="*/ 1082040 w 1379220"/>
              <a:gd name="connsiteY49" fmla="*/ 1463040 h 1646850"/>
              <a:gd name="connsiteX50" fmla="*/ 1051560 w 1379220"/>
              <a:gd name="connsiteY50" fmla="*/ 1424940 h 1646850"/>
              <a:gd name="connsiteX51" fmla="*/ 1028700 w 1379220"/>
              <a:gd name="connsiteY51" fmla="*/ 1402080 h 1646850"/>
              <a:gd name="connsiteX52" fmla="*/ 1013460 w 1379220"/>
              <a:gd name="connsiteY52" fmla="*/ 1379220 h 1646850"/>
              <a:gd name="connsiteX53" fmla="*/ 990600 w 1379220"/>
              <a:gd name="connsiteY53" fmla="*/ 1363980 h 1646850"/>
              <a:gd name="connsiteX54" fmla="*/ 929640 w 1379220"/>
              <a:gd name="connsiteY54" fmla="*/ 1325880 h 1646850"/>
              <a:gd name="connsiteX55" fmla="*/ 906780 w 1379220"/>
              <a:gd name="connsiteY55" fmla="*/ 1295400 h 1646850"/>
              <a:gd name="connsiteX56" fmla="*/ 868680 w 1379220"/>
              <a:gd name="connsiteY56" fmla="*/ 1264920 h 1646850"/>
              <a:gd name="connsiteX57" fmla="*/ 838200 w 1379220"/>
              <a:gd name="connsiteY57" fmla="*/ 1234440 h 1646850"/>
              <a:gd name="connsiteX58" fmla="*/ 800100 w 1379220"/>
              <a:gd name="connsiteY58" fmla="*/ 1173480 h 1646850"/>
              <a:gd name="connsiteX59" fmla="*/ 792480 w 1379220"/>
              <a:gd name="connsiteY59" fmla="*/ 1143000 h 1646850"/>
              <a:gd name="connsiteX60" fmla="*/ 769620 w 1379220"/>
              <a:gd name="connsiteY60" fmla="*/ 1112520 h 1646850"/>
              <a:gd name="connsiteX61" fmla="*/ 746760 w 1379220"/>
              <a:gd name="connsiteY61" fmla="*/ 1066800 h 1646850"/>
              <a:gd name="connsiteX62" fmla="*/ 739140 w 1379220"/>
              <a:gd name="connsiteY62" fmla="*/ 1028700 h 1646850"/>
              <a:gd name="connsiteX63" fmla="*/ 716280 w 1379220"/>
              <a:gd name="connsiteY63" fmla="*/ 967740 h 1646850"/>
              <a:gd name="connsiteX64" fmla="*/ 685800 w 1379220"/>
              <a:gd name="connsiteY64" fmla="*/ 906780 h 1646850"/>
              <a:gd name="connsiteX65" fmla="*/ 655320 w 1379220"/>
              <a:gd name="connsiteY65" fmla="*/ 861060 h 1646850"/>
              <a:gd name="connsiteX66" fmla="*/ 1013460 w 1379220"/>
              <a:gd name="connsiteY66" fmla="*/ 838200 h 1646850"/>
              <a:gd name="connsiteX67" fmla="*/ 1028700 w 1379220"/>
              <a:gd name="connsiteY67" fmla="*/ 807720 h 1646850"/>
              <a:gd name="connsiteX68" fmla="*/ 1089660 w 1379220"/>
              <a:gd name="connsiteY68" fmla="*/ 754380 h 1646850"/>
              <a:gd name="connsiteX69" fmla="*/ 1097280 w 1379220"/>
              <a:gd name="connsiteY69" fmla="*/ 731520 h 1646850"/>
              <a:gd name="connsiteX70" fmla="*/ 1127760 w 1379220"/>
              <a:gd name="connsiteY70" fmla="*/ 670560 h 1646850"/>
              <a:gd name="connsiteX71" fmla="*/ 1143000 w 1379220"/>
              <a:gd name="connsiteY71" fmla="*/ 609600 h 1646850"/>
              <a:gd name="connsiteX72" fmla="*/ 1188720 w 1379220"/>
              <a:gd name="connsiteY72" fmla="*/ 548640 h 1646850"/>
              <a:gd name="connsiteX73" fmla="*/ 1211580 w 1379220"/>
              <a:gd name="connsiteY73" fmla="*/ 518160 h 1646850"/>
              <a:gd name="connsiteX74" fmla="*/ 1242060 w 1379220"/>
              <a:gd name="connsiteY74" fmla="*/ 495300 h 1646850"/>
              <a:gd name="connsiteX75" fmla="*/ 1287780 w 1379220"/>
              <a:gd name="connsiteY75" fmla="*/ 426720 h 1646850"/>
              <a:gd name="connsiteX76" fmla="*/ 1318260 w 1379220"/>
              <a:gd name="connsiteY76" fmla="*/ 335280 h 1646850"/>
              <a:gd name="connsiteX77" fmla="*/ 1333500 w 1379220"/>
              <a:gd name="connsiteY77" fmla="*/ 274320 h 1646850"/>
              <a:gd name="connsiteX78" fmla="*/ 1379220 w 1379220"/>
              <a:gd name="connsiteY78" fmla="*/ 205740 h 1646850"/>
              <a:gd name="connsiteX79" fmla="*/ 1371600 w 1379220"/>
              <a:gd name="connsiteY79" fmla="*/ 68580 h 1646850"/>
              <a:gd name="connsiteX80" fmla="*/ 1333500 w 1379220"/>
              <a:gd name="connsiteY80" fmla="*/ 30480 h 1646850"/>
              <a:gd name="connsiteX81" fmla="*/ 1272540 w 1379220"/>
              <a:gd name="connsiteY81" fmla="*/ 0 h 1646850"/>
              <a:gd name="connsiteX82" fmla="*/ 1249680 w 1379220"/>
              <a:gd name="connsiteY82" fmla="*/ 7620 h 1646850"/>
              <a:gd name="connsiteX83" fmla="*/ 1226820 w 1379220"/>
              <a:gd name="connsiteY83" fmla="*/ 22860 h 1646850"/>
              <a:gd name="connsiteX84" fmla="*/ 1181100 w 1379220"/>
              <a:gd name="connsiteY84" fmla="*/ 30480 h 1646850"/>
              <a:gd name="connsiteX85" fmla="*/ 1158240 w 1379220"/>
              <a:gd name="connsiteY85" fmla="*/ 38100 h 1646850"/>
              <a:gd name="connsiteX86" fmla="*/ 1127760 w 1379220"/>
              <a:gd name="connsiteY86" fmla="*/ 45720 h 1646850"/>
              <a:gd name="connsiteX87" fmla="*/ 1059180 w 1379220"/>
              <a:gd name="connsiteY87" fmla="*/ 68580 h 1646850"/>
              <a:gd name="connsiteX88" fmla="*/ 838200 w 1379220"/>
              <a:gd name="connsiteY88" fmla="*/ 76200 h 1646850"/>
              <a:gd name="connsiteX89" fmla="*/ 777240 w 1379220"/>
              <a:gd name="connsiteY89" fmla="*/ 91440 h 1646850"/>
              <a:gd name="connsiteX90" fmla="*/ 731520 w 1379220"/>
              <a:gd name="connsiteY90" fmla="*/ 114300 h 1646850"/>
              <a:gd name="connsiteX91" fmla="*/ 617220 w 1379220"/>
              <a:gd name="connsiteY91" fmla="*/ 129540 h 1646850"/>
              <a:gd name="connsiteX92" fmla="*/ 586740 w 1379220"/>
              <a:gd name="connsiteY92" fmla="*/ 137160 h 1646850"/>
              <a:gd name="connsiteX93" fmla="*/ 518160 w 1379220"/>
              <a:gd name="connsiteY93" fmla="*/ 152400 h 1646850"/>
              <a:gd name="connsiteX94" fmla="*/ 434340 w 1379220"/>
              <a:gd name="connsiteY94" fmla="*/ 175260 h 164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379220" h="1646850">
                <a:moveTo>
                  <a:pt x="434340" y="175260"/>
                </a:moveTo>
                <a:cubicBezTo>
                  <a:pt x="421640" y="198120"/>
                  <a:pt x="436801" y="251726"/>
                  <a:pt x="441960" y="289560"/>
                </a:cubicBezTo>
                <a:cubicBezTo>
                  <a:pt x="444458" y="307882"/>
                  <a:pt x="458874" y="324484"/>
                  <a:pt x="457200" y="342900"/>
                </a:cubicBezTo>
                <a:cubicBezTo>
                  <a:pt x="456050" y="355548"/>
                  <a:pt x="446661" y="370300"/>
                  <a:pt x="434340" y="373380"/>
                </a:cubicBezTo>
                <a:cubicBezTo>
                  <a:pt x="382358" y="386375"/>
                  <a:pt x="327660" y="383540"/>
                  <a:pt x="274320" y="388620"/>
                </a:cubicBezTo>
                <a:cubicBezTo>
                  <a:pt x="269240" y="403860"/>
                  <a:pt x="263696" y="418953"/>
                  <a:pt x="259080" y="434340"/>
                </a:cubicBezTo>
                <a:cubicBezTo>
                  <a:pt x="256071" y="444371"/>
                  <a:pt x="258164" y="456775"/>
                  <a:pt x="251460" y="464820"/>
                </a:cubicBezTo>
                <a:cubicBezTo>
                  <a:pt x="244188" y="473546"/>
                  <a:pt x="231756" y="476468"/>
                  <a:pt x="220980" y="480060"/>
                </a:cubicBezTo>
                <a:cubicBezTo>
                  <a:pt x="208693" y="484156"/>
                  <a:pt x="195445" y="484539"/>
                  <a:pt x="182880" y="487680"/>
                </a:cubicBezTo>
                <a:cubicBezTo>
                  <a:pt x="175088" y="489628"/>
                  <a:pt x="167743" y="493093"/>
                  <a:pt x="160020" y="495300"/>
                </a:cubicBezTo>
                <a:cubicBezTo>
                  <a:pt x="149950" y="498177"/>
                  <a:pt x="139207" y="498892"/>
                  <a:pt x="129540" y="502920"/>
                </a:cubicBezTo>
                <a:cubicBezTo>
                  <a:pt x="108569" y="511658"/>
                  <a:pt x="86513" y="519452"/>
                  <a:pt x="68580" y="533400"/>
                </a:cubicBezTo>
                <a:lnTo>
                  <a:pt x="0" y="586740"/>
                </a:lnTo>
                <a:cubicBezTo>
                  <a:pt x="7620" y="589280"/>
                  <a:pt x="15922" y="590313"/>
                  <a:pt x="22860" y="594360"/>
                </a:cubicBezTo>
                <a:cubicBezTo>
                  <a:pt x="46592" y="608204"/>
                  <a:pt x="65931" y="629876"/>
                  <a:pt x="91440" y="640080"/>
                </a:cubicBezTo>
                <a:lnTo>
                  <a:pt x="129540" y="655320"/>
                </a:lnTo>
                <a:cubicBezTo>
                  <a:pt x="141629" y="673454"/>
                  <a:pt x="158449" y="697899"/>
                  <a:pt x="167640" y="716280"/>
                </a:cubicBezTo>
                <a:cubicBezTo>
                  <a:pt x="171232" y="723464"/>
                  <a:pt x="170242" y="732868"/>
                  <a:pt x="175260" y="739140"/>
                </a:cubicBezTo>
                <a:cubicBezTo>
                  <a:pt x="180981" y="746291"/>
                  <a:pt x="190500" y="749300"/>
                  <a:pt x="198120" y="754380"/>
                </a:cubicBezTo>
                <a:cubicBezTo>
                  <a:pt x="215620" y="824380"/>
                  <a:pt x="190329" y="752261"/>
                  <a:pt x="228600" y="800100"/>
                </a:cubicBezTo>
                <a:cubicBezTo>
                  <a:pt x="233618" y="806372"/>
                  <a:pt x="231908" y="816184"/>
                  <a:pt x="236220" y="822960"/>
                </a:cubicBezTo>
                <a:cubicBezTo>
                  <a:pt x="249857" y="844389"/>
                  <a:pt x="267851" y="862786"/>
                  <a:pt x="281940" y="883920"/>
                </a:cubicBezTo>
                <a:lnTo>
                  <a:pt x="312420" y="929640"/>
                </a:lnTo>
                <a:lnTo>
                  <a:pt x="358140" y="998220"/>
                </a:lnTo>
                <a:cubicBezTo>
                  <a:pt x="363220" y="1005840"/>
                  <a:pt x="370484" y="1012392"/>
                  <a:pt x="373380" y="1021080"/>
                </a:cubicBezTo>
                <a:cubicBezTo>
                  <a:pt x="381000" y="1043940"/>
                  <a:pt x="381187" y="1070844"/>
                  <a:pt x="396240" y="1089660"/>
                </a:cubicBezTo>
                <a:cubicBezTo>
                  <a:pt x="406400" y="1102360"/>
                  <a:pt x="416010" y="1115520"/>
                  <a:pt x="426720" y="1127760"/>
                </a:cubicBezTo>
                <a:cubicBezTo>
                  <a:pt x="433816" y="1135870"/>
                  <a:pt x="443316" y="1141851"/>
                  <a:pt x="449580" y="1150620"/>
                </a:cubicBezTo>
                <a:cubicBezTo>
                  <a:pt x="480489" y="1193892"/>
                  <a:pt x="447182" y="1171953"/>
                  <a:pt x="487680" y="1219200"/>
                </a:cubicBezTo>
                <a:cubicBezTo>
                  <a:pt x="493640" y="1226153"/>
                  <a:pt x="504064" y="1227964"/>
                  <a:pt x="510540" y="1234440"/>
                </a:cubicBezTo>
                <a:cubicBezTo>
                  <a:pt x="519520" y="1243420"/>
                  <a:pt x="525135" y="1255277"/>
                  <a:pt x="533400" y="1264920"/>
                </a:cubicBezTo>
                <a:cubicBezTo>
                  <a:pt x="540413" y="1273102"/>
                  <a:pt x="549164" y="1279670"/>
                  <a:pt x="556260" y="1287780"/>
                </a:cubicBezTo>
                <a:cubicBezTo>
                  <a:pt x="600606" y="1338461"/>
                  <a:pt x="568621" y="1313801"/>
                  <a:pt x="609600" y="1341120"/>
                </a:cubicBezTo>
                <a:cubicBezTo>
                  <a:pt x="614680" y="1348740"/>
                  <a:pt x="618680" y="1357204"/>
                  <a:pt x="624840" y="1363980"/>
                </a:cubicBezTo>
                <a:cubicBezTo>
                  <a:pt x="644170" y="1385244"/>
                  <a:pt x="669860" y="1401030"/>
                  <a:pt x="685800" y="1424940"/>
                </a:cubicBezTo>
                <a:cubicBezTo>
                  <a:pt x="705495" y="1454483"/>
                  <a:pt x="692352" y="1444904"/>
                  <a:pt x="723900" y="1455420"/>
                </a:cubicBezTo>
                <a:cubicBezTo>
                  <a:pt x="728980" y="1463040"/>
                  <a:pt x="731989" y="1472559"/>
                  <a:pt x="739140" y="1478280"/>
                </a:cubicBezTo>
                <a:cubicBezTo>
                  <a:pt x="745412" y="1483298"/>
                  <a:pt x="755026" y="1481915"/>
                  <a:pt x="762000" y="1485900"/>
                </a:cubicBezTo>
                <a:cubicBezTo>
                  <a:pt x="773027" y="1492201"/>
                  <a:pt x="781913" y="1501715"/>
                  <a:pt x="792480" y="1508760"/>
                </a:cubicBezTo>
                <a:cubicBezTo>
                  <a:pt x="804803" y="1516975"/>
                  <a:pt x="818021" y="1523770"/>
                  <a:pt x="830580" y="1531620"/>
                </a:cubicBezTo>
                <a:cubicBezTo>
                  <a:pt x="858408" y="1549013"/>
                  <a:pt x="850810" y="1547910"/>
                  <a:pt x="883920" y="1562100"/>
                </a:cubicBezTo>
                <a:cubicBezTo>
                  <a:pt x="891303" y="1565264"/>
                  <a:pt x="899397" y="1566556"/>
                  <a:pt x="906780" y="1569720"/>
                </a:cubicBezTo>
                <a:cubicBezTo>
                  <a:pt x="926539" y="1578188"/>
                  <a:pt x="954355" y="1596261"/>
                  <a:pt x="975360" y="1600200"/>
                </a:cubicBezTo>
                <a:cubicBezTo>
                  <a:pt x="1002935" y="1605370"/>
                  <a:pt x="1031240" y="1605280"/>
                  <a:pt x="1059180" y="1607820"/>
                </a:cubicBezTo>
                <a:cubicBezTo>
                  <a:pt x="1066800" y="1612900"/>
                  <a:pt x="1074588" y="1617737"/>
                  <a:pt x="1082040" y="1623060"/>
                </a:cubicBezTo>
                <a:cubicBezTo>
                  <a:pt x="1092374" y="1630442"/>
                  <a:pt x="1099918" y="1644345"/>
                  <a:pt x="1112520" y="1645920"/>
                </a:cubicBezTo>
                <a:cubicBezTo>
                  <a:pt x="1142869" y="1649714"/>
                  <a:pt x="1173480" y="1640840"/>
                  <a:pt x="1203960" y="1638300"/>
                </a:cubicBezTo>
                <a:cubicBezTo>
                  <a:pt x="1209040" y="1628140"/>
                  <a:pt x="1223900" y="1618161"/>
                  <a:pt x="1219200" y="1607820"/>
                </a:cubicBezTo>
                <a:cubicBezTo>
                  <a:pt x="1195010" y="1554601"/>
                  <a:pt x="1167882" y="1568942"/>
                  <a:pt x="1143000" y="1531620"/>
                </a:cubicBezTo>
                <a:cubicBezTo>
                  <a:pt x="1072929" y="1426514"/>
                  <a:pt x="1149739" y="1530739"/>
                  <a:pt x="1082040" y="1463040"/>
                </a:cubicBezTo>
                <a:cubicBezTo>
                  <a:pt x="1070540" y="1451540"/>
                  <a:pt x="1062270" y="1437180"/>
                  <a:pt x="1051560" y="1424940"/>
                </a:cubicBezTo>
                <a:cubicBezTo>
                  <a:pt x="1044464" y="1416830"/>
                  <a:pt x="1035599" y="1410359"/>
                  <a:pt x="1028700" y="1402080"/>
                </a:cubicBezTo>
                <a:cubicBezTo>
                  <a:pt x="1022837" y="1395045"/>
                  <a:pt x="1019936" y="1385696"/>
                  <a:pt x="1013460" y="1379220"/>
                </a:cubicBezTo>
                <a:cubicBezTo>
                  <a:pt x="1006984" y="1372744"/>
                  <a:pt x="998052" y="1369303"/>
                  <a:pt x="990600" y="1363980"/>
                </a:cubicBezTo>
                <a:cubicBezTo>
                  <a:pt x="944438" y="1331007"/>
                  <a:pt x="977378" y="1349749"/>
                  <a:pt x="929640" y="1325880"/>
                </a:cubicBezTo>
                <a:cubicBezTo>
                  <a:pt x="922020" y="1315720"/>
                  <a:pt x="915760" y="1304380"/>
                  <a:pt x="906780" y="1295400"/>
                </a:cubicBezTo>
                <a:cubicBezTo>
                  <a:pt x="895280" y="1283900"/>
                  <a:pt x="880836" y="1275725"/>
                  <a:pt x="868680" y="1264920"/>
                </a:cubicBezTo>
                <a:cubicBezTo>
                  <a:pt x="857941" y="1255374"/>
                  <a:pt x="848360" y="1244600"/>
                  <a:pt x="838200" y="1234440"/>
                </a:cubicBezTo>
                <a:cubicBezTo>
                  <a:pt x="817402" y="1172045"/>
                  <a:pt x="851867" y="1266661"/>
                  <a:pt x="800100" y="1173480"/>
                </a:cubicBezTo>
                <a:cubicBezTo>
                  <a:pt x="795014" y="1164325"/>
                  <a:pt x="797164" y="1152367"/>
                  <a:pt x="792480" y="1143000"/>
                </a:cubicBezTo>
                <a:cubicBezTo>
                  <a:pt x="786800" y="1131641"/>
                  <a:pt x="776154" y="1123410"/>
                  <a:pt x="769620" y="1112520"/>
                </a:cubicBezTo>
                <a:cubicBezTo>
                  <a:pt x="760854" y="1097909"/>
                  <a:pt x="754380" y="1082040"/>
                  <a:pt x="746760" y="1066800"/>
                </a:cubicBezTo>
                <a:cubicBezTo>
                  <a:pt x="744220" y="1054100"/>
                  <a:pt x="742281" y="1041265"/>
                  <a:pt x="739140" y="1028700"/>
                </a:cubicBezTo>
                <a:cubicBezTo>
                  <a:pt x="735656" y="1014763"/>
                  <a:pt x="720094" y="976004"/>
                  <a:pt x="716280" y="967740"/>
                </a:cubicBezTo>
                <a:cubicBezTo>
                  <a:pt x="706760" y="947113"/>
                  <a:pt x="698402" y="925683"/>
                  <a:pt x="685800" y="906780"/>
                </a:cubicBezTo>
                <a:lnTo>
                  <a:pt x="655320" y="861060"/>
                </a:lnTo>
                <a:cubicBezTo>
                  <a:pt x="791479" y="792980"/>
                  <a:pt x="597855" y="884378"/>
                  <a:pt x="1013460" y="838200"/>
                </a:cubicBezTo>
                <a:cubicBezTo>
                  <a:pt x="1024750" y="836946"/>
                  <a:pt x="1021726" y="816686"/>
                  <a:pt x="1028700" y="807720"/>
                </a:cubicBezTo>
                <a:cubicBezTo>
                  <a:pt x="1052702" y="776860"/>
                  <a:pt x="1062346" y="772589"/>
                  <a:pt x="1089660" y="754380"/>
                </a:cubicBezTo>
                <a:cubicBezTo>
                  <a:pt x="1092200" y="746760"/>
                  <a:pt x="1093956" y="738832"/>
                  <a:pt x="1097280" y="731520"/>
                </a:cubicBezTo>
                <a:cubicBezTo>
                  <a:pt x="1106681" y="710838"/>
                  <a:pt x="1122250" y="692600"/>
                  <a:pt x="1127760" y="670560"/>
                </a:cubicBezTo>
                <a:cubicBezTo>
                  <a:pt x="1132840" y="650240"/>
                  <a:pt x="1135481" y="629149"/>
                  <a:pt x="1143000" y="609600"/>
                </a:cubicBezTo>
                <a:cubicBezTo>
                  <a:pt x="1158235" y="569988"/>
                  <a:pt x="1164969" y="576349"/>
                  <a:pt x="1188720" y="548640"/>
                </a:cubicBezTo>
                <a:cubicBezTo>
                  <a:pt x="1196985" y="538997"/>
                  <a:pt x="1202600" y="527140"/>
                  <a:pt x="1211580" y="518160"/>
                </a:cubicBezTo>
                <a:cubicBezTo>
                  <a:pt x="1220560" y="509180"/>
                  <a:pt x="1233930" y="505056"/>
                  <a:pt x="1242060" y="495300"/>
                </a:cubicBezTo>
                <a:cubicBezTo>
                  <a:pt x="1259649" y="474194"/>
                  <a:pt x="1287780" y="426720"/>
                  <a:pt x="1287780" y="426720"/>
                </a:cubicBezTo>
                <a:cubicBezTo>
                  <a:pt x="1305434" y="338449"/>
                  <a:pt x="1280978" y="447127"/>
                  <a:pt x="1318260" y="335280"/>
                </a:cubicBezTo>
                <a:cubicBezTo>
                  <a:pt x="1322868" y="321456"/>
                  <a:pt x="1324629" y="289527"/>
                  <a:pt x="1333500" y="274320"/>
                </a:cubicBezTo>
                <a:cubicBezTo>
                  <a:pt x="1347344" y="250588"/>
                  <a:pt x="1379220" y="205740"/>
                  <a:pt x="1379220" y="205740"/>
                </a:cubicBezTo>
                <a:cubicBezTo>
                  <a:pt x="1376680" y="160020"/>
                  <a:pt x="1378076" y="113910"/>
                  <a:pt x="1371600" y="68580"/>
                </a:cubicBezTo>
                <a:cubicBezTo>
                  <a:pt x="1368829" y="49184"/>
                  <a:pt x="1346431" y="39716"/>
                  <a:pt x="1333500" y="30480"/>
                </a:cubicBezTo>
                <a:cubicBezTo>
                  <a:pt x="1291653" y="589"/>
                  <a:pt x="1317806" y="11316"/>
                  <a:pt x="1272540" y="0"/>
                </a:cubicBezTo>
                <a:cubicBezTo>
                  <a:pt x="1264920" y="2540"/>
                  <a:pt x="1256864" y="4028"/>
                  <a:pt x="1249680" y="7620"/>
                </a:cubicBezTo>
                <a:cubicBezTo>
                  <a:pt x="1241489" y="11716"/>
                  <a:pt x="1235508" y="19964"/>
                  <a:pt x="1226820" y="22860"/>
                </a:cubicBezTo>
                <a:cubicBezTo>
                  <a:pt x="1212163" y="27746"/>
                  <a:pt x="1196182" y="27128"/>
                  <a:pt x="1181100" y="30480"/>
                </a:cubicBezTo>
                <a:cubicBezTo>
                  <a:pt x="1173259" y="32222"/>
                  <a:pt x="1165963" y="35893"/>
                  <a:pt x="1158240" y="38100"/>
                </a:cubicBezTo>
                <a:cubicBezTo>
                  <a:pt x="1148170" y="40977"/>
                  <a:pt x="1137770" y="42640"/>
                  <a:pt x="1127760" y="45720"/>
                </a:cubicBezTo>
                <a:cubicBezTo>
                  <a:pt x="1104729" y="52806"/>
                  <a:pt x="1083144" y="66057"/>
                  <a:pt x="1059180" y="68580"/>
                </a:cubicBezTo>
                <a:cubicBezTo>
                  <a:pt x="985881" y="76296"/>
                  <a:pt x="911860" y="73660"/>
                  <a:pt x="838200" y="76200"/>
                </a:cubicBezTo>
                <a:cubicBezTo>
                  <a:pt x="817880" y="81280"/>
                  <a:pt x="796924" y="84282"/>
                  <a:pt x="777240" y="91440"/>
                </a:cubicBezTo>
                <a:cubicBezTo>
                  <a:pt x="712652" y="114926"/>
                  <a:pt x="793804" y="100459"/>
                  <a:pt x="731520" y="114300"/>
                </a:cubicBezTo>
                <a:cubicBezTo>
                  <a:pt x="697316" y="121901"/>
                  <a:pt x="650237" y="125871"/>
                  <a:pt x="617220" y="129540"/>
                </a:cubicBezTo>
                <a:lnTo>
                  <a:pt x="586740" y="137160"/>
                </a:lnTo>
                <a:cubicBezTo>
                  <a:pt x="563922" y="142426"/>
                  <a:pt x="540243" y="144606"/>
                  <a:pt x="518160" y="152400"/>
                </a:cubicBezTo>
                <a:cubicBezTo>
                  <a:pt x="422145" y="186288"/>
                  <a:pt x="447040" y="152400"/>
                  <a:pt x="434340" y="175260"/>
                </a:cubicBezTo>
                <a:close/>
              </a:path>
            </a:pathLst>
          </a:custGeom>
          <a:solidFill>
            <a:schemeClr val="accent6">
              <a:lumMod val="20000"/>
              <a:lumOff val="80000"/>
            </a:schemeClr>
          </a:solidFill>
          <a:ln>
            <a:noFill/>
            <a:extLst>
              <a:ext uri="{C807C97D-BFC1-408E-A445-0C87EB9F89A2}">
                <ask:lineSketchStyleProps xmlns:ask="http://schemas.microsoft.com/office/drawing/2018/sketchyshapes" sd="1925043553">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gn="ctr"/>
            <a:endParaRPr lang="en-GB" sz="8182"/>
          </a:p>
        </p:txBody>
      </p:sp>
      <p:sp>
        <p:nvSpPr>
          <p:cNvPr id="86" name="Freeform: Shape 85">
            <a:extLst>
              <a:ext uri="{FF2B5EF4-FFF2-40B4-BE49-F238E27FC236}">
                <a16:creationId xmlns:a16="http://schemas.microsoft.com/office/drawing/2014/main" id="{613D7AF0-CE97-3187-B2CA-54D493F16497}"/>
              </a:ext>
            </a:extLst>
          </p:cNvPr>
          <p:cNvSpPr/>
          <p:nvPr/>
        </p:nvSpPr>
        <p:spPr>
          <a:xfrm>
            <a:off x="34513925" y="9645796"/>
            <a:ext cx="1123078" cy="2587848"/>
          </a:xfrm>
          <a:custGeom>
            <a:avLst/>
            <a:gdLst>
              <a:gd name="connsiteX0" fmla="*/ 109074 w 561539"/>
              <a:gd name="connsiteY0" fmla="*/ 562 h 1293924"/>
              <a:gd name="connsiteX1" fmla="*/ 124314 w 561539"/>
              <a:gd name="connsiteY1" fmla="*/ 38662 h 1293924"/>
              <a:gd name="connsiteX2" fmla="*/ 147174 w 561539"/>
              <a:gd name="connsiteY2" fmla="*/ 92002 h 1293924"/>
              <a:gd name="connsiteX3" fmla="*/ 162414 w 561539"/>
              <a:gd name="connsiteY3" fmla="*/ 152962 h 1293924"/>
              <a:gd name="connsiteX4" fmla="*/ 170034 w 561539"/>
              <a:gd name="connsiteY4" fmla="*/ 297742 h 1293924"/>
              <a:gd name="connsiteX5" fmla="*/ 177654 w 561539"/>
              <a:gd name="connsiteY5" fmla="*/ 381562 h 1293924"/>
              <a:gd name="connsiteX6" fmla="*/ 162414 w 561539"/>
              <a:gd name="connsiteY6" fmla="*/ 488242 h 1293924"/>
              <a:gd name="connsiteX7" fmla="*/ 154794 w 561539"/>
              <a:gd name="connsiteY7" fmla="*/ 511102 h 1293924"/>
              <a:gd name="connsiteX8" fmla="*/ 131934 w 561539"/>
              <a:gd name="connsiteY8" fmla="*/ 518722 h 1293924"/>
              <a:gd name="connsiteX9" fmla="*/ 86214 w 561539"/>
              <a:gd name="connsiteY9" fmla="*/ 556822 h 1293924"/>
              <a:gd name="connsiteX10" fmla="*/ 32874 w 561539"/>
              <a:gd name="connsiteY10" fmla="*/ 572062 h 1293924"/>
              <a:gd name="connsiteX11" fmla="*/ 2394 w 561539"/>
              <a:gd name="connsiteY11" fmla="*/ 594922 h 1293924"/>
              <a:gd name="connsiteX12" fmla="*/ 25254 w 561539"/>
              <a:gd name="connsiteY12" fmla="*/ 663502 h 1293924"/>
              <a:gd name="connsiteX13" fmla="*/ 40494 w 561539"/>
              <a:gd name="connsiteY13" fmla="*/ 724462 h 1293924"/>
              <a:gd name="connsiteX14" fmla="*/ 55734 w 561539"/>
              <a:gd name="connsiteY14" fmla="*/ 754942 h 1293924"/>
              <a:gd name="connsiteX15" fmla="*/ 63354 w 561539"/>
              <a:gd name="connsiteY15" fmla="*/ 785422 h 1293924"/>
              <a:gd name="connsiteX16" fmla="*/ 78594 w 561539"/>
              <a:gd name="connsiteY16" fmla="*/ 823522 h 1293924"/>
              <a:gd name="connsiteX17" fmla="*/ 86214 w 561539"/>
              <a:gd name="connsiteY17" fmla="*/ 854002 h 1293924"/>
              <a:gd name="connsiteX18" fmla="*/ 101454 w 561539"/>
              <a:gd name="connsiteY18" fmla="*/ 876862 h 1293924"/>
              <a:gd name="connsiteX19" fmla="*/ 116694 w 561539"/>
              <a:gd name="connsiteY19" fmla="*/ 922582 h 1293924"/>
              <a:gd name="connsiteX20" fmla="*/ 131934 w 561539"/>
              <a:gd name="connsiteY20" fmla="*/ 953062 h 1293924"/>
              <a:gd name="connsiteX21" fmla="*/ 162414 w 561539"/>
              <a:gd name="connsiteY21" fmla="*/ 1059742 h 1293924"/>
              <a:gd name="connsiteX22" fmla="*/ 185274 w 561539"/>
              <a:gd name="connsiteY22" fmla="*/ 1135942 h 1293924"/>
              <a:gd name="connsiteX23" fmla="*/ 192894 w 561539"/>
              <a:gd name="connsiteY23" fmla="*/ 1166422 h 1293924"/>
              <a:gd name="connsiteX24" fmla="*/ 200514 w 561539"/>
              <a:gd name="connsiteY24" fmla="*/ 1189282 h 1293924"/>
              <a:gd name="connsiteX25" fmla="*/ 558654 w 561539"/>
              <a:gd name="connsiteY25" fmla="*/ 1235002 h 1293924"/>
              <a:gd name="connsiteX26" fmla="*/ 535794 w 561539"/>
              <a:gd name="connsiteY26" fmla="*/ 1151182 h 1293924"/>
              <a:gd name="connsiteX27" fmla="*/ 528174 w 561539"/>
              <a:gd name="connsiteY27" fmla="*/ 1074982 h 1293924"/>
              <a:gd name="connsiteX28" fmla="*/ 512934 w 561539"/>
              <a:gd name="connsiteY28" fmla="*/ 1052122 h 1293924"/>
              <a:gd name="connsiteX29" fmla="*/ 490074 w 561539"/>
              <a:gd name="connsiteY29" fmla="*/ 1014022 h 1293924"/>
              <a:gd name="connsiteX30" fmla="*/ 444354 w 561539"/>
              <a:gd name="connsiteY30" fmla="*/ 953062 h 1293924"/>
              <a:gd name="connsiteX31" fmla="*/ 406254 w 561539"/>
              <a:gd name="connsiteY31" fmla="*/ 907342 h 1293924"/>
              <a:gd name="connsiteX32" fmla="*/ 391014 w 561539"/>
              <a:gd name="connsiteY32" fmla="*/ 869242 h 1293924"/>
              <a:gd name="connsiteX33" fmla="*/ 352914 w 561539"/>
              <a:gd name="connsiteY33" fmla="*/ 785422 h 1293924"/>
              <a:gd name="connsiteX34" fmla="*/ 345294 w 561539"/>
              <a:gd name="connsiteY34" fmla="*/ 754942 h 1293924"/>
              <a:gd name="connsiteX35" fmla="*/ 330054 w 561539"/>
              <a:gd name="connsiteY35" fmla="*/ 701602 h 1293924"/>
              <a:gd name="connsiteX36" fmla="*/ 314814 w 561539"/>
              <a:gd name="connsiteY36" fmla="*/ 633022 h 1293924"/>
              <a:gd name="connsiteX37" fmla="*/ 299574 w 561539"/>
              <a:gd name="connsiteY37" fmla="*/ 602542 h 1293924"/>
              <a:gd name="connsiteX38" fmla="*/ 291954 w 561539"/>
              <a:gd name="connsiteY38" fmla="*/ 564442 h 1293924"/>
              <a:gd name="connsiteX39" fmla="*/ 276714 w 561539"/>
              <a:gd name="connsiteY39" fmla="*/ 533962 h 1293924"/>
              <a:gd name="connsiteX40" fmla="*/ 253854 w 561539"/>
              <a:gd name="connsiteY40" fmla="*/ 488242 h 1293924"/>
              <a:gd name="connsiteX41" fmla="*/ 238614 w 561539"/>
              <a:gd name="connsiteY41" fmla="*/ 122482 h 1293924"/>
              <a:gd name="connsiteX42" fmla="*/ 215754 w 561539"/>
              <a:gd name="connsiteY42" fmla="*/ 69142 h 1293924"/>
              <a:gd name="connsiteX43" fmla="*/ 109074 w 561539"/>
              <a:gd name="connsiteY43" fmla="*/ 562 h 1293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561539" h="1293924">
                <a:moveTo>
                  <a:pt x="109074" y="562"/>
                </a:moveTo>
                <a:cubicBezTo>
                  <a:pt x="93834" y="-4518"/>
                  <a:pt x="118759" y="26163"/>
                  <a:pt x="124314" y="38662"/>
                </a:cubicBezTo>
                <a:cubicBezTo>
                  <a:pt x="139008" y="71723"/>
                  <a:pt x="138888" y="61621"/>
                  <a:pt x="147174" y="92002"/>
                </a:cubicBezTo>
                <a:cubicBezTo>
                  <a:pt x="152685" y="112209"/>
                  <a:pt x="162414" y="152962"/>
                  <a:pt x="162414" y="152962"/>
                </a:cubicBezTo>
                <a:cubicBezTo>
                  <a:pt x="164954" y="201222"/>
                  <a:pt x="166819" y="249522"/>
                  <a:pt x="170034" y="297742"/>
                </a:cubicBezTo>
                <a:cubicBezTo>
                  <a:pt x="171900" y="325735"/>
                  <a:pt x="178775" y="353529"/>
                  <a:pt x="177654" y="381562"/>
                </a:cubicBezTo>
                <a:cubicBezTo>
                  <a:pt x="176218" y="417454"/>
                  <a:pt x="168657" y="452868"/>
                  <a:pt x="162414" y="488242"/>
                </a:cubicBezTo>
                <a:cubicBezTo>
                  <a:pt x="161018" y="496152"/>
                  <a:pt x="160474" y="505422"/>
                  <a:pt x="154794" y="511102"/>
                </a:cubicBezTo>
                <a:cubicBezTo>
                  <a:pt x="149114" y="516782"/>
                  <a:pt x="139554" y="516182"/>
                  <a:pt x="131934" y="518722"/>
                </a:cubicBezTo>
                <a:cubicBezTo>
                  <a:pt x="115082" y="535574"/>
                  <a:pt x="107432" y="546213"/>
                  <a:pt x="86214" y="556822"/>
                </a:cubicBezTo>
                <a:cubicBezTo>
                  <a:pt x="75282" y="562288"/>
                  <a:pt x="42640" y="569621"/>
                  <a:pt x="32874" y="572062"/>
                </a:cubicBezTo>
                <a:cubicBezTo>
                  <a:pt x="22714" y="579682"/>
                  <a:pt x="6410" y="582874"/>
                  <a:pt x="2394" y="594922"/>
                </a:cubicBezTo>
                <a:cubicBezTo>
                  <a:pt x="-6732" y="622299"/>
                  <a:pt x="12262" y="644014"/>
                  <a:pt x="25254" y="663502"/>
                </a:cubicBezTo>
                <a:cubicBezTo>
                  <a:pt x="30334" y="683822"/>
                  <a:pt x="33870" y="704591"/>
                  <a:pt x="40494" y="724462"/>
                </a:cubicBezTo>
                <a:cubicBezTo>
                  <a:pt x="44086" y="735238"/>
                  <a:pt x="51746" y="744306"/>
                  <a:pt x="55734" y="754942"/>
                </a:cubicBezTo>
                <a:cubicBezTo>
                  <a:pt x="59411" y="764748"/>
                  <a:pt x="60042" y="775487"/>
                  <a:pt x="63354" y="785422"/>
                </a:cubicBezTo>
                <a:cubicBezTo>
                  <a:pt x="67679" y="798398"/>
                  <a:pt x="74269" y="810546"/>
                  <a:pt x="78594" y="823522"/>
                </a:cubicBezTo>
                <a:cubicBezTo>
                  <a:pt x="81906" y="833457"/>
                  <a:pt x="82089" y="844376"/>
                  <a:pt x="86214" y="854002"/>
                </a:cubicBezTo>
                <a:cubicBezTo>
                  <a:pt x="89822" y="862420"/>
                  <a:pt x="97735" y="868493"/>
                  <a:pt x="101454" y="876862"/>
                </a:cubicBezTo>
                <a:cubicBezTo>
                  <a:pt x="107978" y="891542"/>
                  <a:pt x="110728" y="907667"/>
                  <a:pt x="116694" y="922582"/>
                </a:cubicBezTo>
                <a:cubicBezTo>
                  <a:pt x="120913" y="933129"/>
                  <a:pt x="126854" y="942902"/>
                  <a:pt x="131934" y="953062"/>
                </a:cubicBezTo>
                <a:cubicBezTo>
                  <a:pt x="149402" y="1040401"/>
                  <a:pt x="135590" y="1006094"/>
                  <a:pt x="162414" y="1059742"/>
                </a:cubicBezTo>
                <a:cubicBezTo>
                  <a:pt x="177927" y="1152819"/>
                  <a:pt x="158695" y="1065063"/>
                  <a:pt x="185274" y="1135942"/>
                </a:cubicBezTo>
                <a:cubicBezTo>
                  <a:pt x="188951" y="1145748"/>
                  <a:pt x="190017" y="1156352"/>
                  <a:pt x="192894" y="1166422"/>
                </a:cubicBezTo>
                <a:cubicBezTo>
                  <a:pt x="195101" y="1174145"/>
                  <a:pt x="197974" y="1181662"/>
                  <a:pt x="200514" y="1189282"/>
                </a:cubicBezTo>
                <a:cubicBezTo>
                  <a:pt x="223603" y="1350902"/>
                  <a:pt x="197069" y="1291249"/>
                  <a:pt x="558654" y="1235002"/>
                </a:cubicBezTo>
                <a:cubicBezTo>
                  <a:pt x="571661" y="1232979"/>
                  <a:pt x="536520" y="1152997"/>
                  <a:pt x="535794" y="1151182"/>
                </a:cubicBezTo>
                <a:cubicBezTo>
                  <a:pt x="533254" y="1125782"/>
                  <a:pt x="533914" y="1099855"/>
                  <a:pt x="528174" y="1074982"/>
                </a:cubicBezTo>
                <a:cubicBezTo>
                  <a:pt x="526115" y="1066058"/>
                  <a:pt x="517788" y="1059888"/>
                  <a:pt x="512934" y="1052122"/>
                </a:cubicBezTo>
                <a:cubicBezTo>
                  <a:pt x="505084" y="1039563"/>
                  <a:pt x="497924" y="1026581"/>
                  <a:pt x="490074" y="1014022"/>
                </a:cubicBezTo>
                <a:cubicBezTo>
                  <a:pt x="468540" y="979568"/>
                  <a:pt x="475710" y="994871"/>
                  <a:pt x="444354" y="953062"/>
                </a:cubicBezTo>
                <a:cubicBezTo>
                  <a:pt x="412528" y="910627"/>
                  <a:pt x="448073" y="949161"/>
                  <a:pt x="406254" y="907342"/>
                </a:cubicBezTo>
                <a:cubicBezTo>
                  <a:pt x="401174" y="894642"/>
                  <a:pt x="396746" y="881661"/>
                  <a:pt x="391014" y="869242"/>
                </a:cubicBezTo>
                <a:cubicBezTo>
                  <a:pt x="368385" y="820213"/>
                  <a:pt x="363672" y="823076"/>
                  <a:pt x="352914" y="785422"/>
                </a:cubicBezTo>
                <a:cubicBezTo>
                  <a:pt x="350037" y="775352"/>
                  <a:pt x="348050" y="765046"/>
                  <a:pt x="345294" y="754942"/>
                </a:cubicBezTo>
                <a:cubicBezTo>
                  <a:pt x="340429" y="737102"/>
                  <a:pt x="334539" y="719541"/>
                  <a:pt x="330054" y="701602"/>
                </a:cubicBezTo>
                <a:cubicBezTo>
                  <a:pt x="326433" y="687118"/>
                  <a:pt x="320681" y="648667"/>
                  <a:pt x="314814" y="633022"/>
                </a:cubicBezTo>
                <a:cubicBezTo>
                  <a:pt x="310826" y="622386"/>
                  <a:pt x="304654" y="612702"/>
                  <a:pt x="299574" y="602542"/>
                </a:cubicBezTo>
                <a:cubicBezTo>
                  <a:pt x="297034" y="589842"/>
                  <a:pt x="296050" y="576729"/>
                  <a:pt x="291954" y="564442"/>
                </a:cubicBezTo>
                <a:cubicBezTo>
                  <a:pt x="288362" y="553666"/>
                  <a:pt x="281189" y="544403"/>
                  <a:pt x="276714" y="533962"/>
                </a:cubicBezTo>
                <a:cubicBezTo>
                  <a:pt x="257785" y="489795"/>
                  <a:pt x="283142" y="532173"/>
                  <a:pt x="253854" y="488242"/>
                </a:cubicBezTo>
                <a:cubicBezTo>
                  <a:pt x="248774" y="366322"/>
                  <a:pt x="245780" y="244297"/>
                  <a:pt x="238614" y="122482"/>
                </a:cubicBezTo>
                <a:cubicBezTo>
                  <a:pt x="238078" y="113366"/>
                  <a:pt x="219488" y="72129"/>
                  <a:pt x="215754" y="69142"/>
                </a:cubicBezTo>
                <a:cubicBezTo>
                  <a:pt x="173394" y="35254"/>
                  <a:pt x="124314" y="5642"/>
                  <a:pt x="109074" y="562"/>
                </a:cubicBezTo>
                <a:close/>
              </a:path>
            </a:pathLst>
          </a:custGeom>
          <a:solidFill>
            <a:schemeClr val="accent6">
              <a:lumMod val="20000"/>
              <a:lumOff val="80000"/>
            </a:schemeClr>
          </a:solidFill>
          <a:ln>
            <a:noFill/>
            <a:extLst>
              <a:ext uri="{C807C97D-BFC1-408E-A445-0C87EB9F89A2}">
                <ask:lineSketchStyleProps xmlns:ask="http://schemas.microsoft.com/office/drawing/2018/sketchyshapes" sd="3905642181">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gn="ctr"/>
            <a:endParaRPr lang="en-GB" sz="8182"/>
          </a:p>
        </p:txBody>
      </p:sp>
      <p:sp>
        <p:nvSpPr>
          <p:cNvPr id="8" name="Text Placeholder 4">
            <a:extLst>
              <a:ext uri="{FF2B5EF4-FFF2-40B4-BE49-F238E27FC236}">
                <a16:creationId xmlns:a16="http://schemas.microsoft.com/office/drawing/2014/main" id="{55405CB3-40C3-7560-538B-C8CF5841C39F}"/>
              </a:ext>
            </a:extLst>
          </p:cNvPr>
          <p:cNvSpPr>
            <a:spLocks noGrp="1"/>
          </p:cNvSpPr>
          <p:nvPr>
            <p:ph type="body" idx="1"/>
          </p:nvPr>
        </p:nvSpPr>
        <p:spPr>
          <a:xfrm>
            <a:off x="1600273" y="6109003"/>
            <a:ext cx="2851412" cy="1567142"/>
          </a:xfrm>
        </p:spPr>
        <p:txBody>
          <a:bodyPr anchor="t"/>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marL="0" indent="0">
              <a:lnSpc>
                <a:spcPct val="100000"/>
              </a:lnSpc>
              <a:spcBef>
                <a:spcPts val="0"/>
              </a:spcBef>
              <a:buNone/>
            </a:pPr>
            <a:r>
              <a:rPr lang="en-US" sz="2400" b="1" dirty="0">
                <a:solidFill>
                  <a:srgbClr val="00C159"/>
                </a:solidFill>
                <a:latin typeface="Figtree" pitchFamily="2" charset="0"/>
              </a:rPr>
              <a:t>16% </a:t>
            </a:r>
            <a:r>
              <a:rPr lang="en-US" sz="2400" dirty="0">
                <a:solidFill>
                  <a:schemeClr val="tx1">
                    <a:lumMod val="75000"/>
                    <a:lumOff val="25000"/>
                  </a:schemeClr>
                </a:solidFill>
                <a:latin typeface="Figtree" pitchFamily="2" charset="0"/>
              </a:rPr>
              <a:t>of CO</a:t>
            </a:r>
            <a:r>
              <a:rPr lang="en-US" sz="2400" baseline="-25000" dirty="0">
                <a:solidFill>
                  <a:schemeClr val="tx1">
                    <a:lumMod val="75000"/>
                    <a:lumOff val="25000"/>
                  </a:schemeClr>
                </a:solidFill>
                <a:latin typeface="Figtree" pitchFamily="2" charset="0"/>
              </a:rPr>
              <a:t>2</a:t>
            </a:r>
            <a:r>
              <a:rPr lang="en-US" sz="2400" dirty="0">
                <a:solidFill>
                  <a:schemeClr val="tx1">
                    <a:lumMod val="75000"/>
                    <a:lumOff val="25000"/>
                  </a:schemeClr>
                </a:solidFill>
                <a:latin typeface="Figtree" pitchFamily="2" charset="0"/>
              </a:rPr>
              <a:t>e reduction from expected values</a:t>
            </a:r>
          </a:p>
          <a:p>
            <a:pPr marL="0" indent="0">
              <a:lnSpc>
                <a:spcPct val="100000"/>
              </a:lnSpc>
              <a:spcBef>
                <a:spcPts val="0"/>
              </a:spcBef>
              <a:buNone/>
            </a:pPr>
            <a:r>
              <a:rPr lang="en-US" sz="2400" dirty="0">
                <a:solidFill>
                  <a:schemeClr val="tx1">
                    <a:lumMod val="75000"/>
                    <a:lumOff val="25000"/>
                  </a:schemeClr>
                </a:solidFill>
                <a:latin typeface="Figtree" pitchFamily="2" charset="0"/>
              </a:rPr>
              <a:t>(for construction) </a:t>
            </a:r>
            <a:endParaRPr lang="pt-AO" sz="2400" dirty="0">
              <a:solidFill>
                <a:schemeClr val="tx1">
                  <a:lumMod val="75000"/>
                  <a:lumOff val="25000"/>
                </a:schemeClr>
              </a:solidFill>
              <a:latin typeface="Figtree" pitchFamily="2" charset="0"/>
            </a:endParaRPr>
          </a:p>
        </p:txBody>
      </p:sp>
      <p:sp>
        <p:nvSpPr>
          <p:cNvPr id="11" name="Text Placeholder 4">
            <a:extLst>
              <a:ext uri="{FF2B5EF4-FFF2-40B4-BE49-F238E27FC236}">
                <a16:creationId xmlns:a16="http://schemas.microsoft.com/office/drawing/2014/main" id="{9749E88B-1928-688C-AE48-FF443004C84D}"/>
              </a:ext>
            </a:extLst>
          </p:cNvPr>
          <p:cNvSpPr txBox="1">
            <a:spLocks/>
          </p:cNvSpPr>
          <p:nvPr/>
        </p:nvSpPr>
        <p:spPr>
          <a:xfrm>
            <a:off x="4844436" y="6109003"/>
            <a:ext cx="2455124" cy="1564458"/>
          </a:xfrm>
          <a:prstGeom prst="rect">
            <a:avLst/>
          </a:prstGeom>
        </p:spPr>
        <p:txBody>
          <a:bodyPr lIns="0" tIns="0" rIns="0" bIns="0" anchor="t">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nSpc>
                <a:spcPct val="100000"/>
              </a:lnSpc>
              <a:spcBef>
                <a:spcPts val="0"/>
              </a:spcBef>
            </a:pPr>
            <a:r>
              <a:rPr lang="en-US" sz="2400" b="1" dirty="0">
                <a:solidFill>
                  <a:srgbClr val="548235"/>
                </a:solidFill>
                <a:latin typeface="Figtree" pitchFamily="2" charset="0"/>
              </a:rPr>
              <a:t>c. </a:t>
            </a:r>
            <a:r>
              <a:rPr lang="en-US" sz="2400" b="1" dirty="0">
                <a:solidFill>
                  <a:srgbClr val="00C159"/>
                </a:solidFill>
                <a:latin typeface="Figtree" pitchFamily="2" charset="0"/>
              </a:rPr>
              <a:t>90%</a:t>
            </a:r>
            <a:r>
              <a:rPr lang="en-US" sz="2400" b="1" dirty="0">
                <a:solidFill>
                  <a:srgbClr val="548235"/>
                </a:solidFill>
                <a:latin typeface="Figtree" pitchFamily="2" charset="0"/>
              </a:rPr>
              <a:t> </a:t>
            </a:r>
            <a:r>
              <a:rPr lang="en-US" sz="2400" dirty="0">
                <a:solidFill>
                  <a:schemeClr val="tx1">
                    <a:lumMod val="75000"/>
                    <a:lumOff val="25000"/>
                  </a:schemeClr>
                </a:solidFill>
                <a:latin typeface="Figtree" pitchFamily="2" charset="0"/>
              </a:rPr>
              <a:t>diverted </a:t>
            </a:r>
            <a:br>
              <a:rPr lang="en-US" sz="2400" dirty="0">
                <a:solidFill>
                  <a:schemeClr val="tx1">
                    <a:lumMod val="75000"/>
                    <a:lumOff val="25000"/>
                  </a:schemeClr>
                </a:solidFill>
                <a:latin typeface="Figtree" pitchFamily="2" charset="0"/>
              </a:rPr>
            </a:br>
            <a:r>
              <a:rPr lang="en-US" sz="2400" dirty="0">
                <a:solidFill>
                  <a:schemeClr val="tx1">
                    <a:lumMod val="75000"/>
                    <a:lumOff val="25000"/>
                  </a:schemeClr>
                </a:solidFill>
                <a:latin typeface="Figtree" pitchFamily="2" charset="0"/>
              </a:rPr>
              <a:t>from landfill</a:t>
            </a:r>
          </a:p>
          <a:p>
            <a:pPr>
              <a:lnSpc>
                <a:spcPct val="100000"/>
              </a:lnSpc>
              <a:spcBef>
                <a:spcPts val="0"/>
              </a:spcBef>
            </a:pPr>
            <a:r>
              <a:rPr lang="en-US" sz="2400" b="1" dirty="0">
                <a:solidFill>
                  <a:srgbClr val="548235"/>
                </a:solidFill>
                <a:latin typeface="Figtree" pitchFamily="2" charset="0"/>
              </a:rPr>
              <a:t>c</a:t>
            </a:r>
            <a:r>
              <a:rPr lang="en-US" sz="2400" b="1" dirty="0">
                <a:solidFill>
                  <a:srgbClr val="00C159"/>
                </a:solidFill>
                <a:latin typeface="Figtree" pitchFamily="2" charset="0"/>
              </a:rPr>
              <a:t>. 25 tons </a:t>
            </a:r>
            <a:r>
              <a:rPr lang="en-US" sz="2400" dirty="0">
                <a:solidFill>
                  <a:schemeClr val="tx1">
                    <a:lumMod val="75000"/>
                    <a:lumOff val="25000"/>
                  </a:schemeClr>
                </a:solidFill>
                <a:latin typeface="Figtree" pitchFamily="2" charset="0"/>
              </a:rPr>
              <a:t>of </a:t>
            </a:r>
            <a:br>
              <a:rPr lang="en-US" sz="2400" dirty="0">
                <a:solidFill>
                  <a:schemeClr val="tx1">
                    <a:lumMod val="75000"/>
                    <a:lumOff val="25000"/>
                  </a:schemeClr>
                </a:solidFill>
                <a:latin typeface="Figtree" pitchFamily="2" charset="0"/>
              </a:rPr>
            </a:br>
            <a:r>
              <a:rPr lang="en-US" sz="2400" dirty="0">
                <a:solidFill>
                  <a:schemeClr val="tx1">
                    <a:lumMod val="75000"/>
                    <a:lumOff val="25000"/>
                  </a:schemeClr>
                </a:solidFill>
                <a:latin typeface="Figtree" pitchFamily="2" charset="0"/>
              </a:rPr>
              <a:t>waste recycled </a:t>
            </a:r>
            <a:endParaRPr lang="pt-AO" sz="2400" dirty="0">
              <a:solidFill>
                <a:schemeClr val="tx1">
                  <a:lumMod val="75000"/>
                  <a:lumOff val="25000"/>
                </a:schemeClr>
              </a:solidFill>
              <a:latin typeface="Figtree" pitchFamily="2" charset="0"/>
            </a:endParaRPr>
          </a:p>
        </p:txBody>
      </p:sp>
      <p:sp>
        <p:nvSpPr>
          <p:cNvPr id="12" name="Text Placeholder 4">
            <a:extLst>
              <a:ext uri="{FF2B5EF4-FFF2-40B4-BE49-F238E27FC236}">
                <a16:creationId xmlns:a16="http://schemas.microsoft.com/office/drawing/2014/main" id="{F751380E-D0D2-C17D-FDFF-491A99F44A4E}"/>
              </a:ext>
            </a:extLst>
          </p:cNvPr>
          <p:cNvSpPr txBox="1">
            <a:spLocks/>
          </p:cNvSpPr>
          <p:nvPr/>
        </p:nvSpPr>
        <p:spPr>
          <a:xfrm>
            <a:off x="1600271" y="4619726"/>
            <a:ext cx="3155289" cy="1095273"/>
          </a:xfrm>
          <a:prstGeom prst="rect">
            <a:avLst/>
          </a:prstGeom>
        </p:spPr>
        <p:txBody>
          <a:bodyPr lIns="0" tIns="0" rIns="0" bIns="0" anchor="t">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nSpc>
                <a:spcPct val="100000"/>
              </a:lnSpc>
              <a:spcBef>
                <a:spcPts val="0"/>
              </a:spcBef>
            </a:pPr>
            <a:r>
              <a:rPr lang="en-US" sz="3600" b="1" dirty="0">
                <a:solidFill>
                  <a:srgbClr val="00C159"/>
                </a:solidFill>
                <a:latin typeface="Figtree" pitchFamily="2" charset="0"/>
              </a:rPr>
              <a:t>Avoided Emissions</a:t>
            </a:r>
            <a:endParaRPr lang="pt-AO" sz="3600" b="1">
              <a:solidFill>
                <a:srgbClr val="00C159"/>
              </a:solidFill>
              <a:latin typeface="Figtree" pitchFamily="2" charset="0"/>
            </a:endParaRPr>
          </a:p>
        </p:txBody>
      </p:sp>
      <p:sp>
        <p:nvSpPr>
          <p:cNvPr id="13" name="Text Placeholder 4">
            <a:extLst>
              <a:ext uri="{FF2B5EF4-FFF2-40B4-BE49-F238E27FC236}">
                <a16:creationId xmlns:a16="http://schemas.microsoft.com/office/drawing/2014/main" id="{9E60E96C-3BBB-C161-5EF8-3D7B9DEACF73}"/>
              </a:ext>
            </a:extLst>
          </p:cNvPr>
          <p:cNvSpPr txBox="1">
            <a:spLocks/>
          </p:cNvSpPr>
          <p:nvPr/>
        </p:nvSpPr>
        <p:spPr>
          <a:xfrm>
            <a:off x="4855805" y="4619726"/>
            <a:ext cx="3155289" cy="1095273"/>
          </a:xfrm>
          <a:prstGeom prst="rect">
            <a:avLst/>
          </a:prstGeom>
        </p:spPr>
        <p:txBody>
          <a:bodyPr lIns="0" tIns="0" rIns="0" bIns="0" anchor="t">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nSpc>
                <a:spcPct val="100000"/>
              </a:lnSpc>
              <a:spcBef>
                <a:spcPts val="0"/>
              </a:spcBef>
            </a:pPr>
            <a:r>
              <a:rPr lang="en-US" sz="3600" b="1" dirty="0">
                <a:solidFill>
                  <a:srgbClr val="00C159"/>
                </a:solidFill>
                <a:latin typeface="Figtree" pitchFamily="2" charset="0"/>
              </a:rPr>
              <a:t>Construction Waste</a:t>
            </a:r>
            <a:endParaRPr lang="pt-AO" sz="3600" b="1">
              <a:solidFill>
                <a:srgbClr val="00C159"/>
              </a:solidFill>
              <a:latin typeface="Figtree" pitchFamily="2" charset="0"/>
            </a:endParaRPr>
          </a:p>
        </p:txBody>
      </p:sp>
      <p:sp>
        <p:nvSpPr>
          <p:cNvPr id="15" name="Text Placeholder 4">
            <a:extLst>
              <a:ext uri="{FF2B5EF4-FFF2-40B4-BE49-F238E27FC236}">
                <a16:creationId xmlns:a16="http://schemas.microsoft.com/office/drawing/2014/main" id="{311DA0EA-4C15-7759-3FFA-A4A1E53FABCF}"/>
              </a:ext>
            </a:extLst>
          </p:cNvPr>
          <p:cNvSpPr txBox="1">
            <a:spLocks/>
          </p:cNvSpPr>
          <p:nvPr/>
        </p:nvSpPr>
        <p:spPr>
          <a:xfrm>
            <a:off x="8345410" y="4619727"/>
            <a:ext cx="3155289" cy="633048"/>
          </a:xfrm>
          <a:prstGeom prst="rect">
            <a:avLst/>
          </a:prstGeom>
        </p:spPr>
        <p:txBody>
          <a:bodyPr lIns="0" tIns="0" rIns="0" bIns="0" anchor="t">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nSpc>
                <a:spcPct val="100000"/>
              </a:lnSpc>
              <a:spcBef>
                <a:spcPts val="0"/>
              </a:spcBef>
            </a:pPr>
            <a:r>
              <a:rPr lang="en-US" sz="3600" b="1">
                <a:solidFill>
                  <a:srgbClr val="00C159"/>
                </a:solidFill>
                <a:latin typeface="Figtree" pitchFamily="2" charset="0"/>
              </a:rPr>
              <a:t>Carbon Strategy</a:t>
            </a:r>
            <a:endParaRPr lang="pt-AO" sz="3600" b="1">
              <a:solidFill>
                <a:srgbClr val="00C159"/>
              </a:solidFill>
              <a:latin typeface="Figtree" pitchFamily="2" charset="0"/>
            </a:endParaRPr>
          </a:p>
        </p:txBody>
      </p:sp>
      <p:sp>
        <p:nvSpPr>
          <p:cNvPr id="16" name="Text Placeholder 4">
            <a:extLst>
              <a:ext uri="{FF2B5EF4-FFF2-40B4-BE49-F238E27FC236}">
                <a16:creationId xmlns:a16="http://schemas.microsoft.com/office/drawing/2014/main" id="{0C780074-A389-91F7-4CB4-41C09A226D0D}"/>
              </a:ext>
            </a:extLst>
          </p:cNvPr>
          <p:cNvSpPr txBox="1">
            <a:spLocks/>
          </p:cNvSpPr>
          <p:nvPr/>
        </p:nvSpPr>
        <p:spPr>
          <a:xfrm>
            <a:off x="8334042" y="6109003"/>
            <a:ext cx="3237932" cy="1564458"/>
          </a:xfrm>
          <a:prstGeom prst="rect">
            <a:avLst/>
          </a:prstGeom>
        </p:spPr>
        <p:txBody>
          <a:bodyPr lIns="0" tIns="0" rIns="0" bIns="0" anchor="t">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nSpc>
                <a:spcPct val="100000"/>
              </a:lnSpc>
              <a:spcBef>
                <a:spcPts val="0"/>
              </a:spcBef>
            </a:pPr>
            <a:r>
              <a:rPr lang="en-US" sz="2400" b="1" dirty="0">
                <a:solidFill>
                  <a:srgbClr val="00C159"/>
                </a:solidFill>
                <a:latin typeface="Figtree" pitchFamily="2" charset="0"/>
              </a:rPr>
              <a:t>100% </a:t>
            </a:r>
            <a:r>
              <a:rPr lang="en-US" sz="2400" dirty="0">
                <a:solidFill>
                  <a:schemeClr val="tx1">
                    <a:lumMod val="75000"/>
                    <a:lumOff val="25000"/>
                  </a:schemeClr>
                </a:solidFill>
                <a:latin typeface="Figtree" pitchFamily="2" charset="0"/>
              </a:rPr>
              <a:t>tracking of materials’ embedded carbon used through supply chain</a:t>
            </a:r>
            <a:endParaRPr lang="pt-AO" sz="2400">
              <a:solidFill>
                <a:schemeClr val="tx1">
                  <a:lumMod val="75000"/>
                  <a:lumOff val="25000"/>
                </a:schemeClr>
              </a:solidFill>
              <a:latin typeface="Figtree" pitchFamily="2" charset="0"/>
            </a:endParaRPr>
          </a:p>
        </p:txBody>
      </p:sp>
      <p:pic>
        <p:nvPicPr>
          <p:cNvPr id="21" name="Picture 20">
            <a:extLst>
              <a:ext uri="{FF2B5EF4-FFF2-40B4-BE49-F238E27FC236}">
                <a16:creationId xmlns:a16="http://schemas.microsoft.com/office/drawing/2014/main" id="{E6D9315C-F605-9688-9846-2241A4EFEBA8}"/>
              </a:ext>
            </a:extLst>
          </p:cNvPr>
          <p:cNvPicPr>
            <a:picLocks noChangeAspect="1"/>
          </p:cNvPicPr>
          <p:nvPr/>
        </p:nvPicPr>
        <p:blipFill rotWithShape="1">
          <a:blip r:embed="rId3" cstate="screen">
            <a:extLst>
              <a:ext uri="{BEBA8EAE-BF5A-486C-A8C5-ECC9F3942E4B}">
                <a14:imgProps xmlns:a14="http://schemas.microsoft.com/office/drawing/2010/main">
                  <a14:imgLayer r:embed="rId4">
                    <a14:imgEffect>
                      <a14:backgroundRemoval t="12121" b="100000" l="0" r="100000">
                        <a14:foregroundMark x1="57534" y1="33333" x2="57534" y2="33333"/>
                      </a14:backgroundRemoval>
                    </a14:imgEffect>
                  </a14:imgLayer>
                </a14:imgProps>
              </a:ext>
              <a:ext uri="{28A0092B-C50C-407E-A947-70E740481C1C}">
                <a14:useLocalDpi xmlns:a14="http://schemas.microsoft.com/office/drawing/2010/main"/>
              </a:ext>
            </a:extLst>
          </a:blip>
          <a:srcRect/>
          <a:stretch/>
        </p:blipFill>
        <p:spPr>
          <a:xfrm>
            <a:off x="21502990" y="1911986"/>
            <a:ext cx="1392722" cy="1262380"/>
          </a:xfrm>
          <a:prstGeom prst="rect">
            <a:avLst/>
          </a:prstGeom>
        </p:spPr>
      </p:pic>
      <p:sp>
        <p:nvSpPr>
          <p:cNvPr id="25" name="Text Placeholder 4">
            <a:extLst>
              <a:ext uri="{FF2B5EF4-FFF2-40B4-BE49-F238E27FC236}">
                <a16:creationId xmlns:a16="http://schemas.microsoft.com/office/drawing/2014/main" id="{4C409E5B-A67E-B100-4722-2CDAD0C6FCE2}"/>
              </a:ext>
            </a:extLst>
          </p:cNvPr>
          <p:cNvSpPr txBox="1">
            <a:spLocks/>
          </p:cNvSpPr>
          <p:nvPr/>
        </p:nvSpPr>
        <p:spPr>
          <a:xfrm>
            <a:off x="18954931" y="2220013"/>
            <a:ext cx="2781216" cy="646330"/>
          </a:xfrm>
          <a:prstGeom prst="rect">
            <a:avLst/>
          </a:prstGeom>
        </p:spPr>
        <p:txBody>
          <a:bodyPr wrap="square" lIns="0" tIns="0" rIns="0" bIns="0" anchor="t">
            <a:sp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gn="ctr">
              <a:lnSpc>
                <a:spcPct val="100000"/>
              </a:lnSpc>
            </a:pPr>
            <a:r>
              <a:rPr lang="en-US" sz="2100">
                <a:solidFill>
                  <a:schemeClr val="tx1">
                    <a:lumMod val="75000"/>
                    <a:lumOff val="25000"/>
                  </a:schemeClr>
                </a:solidFill>
                <a:latin typeface="Ubuntu" panose="020B0504030602030204" pitchFamily="34" charset="0"/>
              </a:rPr>
              <a:t>LEED 4.1 New Building Design + Construction</a:t>
            </a:r>
            <a:endParaRPr lang="pt-AO" sz="2100">
              <a:solidFill>
                <a:schemeClr val="tx1">
                  <a:lumMod val="75000"/>
                  <a:lumOff val="25000"/>
                </a:schemeClr>
              </a:solidFill>
              <a:latin typeface="Ubuntu" panose="020B0504030602030204" pitchFamily="34" charset="0"/>
            </a:endParaRPr>
          </a:p>
        </p:txBody>
      </p:sp>
      <p:pic>
        <p:nvPicPr>
          <p:cNvPr id="39" name="Picture 38">
            <a:extLst>
              <a:ext uri="{FF2B5EF4-FFF2-40B4-BE49-F238E27FC236}">
                <a16:creationId xmlns:a16="http://schemas.microsoft.com/office/drawing/2014/main" id="{6E609BCF-8F0A-937E-9291-A932790DDCE1}"/>
              </a:ext>
            </a:extLst>
          </p:cNvPr>
          <p:cNvPicPr>
            <a:picLocks noChangeAspect="1"/>
          </p:cNvPicPr>
          <p:nvPr/>
        </p:nvPicPr>
        <p:blipFill>
          <a:blip r:embed="rId5" cstate="screen">
            <a:extLst>
              <a:ext uri="{BEBA8EAE-BF5A-486C-A8C5-ECC9F3942E4B}">
                <a14:imgProps xmlns:a14="http://schemas.microsoft.com/office/drawing/2010/main">
                  <a14:imgLayer r:embed="rId6">
                    <a14:imgEffect>
                      <a14:backgroundRemoval t="5882" b="92437" l="6154" r="96154">
                        <a14:foregroundMark x1="70000" y1="21008" x2="29231" y2="86555"/>
                        <a14:foregroundMark x1="29231" y1="86555" x2="47692" y2="23529"/>
                        <a14:foregroundMark x1="48462" y1="10924" x2="20769" y2="83193"/>
                        <a14:foregroundMark x1="20769" y1="83193" x2="93846" y2="70588"/>
                        <a14:foregroundMark x1="93846" y1="70588" x2="62308" y2="3361"/>
                        <a14:foregroundMark x1="62308" y1="3361" x2="6923" y2="63025"/>
                        <a14:foregroundMark x1="6923" y1="63025" x2="80000" y2="87395"/>
                        <a14:foregroundMark x1="80000" y1="87395" x2="80000" y2="57983"/>
                        <a14:foregroundMark x1="86154" y1="26050" x2="96154" y2="70588"/>
                        <a14:foregroundMark x1="36154" y1="89916" x2="85385" y2="78992"/>
                        <a14:foregroundMark x1="30769" y1="92437" x2="80000" y2="89916"/>
                        <a14:foregroundMark x1="47692" y1="8403" x2="30769" y2="8403"/>
                        <a14:foregroundMark x1="34615" y1="5882" x2="6154" y2="47059"/>
                      </a14:backgroundRemoval>
                    </a14:imgEffect>
                    <a14:imgEffect>
                      <a14:sharpenSoften amount="50000"/>
                    </a14:imgEffect>
                  </a14:imgLayer>
                </a14:imgProps>
              </a:ext>
              <a:ext uri="{28A0092B-C50C-407E-A947-70E740481C1C}">
                <a14:useLocalDpi xmlns:a14="http://schemas.microsoft.com/office/drawing/2010/main"/>
              </a:ext>
            </a:extLst>
          </a:blip>
          <a:srcRect/>
          <a:stretch>
            <a:fillRect/>
          </a:stretch>
        </p:blipFill>
        <p:spPr bwMode="auto">
          <a:xfrm>
            <a:off x="17382489" y="1911986"/>
            <a:ext cx="1386204" cy="1262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 name="Text Placeholder 4">
            <a:extLst>
              <a:ext uri="{FF2B5EF4-FFF2-40B4-BE49-F238E27FC236}">
                <a16:creationId xmlns:a16="http://schemas.microsoft.com/office/drawing/2014/main" id="{FB29BCC8-7FFF-62BD-D874-F4069C60A8D1}"/>
              </a:ext>
            </a:extLst>
          </p:cNvPr>
          <p:cNvSpPr txBox="1">
            <a:spLocks/>
          </p:cNvSpPr>
          <p:nvPr/>
        </p:nvSpPr>
        <p:spPr>
          <a:xfrm>
            <a:off x="19803890" y="4619727"/>
            <a:ext cx="4254987" cy="1027095"/>
          </a:xfrm>
          <a:prstGeom prst="rect">
            <a:avLst/>
          </a:prstGeom>
        </p:spPr>
        <p:txBody>
          <a:bodyPr lIns="0" tIns="0" rIns="0" bIns="0" anchor="t">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nSpc>
                <a:spcPct val="100000"/>
              </a:lnSpc>
              <a:spcBef>
                <a:spcPts val="0"/>
              </a:spcBef>
            </a:pPr>
            <a:r>
              <a:rPr lang="en-US" sz="3600" b="1" dirty="0">
                <a:solidFill>
                  <a:srgbClr val="00C159"/>
                </a:solidFill>
                <a:latin typeface="Figtree" pitchFamily="2" charset="0"/>
              </a:rPr>
              <a:t>Community Empowerment</a:t>
            </a:r>
            <a:endParaRPr lang="pt-AO" sz="3600" b="1">
              <a:solidFill>
                <a:srgbClr val="00C159"/>
              </a:solidFill>
              <a:latin typeface="Figtree" pitchFamily="2" charset="0"/>
            </a:endParaRPr>
          </a:p>
        </p:txBody>
      </p:sp>
      <p:sp>
        <p:nvSpPr>
          <p:cNvPr id="41" name="Text Placeholder 4">
            <a:extLst>
              <a:ext uri="{FF2B5EF4-FFF2-40B4-BE49-F238E27FC236}">
                <a16:creationId xmlns:a16="http://schemas.microsoft.com/office/drawing/2014/main" id="{5F7FB968-13DC-6C76-EBC8-E142F284C6E0}"/>
              </a:ext>
            </a:extLst>
          </p:cNvPr>
          <p:cNvSpPr txBox="1">
            <a:spLocks/>
          </p:cNvSpPr>
          <p:nvPr/>
        </p:nvSpPr>
        <p:spPr>
          <a:xfrm>
            <a:off x="19876081" y="6109003"/>
            <a:ext cx="3576323" cy="1564458"/>
          </a:xfrm>
          <a:prstGeom prst="rect">
            <a:avLst/>
          </a:prstGeom>
        </p:spPr>
        <p:txBody>
          <a:bodyPr lIns="0" tIns="0" rIns="0" bIns="0" anchor="t">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nSpc>
                <a:spcPct val="100000"/>
              </a:lnSpc>
              <a:spcBef>
                <a:spcPts val="0"/>
              </a:spcBef>
            </a:pPr>
            <a:r>
              <a:rPr lang="en-US" sz="2400" b="1" dirty="0">
                <a:solidFill>
                  <a:srgbClr val="00C159"/>
                </a:solidFill>
                <a:latin typeface="Figtree" pitchFamily="2" charset="0"/>
              </a:rPr>
              <a:t>€100k </a:t>
            </a:r>
            <a:r>
              <a:rPr lang="en-US" sz="2400" dirty="0">
                <a:solidFill>
                  <a:schemeClr val="tx1">
                    <a:lumMod val="75000"/>
                    <a:lumOff val="25000"/>
                  </a:schemeClr>
                </a:solidFill>
                <a:latin typeface="Figtree" pitchFamily="2" charset="0"/>
              </a:rPr>
              <a:t>funding for innovative, locally founded start-ups</a:t>
            </a:r>
            <a:endParaRPr lang="pt-AO" sz="2400">
              <a:solidFill>
                <a:schemeClr val="tx1">
                  <a:lumMod val="75000"/>
                  <a:lumOff val="25000"/>
                </a:schemeClr>
              </a:solidFill>
              <a:latin typeface="Figtree" pitchFamily="2" charset="0"/>
            </a:endParaRPr>
          </a:p>
        </p:txBody>
      </p:sp>
      <p:sp>
        <p:nvSpPr>
          <p:cNvPr id="42" name="Text Placeholder 4">
            <a:extLst>
              <a:ext uri="{FF2B5EF4-FFF2-40B4-BE49-F238E27FC236}">
                <a16:creationId xmlns:a16="http://schemas.microsoft.com/office/drawing/2014/main" id="{D0C7D84D-4504-ADC6-17B1-6FBC99FC4A48}"/>
              </a:ext>
            </a:extLst>
          </p:cNvPr>
          <p:cNvSpPr txBox="1">
            <a:spLocks/>
          </p:cNvSpPr>
          <p:nvPr/>
        </p:nvSpPr>
        <p:spPr>
          <a:xfrm>
            <a:off x="11973378" y="4619727"/>
            <a:ext cx="3228489" cy="633048"/>
          </a:xfrm>
          <a:prstGeom prst="rect">
            <a:avLst/>
          </a:prstGeom>
        </p:spPr>
        <p:txBody>
          <a:bodyPr lIns="0" tIns="0" rIns="0" bIns="0" anchor="t">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nSpc>
                <a:spcPct val="100000"/>
              </a:lnSpc>
              <a:spcBef>
                <a:spcPts val="0"/>
              </a:spcBef>
            </a:pPr>
            <a:r>
              <a:rPr lang="en-US" sz="3600" b="1">
                <a:solidFill>
                  <a:srgbClr val="00C159"/>
                </a:solidFill>
                <a:latin typeface="Figtree" pitchFamily="2" charset="0"/>
              </a:rPr>
              <a:t>Carbon Sequestration</a:t>
            </a:r>
            <a:endParaRPr lang="pt-AO" sz="3600" b="1">
              <a:solidFill>
                <a:srgbClr val="00C159"/>
              </a:solidFill>
              <a:latin typeface="Figtree" pitchFamily="2" charset="0"/>
            </a:endParaRPr>
          </a:p>
        </p:txBody>
      </p:sp>
      <p:sp>
        <p:nvSpPr>
          <p:cNvPr id="43" name="Text Placeholder 4">
            <a:extLst>
              <a:ext uri="{FF2B5EF4-FFF2-40B4-BE49-F238E27FC236}">
                <a16:creationId xmlns:a16="http://schemas.microsoft.com/office/drawing/2014/main" id="{DCD04F44-7450-C100-6FC5-28B5F2D4F597}"/>
              </a:ext>
            </a:extLst>
          </p:cNvPr>
          <p:cNvSpPr txBox="1">
            <a:spLocks/>
          </p:cNvSpPr>
          <p:nvPr/>
        </p:nvSpPr>
        <p:spPr>
          <a:xfrm>
            <a:off x="11973378" y="6109003"/>
            <a:ext cx="3167161" cy="1564458"/>
          </a:xfrm>
          <a:prstGeom prst="rect">
            <a:avLst/>
          </a:prstGeom>
        </p:spPr>
        <p:txBody>
          <a:bodyPr lIns="0" tIns="0" rIns="0" bIns="0" anchor="t">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nSpc>
                <a:spcPct val="100000"/>
              </a:lnSpc>
              <a:spcBef>
                <a:spcPts val="0"/>
              </a:spcBef>
            </a:pPr>
            <a:r>
              <a:rPr lang="en-US" sz="2400" b="1" dirty="0">
                <a:solidFill>
                  <a:srgbClr val="00C159"/>
                </a:solidFill>
                <a:latin typeface="Figtree" pitchFamily="2" charset="0"/>
              </a:rPr>
              <a:t>3 </a:t>
            </a:r>
            <a:r>
              <a:rPr lang="en-US" sz="2400" dirty="0">
                <a:solidFill>
                  <a:schemeClr val="tx1">
                    <a:lumMod val="75000"/>
                    <a:lumOff val="25000"/>
                  </a:schemeClr>
                </a:solidFill>
                <a:latin typeface="Figtree" pitchFamily="2" charset="0"/>
              </a:rPr>
              <a:t>nature-based </a:t>
            </a:r>
            <a:br>
              <a:rPr lang="en-US" sz="2400" dirty="0">
                <a:solidFill>
                  <a:schemeClr val="tx1">
                    <a:lumMod val="75000"/>
                    <a:lumOff val="25000"/>
                  </a:schemeClr>
                </a:solidFill>
                <a:latin typeface="Figtree" pitchFamily="2" charset="0"/>
              </a:rPr>
            </a:br>
            <a:r>
              <a:rPr lang="en-US" sz="2400" dirty="0">
                <a:solidFill>
                  <a:schemeClr val="tx1">
                    <a:lumMod val="75000"/>
                    <a:lumOff val="25000"/>
                  </a:schemeClr>
                </a:solidFill>
                <a:latin typeface="Figtree" pitchFamily="2" charset="0"/>
              </a:rPr>
              <a:t>carbon sink projects designed to sequester  </a:t>
            </a:r>
            <a:br>
              <a:rPr lang="en-US" sz="2400" dirty="0">
                <a:solidFill>
                  <a:schemeClr val="tx1">
                    <a:lumMod val="75000"/>
                    <a:lumOff val="25000"/>
                  </a:schemeClr>
                </a:solidFill>
                <a:latin typeface="Figtree" pitchFamily="2" charset="0"/>
              </a:rPr>
            </a:br>
            <a:r>
              <a:rPr lang="en-US" sz="2400" dirty="0">
                <a:solidFill>
                  <a:schemeClr val="tx1">
                    <a:lumMod val="75000"/>
                    <a:lumOff val="25000"/>
                  </a:schemeClr>
                </a:solidFill>
                <a:latin typeface="Figtree" pitchFamily="2" charset="0"/>
              </a:rPr>
              <a:t>c. 515 tons of CO</a:t>
            </a:r>
            <a:r>
              <a:rPr lang="en-US" sz="2400" baseline="-25000" dirty="0">
                <a:solidFill>
                  <a:schemeClr val="tx1">
                    <a:lumMod val="75000"/>
                    <a:lumOff val="25000"/>
                  </a:schemeClr>
                </a:solidFill>
                <a:latin typeface="Figtree" pitchFamily="2" charset="0"/>
              </a:rPr>
              <a:t>2 </a:t>
            </a:r>
            <a:r>
              <a:rPr lang="en-US" sz="2400" dirty="0">
                <a:solidFill>
                  <a:schemeClr val="tx1">
                    <a:lumMod val="75000"/>
                    <a:lumOff val="25000"/>
                  </a:schemeClr>
                </a:solidFill>
                <a:latin typeface="Figtree" pitchFamily="2" charset="0"/>
              </a:rPr>
              <a:t>/ yr</a:t>
            </a:r>
            <a:endParaRPr lang="pt-AO" sz="2400">
              <a:solidFill>
                <a:schemeClr val="tx1">
                  <a:lumMod val="75000"/>
                  <a:lumOff val="25000"/>
                </a:schemeClr>
              </a:solidFill>
              <a:latin typeface="Figtree" pitchFamily="2" charset="0"/>
            </a:endParaRPr>
          </a:p>
        </p:txBody>
      </p:sp>
      <p:sp>
        <p:nvSpPr>
          <p:cNvPr id="46" name="Text Placeholder 4">
            <a:extLst>
              <a:ext uri="{FF2B5EF4-FFF2-40B4-BE49-F238E27FC236}">
                <a16:creationId xmlns:a16="http://schemas.microsoft.com/office/drawing/2014/main" id="{03976F69-C964-16D3-5654-9DE52AC0EB65}"/>
              </a:ext>
            </a:extLst>
          </p:cNvPr>
          <p:cNvSpPr txBox="1">
            <a:spLocks/>
          </p:cNvSpPr>
          <p:nvPr/>
        </p:nvSpPr>
        <p:spPr>
          <a:xfrm>
            <a:off x="15935287" y="6109003"/>
            <a:ext cx="3495714" cy="1855901"/>
          </a:xfrm>
          <a:prstGeom prst="rect">
            <a:avLst/>
          </a:prstGeom>
        </p:spPr>
        <p:txBody>
          <a:bodyPr lIns="0" tIns="0" rIns="0" bIns="0" anchor="t">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nSpc>
                <a:spcPct val="100000"/>
              </a:lnSpc>
              <a:spcBef>
                <a:spcPts val="0"/>
              </a:spcBef>
            </a:pPr>
            <a:r>
              <a:rPr lang="en-US" sz="2400" b="1" dirty="0">
                <a:solidFill>
                  <a:srgbClr val="00C159"/>
                </a:solidFill>
                <a:latin typeface="Figtree" pitchFamily="2" charset="0"/>
              </a:rPr>
              <a:t>250</a:t>
            </a:r>
            <a:r>
              <a:rPr lang="en-US" sz="2400" dirty="0">
                <a:solidFill>
                  <a:schemeClr val="tx1">
                    <a:lumMod val="75000"/>
                    <a:lumOff val="25000"/>
                  </a:schemeClr>
                </a:solidFill>
                <a:latin typeface="Figtree" pitchFamily="2" charset="0"/>
              </a:rPr>
              <a:t> new propagules of critically endangered </a:t>
            </a:r>
            <a:r>
              <a:rPr lang="en-US" sz="2400" i="1" dirty="0">
                <a:solidFill>
                  <a:schemeClr val="tx1">
                    <a:lumMod val="75000"/>
                    <a:lumOff val="25000"/>
                  </a:schemeClr>
                </a:solidFill>
                <a:latin typeface="Figtree" pitchFamily="2" charset="0"/>
              </a:rPr>
              <a:t>Erica</a:t>
            </a:r>
            <a:r>
              <a:rPr lang="en-US" sz="2400" dirty="0">
                <a:solidFill>
                  <a:schemeClr val="tx1">
                    <a:lumMod val="75000"/>
                    <a:lumOff val="25000"/>
                  </a:schemeClr>
                </a:solidFill>
                <a:latin typeface="Figtree" pitchFamily="2" charset="0"/>
              </a:rPr>
              <a:t> species</a:t>
            </a:r>
          </a:p>
          <a:p>
            <a:pPr>
              <a:lnSpc>
                <a:spcPct val="100000"/>
              </a:lnSpc>
              <a:spcBef>
                <a:spcPts val="0"/>
              </a:spcBef>
            </a:pPr>
            <a:r>
              <a:rPr lang="en-US" sz="2400" b="1" dirty="0">
                <a:solidFill>
                  <a:srgbClr val="00C159"/>
                </a:solidFill>
                <a:latin typeface="Figtree" pitchFamily="2" charset="0"/>
              </a:rPr>
              <a:t>200</a:t>
            </a:r>
            <a:r>
              <a:rPr lang="en-US" sz="2400" dirty="0">
                <a:solidFill>
                  <a:schemeClr val="tx1">
                    <a:lumMod val="75000"/>
                    <a:lumOff val="25000"/>
                  </a:schemeClr>
                </a:solidFill>
                <a:latin typeface="Figtree" pitchFamily="2" charset="0"/>
              </a:rPr>
              <a:t> tons of protected habitat soil preserved</a:t>
            </a:r>
          </a:p>
          <a:p>
            <a:pPr>
              <a:lnSpc>
                <a:spcPct val="100000"/>
              </a:lnSpc>
              <a:spcBef>
                <a:spcPts val="0"/>
              </a:spcBef>
            </a:pPr>
            <a:endParaRPr lang="pt-AO" sz="2400">
              <a:solidFill>
                <a:schemeClr val="tx1">
                  <a:lumMod val="75000"/>
                  <a:lumOff val="25000"/>
                </a:schemeClr>
              </a:solidFill>
              <a:latin typeface="Figtree" pitchFamily="2" charset="0"/>
            </a:endParaRPr>
          </a:p>
        </p:txBody>
      </p:sp>
      <p:sp>
        <p:nvSpPr>
          <p:cNvPr id="47" name="Text Placeholder 4">
            <a:extLst>
              <a:ext uri="{FF2B5EF4-FFF2-40B4-BE49-F238E27FC236}">
                <a16:creationId xmlns:a16="http://schemas.microsoft.com/office/drawing/2014/main" id="{B59786F4-2B95-0DB4-0E3C-DC4D3127F91F}"/>
              </a:ext>
            </a:extLst>
          </p:cNvPr>
          <p:cNvSpPr txBox="1">
            <a:spLocks/>
          </p:cNvSpPr>
          <p:nvPr/>
        </p:nvSpPr>
        <p:spPr>
          <a:xfrm>
            <a:off x="15959349" y="4619727"/>
            <a:ext cx="2462545" cy="633048"/>
          </a:xfrm>
          <a:prstGeom prst="rect">
            <a:avLst/>
          </a:prstGeom>
        </p:spPr>
        <p:txBody>
          <a:bodyPr lIns="0" tIns="0" rIns="0" bIns="0" anchor="t">
            <a:noAutofit/>
          </a:bodyPr>
          <a:lstStyle>
            <a:defPPr>
              <a:defRPr lang="en-US"/>
            </a:defPPr>
            <a:lvl1pPr marL="0" algn="l" defTabSz="1039170" rtl="0" eaLnBrk="1" latinLnBrk="0" hangingPunct="1">
              <a:defRPr sz="4091" kern="1200">
                <a:solidFill>
                  <a:schemeClr val="tx1"/>
                </a:solidFill>
                <a:latin typeface="+mn-lt"/>
                <a:ea typeface="+mn-ea"/>
                <a:cs typeface="+mn-cs"/>
              </a:defRPr>
            </a:lvl1pPr>
            <a:lvl2pPr marL="1039170" algn="l" defTabSz="1039170" rtl="0" eaLnBrk="1" latinLnBrk="0" hangingPunct="1">
              <a:defRPr sz="4091" kern="1200">
                <a:solidFill>
                  <a:schemeClr val="tx1"/>
                </a:solidFill>
                <a:latin typeface="+mn-lt"/>
                <a:ea typeface="+mn-ea"/>
                <a:cs typeface="+mn-cs"/>
              </a:defRPr>
            </a:lvl2pPr>
            <a:lvl3pPr marL="2078340" algn="l" defTabSz="1039170" rtl="0" eaLnBrk="1" latinLnBrk="0" hangingPunct="1">
              <a:defRPr sz="4091" kern="1200">
                <a:solidFill>
                  <a:schemeClr val="tx1"/>
                </a:solidFill>
                <a:latin typeface="+mn-lt"/>
                <a:ea typeface="+mn-ea"/>
                <a:cs typeface="+mn-cs"/>
              </a:defRPr>
            </a:lvl3pPr>
            <a:lvl4pPr marL="3117510" algn="l" defTabSz="1039170" rtl="0" eaLnBrk="1" latinLnBrk="0" hangingPunct="1">
              <a:defRPr sz="4091" kern="1200">
                <a:solidFill>
                  <a:schemeClr val="tx1"/>
                </a:solidFill>
                <a:latin typeface="+mn-lt"/>
                <a:ea typeface="+mn-ea"/>
                <a:cs typeface="+mn-cs"/>
              </a:defRPr>
            </a:lvl4pPr>
            <a:lvl5pPr marL="4156680" algn="l" defTabSz="1039170" rtl="0" eaLnBrk="1" latinLnBrk="0" hangingPunct="1">
              <a:defRPr sz="4091" kern="1200">
                <a:solidFill>
                  <a:schemeClr val="tx1"/>
                </a:solidFill>
                <a:latin typeface="+mn-lt"/>
                <a:ea typeface="+mn-ea"/>
                <a:cs typeface="+mn-cs"/>
              </a:defRPr>
            </a:lvl5pPr>
            <a:lvl6pPr marL="5195849" algn="l" defTabSz="1039170" rtl="0" eaLnBrk="1" latinLnBrk="0" hangingPunct="1">
              <a:defRPr sz="4091" kern="1200">
                <a:solidFill>
                  <a:schemeClr val="tx1"/>
                </a:solidFill>
                <a:latin typeface="+mn-lt"/>
                <a:ea typeface="+mn-ea"/>
                <a:cs typeface="+mn-cs"/>
              </a:defRPr>
            </a:lvl6pPr>
            <a:lvl7pPr marL="6235019" algn="l" defTabSz="1039170" rtl="0" eaLnBrk="1" latinLnBrk="0" hangingPunct="1">
              <a:defRPr sz="4091" kern="1200">
                <a:solidFill>
                  <a:schemeClr val="tx1"/>
                </a:solidFill>
                <a:latin typeface="+mn-lt"/>
                <a:ea typeface="+mn-ea"/>
                <a:cs typeface="+mn-cs"/>
              </a:defRPr>
            </a:lvl7pPr>
            <a:lvl8pPr marL="7274189" algn="l" defTabSz="1039170" rtl="0" eaLnBrk="1" latinLnBrk="0" hangingPunct="1">
              <a:defRPr sz="4091" kern="1200">
                <a:solidFill>
                  <a:schemeClr val="tx1"/>
                </a:solidFill>
                <a:latin typeface="+mn-lt"/>
                <a:ea typeface="+mn-ea"/>
                <a:cs typeface="+mn-cs"/>
              </a:defRPr>
            </a:lvl8pPr>
            <a:lvl9pPr marL="8313359" algn="l" defTabSz="1039170" rtl="0" eaLnBrk="1" latinLnBrk="0" hangingPunct="1">
              <a:defRPr sz="4091" kern="1200">
                <a:solidFill>
                  <a:schemeClr val="tx1"/>
                </a:solidFill>
                <a:latin typeface="+mn-lt"/>
                <a:ea typeface="+mn-ea"/>
                <a:cs typeface="+mn-cs"/>
              </a:defRPr>
            </a:lvl9pPr>
          </a:lstStyle>
          <a:p>
            <a:pPr>
              <a:lnSpc>
                <a:spcPct val="100000"/>
              </a:lnSpc>
              <a:spcBef>
                <a:spcPts val="0"/>
              </a:spcBef>
            </a:pPr>
            <a:r>
              <a:rPr lang="en-US" sz="3600" b="1" dirty="0">
                <a:solidFill>
                  <a:srgbClr val="00C159"/>
                </a:solidFill>
                <a:latin typeface="Figtree" pitchFamily="2" charset="0"/>
              </a:rPr>
              <a:t>Seed </a:t>
            </a:r>
          </a:p>
          <a:p>
            <a:pPr>
              <a:lnSpc>
                <a:spcPct val="100000"/>
              </a:lnSpc>
              <a:spcBef>
                <a:spcPts val="0"/>
              </a:spcBef>
            </a:pPr>
            <a:r>
              <a:rPr lang="en-US" sz="3600" b="1" dirty="0">
                <a:solidFill>
                  <a:srgbClr val="00C159"/>
                </a:solidFill>
                <a:latin typeface="Figtree" pitchFamily="2" charset="0"/>
              </a:rPr>
              <a:t>Bank</a:t>
            </a:r>
            <a:endParaRPr lang="pt-AO" sz="3600" b="1">
              <a:solidFill>
                <a:srgbClr val="00C159"/>
              </a:solidFill>
              <a:latin typeface="Figtree" pitchFamily="2" charset="0"/>
            </a:endParaRPr>
          </a:p>
        </p:txBody>
      </p:sp>
      <p:sp>
        <p:nvSpPr>
          <p:cNvPr id="5" name="TextBox 4">
            <a:extLst>
              <a:ext uri="{FF2B5EF4-FFF2-40B4-BE49-F238E27FC236}">
                <a16:creationId xmlns:a16="http://schemas.microsoft.com/office/drawing/2014/main" id="{4DA48B23-58BB-44DE-5C6C-3A7B5026FC14}"/>
              </a:ext>
            </a:extLst>
          </p:cNvPr>
          <p:cNvSpPr txBox="1"/>
          <p:nvPr/>
        </p:nvSpPr>
        <p:spPr>
          <a:xfrm>
            <a:off x="1508482" y="1959829"/>
            <a:ext cx="9536508" cy="1323439"/>
          </a:xfrm>
          <a:prstGeom prst="rect">
            <a:avLst/>
          </a:prstGeom>
          <a:noFill/>
        </p:spPr>
        <p:txBody>
          <a:bodyPr wrap="square">
            <a:spAutoFit/>
          </a:bodyPr>
          <a:lstStyle/>
          <a:p>
            <a:r>
              <a:rPr lang="en-GB" sz="4000" b="1" dirty="0">
                <a:solidFill>
                  <a:srgbClr val="00C159"/>
                </a:solidFill>
                <a:latin typeface="Figtree SemiBold" pitchFamily="2" charset="0"/>
              </a:rPr>
              <a:t>Sustainability</a:t>
            </a:r>
            <a:r>
              <a:rPr lang="en-GB" sz="4000" b="1" dirty="0">
                <a:latin typeface="Figtree SemiBold" pitchFamily="2" charset="0"/>
              </a:rPr>
              <a:t> milestones achieved so far and targets by </a:t>
            </a:r>
            <a:r>
              <a:rPr lang="en-GB" sz="4000" b="1" dirty="0">
                <a:solidFill>
                  <a:srgbClr val="00C159"/>
                </a:solidFill>
                <a:latin typeface="Figtree SemiBold" pitchFamily="2" charset="0"/>
              </a:rPr>
              <a:t>Start Campus</a:t>
            </a:r>
          </a:p>
        </p:txBody>
      </p:sp>
    </p:spTree>
    <p:extLst>
      <p:ext uri="{BB962C8B-B14F-4D97-AF65-F5344CB8AC3E}">
        <p14:creationId xmlns:p14="http://schemas.microsoft.com/office/powerpoint/2010/main" val="26286499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0DD60B6C-97EE-E281-2ED0-092CD375472B}"/>
              </a:ext>
            </a:extLst>
          </p:cNvPr>
          <p:cNvSpPr/>
          <p:nvPr/>
        </p:nvSpPr>
        <p:spPr>
          <a:xfrm>
            <a:off x="16800875" y="6984608"/>
            <a:ext cx="7586299" cy="6731391"/>
          </a:xfrm>
          <a:prstGeom prst="rect">
            <a:avLst/>
          </a:prstGeom>
          <a:solidFill>
            <a:srgbClr val="EDEB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1828800"/>
            <a:endParaRPr lang="en-GB">
              <a:solidFill>
                <a:srgbClr val="F4F4FF"/>
              </a:solidFill>
              <a:latin typeface="Aptos" panose="02110004020202020204"/>
            </a:endParaRPr>
          </a:p>
        </p:txBody>
      </p:sp>
      <p:sp>
        <p:nvSpPr>
          <p:cNvPr id="2" name="Title 1">
            <a:extLst>
              <a:ext uri="{FF2B5EF4-FFF2-40B4-BE49-F238E27FC236}">
                <a16:creationId xmlns:a16="http://schemas.microsoft.com/office/drawing/2014/main" id="{B3A66FED-FC35-EC29-20FF-128206B26DB2}"/>
              </a:ext>
            </a:extLst>
          </p:cNvPr>
          <p:cNvSpPr>
            <a:spLocks noGrp="1"/>
          </p:cNvSpPr>
          <p:nvPr>
            <p:ph type="title"/>
          </p:nvPr>
        </p:nvSpPr>
        <p:spPr>
          <a:xfrm>
            <a:off x="1023948" y="736599"/>
            <a:ext cx="22268928" cy="1653786"/>
          </a:xfrm>
        </p:spPr>
        <p:txBody>
          <a:bodyPr/>
          <a:lstStyle/>
          <a:p>
            <a:r>
              <a:rPr lang="en-US">
                <a:solidFill>
                  <a:schemeClr val="tx1"/>
                </a:solidFill>
              </a:rPr>
              <a:t>By combining </a:t>
            </a:r>
            <a:r>
              <a:rPr lang="en-US">
                <a:solidFill>
                  <a:srgbClr val="00C159"/>
                </a:solidFill>
              </a:rPr>
              <a:t>seawater</a:t>
            </a:r>
            <a:r>
              <a:rPr lang="en-US">
                <a:solidFill>
                  <a:schemeClr val="tx1"/>
                </a:solidFill>
              </a:rPr>
              <a:t> and </a:t>
            </a:r>
            <a:r>
              <a:rPr lang="en-US">
                <a:solidFill>
                  <a:srgbClr val="00C159"/>
                </a:solidFill>
              </a:rPr>
              <a:t>liquid cooling</a:t>
            </a:r>
            <a:r>
              <a:rPr lang="en-US">
                <a:solidFill>
                  <a:schemeClr val="tx1"/>
                </a:solidFill>
              </a:rPr>
              <a:t>, Start Campus offers an ultra-efficient thermal backbone for </a:t>
            </a:r>
            <a:r>
              <a:rPr lang="en-US">
                <a:solidFill>
                  <a:srgbClr val="00C159"/>
                </a:solidFill>
              </a:rPr>
              <a:t>AI workloads at scale</a:t>
            </a:r>
            <a:endParaRPr lang="en-GB">
              <a:solidFill>
                <a:schemeClr val="tx1"/>
              </a:solidFill>
            </a:endParaRPr>
          </a:p>
        </p:txBody>
      </p:sp>
      <p:sp>
        <p:nvSpPr>
          <p:cNvPr id="5" name="Slide Number Placeholder 4">
            <a:extLst>
              <a:ext uri="{FF2B5EF4-FFF2-40B4-BE49-F238E27FC236}">
                <a16:creationId xmlns:a16="http://schemas.microsoft.com/office/drawing/2014/main" id="{E9EDA393-ADB8-29D6-C613-E240702DA2D8}"/>
              </a:ext>
            </a:extLst>
          </p:cNvPr>
          <p:cNvSpPr>
            <a:spLocks noGrp="1"/>
          </p:cNvSpPr>
          <p:nvPr>
            <p:ph type="sldNum" sz="quarter" idx="12"/>
          </p:nvPr>
        </p:nvSpPr>
        <p:spPr/>
        <p:txBody>
          <a:bodyPr/>
          <a:lstStyle/>
          <a:p>
            <a:fld id="{5F99CA44-E461-4342-8946-62027848508A}" type="slidenum">
              <a:rPr lang="en-PT" smtClean="0"/>
              <a:pPr/>
              <a:t>33</a:t>
            </a:fld>
            <a:endParaRPr lang="en-PT"/>
          </a:p>
        </p:txBody>
      </p:sp>
      <p:sp>
        <p:nvSpPr>
          <p:cNvPr id="21" name="TextBox 20">
            <a:extLst>
              <a:ext uri="{FF2B5EF4-FFF2-40B4-BE49-F238E27FC236}">
                <a16:creationId xmlns:a16="http://schemas.microsoft.com/office/drawing/2014/main" id="{58AC9B88-E2AD-AAA3-F04E-B5E5889B64DB}"/>
              </a:ext>
            </a:extLst>
          </p:cNvPr>
          <p:cNvSpPr txBox="1"/>
          <p:nvPr/>
        </p:nvSpPr>
        <p:spPr>
          <a:xfrm>
            <a:off x="17097730" y="7168550"/>
            <a:ext cx="6840793" cy="6217087"/>
          </a:xfrm>
          <a:prstGeom prst="rect">
            <a:avLst/>
          </a:prstGeom>
          <a:noFill/>
        </p:spPr>
        <p:txBody>
          <a:bodyPr wrap="square">
            <a:spAutoFit/>
          </a:bodyPr>
          <a:lstStyle/>
          <a:p>
            <a:pPr algn="ctr"/>
            <a:r>
              <a:rPr lang="en-US" sz="3000" b="1">
                <a:solidFill>
                  <a:srgbClr val="00C159"/>
                </a:solidFill>
                <a:latin typeface="Figtree" pitchFamily="2" charset="0"/>
              </a:rPr>
              <a:t>Key benefits</a:t>
            </a:r>
            <a:endParaRPr lang="en-US" sz="3000">
              <a:latin typeface="Figtree" pitchFamily="2" charset="0"/>
            </a:endParaRPr>
          </a:p>
          <a:p>
            <a:pPr marL="457200" indent="-457200">
              <a:buFont typeface="Arial" panose="020B0604020202020204" pitchFamily="34" charset="0"/>
              <a:buChar char="•"/>
            </a:pPr>
            <a:endParaRPr lang="en-US" sz="3000">
              <a:latin typeface="Figtree" pitchFamily="2" charset="0"/>
            </a:endParaRPr>
          </a:p>
          <a:p>
            <a:pPr marL="457200" indent="-457200">
              <a:buFont typeface="Arial" panose="020B0604020202020204" pitchFamily="34" charset="0"/>
              <a:buChar char="•"/>
            </a:pPr>
            <a:r>
              <a:rPr lang="en-US" sz="2800">
                <a:latin typeface="Figtree" pitchFamily="2" charset="0"/>
              </a:rPr>
              <a:t>Lower operating costs, with </a:t>
            </a:r>
            <a:r>
              <a:rPr lang="en-US" sz="2800" b="1">
                <a:latin typeface="Figtree" pitchFamily="2" charset="0"/>
              </a:rPr>
              <a:t>unmatched efficiency </a:t>
            </a:r>
            <a:r>
              <a:rPr lang="en-US" sz="2800">
                <a:latin typeface="Figtree" pitchFamily="2" charset="0"/>
              </a:rPr>
              <a:t>and </a:t>
            </a:r>
            <a:r>
              <a:rPr lang="en-US" sz="2800" b="1">
                <a:latin typeface="Figtree" pitchFamily="2" charset="0"/>
              </a:rPr>
              <a:t>low PUE</a:t>
            </a:r>
          </a:p>
          <a:p>
            <a:endParaRPr lang="en-US" sz="2800">
              <a:latin typeface="Figtree" pitchFamily="2" charset="0"/>
            </a:endParaRPr>
          </a:p>
          <a:p>
            <a:pPr marL="457200" indent="-457200">
              <a:buFont typeface="Arial" panose="020B0604020202020204" pitchFamily="34" charset="0"/>
              <a:buChar char="•"/>
            </a:pPr>
            <a:r>
              <a:rPr lang="en-US" sz="2800">
                <a:latin typeface="Figtree" pitchFamily="2" charset="0"/>
              </a:rPr>
              <a:t>Industry-leading </a:t>
            </a:r>
            <a:r>
              <a:rPr lang="en-US" sz="2800" b="1">
                <a:latin typeface="Figtree" pitchFamily="2" charset="0"/>
              </a:rPr>
              <a:t>sustainability credentials</a:t>
            </a:r>
            <a:r>
              <a:rPr lang="en-US" sz="2800">
                <a:latin typeface="Figtree" pitchFamily="2" charset="0"/>
              </a:rPr>
              <a:t>, incl. reduced CO</a:t>
            </a:r>
            <a:r>
              <a:rPr lang="en-US" sz="2800" baseline="-25000">
                <a:latin typeface="Figtree" pitchFamily="2" charset="0"/>
              </a:rPr>
              <a:t>2</a:t>
            </a:r>
            <a:r>
              <a:rPr lang="en-US" sz="2800">
                <a:latin typeface="Figtree" pitchFamily="2" charset="0"/>
              </a:rPr>
              <a:t> emissions, zero potable water use </a:t>
            </a:r>
          </a:p>
          <a:p>
            <a:pPr marL="457200" indent="-457200">
              <a:buFont typeface="Arial" panose="020B0604020202020204" pitchFamily="34" charset="0"/>
              <a:buChar char="•"/>
            </a:pPr>
            <a:endParaRPr lang="en-US" sz="2800">
              <a:latin typeface="Figtree" pitchFamily="2" charset="0"/>
            </a:endParaRPr>
          </a:p>
          <a:p>
            <a:pPr marL="457200" indent="-457200">
              <a:buFont typeface="Arial" panose="020B0604020202020204" pitchFamily="34" charset="0"/>
              <a:buChar char="•"/>
            </a:pPr>
            <a:r>
              <a:rPr lang="en-US" sz="2800" b="1">
                <a:latin typeface="Figtree" pitchFamily="2" charset="0"/>
              </a:rPr>
              <a:t>Consistent performance </a:t>
            </a:r>
            <a:r>
              <a:rPr lang="en-US" sz="2800">
                <a:latin typeface="Figtree" pitchFamily="2" charset="0"/>
              </a:rPr>
              <a:t>and </a:t>
            </a:r>
            <a:r>
              <a:rPr lang="en-US" sz="2800" b="1">
                <a:latin typeface="Figtree" pitchFamily="2" charset="0"/>
              </a:rPr>
              <a:t>uptime </a:t>
            </a:r>
            <a:r>
              <a:rPr lang="en-US" sz="2800">
                <a:latin typeface="Figtree" pitchFamily="2" charset="0"/>
              </a:rPr>
              <a:t>with resilient, thermally stable cooling </a:t>
            </a:r>
          </a:p>
          <a:p>
            <a:pPr marL="457200" indent="-457200">
              <a:buFont typeface="Arial" panose="020B0604020202020204" pitchFamily="34" charset="0"/>
              <a:buChar char="•"/>
            </a:pPr>
            <a:endParaRPr lang="en-US" sz="2800">
              <a:latin typeface="Figtree" pitchFamily="2" charset="0"/>
            </a:endParaRPr>
          </a:p>
          <a:p>
            <a:pPr marL="457200" indent="-457200">
              <a:buFont typeface="Arial" panose="020B0604020202020204" pitchFamily="34" charset="0"/>
              <a:buChar char="•"/>
            </a:pPr>
            <a:r>
              <a:rPr lang="en-US" sz="2800" b="1">
                <a:latin typeface="Figtree" pitchFamily="2" charset="0"/>
              </a:rPr>
              <a:t>Reduced </a:t>
            </a:r>
            <a:r>
              <a:rPr lang="en-US" sz="2800" b="1" err="1">
                <a:latin typeface="Figtree" pitchFamily="2" charset="0"/>
              </a:rPr>
              <a:t>fitout</a:t>
            </a:r>
            <a:r>
              <a:rPr lang="en-US" sz="2800" b="1">
                <a:latin typeface="Figtree" pitchFamily="2" charset="0"/>
              </a:rPr>
              <a:t> capex </a:t>
            </a:r>
            <a:r>
              <a:rPr lang="en-US" sz="2800">
                <a:latin typeface="Figtree" pitchFamily="2" charset="0"/>
              </a:rPr>
              <a:t>required</a:t>
            </a:r>
            <a:endParaRPr lang="en-US" sz="3000">
              <a:latin typeface="Figtree" pitchFamily="2" charset="0"/>
            </a:endParaRPr>
          </a:p>
          <a:p>
            <a:pPr marL="457200" indent="-457200">
              <a:buFont typeface="Arial" panose="020B0604020202020204" pitchFamily="34" charset="0"/>
              <a:buChar char="•"/>
            </a:pPr>
            <a:endParaRPr lang="en-US" sz="3000">
              <a:latin typeface="Figtree" pitchFamily="2" charset="0"/>
            </a:endParaRPr>
          </a:p>
        </p:txBody>
      </p:sp>
      <p:grpSp>
        <p:nvGrpSpPr>
          <p:cNvPr id="26" name="Group 25">
            <a:extLst>
              <a:ext uri="{FF2B5EF4-FFF2-40B4-BE49-F238E27FC236}">
                <a16:creationId xmlns:a16="http://schemas.microsoft.com/office/drawing/2014/main" id="{E7564FE9-337C-942F-0456-F1566A14A220}"/>
              </a:ext>
            </a:extLst>
          </p:cNvPr>
          <p:cNvGrpSpPr/>
          <p:nvPr/>
        </p:nvGrpSpPr>
        <p:grpSpPr>
          <a:xfrm>
            <a:off x="1237104" y="3436805"/>
            <a:ext cx="13487081" cy="4914837"/>
            <a:chOff x="1237104" y="3933364"/>
            <a:chExt cx="15245545" cy="6792685"/>
          </a:xfrm>
        </p:grpSpPr>
        <p:grpSp>
          <p:nvGrpSpPr>
            <p:cNvPr id="8" name="Group 7">
              <a:extLst>
                <a:ext uri="{FF2B5EF4-FFF2-40B4-BE49-F238E27FC236}">
                  <a16:creationId xmlns:a16="http://schemas.microsoft.com/office/drawing/2014/main" id="{2951406D-D19D-1028-4540-124B6CBBC353}"/>
                </a:ext>
              </a:extLst>
            </p:cNvPr>
            <p:cNvGrpSpPr/>
            <p:nvPr/>
          </p:nvGrpSpPr>
          <p:grpSpPr>
            <a:xfrm>
              <a:off x="1237104" y="6662860"/>
              <a:ext cx="2936743" cy="2019317"/>
              <a:chOff x="1637154" y="6662860"/>
              <a:chExt cx="2936743" cy="2019317"/>
            </a:xfrm>
          </p:grpSpPr>
          <p:pic>
            <p:nvPicPr>
              <p:cNvPr id="9" name="Graphic 8" descr="Wave outline">
                <a:extLst>
                  <a:ext uri="{FF2B5EF4-FFF2-40B4-BE49-F238E27FC236}">
                    <a16:creationId xmlns:a16="http://schemas.microsoft.com/office/drawing/2014/main" id="{4C0CDB39-AC99-0693-71E2-301D5F94035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242180" y="6662860"/>
                <a:ext cx="1726690" cy="1726690"/>
              </a:xfrm>
              <a:prstGeom prst="rect">
                <a:avLst/>
              </a:prstGeom>
            </p:spPr>
          </p:pic>
          <p:sp>
            <p:nvSpPr>
              <p:cNvPr id="10" name="TextBox 9">
                <a:extLst>
                  <a:ext uri="{FF2B5EF4-FFF2-40B4-BE49-F238E27FC236}">
                    <a16:creationId xmlns:a16="http://schemas.microsoft.com/office/drawing/2014/main" id="{DDBB1401-DAD6-CDA0-1636-9AFF1CCADB57}"/>
                  </a:ext>
                </a:extLst>
              </p:cNvPr>
              <p:cNvSpPr txBox="1"/>
              <p:nvPr/>
            </p:nvSpPr>
            <p:spPr>
              <a:xfrm>
                <a:off x="1637154" y="8220512"/>
                <a:ext cx="2936743" cy="461665"/>
              </a:xfrm>
              <a:prstGeom prst="rect">
                <a:avLst/>
              </a:prstGeom>
              <a:noFill/>
            </p:spPr>
            <p:txBody>
              <a:bodyPr wrap="square">
                <a:spAutoFit/>
              </a:bodyPr>
              <a:lstStyle/>
              <a:p>
                <a:pPr algn="ctr"/>
                <a:r>
                  <a:rPr lang="en-US" sz="2400">
                    <a:latin typeface="Figtree" pitchFamily="2" charset="0"/>
                  </a:rPr>
                  <a:t>Atlantic Ocean</a:t>
                </a:r>
                <a:endParaRPr lang="en-GB" sz="2400"/>
              </a:p>
            </p:txBody>
          </p:sp>
          <p:sp>
            <p:nvSpPr>
              <p:cNvPr id="11" name="TextBox 10">
                <a:extLst>
                  <a:ext uri="{FF2B5EF4-FFF2-40B4-BE49-F238E27FC236}">
                    <a16:creationId xmlns:a16="http://schemas.microsoft.com/office/drawing/2014/main" id="{6EF4EC49-EC64-51BE-9536-633C4F46D5C5}"/>
                  </a:ext>
                </a:extLst>
              </p:cNvPr>
              <p:cNvSpPr txBox="1"/>
              <p:nvPr/>
            </p:nvSpPr>
            <p:spPr>
              <a:xfrm>
                <a:off x="1637154" y="6669801"/>
                <a:ext cx="2936743" cy="461665"/>
              </a:xfrm>
              <a:prstGeom prst="rect">
                <a:avLst/>
              </a:prstGeom>
              <a:noFill/>
            </p:spPr>
            <p:txBody>
              <a:bodyPr wrap="square">
                <a:spAutoFit/>
              </a:bodyPr>
              <a:lstStyle/>
              <a:p>
                <a:pPr algn="ctr"/>
                <a:endParaRPr lang="en-GB" sz="2400"/>
              </a:p>
            </p:txBody>
          </p:sp>
        </p:grpSp>
        <p:cxnSp>
          <p:nvCxnSpPr>
            <p:cNvPr id="12" name="Straight Connector 11">
              <a:extLst>
                <a:ext uri="{FF2B5EF4-FFF2-40B4-BE49-F238E27FC236}">
                  <a16:creationId xmlns:a16="http://schemas.microsoft.com/office/drawing/2014/main" id="{0D43021E-F4F2-DBBE-4C54-05096CCA2008}"/>
                </a:ext>
              </a:extLst>
            </p:cNvPr>
            <p:cNvCxnSpPr>
              <a:cxnSpLocks/>
            </p:cNvCxnSpPr>
            <p:nvPr/>
          </p:nvCxnSpPr>
          <p:spPr>
            <a:xfrm>
              <a:off x="9022231" y="4688075"/>
              <a:ext cx="0" cy="6037974"/>
            </a:xfrm>
            <a:prstGeom prst="line">
              <a:avLst/>
            </a:prstGeom>
            <a:ln>
              <a:solidFill>
                <a:schemeClr val="bg1">
                  <a:lumMod val="50000"/>
                </a:schemeClr>
              </a:solidFill>
              <a:prstDash val="dash"/>
            </a:ln>
          </p:spPr>
          <p:style>
            <a:lnRef idx="2">
              <a:schemeClr val="accent1"/>
            </a:lnRef>
            <a:fillRef idx="0">
              <a:schemeClr val="accent1"/>
            </a:fillRef>
            <a:effectRef idx="1">
              <a:schemeClr val="accent1"/>
            </a:effectRef>
            <a:fontRef idx="minor">
              <a:schemeClr val="tx1"/>
            </a:fontRef>
          </p:style>
        </p:cxnSp>
        <p:sp>
          <p:nvSpPr>
            <p:cNvPr id="13" name="Rectangle 12">
              <a:extLst>
                <a:ext uri="{FF2B5EF4-FFF2-40B4-BE49-F238E27FC236}">
                  <a16:creationId xmlns:a16="http://schemas.microsoft.com/office/drawing/2014/main" id="{3B43BABE-2DA2-0D6B-E5C8-03B9EFAACF74}"/>
                </a:ext>
              </a:extLst>
            </p:cNvPr>
            <p:cNvSpPr/>
            <p:nvPr/>
          </p:nvSpPr>
          <p:spPr>
            <a:xfrm>
              <a:off x="7704180" y="6632058"/>
              <a:ext cx="2636105" cy="2150007"/>
            </a:xfrm>
            <a:prstGeom prst="rect">
              <a:avLst/>
            </a:prstGeom>
            <a:solidFill>
              <a:schemeClr val="bg1">
                <a:lumMod val="50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Figtree" pitchFamily="2" charset="0"/>
                </a:rPr>
                <a:t>Heat Exchanger</a:t>
              </a:r>
              <a:endParaRPr lang="en-GB" sz="3200">
                <a:latin typeface="Figtree" pitchFamily="2" charset="0"/>
              </a:endParaRPr>
            </a:p>
          </p:txBody>
        </p:sp>
        <p:sp>
          <p:nvSpPr>
            <p:cNvPr id="14" name="Isosceles Triangle 13">
              <a:extLst>
                <a:ext uri="{FF2B5EF4-FFF2-40B4-BE49-F238E27FC236}">
                  <a16:creationId xmlns:a16="http://schemas.microsoft.com/office/drawing/2014/main" id="{D6CD559C-8166-DC1B-36DD-7371EAE95386}"/>
                </a:ext>
              </a:extLst>
            </p:cNvPr>
            <p:cNvSpPr/>
            <p:nvPr/>
          </p:nvSpPr>
          <p:spPr>
            <a:xfrm rot="5400000">
              <a:off x="12367039" y="4991608"/>
              <a:ext cx="819028" cy="468923"/>
            </a:xfrm>
            <a:prstGeom prst="triangle">
              <a:avLst/>
            </a:prstGeom>
            <a:solidFill>
              <a:srgbClr val="00C15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a:extLst>
                <a:ext uri="{FF2B5EF4-FFF2-40B4-BE49-F238E27FC236}">
                  <a16:creationId xmlns:a16="http://schemas.microsoft.com/office/drawing/2014/main" id="{C0B06238-CF23-7A57-F937-F97C2677D6C7}"/>
                </a:ext>
              </a:extLst>
            </p:cNvPr>
            <p:cNvSpPr/>
            <p:nvPr/>
          </p:nvSpPr>
          <p:spPr>
            <a:xfrm>
              <a:off x="14224033" y="6563072"/>
              <a:ext cx="2258616" cy="2150005"/>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200">
                  <a:latin typeface="Figtree" pitchFamily="2" charset="0"/>
                </a:rPr>
                <a:t>Data Center</a:t>
              </a:r>
            </a:p>
          </p:txBody>
        </p:sp>
        <p:sp>
          <p:nvSpPr>
            <p:cNvPr id="16" name="Isosceles Triangle 15">
              <a:extLst>
                <a:ext uri="{FF2B5EF4-FFF2-40B4-BE49-F238E27FC236}">
                  <a16:creationId xmlns:a16="http://schemas.microsoft.com/office/drawing/2014/main" id="{9ABFD584-F066-BF26-733E-E23C9C67D21C}"/>
                </a:ext>
              </a:extLst>
            </p:cNvPr>
            <p:cNvSpPr/>
            <p:nvPr/>
          </p:nvSpPr>
          <p:spPr>
            <a:xfrm rot="16200000" flipH="1">
              <a:off x="12367039" y="9814268"/>
              <a:ext cx="819028" cy="468923"/>
            </a:xfrm>
            <a:prstGeom prst="triangle">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extBox 16">
              <a:extLst>
                <a:ext uri="{FF2B5EF4-FFF2-40B4-BE49-F238E27FC236}">
                  <a16:creationId xmlns:a16="http://schemas.microsoft.com/office/drawing/2014/main" id="{AA7C53F2-ECF3-FAD4-C330-B8ABF005228F}"/>
                </a:ext>
              </a:extLst>
            </p:cNvPr>
            <p:cNvSpPr txBox="1"/>
            <p:nvPr/>
          </p:nvSpPr>
          <p:spPr>
            <a:xfrm>
              <a:off x="3364070" y="3933364"/>
              <a:ext cx="3977778" cy="800181"/>
            </a:xfrm>
            <a:prstGeom prst="rect">
              <a:avLst/>
            </a:prstGeom>
            <a:noFill/>
          </p:spPr>
          <p:txBody>
            <a:bodyPr wrap="square">
              <a:spAutoFit/>
            </a:bodyPr>
            <a:lstStyle/>
            <a:p>
              <a:pPr algn="ctr"/>
              <a:r>
                <a:rPr lang="en-US" sz="2000">
                  <a:solidFill>
                    <a:schemeClr val="bg1">
                      <a:lumMod val="50000"/>
                    </a:schemeClr>
                  </a:solidFill>
                  <a:latin typeface="Figtree" pitchFamily="2" charset="0"/>
                </a:rPr>
                <a:t>Sea Water System </a:t>
              </a:r>
              <a:br>
                <a:rPr lang="en-US" sz="2000">
                  <a:solidFill>
                    <a:schemeClr val="bg1">
                      <a:lumMod val="50000"/>
                    </a:schemeClr>
                  </a:solidFill>
                  <a:latin typeface="Figtree" pitchFamily="2" charset="0"/>
                </a:rPr>
              </a:br>
              <a:r>
                <a:rPr lang="en-US" sz="2000">
                  <a:solidFill>
                    <a:schemeClr val="bg1">
                      <a:lumMod val="50000"/>
                    </a:schemeClr>
                  </a:solidFill>
                  <a:latin typeface="Figtree" pitchFamily="2" charset="0"/>
                </a:rPr>
                <a:t>(Open Loop)</a:t>
              </a:r>
              <a:endParaRPr lang="en-GB" sz="2000">
                <a:solidFill>
                  <a:schemeClr val="bg1">
                    <a:lumMod val="50000"/>
                  </a:schemeClr>
                </a:solidFill>
              </a:endParaRPr>
            </a:p>
          </p:txBody>
        </p:sp>
        <p:sp>
          <p:nvSpPr>
            <p:cNvPr id="18" name="TextBox 17">
              <a:extLst>
                <a:ext uri="{FF2B5EF4-FFF2-40B4-BE49-F238E27FC236}">
                  <a16:creationId xmlns:a16="http://schemas.microsoft.com/office/drawing/2014/main" id="{769F096C-800C-9B6A-7FD6-86F368E6BFE9}"/>
                </a:ext>
              </a:extLst>
            </p:cNvPr>
            <p:cNvSpPr txBox="1"/>
            <p:nvPr/>
          </p:nvSpPr>
          <p:spPr>
            <a:xfrm>
              <a:off x="10375127" y="3933364"/>
              <a:ext cx="4802853" cy="800181"/>
            </a:xfrm>
            <a:prstGeom prst="rect">
              <a:avLst/>
            </a:prstGeom>
            <a:noFill/>
          </p:spPr>
          <p:txBody>
            <a:bodyPr wrap="square">
              <a:spAutoFit/>
            </a:bodyPr>
            <a:lstStyle/>
            <a:p>
              <a:pPr algn="ctr"/>
              <a:r>
                <a:rPr lang="en-US" sz="2000">
                  <a:solidFill>
                    <a:schemeClr val="bg1">
                      <a:lumMod val="50000"/>
                    </a:schemeClr>
                  </a:solidFill>
                  <a:latin typeface="Figtree" pitchFamily="2" charset="0"/>
                </a:rPr>
                <a:t>Process Cooling Water </a:t>
              </a:r>
              <a:br>
                <a:rPr lang="en-US" sz="2000">
                  <a:solidFill>
                    <a:schemeClr val="bg1">
                      <a:lumMod val="50000"/>
                    </a:schemeClr>
                  </a:solidFill>
                  <a:latin typeface="Figtree" pitchFamily="2" charset="0"/>
                </a:rPr>
              </a:br>
              <a:r>
                <a:rPr lang="en-US" sz="2000">
                  <a:solidFill>
                    <a:schemeClr val="bg1">
                      <a:lumMod val="50000"/>
                    </a:schemeClr>
                  </a:solidFill>
                  <a:latin typeface="Figtree" pitchFamily="2" charset="0"/>
                </a:rPr>
                <a:t>(Closed Loop)</a:t>
              </a:r>
              <a:endParaRPr lang="en-GB" sz="2000">
                <a:solidFill>
                  <a:schemeClr val="bg1">
                    <a:lumMod val="50000"/>
                  </a:schemeClr>
                </a:solidFill>
              </a:endParaRPr>
            </a:p>
          </p:txBody>
        </p:sp>
        <p:sp>
          <p:nvSpPr>
            <p:cNvPr id="19" name="Isosceles Triangle 18">
              <a:extLst>
                <a:ext uri="{FF2B5EF4-FFF2-40B4-BE49-F238E27FC236}">
                  <a16:creationId xmlns:a16="http://schemas.microsoft.com/office/drawing/2014/main" id="{293673E0-2383-49E2-9923-1A73D4857056}"/>
                </a:ext>
              </a:extLst>
            </p:cNvPr>
            <p:cNvSpPr/>
            <p:nvPr/>
          </p:nvSpPr>
          <p:spPr>
            <a:xfrm rot="5400000">
              <a:off x="4943445" y="4991609"/>
              <a:ext cx="819028" cy="468923"/>
            </a:xfrm>
            <a:prstGeom prst="triangle">
              <a:avLst/>
            </a:prstGeom>
            <a:solidFill>
              <a:schemeClr val="accent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Isosceles Triangle 19">
              <a:extLst>
                <a:ext uri="{FF2B5EF4-FFF2-40B4-BE49-F238E27FC236}">
                  <a16:creationId xmlns:a16="http://schemas.microsoft.com/office/drawing/2014/main" id="{0566F701-7ABB-7221-5714-C26561045F31}"/>
                </a:ext>
              </a:extLst>
            </p:cNvPr>
            <p:cNvSpPr/>
            <p:nvPr/>
          </p:nvSpPr>
          <p:spPr>
            <a:xfrm rot="16200000" flipH="1">
              <a:off x="4943445" y="9814269"/>
              <a:ext cx="819028" cy="468923"/>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2" name="Connector: Elbow 21">
              <a:extLst>
                <a:ext uri="{FF2B5EF4-FFF2-40B4-BE49-F238E27FC236}">
                  <a16:creationId xmlns:a16="http://schemas.microsoft.com/office/drawing/2014/main" id="{7A964AF9-8ED1-6478-44C6-04B6A87D62B5}"/>
                </a:ext>
              </a:extLst>
            </p:cNvPr>
            <p:cNvCxnSpPr>
              <a:cxnSpLocks/>
              <a:stCxn id="15" idx="2"/>
              <a:endCxn id="15" idx="0"/>
            </p:cNvCxnSpPr>
            <p:nvPr/>
          </p:nvCxnSpPr>
          <p:spPr>
            <a:xfrm rot="5400000" flipH="1">
              <a:off x="14278338" y="7638075"/>
              <a:ext cx="2150005" cy="12700"/>
            </a:xfrm>
            <a:prstGeom prst="bentConnector5">
              <a:avLst>
                <a:gd name="adj1" fmla="val -62024"/>
                <a:gd name="adj2" fmla="val 41092173"/>
                <a:gd name="adj3" fmla="val 162024"/>
              </a:avLst>
            </a:prstGeom>
            <a:ln w="76200">
              <a:gradFill flip="none" rotWithShape="1">
                <a:gsLst>
                  <a:gs pos="0">
                    <a:srgbClr val="00C159"/>
                  </a:gs>
                  <a:gs pos="100000">
                    <a:srgbClr val="FFC000"/>
                  </a:gs>
                </a:gsLst>
                <a:lin ang="10800000" scaled="1"/>
                <a:tileRect/>
              </a:gradFill>
            </a:ln>
          </p:spPr>
          <p:style>
            <a:lnRef idx="2">
              <a:schemeClr val="accent1"/>
            </a:lnRef>
            <a:fillRef idx="0">
              <a:schemeClr val="accent1"/>
            </a:fillRef>
            <a:effectRef idx="1">
              <a:schemeClr val="accent1"/>
            </a:effectRef>
            <a:fontRef idx="minor">
              <a:schemeClr val="tx1"/>
            </a:fontRef>
          </p:style>
        </p:cxnSp>
        <p:cxnSp>
          <p:nvCxnSpPr>
            <p:cNvPr id="23" name="Connector: Elbow 22">
              <a:extLst>
                <a:ext uri="{FF2B5EF4-FFF2-40B4-BE49-F238E27FC236}">
                  <a16:creationId xmlns:a16="http://schemas.microsoft.com/office/drawing/2014/main" id="{7928C63C-84D5-B890-CD71-50B123BEDFFD}"/>
                </a:ext>
              </a:extLst>
            </p:cNvPr>
            <p:cNvCxnSpPr>
              <a:cxnSpLocks/>
              <a:stCxn id="10" idx="2"/>
              <a:endCxn id="11" idx="0"/>
            </p:cNvCxnSpPr>
            <p:nvPr/>
          </p:nvCxnSpPr>
          <p:spPr>
            <a:xfrm rot="5400000" flipH="1">
              <a:off x="1699288" y="7675989"/>
              <a:ext cx="2012376" cy="12700"/>
            </a:xfrm>
            <a:prstGeom prst="bentConnector5">
              <a:avLst>
                <a:gd name="adj1" fmla="val -68159"/>
                <a:gd name="adj2" fmla="val -40788024"/>
                <a:gd name="adj3" fmla="val 172486"/>
              </a:avLst>
            </a:prstGeom>
            <a:ln w="76200">
              <a:gradFill flip="none" rotWithShape="1">
                <a:gsLst>
                  <a:gs pos="0">
                    <a:srgbClr val="156082"/>
                  </a:gs>
                  <a:gs pos="100000">
                    <a:schemeClr val="accent4"/>
                  </a:gs>
                </a:gsLst>
                <a:lin ang="10800000" scaled="1"/>
                <a:tileRect/>
              </a:gradFill>
            </a:ln>
          </p:spPr>
          <p:style>
            <a:lnRef idx="2">
              <a:schemeClr val="accent1"/>
            </a:lnRef>
            <a:fillRef idx="0">
              <a:schemeClr val="accent1"/>
            </a:fillRef>
            <a:effectRef idx="1">
              <a:schemeClr val="accent1"/>
            </a:effectRef>
            <a:fontRef idx="minor">
              <a:schemeClr val="tx1"/>
            </a:fontRef>
          </p:style>
        </p:cxnSp>
      </p:grpSp>
      <p:pic>
        <p:nvPicPr>
          <p:cNvPr id="1026" name="Picture 2" descr="No alternative text description for this image">
            <a:extLst>
              <a:ext uri="{FF2B5EF4-FFF2-40B4-BE49-F238E27FC236}">
                <a16:creationId xmlns:a16="http://schemas.microsoft.com/office/drawing/2014/main" id="{ACFA74F0-77E3-5DA4-EA8B-B66F7B8C2FAD}"/>
              </a:ext>
            </a:extLst>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272197" y="9360478"/>
            <a:ext cx="4516590" cy="301032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26" descr="A large room with blue machines&#10;&#10;AI-generated content may be incorrect.">
            <a:extLst>
              <a:ext uri="{FF2B5EF4-FFF2-40B4-BE49-F238E27FC236}">
                <a16:creationId xmlns:a16="http://schemas.microsoft.com/office/drawing/2014/main" id="{9DCA9156-776D-BA22-159C-8231FE9DB4D7}"/>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6888252" y="9360478"/>
            <a:ext cx="2610042" cy="3009600"/>
          </a:xfrm>
          <a:prstGeom prst="rect">
            <a:avLst/>
          </a:prstGeom>
          <a:ln w="6350">
            <a:solidFill>
              <a:schemeClr val="tx1"/>
            </a:solidFill>
          </a:ln>
        </p:spPr>
      </p:pic>
      <p:pic>
        <p:nvPicPr>
          <p:cNvPr id="28" name="Picture 27" descr="A close-up of a server room&#10;&#10;AI-generated content may be incorrect.">
            <a:extLst>
              <a:ext uri="{FF2B5EF4-FFF2-40B4-BE49-F238E27FC236}">
                <a16:creationId xmlns:a16="http://schemas.microsoft.com/office/drawing/2014/main" id="{1C5F6AA0-4CCF-B474-05F4-61DE79D6FFA7}"/>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1048199" y="9360478"/>
            <a:ext cx="5350400" cy="3009600"/>
          </a:xfrm>
          <a:prstGeom prst="rect">
            <a:avLst/>
          </a:prstGeom>
          <a:ln w="6350">
            <a:solidFill>
              <a:schemeClr val="tx1"/>
            </a:solidFill>
          </a:ln>
        </p:spPr>
      </p:pic>
      <p:sp>
        <p:nvSpPr>
          <p:cNvPr id="29" name="Isosceles Triangle 28">
            <a:extLst>
              <a:ext uri="{FF2B5EF4-FFF2-40B4-BE49-F238E27FC236}">
                <a16:creationId xmlns:a16="http://schemas.microsoft.com/office/drawing/2014/main" id="{1582E609-A518-EB95-5597-586826513A32}"/>
              </a:ext>
            </a:extLst>
          </p:cNvPr>
          <p:cNvSpPr/>
          <p:nvPr/>
        </p:nvSpPr>
        <p:spPr>
          <a:xfrm>
            <a:off x="272197" y="8601320"/>
            <a:ext cx="4505355" cy="635292"/>
          </a:xfrm>
          <a:prstGeom prst="triangle">
            <a:avLst>
              <a:gd name="adj" fmla="val 78622"/>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Isosceles Triangle 29">
            <a:extLst>
              <a:ext uri="{FF2B5EF4-FFF2-40B4-BE49-F238E27FC236}">
                <a16:creationId xmlns:a16="http://schemas.microsoft.com/office/drawing/2014/main" id="{1D4A3642-16DB-FD2D-CF83-36C935E2CC90}"/>
              </a:ext>
            </a:extLst>
          </p:cNvPr>
          <p:cNvSpPr/>
          <p:nvPr/>
        </p:nvSpPr>
        <p:spPr>
          <a:xfrm>
            <a:off x="6888251" y="8601320"/>
            <a:ext cx="2610043" cy="635292"/>
          </a:xfrm>
          <a:prstGeom prst="triangle">
            <a:avLst/>
          </a:prstGeom>
          <a:gradFill>
            <a:gsLst>
              <a:gs pos="0">
                <a:schemeClr val="bg1">
                  <a:lumMod val="50000"/>
                </a:schemeClr>
              </a:gs>
              <a:gs pos="32000">
                <a:schemeClr val="bg1">
                  <a:lumMod val="75000"/>
                </a:schemeClr>
              </a:gs>
              <a:gs pos="83000">
                <a:schemeClr val="bg1">
                  <a:lumMod val="95000"/>
                </a:schemeClr>
              </a:gs>
              <a:gs pos="100000">
                <a:schemeClr val="bg1">
                  <a:lumMod val="9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Isosceles Triangle 30">
            <a:extLst>
              <a:ext uri="{FF2B5EF4-FFF2-40B4-BE49-F238E27FC236}">
                <a16:creationId xmlns:a16="http://schemas.microsoft.com/office/drawing/2014/main" id="{6A9FC3F1-0E48-B03A-1688-A486298B4E11}"/>
              </a:ext>
            </a:extLst>
          </p:cNvPr>
          <p:cNvSpPr/>
          <p:nvPr/>
        </p:nvSpPr>
        <p:spPr>
          <a:xfrm>
            <a:off x="11047143" y="8601320"/>
            <a:ext cx="5351455" cy="635292"/>
          </a:xfrm>
          <a:prstGeom prst="triangle">
            <a:avLst>
              <a:gd name="adj" fmla="val 30284"/>
            </a:avLst>
          </a:prstGeom>
          <a:gradFill>
            <a:gsLst>
              <a:gs pos="0">
                <a:schemeClr val="accent6">
                  <a:lumMod val="75000"/>
                </a:schemeClr>
              </a:gs>
              <a:gs pos="37000">
                <a:schemeClr val="accent6">
                  <a:lumMod val="60000"/>
                  <a:lumOff val="40000"/>
                </a:schemeClr>
              </a:gs>
              <a:gs pos="83000">
                <a:schemeClr val="accent6">
                  <a:lumMod val="20000"/>
                  <a:lumOff val="80000"/>
                </a:schemeClr>
              </a:gs>
              <a:gs pos="100000">
                <a:schemeClr val="bg1">
                  <a:lumMod val="95000"/>
                </a:schemeClr>
              </a:gs>
            </a:gsLst>
            <a:lin ang="162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32" name="Picture 2">
            <a:extLst>
              <a:ext uri="{FF2B5EF4-FFF2-40B4-BE49-F238E27FC236}">
                <a16:creationId xmlns:a16="http://schemas.microsoft.com/office/drawing/2014/main" id="{2FE5067B-A3BE-208E-ACCB-2D44F34A89C6}"/>
              </a:ext>
            </a:extLst>
          </p:cNvPr>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16800875" y="2786141"/>
            <a:ext cx="7586300" cy="4248328"/>
          </a:xfrm>
          <a:prstGeom prst="rect">
            <a:avLst/>
          </a:prstGeom>
          <a:noFill/>
          <a:extLst>
            <a:ext uri="{909E8E84-426E-40DD-AFC4-6F175D3DCCD1}">
              <a14:hiddenFill xmlns:a14="http://schemas.microsoft.com/office/drawing/2010/main">
                <a:solidFill>
                  <a:srgbClr val="FFFFFF"/>
                </a:solidFill>
              </a14:hiddenFill>
            </a:ext>
          </a:extLst>
        </p:spPr>
      </p:pic>
      <p:sp>
        <p:nvSpPr>
          <p:cNvPr id="33" name="Speech Bubble: Rectangle with Corners Rounded 32">
            <a:extLst>
              <a:ext uri="{FF2B5EF4-FFF2-40B4-BE49-F238E27FC236}">
                <a16:creationId xmlns:a16="http://schemas.microsoft.com/office/drawing/2014/main" id="{40A6E991-FB51-8E87-D985-5BBC3B327158}"/>
              </a:ext>
            </a:extLst>
          </p:cNvPr>
          <p:cNvSpPr/>
          <p:nvPr/>
        </p:nvSpPr>
        <p:spPr>
          <a:xfrm>
            <a:off x="14033114" y="4053213"/>
            <a:ext cx="3368695" cy="1139287"/>
          </a:xfrm>
          <a:prstGeom prst="wedgeRoundRectCallout">
            <a:avLst>
              <a:gd name="adj1" fmla="val -37220"/>
              <a:gd name="adj2" fmla="val 85303"/>
              <a:gd name="adj3" fmla="val 16667"/>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lIns="72000" tIns="72000" rIns="72000" bIns="72000" rtlCol="0" anchor="ctr"/>
          <a:lstStyle/>
          <a:p>
            <a:pPr marL="171450" indent="-171450">
              <a:buFont typeface="Arial" panose="020B0604020202020204" pitchFamily="34" charset="0"/>
              <a:buChar char="•"/>
            </a:pPr>
            <a:r>
              <a:rPr lang="en-US" sz="2000">
                <a:solidFill>
                  <a:schemeClr val="tx1"/>
                </a:solidFill>
                <a:latin typeface="Figtree" pitchFamily="2" charset="0"/>
                <a:ea typeface="Tahoma" panose="020B0604030504040204" pitchFamily="34" charset="0"/>
                <a:cs typeface="Tahoma" panose="020B0604030504040204" pitchFamily="34" charset="0"/>
              </a:rPr>
              <a:t>100% Liquid cooling</a:t>
            </a:r>
          </a:p>
          <a:p>
            <a:pPr marL="171450" indent="-171450">
              <a:buFont typeface="Arial" panose="020B0604020202020204" pitchFamily="34" charset="0"/>
              <a:buChar char="•"/>
            </a:pPr>
            <a:r>
              <a:rPr lang="en-US" sz="2000">
                <a:solidFill>
                  <a:schemeClr val="tx1"/>
                </a:solidFill>
                <a:latin typeface="Figtree" pitchFamily="2" charset="0"/>
                <a:ea typeface="Tahoma" panose="020B0604030504040204" pitchFamily="34" charset="0"/>
                <a:cs typeface="Tahoma" panose="020B0604030504040204" pitchFamily="34" charset="0"/>
              </a:rPr>
              <a:t>Air cooling (fan walls)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2000">
                <a:solidFill>
                  <a:schemeClr val="tx1"/>
                </a:solidFill>
                <a:latin typeface="Figtree" pitchFamily="2" charset="0"/>
                <a:ea typeface="Tahoma" panose="020B0604030504040204" pitchFamily="34" charset="0"/>
                <a:cs typeface="Tahoma" panose="020B0604030504040204" pitchFamily="34" charset="0"/>
              </a:rPr>
              <a:t>Hybrid air &amp; liquid cooling </a:t>
            </a:r>
          </a:p>
        </p:txBody>
      </p:sp>
      <p:sp>
        <p:nvSpPr>
          <p:cNvPr id="36" name="TextBox 35">
            <a:extLst>
              <a:ext uri="{FF2B5EF4-FFF2-40B4-BE49-F238E27FC236}">
                <a16:creationId xmlns:a16="http://schemas.microsoft.com/office/drawing/2014/main" id="{8D804345-3570-01F7-567B-AF23C407055E}"/>
              </a:ext>
            </a:extLst>
          </p:cNvPr>
          <p:cNvSpPr txBox="1"/>
          <p:nvPr/>
        </p:nvSpPr>
        <p:spPr>
          <a:xfrm>
            <a:off x="272197" y="11908413"/>
            <a:ext cx="1897092" cy="461665"/>
          </a:xfrm>
          <a:prstGeom prst="rect">
            <a:avLst/>
          </a:prstGeom>
          <a:noFill/>
        </p:spPr>
        <p:txBody>
          <a:bodyPr wrap="square" rtlCol="0">
            <a:spAutoFit/>
          </a:bodyPr>
          <a:lstStyle/>
          <a:p>
            <a:pPr marL="0" marR="0" lvl="0" indent="0" algn="r" defTabSz="1828891"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EDEBEB"/>
                </a:solidFill>
                <a:effectLst/>
                <a:uLnTx/>
                <a:uFillTx/>
                <a:latin typeface="Figtree" pitchFamily="2" charset="0"/>
                <a:ea typeface="+mn-ea"/>
                <a:cs typeface="+mn-cs"/>
              </a:rPr>
              <a:t>Intake basin</a:t>
            </a:r>
            <a:endParaRPr kumimoji="0" lang="en-GB" sz="2400" b="1" i="0" u="none" strike="noStrike" kern="1200" cap="none" spc="0" normalizeH="0" baseline="0" noProof="0">
              <a:ln>
                <a:noFill/>
              </a:ln>
              <a:solidFill>
                <a:srgbClr val="EDEBEB"/>
              </a:solidFill>
              <a:effectLst/>
              <a:uLnTx/>
              <a:uFillTx/>
              <a:latin typeface="Figtree" pitchFamily="2" charset="0"/>
              <a:ea typeface="+mn-ea"/>
              <a:cs typeface="+mn-cs"/>
            </a:endParaRPr>
          </a:p>
        </p:txBody>
      </p:sp>
      <p:sp>
        <p:nvSpPr>
          <p:cNvPr id="38" name="TextBox 37">
            <a:extLst>
              <a:ext uri="{FF2B5EF4-FFF2-40B4-BE49-F238E27FC236}">
                <a16:creationId xmlns:a16="http://schemas.microsoft.com/office/drawing/2014/main" id="{ED10F885-2FDF-C4BB-7FFD-15D5B85F9012}"/>
              </a:ext>
            </a:extLst>
          </p:cNvPr>
          <p:cNvSpPr txBox="1"/>
          <p:nvPr/>
        </p:nvSpPr>
        <p:spPr>
          <a:xfrm>
            <a:off x="13153292" y="11908413"/>
            <a:ext cx="3198932" cy="461665"/>
          </a:xfrm>
          <a:prstGeom prst="rect">
            <a:avLst/>
          </a:prstGeom>
          <a:noFill/>
        </p:spPr>
        <p:txBody>
          <a:bodyPr wrap="square" rtlCol="0">
            <a:spAutoFit/>
          </a:bodyPr>
          <a:lstStyle/>
          <a:p>
            <a:pPr marL="0" marR="0" lvl="0" indent="0" algn="r" defTabSz="1828891"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srgbClr val="EDEBEB"/>
                </a:solidFill>
                <a:effectLst/>
                <a:uLnTx/>
                <a:uFillTx/>
                <a:latin typeface="Figtree" pitchFamily="2" charset="0"/>
                <a:ea typeface="+mn-ea"/>
                <a:cs typeface="+mn-cs"/>
              </a:rPr>
              <a:t>Rear-door installed </a:t>
            </a:r>
            <a:endParaRPr kumimoji="0" lang="en-GB" sz="2400" b="1" i="0" u="none" strike="noStrike" kern="1200" cap="none" spc="0" normalizeH="0" baseline="0" noProof="0">
              <a:ln>
                <a:noFill/>
              </a:ln>
              <a:solidFill>
                <a:srgbClr val="EDEBEB"/>
              </a:solidFill>
              <a:effectLst/>
              <a:uLnTx/>
              <a:uFillTx/>
              <a:latin typeface="Figtree" pitchFamily="2" charset="0"/>
              <a:ea typeface="+mn-ea"/>
              <a:cs typeface="+mn-cs"/>
            </a:endParaRPr>
          </a:p>
        </p:txBody>
      </p:sp>
    </p:spTree>
    <p:extLst>
      <p:ext uri="{BB962C8B-B14F-4D97-AF65-F5344CB8AC3E}">
        <p14:creationId xmlns:p14="http://schemas.microsoft.com/office/powerpoint/2010/main" val="34808488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 ">
            <a:extLst>
              <a:ext uri="{FF2B5EF4-FFF2-40B4-BE49-F238E27FC236}">
                <a16:creationId xmlns:a16="http://schemas.microsoft.com/office/drawing/2014/main" id="{CF1ADA2B-756F-8DE6-7AF3-DBF79F21ED5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43726" y="0"/>
            <a:ext cx="14543321" cy="13716000"/>
          </a:xfrm>
          <a:prstGeom prst="rect">
            <a:avLst/>
          </a:prstGeom>
          <a:noFill/>
          <a:ln cap="flat">
            <a:noFill/>
          </a:ln>
        </p:spPr>
      </p:pic>
      <p:pic>
        <p:nvPicPr>
          <p:cNvPr id="2" name="Picture 2">
            <a:extLst>
              <a:ext uri="{FF2B5EF4-FFF2-40B4-BE49-F238E27FC236}">
                <a16:creationId xmlns:a16="http://schemas.microsoft.com/office/drawing/2014/main" id="{DC4852B3-672D-4A43-BFCE-32FB75C16D04}"/>
              </a:ext>
            </a:extLst>
          </p:cNvPr>
          <p:cNvPicPr>
            <a:picLocks noChangeAspect="1"/>
          </p:cNvPicPr>
          <p:nvPr/>
        </p:nvPicPr>
        <p:blipFill>
          <a:blip r:embed="rId4" cstate="email">
            <a:extLst>
              <a:ext uri="{28A0092B-C50C-407E-A947-70E740481C1C}">
                <a14:useLocalDpi xmlns:a14="http://schemas.microsoft.com/office/drawing/2010/main"/>
              </a:ext>
            </a:extLst>
          </a:blip>
          <a:srcRect/>
          <a:stretch/>
        </p:blipFill>
        <p:spPr>
          <a:xfrm>
            <a:off x="-1" y="0"/>
            <a:ext cx="12193587" cy="13716000"/>
          </a:xfrm>
          <a:prstGeom prst="rect">
            <a:avLst/>
          </a:prstGeom>
          <a:noFill/>
          <a:ln cap="flat">
            <a:noFill/>
          </a:ln>
        </p:spPr>
      </p:pic>
      <p:sp>
        <p:nvSpPr>
          <p:cNvPr id="4" name="Shape 1">
            <a:extLst>
              <a:ext uri="{FF2B5EF4-FFF2-40B4-BE49-F238E27FC236}">
                <a16:creationId xmlns:a16="http://schemas.microsoft.com/office/drawing/2014/main" id="{0F77C67B-EF62-D750-9F05-537EA346E49D}"/>
              </a:ext>
            </a:extLst>
          </p:cNvPr>
          <p:cNvSpPr/>
          <p:nvPr/>
        </p:nvSpPr>
        <p:spPr>
          <a:xfrm>
            <a:off x="13133444" y="3873498"/>
            <a:ext cx="9589696" cy="4190996"/>
          </a:xfrm>
          <a:prstGeom prst="rect">
            <a:avLst/>
          </a:prstGeom>
          <a:noFill/>
          <a:ln cap="flat">
            <a:noFill/>
            <a:prstDash val="solid"/>
          </a:ln>
        </p:spPr>
        <p:txBody>
          <a:bodyPr vert="horz" wrap="square" lIns="91440" tIns="45720" rIns="91440" bIns="4572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PT" sz="1800" b="0" i="0" u="none" strike="noStrike" kern="1200" cap="none" spc="0" baseline="0">
              <a:solidFill>
                <a:srgbClr val="000000"/>
              </a:solidFill>
              <a:uFillTx/>
              <a:latin typeface="Calibri"/>
            </a:endParaRPr>
          </a:p>
        </p:txBody>
      </p:sp>
      <p:sp>
        <p:nvSpPr>
          <p:cNvPr id="5" name="Text 2">
            <a:extLst>
              <a:ext uri="{FF2B5EF4-FFF2-40B4-BE49-F238E27FC236}">
                <a16:creationId xmlns:a16="http://schemas.microsoft.com/office/drawing/2014/main" id="{D5088E57-1515-A5F7-BD00-837AC5A68D55}"/>
              </a:ext>
            </a:extLst>
          </p:cNvPr>
          <p:cNvSpPr/>
          <p:nvPr/>
        </p:nvSpPr>
        <p:spPr>
          <a:xfrm>
            <a:off x="13133444" y="3873498"/>
            <a:ext cx="9725183" cy="618070"/>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endParaRPr lang="en-US" sz="3200" b="1" i="0" u="none" strike="noStrike" kern="1200" cap="none" spc="0" baseline="0">
              <a:solidFill>
                <a:srgbClr val="000000"/>
              </a:solidFill>
              <a:uFillTx/>
              <a:latin typeface="Figtree SemiBold" pitchFamily="2"/>
            </a:endParaRPr>
          </a:p>
        </p:txBody>
      </p:sp>
      <p:grpSp>
        <p:nvGrpSpPr>
          <p:cNvPr id="7" name="Group 10">
            <a:extLst>
              <a:ext uri="{FF2B5EF4-FFF2-40B4-BE49-F238E27FC236}">
                <a16:creationId xmlns:a16="http://schemas.microsoft.com/office/drawing/2014/main" id="{10DBEBE6-2AEA-0A47-30C1-FD87229657A1}"/>
              </a:ext>
            </a:extLst>
          </p:cNvPr>
          <p:cNvGrpSpPr/>
          <p:nvPr/>
        </p:nvGrpSpPr>
        <p:grpSpPr>
          <a:xfrm>
            <a:off x="1390649" y="12777496"/>
            <a:ext cx="9393238" cy="255556"/>
            <a:chOff x="1216481" y="12777496"/>
            <a:chExt cx="9393238" cy="255556"/>
          </a:xfrm>
        </p:grpSpPr>
        <p:pic>
          <p:nvPicPr>
            <p:cNvPr id="8" name="Picture 11">
              <a:extLst>
                <a:ext uri="{FF2B5EF4-FFF2-40B4-BE49-F238E27FC236}">
                  <a16:creationId xmlns:a16="http://schemas.microsoft.com/office/drawing/2014/main" id="{8F71CD35-D1F3-8421-CA45-AE5688FCD0DD}"/>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1216481" y="12777496"/>
              <a:ext cx="1675756" cy="255556"/>
            </a:xfrm>
            <a:prstGeom prst="rect">
              <a:avLst/>
            </a:prstGeom>
            <a:noFill/>
            <a:ln cap="flat">
              <a:noFill/>
            </a:ln>
          </p:spPr>
        </p:pic>
        <p:sp>
          <p:nvSpPr>
            <p:cNvPr id="9" name="Text 2">
              <a:extLst>
                <a:ext uri="{FF2B5EF4-FFF2-40B4-BE49-F238E27FC236}">
                  <a16:creationId xmlns:a16="http://schemas.microsoft.com/office/drawing/2014/main" id="{F8394C1F-B92B-B793-36C7-42681A77B05A}"/>
                </a:ext>
              </a:extLst>
            </p:cNvPr>
            <p:cNvSpPr/>
            <p:nvPr/>
          </p:nvSpPr>
          <p:spPr>
            <a:xfrm>
              <a:off x="3158118" y="12817007"/>
              <a:ext cx="7451601" cy="176534"/>
            </a:xfrm>
            <a:prstGeom prst="rect">
              <a:avLst/>
            </a:prstGeom>
            <a:noFill/>
            <a:ln cap="flat">
              <a:noFill/>
              <a:prstDash val="solid"/>
            </a:ln>
          </p:spPr>
          <p:txBody>
            <a:bodyPr vert="horz" wrap="square" lIns="0" tIns="0" rIns="0" bIns="0" anchor="t" anchorCtr="0" compatLnSpc="1">
              <a:noAutofit/>
            </a:bodyPr>
            <a:lstStyle/>
            <a:p>
              <a:pPr marL="0" marR="0" lvl="0" indent="0" algn="l" defTabSz="914400" rtl="0" fontAlgn="auto" hangingPunct="1">
                <a:lnSpc>
                  <a:spcPct val="100000"/>
                </a:lnSpc>
                <a:spcBef>
                  <a:spcPts val="0"/>
                </a:spcBef>
                <a:spcAft>
                  <a:spcPts val="0"/>
                </a:spcAft>
                <a:buNone/>
                <a:tabLst/>
                <a:defRPr sz="1800" b="0" i="0" u="none" strike="noStrike" kern="0" cap="none" spc="0" baseline="0">
                  <a:solidFill>
                    <a:srgbClr val="000000"/>
                  </a:solidFill>
                  <a:uFillTx/>
                </a:defRPr>
              </a:pPr>
              <a:r>
                <a:rPr lang="en-US" sz="1200" b="0" i="0" u="none" strike="noStrike" kern="1200" cap="none" spc="0" baseline="0">
                  <a:solidFill>
                    <a:srgbClr val="FFFFFF"/>
                  </a:solidFill>
                  <a:uFillTx/>
                  <a:latin typeface="Figtree" pitchFamily="2"/>
                  <a:ea typeface="Figtree Regular" pitchFamily="34"/>
                  <a:cs typeface="Figtree Regular" pitchFamily="34"/>
                </a:rPr>
                <a:t>Strictly private and confidential</a:t>
              </a:r>
              <a:endParaRPr lang="en-US" sz="1200" b="0" i="0" u="none" strike="noStrike" kern="1200" cap="none" spc="0" baseline="0">
                <a:solidFill>
                  <a:srgbClr val="FFFFFF"/>
                </a:solidFill>
                <a:uFillTx/>
                <a:latin typeface="Figtree" pitchFamily="2"/>
              </a:endParaRPr>
            </a:p>
          </p:txBody>
        </p:sp>
      </p:grpSp>
      <p:sp>
        <p:nvSpPr>
          <p:cNvPr id="11" name="TextBox 2">
            <a:extLst>
              <a:ext uri="{FF2B5EF4-FFF2-40B4-BE49-F238E27FC236}">
                <a16:creationId xmlns:a16="http://schemas.microsoft.com/office/drawing/2014/main" id="{F496DE58-D711-C640-2703-3C25F7270695}"/>
              </a:ext>
            </a:extLst>
          </p:cNvPr>
          <p:cNvSpPr txBox="1"/>
          <p:nvPr/>
        </p:nvSpPr>
        <p:spPr>
          <a:xfrm>
            <a:off x="13482625" y="8377492"/>
            <a:ext cx="6401595" cy="1604029"/>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lnSpc>
                <a:spcPct val="120000"/>
              </a:lnSpc>
              <a:spcBef>
                <a:spcPts val="0"/>
              </a:spcBef>
              <a:spcAft>
                <a:spcPts val="0"/>
              </a:spcAft>
              <a:buNone/>
              <a:tabLst/>
              <a:defRPr sz="1800" b="0" i="0" u="none" strike="noStrike" kern="0" cap="none" spc="0" baseline="0">
                <a:solidFill>
                  <a:srgbClr val="000000"/>
                </a:solidFill>
                <a:uFillTx/>
              </a:defRPr>
            </a:pPr>
            <a:r>
              <a:rPr lang="en-GB" sz="2800" b="0" i="0" u="none" strike="noStrike" kern="1200" cap="none" spc="0" baseline="0">
                <a:solidFill>
                  <a:srgbClr val="000000"/>
                </a:solidFill>
                <a:uFillTx/>
                <a:latin typeface="Figtree"/>
              </a:rPr>
              <a:t>Start Campus are ready to work with anyone that wants  to help on this journey. </a:t>
            </a:r>
            <a:r>
              <a:rPr lang="en-GB" sz="2800" b="1" i="0" u="none" strike="noStrike" kern="1200" cap="none" spc="0" baseline="0">
                <a:solidFill>
                  <a:srgbClr val="12BD64"/>
                </a:solidFill>
                <a:uFillTx/>
                <a:latin typeface="Figtree"/>
              </a:rPr>
              <a:t>Get in touch!</a:t>
            </a:r>
          </a:p>
        </p:txBody>
      </p:sp>
      <p:sp>
        <p:nvSpPr>
          <p:cNvPr id="12" name="TextBox 9">
            <a:extLst>
              <a:ext uri="{FF2B5EF4-FFF2-40B4-BE49-F238E27FC236}">
                <a16:creationId xmlns:a16="http://schemas.microsoft.com/office/drawing/2014/main" id="{DBE8871D-45B1-E7ED-8FA5-5B312E1007C9}"/>
              </a:ext>
            </a:extLst>
          </p:cNvPr>
          <p:cNvSpPr txBox="1"/>
          <p:nvPr/>
        </p:nvSpPr>
        <p:spPr>
          <a:xfrm>
            <a:off x="13482625" y="3873498"/>
            <a:ext cx="8148997" cy="3785652"/>
          </a:xfrm>
          <a:prstGeom prst="rect">
            <a:avLst/>
          </a:prstGeom>
          <a:noFill/>
          <a:ln cap="flat">
            <a:noFill/>
          </a:ln>
        </p:spPr>
        <p:txBody>
          <a:bodyPr vert="horz" wrap="square" lIns="91440" tIns="45720" rIns="91440" bIns="45720" anchor="t" anchorCtr="0" compatLnSpc="1">
            <a:spAutoFit/>
          </a:bodyPr>
          <a:lstStyle/>
          <a:p>
            <a:pPr marL="0" marR="0" lvl="0" indent="0" algn="l" defTabSz="914400" rtl="0" fontAlgn="auto" hangingPunct="1">
              <a:spcBef>
                <a:spcPts val="0"/>
              </a:spcBef>
              <a:spcAft>
                <a:spcPts val="0"/>
              </a:spcAft>
              <a:buNone/>
              <a:tabLst/>
              <a:defRPr sz="1800" b="0" i="0" u="none" strike="noStrike" kern="0" cap="none" spc="0" baseline="0">
                <a:solidFill>
                  <a:srgbClr val="000000"/>
                </a:solidFill>
                <a:uFillTx/>
              </a:defRPr>
            </a:pPr>
            <a:r>
              <a:rPr lang="en-GB" sz="8000" b="1" u="none" strike="noStrike" kern="1200" cap="none" spc="0" baseline="0" dirty="0">
                <a:uFillTx/>
                <a:latin typeface="Figtree SemiBold" pitchFamily="2" charset="0"/>
              </a:rPr>
              <a:t>We need to </a:t>
            </a:r>
          </a:p>
          <a:p>
            <a:pPr marL="0" marR="0" lvl="0" indent="0" algn="l" defTabSz="914400" rtl="0" fontAlgn="auto" hangingPunct="1">
              <a:spcBef>
                <a:spcPts val="0"/>
              </a:spcBef>
              <a:spcAft>
                <a:spcPts val="0"/>
              </a:spcAft>
              <a:buNone/>
              <a:tabLst/>
              <a:defRPr sz="1800" b="0" i="0" u="none" strike="noStrike" kern="0" cap="none" spc="0" baseline="0">
                <a:solidFill>
                  <a:srgbClr val="000000"/>
                </a:solidFill>
                <a:uFillTx/>
              </a:defRPr>
            </a:pPr>
            <a:r>
              <a:rPr lang="en-GB" sz="8000" b="1" u="none" strike="noStrike" kern="1200" cap="none" spc="0" baseline="0" dirty="0">
                <a:uFillTx/>
                <a:latin typeface="Figtree SemiBold" pitchFamily="2" charset="0"/>
              </a:rPr>
              <a:t>work </a:t>
            </a:r>
            <a:r>
              <a:rPr lang="en-GB" sz="8000" b="1" u="none" strike="noStrike" kern="1200" cap="none" spc="0" baseline="0" dirty="0">
                <a:solidFill>
                  <a:srgbClr val="00C159"/>
                </a:solidFill>
                <a:uFillTx/>
                <a:latin typeface="Figtree SemiBold" pitchFamily="2" charset="0"/>
              </a:rPr>
              <a:t>together</a:t>
            </a:r>
          </a:p>
          <a:p>
            <a:pPr marL="0" marR="0" lvl="0" indent="0" algn="l" defTabSz="914400" rtl="0" fontAlgn="auto" hangingPunct="1">
              <a:spcBef>
                <a:spcPts val="0"/>
              </a:spcBef>
              <a:spcAft>
                <a:spcPts val="0"/>
              </a:spcAft>
              <a:buNone/>
              <a:tabLst/>
              <a:defRPr sz="1800" b="0" i="0" u="none" strike="noStrike" kern="0" cap="none" spc="0" baseline="0">
                <a:solidFill>
                  <a:srgbClr val="000000"/>
                </a:solidFill>
                <a:uFillTx/>
              </a:defRPr>
            </a:pPr>
            <a:r>
              <a:rPr lang="en-GB" sz="8000" b="1" u="none" strike="noStrike" kern="1200" cap="none" spc="0" baseline="0" dirty="0">
                <a:uFillTx/>
                <a:latin typeface="Figtree SemiBold" pitchFamily="2" charset="0"/>
              </a:rPr>
              <a:t>and </a:t>
            </a:r>
            <a:r>
              <a:rPr lang="en-GB" sz="8000" b="1" u="none" strike="noStrike" kern="1200" cap="none" spc="0" baseline="0" dirty="0">
                <a:solidFill>
                  <a:srgbClr val="12BD64"/>
                </a:solidFill>
                <a:uFillTx/>
                <a:latin typeface="Figtree SemiBold" pitchFamily="2" charset="0"/>
              </a:rPr>
              <a:t>think big...</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0A3638"/>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CE26DB-38C8-59DF-55F1-F0B243D92DDB}"/>
              </a:ext>
            </a:extLst>
          </p:cNvPr>
          <p:cNvSpPr txBox="1"/>
          <p:nvPr/>
        </p:nvSpPr>
        <p:spPr>
          <a:xfrm>
            <a:off x="8895941" y="7646908"/>
            <a:ext cx="6685280" cy="3416320"/>
          </a:xfrm>
          <a:prstGeom prst="rect">
            <a:avLst/>
          </a:prstGeom>
          <a:noFill/>
        </p:spPr>
        <p:txBody>
          <a:bodyPr wrap="square">
            <a:spAutoFit/>
          </a:bodyPr>
          <a:lstStyle/>
          <a:p>
            <a:r>
              <a:rPr lang="en-US" dirty="0">
                <a:solidFill>
                  <a:schemeClr val="bg1"/>
                </a:solidFill>
                <a:latin typeface="Figtree Medium" pitchFamily="2" charset="0"/>
              </a:rPr>
              <a:t>Thank you</a:t>
            </a:r>
          </a:p>
          <a:p>
            <a:endParaRPr lang="en-US" dirty="0">
              <a:solidFill>
                <a:schemeClr val="bg1"/>
              </a:solidFill>
              <a:latin typeface="Figtree Medium" pitchFamily="2" charset="0"/>
            </a:endParaRPr>
          </a:p>
          <a:p>
            <a:r>
              <a:rPr lang="en-US" dirty="0">
                <a:solidFill>
                  <a:schemeClr val="bg1"/>
                </a:solidFill>
                <a:latin typeface="Figtree Medium" pitchFamily="2" charset="0"/>
              </a:rPr>
              <a:t>More information </a:t>
            </a:r>
            <a:r>
              <a:rPr lang="en-US" dirty="0">
                <a:solidFill>
                  <a:srgbClr val="00C159"/>
                </a:solidFill>
                <a:latin typeface="Figtree Medium" pitchFamily="2" charset="0"/>
                <a:hlinkClick r:id="rId2">
                  <a:extLst>
                    <a:ext uri="{A12FA001-AC4F-418D-AE19-62706E023703}">
                      <ahyp:hlinkClr xmlns:ahyp="http://schemas.microsoft.com/office/drawing/2018/hyperlinkcolor" val="tx"/>
                    </a:ext>
                  </a:extLst>
                </a:hlinkClick>
              </a:rPr>
              <a:t>www.startcampus.pt</a:t>
            </a:r>
            <a:endParaRPr lang="en-US" dirty="0">
              <a:solidFill>
                <a:srgbClr val="00C159"/>
              </a:solidFill>
              <a:latin typeface="Figtree Medium" pitchFamily="2" charset="0"/>
            </a:endParaRPr>
          </a:p>
          <a:p>
            <a:endParaRPr lang="en-US" dirty="0">
              <a:solidFill>
                <a:srgbClr val="00C159"/>
              </a:solidFill>
              <a:latin typeface="Figtree Medium" pitchFamily="2" charset="0"/>
            </a:endParaRPr>
          </a:p>
          <a:p>
            <a:r>
              <a:rPr lang="en-US" dirty="0">
                <a:solidFill>
                  <a:srgbClr val="00C159"/>
                </a:solidFill>
                <a:latin typeface="Figtree Medium" pitchFamily="2" charset="0"/>
                <a:hlinkClick r:id="rId3">
                  <a:extLst>
                    <a:ext uri="{A12FA001-AC4F-418D-AE19-62706E023703}">
                      <ahyp:hlinkClr xmlns:ahyp="http://schemas.microsoft.com/office/drawing/2018/hyperlinkcolor" val="tx"/>
                    </a:ext>
                  </a:extLst>
                </a:hlinkClick>
              </a:rPr>
              <a:t>info@startcampus.pt</a:t>
            </a:r>
            <a:r>
              <a:rPr lang="en-US" dirty="0">
                <a:solidFill>
                  <a:srgbClr val="00C159"/>
                </a:solidFill>
                <a:latin typeface="Figtree Medium" pitchFamily="2" charset="0"/>
              </a:rPr>
              <a:t> </a:t>
            </a:r>
            <a:endParaRPr lang="en-GB" dirty="0">
              <a:solidFill>
                <a:srgbClr val="00C159"/>
              </a:solidFill>
              <a:latin typeface="Figtree Medium" pitchFamily="2" charset="0"/>
            </a:endParaRPr>
          </a:p>
        </p:txBody>
      </p:sp>
    </p:spTree>
    <p:extLst>
      <p:ext uri="{BB962C8B-B14F-4D97-AF65-F5344CB8AC3E}">
        <p14:creationId xmlns:p14="http://schemas.microsoft.com/office/powerpoint/2010/main" val="23143511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ver">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Cover">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Dividers">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1_Light - Content and Imag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1_Bullets">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2_Dividers">
  <a:themeElements>
    <a:clrScheme name="StartCampus Theme 1">
      <a:dk1>
        <a:srgbClr val="000000"/>
      </a:dk1>
      <a:lt1>
        <a:srgbClr val="F4F4FF"/>
      </a:lt1>
      <a:dk2>
        <a:srgbClr val="183438"/>
      </a:dk2>
      <a:lt2>
        <a:srgbClr val="EBFEF5"/>
      </a:lt2>
      <a:accent1>
        <a:srgbClr val="00C058"/>
      </a:accent1>
      <a:accent2>
        <a:srgbClr val="FBDD6F"/>
      </a:accent2>
      <a:accent3>
        <a:srgbClr val="D1CDCD"/>
      </a:accent3>
      <a:accent4>
        <a:srgbClr val="48392C"/>
      </a:accent4>
      <a:accent5>
        <a:srgbClr val="3EA2F5"/>
      </a:accent5>
      <a:accent6>
        <a:srgbClr val="144044"/>
      </a:accent6>
      <a:hlink>
        <a:srgbClr val="00C058"/>
      </a:hlink>
      <a:folHlink>
        <a:srgbClr val="00C058"/>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28A3C5EB-B5CE-4BF2-B26A-10EBE5A49E51}" vid="{2FB53C36-4FEF-48FC-828F-391719FDE557}"/>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B84DFD95-2C17-41BA-AC73-B1FC1D2C9FF3}">
  <we:reference id="wa200010001" version="1.0.0.1" store="en-US" storeType="OMEX"/>
  <we:alternateReferences>
    <we:reference id="WA200010001" version="1.0.0.1" store="" storeType="OMEX"/>
  </we:alternateReferences>
  <we:properties>
    <we:property name="claude.fileId" value="&quot;905a5430-0b72-4b8c-ac70-848a85a85257&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238ed95-c9d5-48cb-87cf-e826bc585f76">
      <Terms xmlns="http://schemas.microsoft.com/office/infopath/2007/PartnerControls"/>
    </lcf76f155ced4ddcb4097134ff3c332f>
    <TaxCatchAll xmlns="c6923647-6c10-4b9b-9e1b-195d02f1da30" xsi:nil="true"/>
    <_ip_UnifiedCompliancePolicyUIAction xmlns="http://schemas.microsoft.com/sharepoint/v3" xsi:nil="true"/>
    <_ip_UnifiedCompliancePolicyProperties xmlns="http://schemas.microsoft.com/sharepoint/v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45D0161F036854390CF70D1AFABE0F8" ma:contentTypeVersion="16" ma:contentTypeDescription="Create a new document." ma:contentTypeScope="" ma:versionID="7395c18e222b5e86c30e8d48d5b89eed">
  <xsd:schema xmlns:xsd="http://www.w3.org/2001/XMLSchema" xmlns:xs="http://www.w3.org/2001/XMLSchema" xmlns:p="http://schemas.microsoft.com/office/2006/metadata/properties" xmlns:ns1="http://schemas.microsoft.com/sharepoint/v3" xmlns:ns2="b238ed95-c9d5-48cb-87cf-e826bc585f76" xmlns:ns3="c6923647-6c10-4b9b-9e1b-195d02f1da30" targetNamespace="http://schemas.microsoft.com/office/2006/metadata/properties" ma:root="true" ma:fieldsID="4696ef49c178ecaf3117fa06aa864a36" ns1:_="" ns2:_="" ns3:_="">
    <xsd:import namespace="http://schemas.microsoft.com/sharepoint/v3"/>
    <xsd:import namespace="b238ed95-c9d5-48cb-87cf-e826bc585f76"/>
    <xsd:import namespace="c6923647-6c10-4b9b-9e1b-195d02f1da3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CR" minOccurs="0"/>
                <xsd:element ref="ns1:_ip_UnifiedCompliancePolicyProperties" minOccurs="0"/>
                <xsd:element ref="ns1:_ip_UnifiedCompliancePolicyUIAc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1" nillable="true" ma:displayName="Unified Compliance Policy Properties" ma:hidden="true" ma:internalName="_ip_UnifiedCompliancePolicyProperties">
      <xsd:simpleType>
        <xsd:restriction base="dms:Note"/>
      </xsd:simpleType>
    </xsd:element>
    <xsd:element name="_ip_UnifiedCompliancePolicyUIAction" ma:index="2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238ed95-c9d5-48cb-87cf-e826bc585f7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bd1c6e5c-4a4a-441d-a49e-c2a13b6952d2" ma:termSetId="09814cd3-568e-fe90-9814-8d621ff8fb84" ma:anchorId="fba54fb3-c3e1-fe81-a776-ca4b69148c4d" ma:open="true" ma:isKeyword="false">
      <xsd:complexType>
        <xsd:sequence>
          <xsd:element ref="pc:Terms" minOccurs="0" maxOccurs="1"/>
        </xsd:sequence>
      </xsd:complexType>
    </xsd:element>
    <xsd:element name="MediaServiceLocation" ma:index="19" nillable="true" ma:displayName="Location" ma:indexed="true" ma:internalName="MediaServiceLocation"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6923647-6c10-4b9b-9e1b-195d02f1da30"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be9134d1-7cf1-43d4-951a-d044717e1e34}" ma:internalName="TaxCatchAll" ma:showField="CatchAllData" ma:web="c6923647-6c10-4b9b-9e1b-195d02f1da3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369CCA-CB3A-4C56-958D-C5F3110CB76A}">
  <ds:schemaRefs>
    <ds:schemaRef ds:uri="http://schemas.microsoft.com/sharepoint/v3/contenttype/forms"/>
  </ds:schemaRefs>
</ds:datastoreItem>
</file>

<file path=customXml/itemProps2.xml><?xml version="1.0" encoding="utf-8"?>
<ds:datastoreItem xmlns:ds="http://schemas.openxmlformats.org/officeDocument/2006/customXml" ds:itemID="{D4AB652D-BA18-45B9-A0F0-1D421006C9F7}">
  <ds:schemaRefs>
    <ds:schemaRef ds:uri="http://schemas.microsoft.com/office/2006/metadata/properties"/>
    <ds:schemaRef ds:uri="http://schemas.microsoft.com/office/infopath/2007/PartnerControls"/>
    <ds:schemaRef ds:uri="b238ed95-c9d5-48cb-87cf-e826bc585f76"/>
    <ds:schemaRef ds:uri="c6923647-6c10-4b9b-9e1b-195d02f1da30"/>
    <ds:schemaRef ds:uri="http://schemas.microsoft.com/sharepoint/v3"/>
  </ds:schemaRefs>
</ds:datastoreItem>
</file>

<file path=customXml/itemProps3.xml><?xml version="1.0" encoding="utf-8"?>
<ds:datastoreItem xmlns:ds="http://schemas.openxmlformats.org/officeDocument/2006/customXml" ds:itemID="{7B845C34-807D-4C06-A1B3-6282271D2E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238ed95-c9d5-48cb-87cf-e826bc585f76"/>
    <ds:schemaRef ds:uri="c6923647-6c10-4b9b-9e1b-195d02f1da3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dfe64ef0-fba9-49f9-8f0a-831dc20d6f0b}" enabled="1" method="Privileged" siteId="{39b4e89d-f3a2-4b41-b98b-7ac345637da2}" removed="0"/>
</clbl:labelList>
</file>

<file path=docProps/app.xml><?xml version="1.0" encoding="utf-8"?>
<Properties xmlns="http://schemas.openxmlformats.org/officeDocument/2006/extended-properties" xmlns:vt="http://schemas.openxmlformats.org/officeDocument/2006/docPropsVTypes">
  <Template/>
  <TotalTime>1920</TotalTime>
  <Words>3160</Words>
  <Application>Microsoft Office PowerPoint</Application>
  <PresentationFormat>Custom</PresentationFormat>
  <Paragraphs>658</Paragraphs>
  <Slides>35</Slides>
  <Notes>10</Notes>
  <HiddenSlides>0</HiddenSlides>
  <MMClips>0</MMClips>
  <ScaleCrop>false</ScaleCrop>
  <HeadingPairs>
    <vt:vector size="6" baseType="variant">
      <vt:variant>
        <vt:lpstr>Fonts Used</vt:lpstr>
      </vt:variant>
      <vt:variant>
        <vt:i4>18</vt:i4>
      </vt:variant>
      <vt:variant>
        <vt:lpstr>Theme</vt:lpstr>
      </vt:variant>
      <vt:variant>
        <vt:i4>6</vt:i4>
      </vt:variant>
      <vt:variant>
        <vt:lpstr>Slide Titles</vt:lpstr>
      </vt:variant>
      <vt:variant>
        <vt:i4>35</vt:i4>
      </vt:variant>
    </vt:vector>
  </HeadingPairs>
  <TitlesOfParts>
    <vt:vector size="59" baseType="lpstr">
      <vt:lpstr>Aptos</vt:lpstr>
      <vt:lpstr>Aptos Display</vt:lpstr>
      <vt:lpstr>Arial</vt:lpstr>
      <vt:lpstr>Calibri</vt:lpstr>
      <vt:lpstr>Figtree</vt:lpstr>
      <vt:lpstr>Figtree Black</vt:lpstr>
      <vt:lpstr>Figtree Bold</vt:lpstr>
      <vt:lpstr>Figtree ExtraBold</vt:lpstr>
      <vt:lpstr>Figtree Light</vt:lpstr>
      <vt:lpstr>Figtree Medium</vt:lpstr>
      <vt:lpstr>Figtree SemiBold</vt:lpstr>
      <vt:lpstr>Gill Sans MT</vt:lpstr>
      <vt:lpstr>Montserrat</vt:lpstr>
      <vt:lpstr>Symbol</vt:lpstr>
      <vt:lpstr>Tahoma</vt:lpstr>
      <vt:lpstr>Ubuntu</vt:lpstr>
      <vt:lpstr>Ubuntu Light</vt:lpstr>
      <vt:lpstr>Wingdings</vt:lpstr>
      <vt:lpstr>Cover</vt:lpstr>
      <vt:lpstr>1_Cover</vt:lpstr>
      <vt:lpstr>1_Dividers</vt:lpstr>
      <vt:lpstr>1_Light - Content and Image</vt:lpstr>
      <vt:lpstr>1_Bullets</vt:lpstr>
      <vt:lpstr>2_Dividers</vt:lpstr>
      <vt:lpstr>PowerPoint Presentation</vt:lpstr>
      <vt:lpstr>Sustainable &amp;  AI-Scale Data Center Development in Portugal</vt:lpstr>
      <vt:lpstr>Table of Contents</vt:lpstr>
      <vt:lpstr>Who is Start Campus?</vt:lpstr>
      <vt:lpstr>Europe’s largest and most sustainable data ecosystem</vt:lpstr>
      <vt:lpstr>Backed by two world-class investors with significant equity invested to date</vt:lpstr>
      <vt:lpstr>Backed world-class investors, with experience in scale-ups…</vt:lpstr>
      <vt:lpstr>Backed world-class investors, with experience in scale-ups…</vt:lpstr>
      <vt:lpstr>Our people make Start Campus unique</vt:lpstr>
      <vt:lpstr>PowerPoint Presentation</vt:lpstr>
      <vt:lpstr>PowerPoint Presentation</vt:lpstr>
      <vt:lpstr>Site Selection Why Portugal ?</vt:lpstr>
      <vt:lpstr>PowerPoint Presentation</vt:lpstr>
      <vt:lpstr>PowerPoint Presentation</vt:lpstr>
      <vt:lpstr>PowerPoint Presentation</vt:lpstr>
      <vt:lpstr>Portugal offers low and ultra-low latencies to Europe  and the rest of the world</vt:lpstr>
      <vt:lpstr>PowerPoint Presentation</vt:lpstr>
      <vt:lpstr>PowerPoint Presentation</vt:lpstr>
      <vt:lpstr>Power Efficiency</vt:lpstr>
      <vt:lpstr>PowerPoint Presentation</vt:lpstr>
      <vt:lpstr>Portugal  Connecting the Globe</vt:lpstr>
      <vt:lpstr>PowerPoint Presentation</vt:lpstr>
      <vt:lpstr>What are we building at Sines Campus?</vt:lpstr>
      <vt:lpstr>SINES DC | Transforming vision into scale </vt:lpstr>
      <vt:lpstr>PowerPoint Presentation</vt:lpstr>
      <vt:lpstr>PowerPoint Presentation</vt:lpstr>
      <vt:lpstr>PowerPoint Presentation</vt:lpstr>
      <vt:lpstr>PowerPoint Presentation</vt:lpstr>
      <vt:lpstr>Our commitment to the Environment</vt:lpstr>
      <vt:lpstr>PowerPoint Presentation</vt:lpstr>
      <vt:lpstr>PowerPoint Presentation</vt:lpstr>
      <vt:lpstr>PowerPoint Presentation</vt:lpstr>
      <vt:lpstr>By combining seawater and liquid cooling, Start Campus offers an ultra-efficient thermal backbone for AI workloads at scale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Larissa Gama Kansler Carvalho</dc:creator>
  <cp:lastModifiedBy>Hugo Oliveira</cp:lastModifiedBy>
  <cp:revision>29</cp:revision>
  <dcterms:created xsi:type="dcterms:W3CDTF">2024-09-30T10:06:28Z</dcterms:created>
  <dcterms:modified xsi:type="dcterms:W3CDTF">2026-10-15T13:48:51Z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0x010100445D0161F036854390CF70D1AFABE0F8</vt:lpwstr>
  </property>
  <property fmtid="{D5CDD505-2E9C-101B-9397-08002B2CF9AE}" pid="3" name="ComplianceAssetId">
    <vt:lpwstr/>
  </property>
  <property fmtid="{D5CDD505-2E9C-101B-9397-08002B2CF9AE}" pid="4" name="_ExtendedDescription">
    <vt:lpwstr/>
  </property>
  <property fmtid="{D5CDD505-2E9C-101B-9397-08002B2CF9AE}" pid="5" name="_activity">
    <vt:lpwstr>{"FileActivityType":"9","FileActivityTimeStamp":"2024-11-22T09:23:56.457Z","FileActivityUsersOnPage":[{"DisplayName":"Hugo de Oliveira","Id":"hso@startcampus.pt"},{"DisplayName":"India Branquinho de Oliveira","Id":"ibo@startcampus.pt"}],"FileActivityNavigationId":null}</vt:lpwstr>
  </property>
  <property fmtid="{D5CDD505-2E9C-101B-9397-08002B2CF9AE}" pid="6" name="TriggerFlowInfo">
    <vt:lpwstr/>
  </property>
  <property fmtid="{D5CDD505-2E9C-101B-9397-08002B2CF9AE}" pid="7" name="MediaServiceImageTags">
    <vt:lpwstr/>
  </property>
</Properties>
</file>